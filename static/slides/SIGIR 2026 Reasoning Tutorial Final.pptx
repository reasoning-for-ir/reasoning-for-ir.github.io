
<file path=[Content_Types].xml><?xml version="1.0" encoding="utf-8"?>
<Types xmlns="http://schemas.openxmlformats.org/package/2006/content-types">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125.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3.xml"/>
  <Override ContentType="application/vnd.openxmlformats-officedocument.presentationml.notesSlide+xml" PartName="/ppt/notesSlides/notesSlide91.xml"/>
  <Override ContentType="application/vnd.openxmlformats-officedocument.presentationml.notesSlide+xml" PartName="/ppt/notesSlides/notesSlide133.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105.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135.xml"/>
  <Override ContentType="application/vnd.openxmlformats-officedocument.presentationml.notesSlide+xml" PartName="/ppt/notesSlides/notesSlide137.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123.xml"/>
  <Override ContentType="application/vnd.openxmlformats-officedocument.presentationml.notesSlide+xml" PartName="/ppt/notesSlides/notesSlide110.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37.xml"/>
  <Override ContentType="application/vnd.openxmlformats-officedocument.presentationml.notesSlide+xml" PartName="/ppt/notesSlides/notesSlide138.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89.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120.xml"/>
  <Override ContentType="application/vnd.openxmlformats-officedocument.presentationml.notesSlide+xml" PartName="/ppt/notesSlides/notesSlide20.xml"/>
  <Override ContentType="application/vnd.openxmlformats-officedocument.presentationml.notesSlide+xml" PartName="/ppt/notesSlides/notesSlide129.xml"/>
  <Override ContentType="application/vnd.openxmlformats-officedocument.presentationml.notesSlide+xml" PartName="/ppt/notesSlides/notesSlide60.xml"/>
  <Override ContentType="application/vnd.openxmlformats-officedocument.presentationml.notesSlide+xml" PartName="/ppt/notesSlides/notesSlide18.xml"/>
  <Override ContentType="application/vnd.openxmlformats-officedocument.presentationml.notesSlide+xml" PartName="/ppt/notesSlides/notesSlide48.xml"/>
  <Override ContentType="application/vnd.openxmlformats-officedocument.presentationml.notesSlide+xml" PartName="/ppt/notesSlides/notesSlide131.xml"/>
  <Override ContentType="application/vnd.openxmlformats-officedocument.presentationml.notesSlide+xml" PartName="/ppt/notesSlides/notesSlide127.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92.xml"/>
  <Override ContentType="application/vnd.openxmlformats-officedocument.presentationml.notesSlide+xml" PartName="/ppt/notesSlides/notesSlide84.xml"/>
  <Override ContentType="application/vnd.openxmlformats-officedocument.presentationml.notesSlide+xml" PartName="/ppt/notesSlides/notesSlide116.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24.xml"/>
  <Override ContentType="application/vnd.openxmlformats-officedocument.presentationml.notesSlide+xml" PartName="/ppt/notesSlides/notesSlide126.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108.xml"/>
  <Override ContentType="application/vnd.openxmlformats-officedocument.presentationml.notesSlide+xml" PartName="/ppt/notesSlides/notesSlide90.xml"/>
  <Override ContentType="application/vnd.openxmlformats-officedocument.presentationml.notesSlide+xml" PartName="/ppt/notesSlides/notesSlide1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74.xml"/>
  <Override ContentType="application/vnd.openxmlformats-officedocument.presentationml.notesSlide+xml" PartName="/ppt/notesSlides/notesSlide58.xml"/>
  <Override ContentType="application/vnd.openxmlformats-officedocument.presentationml.notesSlide+xml" PartName="/ppt/notesSlides/notesSlide140.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36.xml"/>
  <Override ContentType="application/vnd.openxmlformats-officedocument.presentationml.notesSlide+xml" PartName="/ppt/notesSlides/notesSlide2.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28.xml"/>
  <Override ContentType="application/vnd.openxmlformats-officedocument.presentationml.notesSlide+xml" PartName="/ppt/notesSlides/notesSlide111.xml"/>
  <Override ContentType="application/vnd.openxmlformats-officedocument.presentationml.notesSlide+xml" PartName="/ppt/notesSlides/notesSlide139.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04.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3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128.xml"/>
  <Override ContentType="application/vnd.openxmlformats-officedocument.presentationml.notesSlide+xml" PartName="/ppt/notesSlides/notesSlide79.xml"/>
  <Override ContentType="application/vnd.openxmlformats-officedocument.presentationml.notesSlide+xml" PartName="/ppt/notesSlides/notesSlide132.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96.xml"/>
  <Override ContentType="application/vnd.openxmlformats-officedocument.presentationml.notesSlide+xml" PartName="/ppt/notesSlides/notesSlide102.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121.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05.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138.xml"/>
  <Override ContentType="application/vnd.openxmlformats-officedocument.presentationml.slide+xml" PartName="/ppt/slides/slide25.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36.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18.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98.xml"/>
  <Override ContentType="application/vnd.openxmlformats-officedocument.presentationml.slide+xml" PartName="/ppt/slides/slide125.xml"/>
  <Override ContentType="application/vnd.openxmlformats-officedocument.presentationml.slide+xml" PartName="/ppt/slides/slide72.xml"/>
  <Override ContentType="application/vnd.openxmlformats-officedocument.presentationml.slide+xml" PartName="/ppt/slides/slide135.xml"/>
  <Override ContentType="application/vnd.openxmlformats-officedocument.presentationml.slide+xml" PartName="/ppt/slides/slide20.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76.xml"/>
  <Override ContentType="application/vnd.openxmlformats-officedocument.presentationml.slide+xml" PartName="/ppt/slides/slide129.xml"/>
  <Override ContentType="application/vnd.openxmlformats-officedocument.presentationml.slide+xml" PartName="/ppt/slides/slide63.xml"/>
  <Override ContentType="application/vnd.openxmlformats-officedocument.presentationml.slide+xml" PartName="/ppt/slides/slide131.xml"/>
  <Override ContentType="application/vnd.openxmlformats-officedocument.presentationml.slide+xml" PartName="/ppt/slides/slide93.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133.xml"/>
  <Override ContentType="application/vnd.openxmlformats-officedocument.presentationml.slide+xml" PartName="/ppt/slides/slide91.xml"/>
  <Override ContentType="application/vnd.openxmlformats-officedocument.presentationml.slide+xml" PartName="/ppt/slides/slide114.xml"/>
  <Override ContentType="application/vnd.openxmlformats-officedocument.presentationml.slide+xml" PartName="/ppt/slides/slide31.xml"/>
  <Override ContentType="application/vnd.openxmlformats-officedocument.presentationml.slide+xml" PartName="/ppt/slides/slide127.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39.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9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122.xml"/>
  <Override ContentType="application/vnd.openxmlformats-officedocument.presentationml.slide+xml" PartName="/ppt/slides/slide130.xml"/>
  <Override ContentType="application/vnd.openxmlformats-officedocument.presentationml.slide+xml" PartName="/ppt/slides/slide16.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97.xml"/>
  <Override ContentType="application/vnd.openxmlformats-officedocument.presentationml.slide+xml" PartName="/ppt/slides/slide140.xml"/>
  <Override ContentType="application/vnd.openxmlformats-officedocument.presentationml.slide+xml" PartName="/ppt/slides/slide11.xml"/>
  <Override ContentType="application/vnd.openxmlformats-officedocument.presentationml.slide+xml" PartName="/ppt/slides/slide137.xml"/>
  <Override ContentType="application/vnd.openxmlformats-officedocument.presentationml.slide+xml" PartName="/ppt/slides/slide110.xml"/>
  <Override ContentType="application/vnd.openxmlformats-officedocument.presentationml.slide+xml" PartName="/ppt/slides/slide6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49.xml"/>
  <Override ContentType="application/vnd.openxmlformats-officedocument.presentationml.slide+xml" PartName="/ppt/slides/slide124.xml"/>
  <Override ContentType="application/vnd.openxmlformats-officedocument.presentationml.slide+xml" PartName="/ppt/slides/slide83.xml"/>
  <Override ContentType="application/vnd.openxmlformats-officedocument.presentationml.slide+xml" PartName="/ppt/slides/slide106.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126.xml"/>
  <Override ContentType="application/vnd.openxmlformats-officedocument.presentationml.slide+xml" PartName="/ppt/slides/slide109.xml"/>
  <Override ContentType="application/vnd.openxmlformats-officedocument.presentationml.slide+xml" PartName="/ppt/slides/slide134.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100.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117.xml"/>
  <Override ContentType="application/vnd.openxmlformats-officedocument.presentationml.slide+xml" PartName="/ppt/slides/slide132.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88.xml"/>
  <Override ContentType="application/vnd.openxmlformats-officedocument.presentationml.slide+xml" PartName="/ppt/slides/slide128.xml"/>
  <Override ContentType="application/vnd.openxmlformats-officedocument.presentationml.slide+xml" PartName="/ppt/slides/slide92.xml"/>
  <Override ContentType="application/vnd.openxmlformats-officedocument.presentationml.slide+xml" PartName="/ppt/slides/slide115.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1" r:id="rId5"/>
    <p:sldMasterId id="2147483682" r:id="rId6"/>
    <p:sldMasterId id="2147483683"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 id="288" r:id="rId41"/>
    <p:sldId id="289" r:id="rId42"/>
    <p:sldId id="290" r:id="rId43"/>
    <p:sldId id="291" r:id="rId44"/>
    <p:sldId id="292" r:id="rId45"/>
    <p:sldId id="293" r:id="rId46"/>
    <p:sldId id="294" r:id="rId47"/>
    <p:sldId id="295" r:id="rId48"/>
    <p:sldId id="296" r:id="rId49"/>
    <p:sldId id="297" r:id="rId50"/>
    <p:sldId id="298" r:id="rId51"/>
    <p:sldId id="299" r:id="rId52"/>
    <p:sldId id="300" r:id="rId53"/>
    <p:sldId id="301" r:id="rId54"/>
    <p:sldId id="302" r:id="rId55"/>
    <p:sldId id="303" r:id="rId56"/>
    <p:sldId id="304" r:id="rId57"/>
    <p:sldId id="305" r:id="rId58"/>
    <p:sldId id="306" r:id="rId59"/>
    <p:sldId id="307" r:id="rId60"/>
    <p:sldId id="308" r:id="rId61"/>
    <p:sldId id="309" r:id="rId62"/>
    <p:sldId id="310" r:id="rId63"/>
    <p:sldId id="311" r:id="rId64"/>
    <p:sldId id="312" r:id="rId65"/>
    <p:sldId id="313" r:id="rId66"/>
    <p:sldId id="314" r:id="rId67"/>
    <p:sldId id="315" r:id="rId68"/>
    <p:sldId id="316" r:id="rId69"/>
    <p:sldId id="317" r:id="rId70"/>
    <p:sldId id="318" r:id="rId71"/>
    <p:sldId id="319" r:id="rId72"/>
    <p:sldId id="320" r:id="rId73"/>
    <p:sldId id="321" r:id="rId74"/>
    <p:sldId id="322" r:id="rId75"/>
    <p:sldId id="323" r:id="rId76"/>
    <p:sldId id="324" r:id="rId77"/>
    <p:sldId id="325" r:id="rId78"/>
    <p:sldId id="326" r:id="rId79"/>
    <p:sldId id="327" r:id="rId80"/>
    <p:sldId id="328" r:id="rId81"/>
    <p:sldId id="329" r:id="rId82"/>
    <p:sldId id="330" r:id="rId83"/>
    <p:sldId id="331" r:id="rId84"/>
    <p:sldId id="332" r:id="rId85"/>
    <p:sldId id="333" r:id="rId86"/>
    <p:sldId id="334" r:id="rId87"/>
    <p:sldId id="335" r:id="rId88"/>
    <p:sldId id="336" r:id="rId89"/>
    <p:sldId id="337" r:id="rId90"/>
    <p:sldId id="338" r:id="rId91"/>
    <p:sldId id="339" r:id="rId92"/>
    <p:sldId id="340" r:id="rId93"/>
    <p:sldId id="341" r:id="rId94"/>
    <p:sldId id="342" r:id="rId95"/>
    <p:sldId id="343" r:id="rId96"/>
    <p:sldId id="344" r:id="rId97"/>
    <p:sldId id="345" r:id="rId98"/>
    <p:sldId id="346" r:id="rId99"/>
    <p:sldId id="347" r:id="rId100"/>
    <p:sldId id="348" r:id="rId101"/>
    <p:sldId id="349" r:id="rId102"/>
    <p:sldId id="350" r:id="rId103"/>
    <p:sldId id="351" r:id="rId104"/>
    <p:sldId id="352" r:id="rId105"/>
    <p:sldId id="353" r:id="rId106"/>
    <p:sldId id="354" r:id="rId107"/>
    <p:sldId id="355" r:id="rId108"/>
    <p:sldId id="356" r:id="rId109"/>
    <p:sldId id="357" r:id="rId110"/>
    <p:sldId id="358" r:id="rId111"/>
    <p:sldId id="359" r:id="rId112"/>
    <p:sldId id="360" r:id="rId113"/>
    <p:sldId id="361" r:id="rId114"/>
    <p:sldId id="362" r:id="rId115"/>
    <p:sldId id="363" r:id="rId116"/>
    <p:sldId id="364" r:id="rId117"/>
    <p:sldId id="365" r:id="rId118"/>
    <p:sldId id="366" r:id="rId119"/>
    <p:sldId id="367" r:id="rId120"/>
    <p:sldId id="368" r:id="rId121"/>
    <p:sldId id="369" r:id="rId122"/>
    <p:sldId id="370" r:id="rId123"/>
    <p:sldId id="371" r:id="rId124"/>
    <p:sldId id="372" r:id="rId125"/>
    <p:sldId id="373" r:id="rId126"/>
    <p:sldId id="374" r:id="rId127"/>
    <p:sldId id="375" r:id="rId128"/>
    <p:sldId id="376" r:id="rId129"/>
    <p:sldId id="377" r:id="rId130"/>
    <p:sldId id="378" r:id="rId131"/>
    <p:sldId id="379" r:id="rId132"/>
    <p:sldId id="380" r:id="rId133"/>
    <p:sldId id="381" r:id="rId134"/>
    <p:sldId id="382" r:id="rId135"/>
    <p:sldId id="383" r:id="rId136"/>
    <p:sldId id="384" r:id="rId137"/>
    <p:sldId id="385" r:id="rId138"/>
    <p:sldId id="386" r:id="rId139"/>
    <p:sldId id="387" r:id="rId140"/>
    <p:sldId id="388" r:id="rId141"/>
    <p:sldId id="389" r:id="rId142"/>
    <p:sldId id="390" r:id="rId143"/>
    <p:sldId id="391" r:id="rId144"/>
    <p:sldId id="392" r:id="rId145"/>
    <p:sldId id="393" r:id="rId146"/>
    <p:sldId id="394" r:id="rId147"/>
    <p:sldId id="395" r:id="rId148"/>
  </p:sldIdLst>
  <p:sldSz cy="5143500" cx="9144000"/>
  <p:notesSz cx="6858000" cy="9144000"/>
  <p:embeddedFontLst>
    <p:embeddedFont>
      <p:font typeface="Palatino Linotype"/>
      <p:regular r:id="rId149"/>
      <p:bold r:id="rId150"/>
      <p:italic r:id="rId151"/>
      <p:boldItalic r:id="rId152"/>
    </p:embeddedFont>
    <p:embeddedFont>
      <p:font typeface="Roboto Mono"/>
      <p:regular r:id="rId153"/>
      <p:bold r:id="rId154"/>
      <p:italic r:id="rId155"/>
      <p:boldItalic r:id="rId15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90008F1-FBFA-4D70-A9C7-EF09C6EBDACE}">
  <a:tblStyle styleId="{690008F1-FBFA-4D70-A9C7-EF09C6EBDACE}"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03DA3CCC-6C51-4AD8-AE2F-F500092601BC}" styleName="Table_1">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8BC407EF-DC22-4AD9-948A-9F9A1C50E87D}" styleName="Table_2">
    <a:wholeTbl>
      <a:tcTxStyle b="off" i="off">
        <a:font>
          <a:latin typeface="Palatino Linotype"/>
          <a:ea typeface="Palatino Linotype"/>
          <a:cs typeface="Palatino Linotype"/>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DFD"/>
          </a:solidFill>
        </a:fill>
      </a:tcStyle>
    </a:wholeTbl>
    <a:band1H>
      <a:tcTxStyle/>
      <a:tcStyle>
        <a:fill>
          <a:solidFill>
            <a:srgbClr val="CDD8FB"/>
          </a:solidFill>
        </a:fill>
      </a:tcStyle>
    </a:band1H>
    <a:band2H>
      <a:tcTxStyle/>
    </a:band2H>
    <a:band1V>
      <a:tcTxStyle/>
      <a:tcStyle>
        <a:fill>
          <a:solidFill>
            <a:srgbClr val="CDD8FB"/>
          </a:solidFill>
        </a:fill>
      </a:tcStyle>
    </a:band1V>
    <a:band2V>
      <a:tcTxStyle/>
    </a:band2V>
    <a:lastCol>
      <a:tcTxStyle b="on" i="off">
        <a:font>
          <a:latin typeface="Palatino Linotype"/>
          <a:ea typeface="Palatino Linotype"/>
          <a:cs typeface="Palatino Linotype"/>
        </a:font>
        <a:schemeClr val="lt1"/>
      </a:tcTxStyle>
      <a:tcStyle>
        <a:fill>
          <a:solidFill>
            <a:schemeClr val="accent1"/>
          </a:solidFill>
        </a:fill>
      </a:tcStyle>
    </a:lastCol>
    <a:firstCol>
      <a:tcTxStyle b="on" i="off">
        <a:font>
          <a:latin typeface="Palatino Linotype"/>
          <a:ea typeface="Palatino Linotype"/>
          <a:cs typeface="Palatino Linotype"/>
        </a:font>
        <a:schemeClr val="lt1"/>
      </a:tcTxStyle>
      <a:tcStyle>
        <a:fill>
          <a:solidFill>
            <a:schemeClr val="accent1"/>
          </a:solidFill>
        </a:fill>
      </a:tcStyle>
    </a:firstCol>
    <a:lastRow>
      <a:tcTxStyle b="on" i="off">
        <a:font>
          <a:latin typeface="Palatino Linotype"/>
          <a:ea typeface="Palatino Linotype"/>
          <a:cs typeface="Palatino Linotype"/>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Palatino Linotype"/>
          <a:ea typeface="Palatino Linotype"/>
          <a:cs typeface="Palatino Linotype"/>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2.xml"/><Relationship Id="rId42" Type="http://schemas.openxmlformats.org/officeDocument/2006/relationships/slide" Target="slides/slide34.xml"/><Relationship Id="rId41" Type="http://schemas.openxmlformats.org/officeDocument/2006/relationships/slide" Target="slides/slide33.xml"/><Relationship Id="rId44" Type="http://schemas.openxmlformats.org/officeDocument/2006/relationships/slide" Target="slides/slide36.xml"/><Relationship Id="rId43" Type="http://schemas.openxmlformats.org/officeDocument/2006/relationships/slide" Target="slides/slide35.xml"/><Relationship Id="rId46" Type="http://schemas.openxmlformats.org/officeDocument/2006/relationships/slide" Target="slides/slide38.xml"/><Relationship Id="rId45" Type="http://schemas.openxmlformats.org/officeDocument/2006/relationships/slide" Target="slides/slide37.xml"/><Relationship Id="rId107" Type="http://schemas.openxmlformats.org/officeDocument/2006/relationships/slide" Target="slides/slide99.xml"/><Relationship Id="rId106" Type="http://schemas.openxmlformats.org/officeDocument/2006/relationships/slide" Target="slides/slide98.xml"/><Relationship Id="rId105" Type="http://schemas.openxmlformats.org/officeDocument/2006/relationships/slide" Target="slides/slide97.xml"/><Relationship Id="rId104" Type="http://schemas.openxmlformats.org/officeDocument/2006/relationships/slide" Target="slides/slide96.xml"/><Relationship Id="rId109" Type="http://schemas.openxmlformats.org/officeDocument/2006/relationships/slide" Target="slides/slide101.xml"/><Relationship Id="rId108" Type="http://schemas.openxmlformats.org/officeDocument/2006/relationships/slide" Target="slides/slide100.xml"/><Relationship Id="rId48" Type="http://schemas.openxmlformats.org/officeDocument/2006/relationships/slide" Target="slides/slide40.xml"/><Relationship Id="rId47" Type="http://schemas.openxmlformats.org/officeDocument/2006/relationships/slide" Target="slides/slide39.xml"/><Relationship Id="rId49" Type="http://schemas.openxmlformats.org/officeDocument/2006/relationships/slide" Target="slides/slide41.xml"/><Relationship Id="rId103" Type="http://schemas.openxmlformats.org/officeDocument/2006/relationships/slide" Target="slides/slide95.xml"/><Relationship Id="rId102" Type="http://schemas.openxmlformats.org/officeDocument/2006/relationships/slide" Target="slides/slide94.xml"/><Relationship Id="rId101" Type="http://schemas.openxmlformats.org/officeDocument/2006/relationships/slide" Target="slides/slide93.xml"/><Relationship Id="rId100" Type="http://schemas.openxmlformats.org/officeDocument/2006/relationships/slide" Target="slides/slide92.xml"/><Relationship Id="rId31" Type="http://schemas.openxmlformats.org/officeDocument/2006/relationships/slide" Target="slides/slide23.xml"/><Relationship Id="rId30" Type="http://schemas.openxmlformats.org/officeDocument/2006/relationships/slide" Target="slides/slide22.xml"/><Relationship Id="rId33" Type="http://schemas.openxmlformats.org/officeDocument/2006/relationships/slide" Target="slides/slide25.xml"/><Relationship Id="rId32" Type="http://schemas.openxmlformats.org/officeDocument/2006/relationships/slide" Target="slides/slide24.xml"/><Relationship Id="rId35" Type="http://schemas.openxmlformats.org/officeDocument/2006/relationships/slide" Target="slides/slide27.xml"/><Relationship Id="rId34" Type="http://schemas.openxmlformats.org/officeDocument/2006/relationships/slide" Target="slides/slide26.xml"/><Relationship Id="rId37" Type="http://schemas.openxmlformats.org/officeDocument/2006/relationships/slide" Target="slides/slide29.xml"/><Relationship Id="rId36" Type="http://schemas.openxmlformats.org/officeDocument/2006/relationships/slide" Target="slides/slide28.xml"/><Relationship Id="rId39" Type="http://schemas.openxmlformats.org/officeDocument/2006/relationships/slide" Target="slides/slide31.xml"/><Relationship Id="rId38" Type="http://schemas.openxmlformats.org/officeDocument/2006/relationships/slide" Target="slides/slide30.xml"/><Relationship Id="rId20" Type="http://schemas.openxmlformats.org/officeDocument/2006/relationships/slide" Target="slides/slide12.xml"/><Relationship Id="rId22" Type="http://schemas.openxmlformats.org/officeDocument/2006/relationships/slide" Target="slides/slide14.xml"/><Relationship Id="rId21" Type="http://schemas.openxmlformats.org/officeDocument/2006/relationships/slide" Target="slides/slide13.xml"/><Relationship Id="rId24" Type="http://schemas.openxmlformats.org/officeDocument/2006/relationships/slide" Target="slides/slide16.xml"/><Relationship Id="rId23" Type="http://schemas.openxmlformats.org/officeDocument/2006/relationships/slide" Target="slides/slide15.xml"/><Relationship Id="rId129" Type="http://schemas.openxmlformats.org/officeDocument/2006/relationships/slide" Target="slides/slide121.xml"/><Relationship Id="rId128" Type="http://schemas.openxmlformats.org/officeDocument/2006/relationships/slide" Target="slides/slide120.xml"/><Relationship Id="rId127" Type="http://schemas.openxmlformats.org/officeDocument/2006/relationships/slide" Target="slides/slide119.xml"/><Relationship Id="rId126" Type="http://schemas.openxmlformats.org/officeDocument/2006/relationships/slide" Target="slides/slide118.xml"/><Relationship Id="rId26" Type="http://schemas.openxmlformats.org/officeDocument/2006/relationships/slide" Target="slides/slide18.xml"/><Relationship Id="rId121" Type="http://schemas.openxmlformats.org/officeDocument/2006/relationships/slide" Target="slides/slide113.xml"/><Relationship Id="rId25" Type="http://schemas.openxmlformats.org/officeDocument/2006/relationships/slide" Target="slides/slide17.xml"/><Relationship Id="rId120" Type="http://schemas.openxmlformats.org/officeDocument/2006/relationships/slide" Target="slides/slide112.xml"/><Relationship Id="rId28" Type="http://schemas.openxmlformats.org/officeDocument/2006/relationships/slide" Target="slides/slide20.xml"/><Relationship Id="rId27" Type="http://schemas.openxmlformats.org/officeDocument/2006/relationships/slide" Target="slides/slide19.xml"/><Relationship Id="rId125" Type="http://schemas.openxmlformats.org/officeDocument/2006/relationships/slide" Target="slides/slide117.xml"/><Relationship Id="rId29" Type="http://schemas.openxmlformats.org/officeDocument/2006/relationships/slide" Target="slides/slide21.xml"/><Relationship Id="rId124" Type="http://schemas.openxmlformats.org/officeDocument/2006/relationships/slide" Target="slides/slide116.xml"/><Relationship Id="rId123" Type="http://schemas.openxmlformats.org/officeDocument/2006/relationships/slide" Target="slides/slide115.xml"/><Relationship Id="rId122" Type="http://schemas.openxmlformats.org/officeDocument/2006/relationships/slide" Target="slides/slide114.xml"/><Relationship Id="rId95" Type="http://schemas.openxmlformats.org/officeDocument/2006/relationships/slide" Target="slides/slide87.xml"/><Relationship Id="rId94" Type="http://schemas.openxmlformats.org/officeDocument/2006/relationships/slide" Target="slides/slide86.xml"/><Relationship Id="rId97" Type="http://schemas.openxmlformats.org/officeDocument/2006/relationships/slide" Target="slides/slide89.xml"/><Relationship Id="rId96" Type="http://schemas.openxmlformats.org/officeDocument/2006/relationships/slide" Target="slides/slide88.xml"/><Relationship Id="rId11" Type="http://schemas.openxmlformats.org/officeDocument/2006/relationships/slide" Target="slides/slide3.xml"/><Relationship Id="rId99" Type="http://schemas.openxmlformats.org/officeDocument/2006/relationships/slide" Target="slides/slide91.xml"/><Relationship Id="rId10" Type="http://schemas.openxmlformats.org/officeDocument/2006/relationships/slide" Target="slides/slide2.xml"/><Relationship Id="rId98" Type="http://schemas.openxmlformats.org/officeDocument/2006/relationships/slide" Target="slides/slide90.xml"/><Relationship Id="rId13" Type="http://schemas.openxmlformats.org/officeDocument/2006/relationships/slide" Target="slides/slide5.xml"/><Relationship Id="rId12" Type="http://schemas.openxmlformats.org/officeDocument/2006/relationships/slide" Target="slides/slide4.xml"/><Relationship Id="rId91" Type="http://schemas.openxmlformats.org/officeDocument/2006/relationships/slide" Target="slides/slide83.xml"/><Relationship Id="rId90" Type="http://schemas.openxmlformats.org/officeDocument/2006/relationships/slide" Target="slides/slide82.xml"/><Relationship Id="rId93" Type="http://schemas.openxmlformats.org/officeDocument/2006/relationships/slide" Target="slides/slide85.xml"/><Relationship Id="rId92" Type="http://schemas.openxmlformats.org/officeDocument/2006/relationships/slide" Target="slides/slide84.xml"/><Relationship Id="rId118" Type="http://schemas.openxmlformats.org/officeDocument/2006/relationships/slide" Target="slides/slide110.xml"/><Relationship Id="rId117" Type="http://schemas.openxmlformats.org/officeDocument/2006/relationships/slide" Target="slides/slide109.xml"/><Relationship Id="rId116" Type="http://schemas.openxmlformats.org/officeDocument/2006/relationships/slide" Target="slides/slide108.xml"/><Relationship Id="rId115" Type="http://schemas.openxmlformats.org/officeDocument/2006/relationships/slide" Target="slides/slide107.xml"/><Relationship Id="rId119" Type="http://schemas.openxmlformats.org/officeDocument/2006/relationships/slide" Target="slides/slide111.xml"/><Relationship Id="rId15" Type="http://schemas.openxmlformats.org/officeDocument/2006/relationships/slide" Target="slides/slide7.xml"/><Relationship Id="rId110" Type="http://schemas.openxmlformats.org/officeDocument/2006/relationships/slide" Target="slides/slide102.xml"/><Relationship Id="rId14" Type="http://schemas.openxmlformats.org/officeDocument/2006/relationships/slide" Target="slides/slide6.xml"/><Relationship Id="rId17" Type="http://schemas.openxmlformats.org/officeDocument/2006/relationships/slide" Target="slides/slide9.xml"/><Relationship Id="rId16" Type="http://schemas.openxmlformats.org/officeDocument/2006/relationships/slide" Target="slides/slide8.xml"/><Relationship Id="rId19" Type="http://schemas.openxmlformats.org/officeDocument/2006/relationships/slide" Target="slides/slide11.xml"/><Relationship Id="rId114" Type="http://schemas.openxmlformats.org/officeDocument/2006/relationships/slide" Target="slides/slide106.xml"/><Relationship Id="rId18" Type="http://schemas.openxmlformats.org/officeDocument/2006/relationships/slide" Target="slides/slide10.xml"/><Relationship Id="rId113" Type="http://schemas.openxmlformats.org/officeDocument/2006/relationships/slide" Target="slides/slide105.xml"/><Relationship Id="rId112" Type="http://schemas.openxmlformats.org/officeDocument/2006/relationships/slide" Target="slides/slide104.xml"/><Relationship Id="rId111" Type="http://schemas.openxmlformats.org/officeDocument/2006/relationships/slide" Target="slides/slide103.xml"/><Relationship Id="rId84" Type="http://schemas.openxmlformats.org/officeDocument/2006/relationships/slide" Target="slides/slide76.xml"/><Relationship Id="rId83" Type="http://schemas.openxmlformats.org/officeDocument/2006/relationships/slide" Target="slides/slide75.xml"/><Relationship Id="rId86" Type="http://schemas.openxmlformats.org/officeDocument/2006/relationships/slide" Target="slides/slide78.xml"/><Relationship Id="rId85" Type="http://schemas.openxmlformats.org/officeDocument/2006/relationships/slide" Target="slides/slide77.xml"/><Relationship Id="rId88" Type="http://schemas.openxmlformats.org/officeDocument/2006/relationships/slide" Target="slides/slide80.xml"/><Relationship Id="rId150" Type="http://schemas.openxmlformats.org/officeDocument/2006/relationships/font" Target="fonts/PalatinoLinotype-bold.fntdata"/><Relationship Id="rId87" Type="http://schemas.openxmlformats.org/officeDocument/2006/relationships/slide" Target="slides/slide79.xml"/><Relationship Id="rId89" Type="http://schemas.openxmlformats.org/officeDocument/2006/relationships/slide" Target="slides/slide81.xml"/><Relationship Id="rId80" Type="http://schemas.openxmlformats.org/officeDocument/2006/relationships/slide" Target="slides/slide72.xml"/><Relationship Id="rId82" Type="http://schemas.openxmlformats.org/officeDocument/2006/relationships/slide" Target="slides/slide74.xml"/><Relationship Id="rId81" Type="http://schemas.openxmlformats.org/officeDocument/2006/relationships/slide" Target="slides/slide73.xml"/><Relationship Id="rId1" Type="http://schemas.openxmlformats.org/officeDocument/2006/relationships/theme" Target="theme/theme4.xml"/><Relationship Id="rId2" Type="http://schemas.openxmlformats.org/officeDocument/2006/relationships/viewProps" Target="viewProps.xml"/><Relationship Id="rId3" Type="http://schemas.openxmlformats.org/officeDocument/2006/relationships/presProps" Target="presProps.xml"/><Relationship Id="rId149" Type="http://schemas.openxmlformats.org/officeDocument/2006/relationships/font" Target="fonts/PalatinoLinotype-regular.fntdata"/><Relationship Id="rId4" Type="http://schemas.openxmlformats.org/officeDocument/2006/relationships/tableStyles" Target="tableStyles.xml"/><Relationship Id="rId148" Type="http://schemas.openxmlformats.org/officeDocument/2006/relationships/slide" Target="slides/slide140.xml"/><Relationship Id="rId9" Type="http://schemas.openxmlformats.org/officeDocument/2006/relationships/slide" Target="slides/slide1.xml"/><Relationship Id="rId143" Type="http://schemas.openxmlformats.org/officeDocument/2006/relationships/slide" Target="slides/slide135.xml"/><Relationship Id="rId142" Type="http://schemas.openxmlformats.org/officeDocument/2006/relationships/slide" Target="slides/slide134.xml"/><Relationship Id="rId141" Type="http://schemas.openxmlformats.org/officeDocument/2006/relationships/slide" Target="slides/slide133.xml"/><Relationship Id="rId140" Type="http://schemas.openxmlformats.org/officeDocument/2006/relationships/slide" Target="slides/slide132.xml"/><Relationship Id="rId5" Type="http://schemas.openxmlformats.org/officeDocument/2006/relationships/slideMaster" Target="slideMasters/slideMaster1.xml"/><Relationship Id="rId147" Type="http://schemas.openxmlformats.org/officeDocument/2006/relationships/slide" Target="slides/slide139.xml"/><Relationship Id="rId6" Type="http://schemas.openxmlformats.org/officeDocument/2006/relationships/slideMaster" Target="slideMasters/slideMaster2.xml"/><Relationship Id="rId146" Type="http://schemas.openxmlformats.org/officeDocument/2006/relationships/slide" Target="slides/slide138.xml"/><Relationship Id="rId7" Type="http://schemas.openxmlformats.org/officeDocument/2006/relationships/slideMaster" Target="slideMasters/slideMaster3.xml"/><Relationship Id="rId145" Type="http://schemas.openxmlformats.org/officeDocument/2006/relationships/slide" Target="slides/slide137.xml"/><Relationship Id="rId8" Type="http://schemas.openxmlformats.org/officeDocument/2006/relationships/notesMaster" Target="notesMasters/notesMaster1.xml"/><Relationship Id="rId144" Type="http://schemas.openxmlformats.org/officeDocument/2006/relationships/slide" Target="slides/slide136.xml"/><Relationship Id="rId73" Type="http://schemas.openxmlformats.org/officeDocument/2006/relationships/slide" Target="slides/slide65.xml"/><Relationship Id="rId72" Type="http://schemas.openxmlformats.org/officeDocument/2006/relationships/slide" Target="slides/slide64.xml"/><Relationship Id="rId75" Type="http://schemas.openxmlformats.org/officeDocument/2006/relationships/slide" Target="slides/slide67.xml"/><Relationship Id="rId74" Type="http://schemas.openxmlformats.org/officeDocument/2006/relationships/slide" Target="slides/slide66.xml"/><Relationship Id="rId77" Type="http://schemas.openxmlformats.org/officeDocument/2006/relationships/slide" Target="slides/slide69.xml"/><Relationship Id="rId76" Type="http://schemas.openxmlformats.org/officeDocument/2006/relationships/slide" Target="slides/slide68.xml"/><Relationship Id="rId79" Type="http://schemas.openxmlformats.org/officeDocument/2006/relationships/slide" Target="slides/slide71.xml"/><Relationship Id="rId78" Type="http://schemas.openxmlformats.org/officeDocument/2006/relationships/slide" Target="slides/slide70.xml"/><Relationship Id="rId71" Type="http://schemas.openxmlformats.org/officeDocument/2006/relationships/slide" Target="slides/slide63.xml"/><Relationship Id="rId70" Type="http://schemas.openxmlformats.org/officeDocument/2006/relationships/slide" Target="slides/slide62.xml"/><Relationship Id="rId139" Type="http://schemas.openxmlformats.org/officeDocument/2006/relationships/slide" Target="slides/slide131.xml"/><Relationship Id="rId138" Type="http://schemas.openxmlformats.org/officeDocument/2006/relationships/slide" Target="slides/slide130.xml"/><Relationship Id="rId137" Type="http://schemas.openxmlformats.org/officeDocument/2006/relationships/slide" Target="slides/slide129.xml"/><Relationship Id="rId132" Type="http://schemas.openxmlformats.org/officeDocument/2006/relationships/slide" Target="slides/slide124.xml"/><Relationship Id="rId131" Type="http://schemas.openxmlformats.org/officeDocument/2006/relationships/slide" Target="slides/slide123.xml"/><Relationship Id="rId130" Type="http://schemas.openxmlformats.org/officeDocument/2006/relationships/slide" Target="slides/slide122.xml"/><Relationship Id="rId136" Type="http://schemas.openxmlformats.org/officeDocument/2006/relationships/slide" Target="slides/slide128.xml"/><Relationship Id="rId135" Type="http://schemas.openxmlformats.org/officeDocument/2006/relationships/slide" Target="slides/slide127.xml"/><Relationship Id="rId134" Type="http://schemas.openxmlformats.org/officeDocument/2006/relationships/slide" Target="slides/slide126.xml"/><Relationship Id="rId133" Type="http://schemas.openxmlformats.org/officeDocument/2006/relationships/slide" Target="slides/slide125.xml"/><Relationship Id="rId62" Type="http://schemas.openxmlformats.org/officeDocument/2006/relationships/slide" Target="slides/slide54.xml"/><Relationship Id="rId61" Type="http://schemas.openxmlformats.org/officeDocument/2006/relationships/slide" Target="slides/slide53.xml"/><Relationship Id="rId64" Type="http://schemas.openxmlformats.org/officeDocument/2006/relationships/slide" Target="slides/slide56.xml"/><Relationship Id="rId63" Type="http://schemas.openxmlformats.org/officeDocument/2006/relationships/slide" Target="slides/slide55.xml"/><Relationship Id="rId66" Type="http://schemas.openxmlformats.org/officeDocument/2006/relationships/slide" Target="slides/slide58.xml"/><Relationship Id="rId65" Type="http://schemas.openxmlformats.org/officeDocument/2006/relationships/slide" Target="slides/slide57.xml"/><Relationship Id="rId68" Type="http://schemas.openxmlformats.org/officeDocument/2006/relationships/slide" Target="slides/slide60.xml"/><Relationship Id="rId67" Type="http://schemas.openxmlformats.org/officeDocument/2006/relationships/slide" Target="slides/slide59.xml"/><Relationship Id="rId60" Type="http://schemas.openxmlformats.org/officeDocument/2006/relationships/slide" Target="slides/slide52.xml"/><Relationship Id="rId69" Type="http://schemas.openxmlformats.org/officeDocument/2006/relationships/slide" Target="slides/slide61.xml"/><Relationship Id="rId51" Type="http://schemas.openxmlformats.org/officeDocument/2006/relationships/slide" Target="slides/slide43.xml"/><Relationship Id="rId50" Type="http://schemas.openxmlformats.org/officeDocument/2006/relationships/slide" Target="slides/slide42.xml"/><Relationship Id="rId53" Type="http://schemas.openxmlformats.org/officeDocument/2006/relationships/slide" Target="slides/slide45.xml"/><Relationship Id="rId52" Type="http://schemas.openxmlformats.org/officeDocument/2006/relationships/slide" Target="slides/slide44.xml"/><Relationship Id="rId55" Type="http://schemas.openxmlformats.org/officeDocument/2006/relationships/slide" Target="slides/slide47.xml"/><Relationship Id="rId54" Type="http://schemas.openxmlformats.org/officeDocument/2006/relationships/slide" Target="slides/slide46.xml"/><Relationship Id="rId57" Type="http://schemas.openxmlformats.org/officeDocument/2006/relationships/slide" Target="slides/slide49.xml"/><Relationship Id="rId56" Type="http://schemas.openxmlformats.org/officeDocument/2006/relationships/slide" Target="slides/slide48.xml"/><Relationship Id="rId59" Type="http://schemas.openxmlformats.org/officeDocument/2006/relationships/slide" Target="slides/slide51.xml"/><Relationship Id="rId154" Type="http://schemas.openxmlformats.org/officeDocument/2006/relationships/font" Target="fonts/RobotoMono-bold.fntdata"/><Relationship Id="rId58" Type="http://schemas.openxmlformats.org/officeDocument/2006/relationships/slide" Target="slides/slide50.xml"/><Relationship Id="rId153" Type="http://schemas.openxmlformats.org/officeDocument/2006/relationships/font" Target="fonts/RobotoMono-regular.fntdata"/><Relationship Id="rId152" Type="http://schemas.openxmlformats.org/officeDocument/2006/relationships/font" Target="fonts/PalatinoLinotype-boldItalic.fntdata"/><Relationship Id="rId151" Type="http://schemas.openxmlformats.org/officeDocument/2006/relationships/font" Target="fonts/PalatinoLinotype-italic.fntdata"/><Relationship Id="rId156" Type="http://schemas.openxmlformats.org/officeDocument/2006/relationships/font" Target="fonts/RobotoMono-boldItalic.fntdata"/><Relationship Id="rId155" Type="http://schemas.openxmlformats.org/officeDocument/2006/relationships/font" Target="fonts/RobotoMono-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f5609be59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2" name="Google Shape;172;g3f5609be59c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3f48fac9686_0_4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3f48fac9686_0_4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bloomberg</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f48fac9686_0_4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3f48fac9686_0_4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3f48fac9686_0_4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 name="Google Shape;220;g3f48fac9686_0_4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3f48fac9686_0_6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0" name="Google Shape;230;g3f48fac9686_0_6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GB"/>
              <a:t>Motivation slide</a:t>
            </a:r>
            <a:endParaRPr/>
          </a:p>
          <a:p>
            <a:pPr indent="0" lvl="0" marL="0" rtl="0" algn="l">
              <a:lnSpc>
                <a:spcPct val="100000"/>
              </a:lnSpc>
              <a:spcBef>
                <a:spcPts val="0"/>
              </a:spcBef>
              <a:spcAft>
                <a:spcPts val="0"/>
              </a:spcAft>
              <a:buSzPts val="1100"/>
              <a:buNone/>
            </a:pPr>
            <a:r>
              <a:rPr b="0" i="0" lang="en-GB">
                <a:solidFill>
                  <a:srgbClr val="CCCCCC"/>
                </a:solidFill>
                <a:latin typeface="Arial"/>
                <a:ea typeface="Arial"/>
                <a:cs typeface="Arial"/>
                <a:sym typeface="Arial"/>
              </a:rPr>
              <a:t> Treatments for migraine that don't cause drowsiness and are safe to combine with blood thinners</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3f93b6d86d5_2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3" name="Google Shape;243;g3f93b6d86d5_2_5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3f4f42fdaa5_5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g3f4f42fdaa5_5_7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3f4f42fdaa5_5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g3f4f42fdaa5_5_8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3f4f42fdaa5_5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g3f4f42fdaa5_5_8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3f4f42fdaa5_5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g3f4f42fdaa5_5_9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3f4f42fdaa5_5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g3f4f42fdaa5_5_9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g3f5609be59c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2" name="Google Shape;292;g3f5609be59c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g3cf34abd7ad_0_3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2" name="Google Shape;312;g3cf34abd7ad_0_3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3cf34abd7ad_0_3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9" name="Google Shape;319;g3cf34abd7ad_0_3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g3be115fc00c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7" name="Google Shape;327;g3be115fc00c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solidFill>
                  <a:srgbClr val="188038"/>
                </a:solidFill>
                <a:latin typeface="Roboto Mono"/>
                <a:ea typeface="Roboto Mono"/>
                <a:cs typeface="Roboto Mono"/>
                <a:sym typeface="Roboto Mono"/>
              </a:rPr>
              <a:t>#section: Reasoning: Definition &amp; challenges in IR | 30</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g3d1a0b1ea5e_1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3" name="Google Shape;333;g3d1a0b1ea5e_1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g3d1a0b1ea5e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3" name="Google Shape;343;g3d1a0b1ea5e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solidFill>
                  <a:srgbClr val="188038"/>
                </a:solidFill>
                <a:latin typeface="Roboto Mono"/>
                <a:ea typeface="Roboto Mono"/>
                <a:cs typeface="Roboto Mono"/>
                <a:sym typeface="Roboto Mono"/>
              </a:rPr>
              <a:t>#section: Reasoning: Definition &amp; challenges in IR | 30</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g3d1a0b1ea5e_1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9" name="Google Shape;349;g3d1a0b1ea5e_1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g3d1a0b1ea5e_1_1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3" name="Google Shape;363;g3d1a0b1ea5e_1_1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g3d1a0b1ea5e_1_1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2" name="Google Shape;372;g3d1a0b1ea5e_1_1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g3d1a0b1ea5e_1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2" name="Google Shape;382;g3d1a0b1ea5e_1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solidFill>
                  <a:srgbClr val="188038"/>
                </a:solidFill>
                <a:latin typeface="Roboto Mono"/>
                <a:ea typeface="Roboto Mono"/>
                <a:cs typeface="Roboto Mono"/>
                <a:sym typeface="Roboto Mono"/>
              </a:rPr>
              <a:t>#section: Reasoning: Definition &amp; challenges in IR | 30</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g3d1a0b1ea5e_1_1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8" name="Google Shape;388;g3d1a0b1ea5e_1_1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g3d1a0b1ea5e_1_1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9" name="Google Shape;399;g3d1a0b1ea5e_1_1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g3d252797c72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3" name="Google Shape;413;g3d252797c72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g3d1a0b1ea5e_1_1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7" name="Google Shape;427;g3d1a0b1ea5e_1_1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g3d32225b443_5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7" name="Google Shape;437;g3d32225b443_5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g3d1a0b1ea5e_1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9" name="Google Shape;459;g3d1a0b1ea5e_1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solidFill>
                  <a:srgbClr val="188038"/>
                </a:solidFill>
                <a:latin typeface="Roboto Mono"/>
                <a:ea typeface="Roboto Mono"/>
                <a:cs typeface="Roboto Mono"/>
                <a:sym typeface="Roboto Mono"/>
              </a:rPr>
              <a:t>#section: Reasoning: Definition &amp; challenges in IR | 30</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 name="Shape 463"/>
        <p:cNvGrpSpPr/>
        <p:nvPr/>
      </p:nvGrpSpPr>
      <p:grpSpPr>
        <a:xfrm>
          <a:off x="0" y="0"/>
          <a:ext cx="0" cy="0"/>
          <a:chOff x="0" y="0"/>
          <a:chExt cx="0" cy="0"/>
        </a:xfrm>
      </p:grpSpPr>
      <p:sp>
        <p:nvSpPr>
          <p:cNvPr id="464" name="Google Shape;464;g3d1a0b1ea5e_1_1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5" name="Google Shape;465;g3d1a0b1ea5e_1_1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6" name="Shape 476"/>
        <p:cNvGrpSpPr/>
        <p:nvPr/>
      </p:nvGrpSpPr>
      <p:grpSpPr>
        <a:xfrm>
          <a:off x="0" y="0"/>
          <a:ext cx="0" cy="0"/>
          <a:chOff x="0" y="0"/>
          <a:chExt cx="0" cy="0"/>
        </a:xfrm>
      </p:grpSpPr>
      <p:sp>
        <p:nvSpPr>
          <p:cNvPr id="477" name="Google Shape;477;g3d1a0b1ea5e_1_2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8" name="Google Shape;478;g3d1a0b1ea5e_1_2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g3d1a0b1ea5e_1_2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4" name="Google Shape;494;g3d1a0b1ea5e_1_2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Symbolic vs probabilistic @Maarten</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g3d1a0b1ea5e_1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1" name="Google Shape;501;g3d1a0b1ea5e_1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solidFill>
                  <a:srgbClr val="188038"/>
                </a:solidFill>
                <a:latin typeface="Roboto Mono"/>
                <a:ea typeface="Roboto Mono"/>
                <a:cs typeface="Roboto Mono"/>
                <a:sym typeface="Roboto Mono"/>
              </a:rPr>
              <a:t>#section: Reasoning: Definition &amp; challenges in IR | 30</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5" name="Shape 505"/>
        <p:cNvGrpSpPr/>
        <p:nvPr/>
      </p:nvGrpSpPr>
      <p:grpSpPr>
        <a:xfrm>
          <a:off x="0" y="0"/>
          <a:ext cx="0" cy="0"/>
          <a:chOff x="0" y="0"/>
          <a:chExt cx="0" cy="0"/>
        </a:xfrm>
      </p:grpSpPr>
      <p:sp>
        <p:nvSpPr>
          <p:cNvPr id="506" name="Google Shape;506;g3d1a0b1ea5e_1_2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7" name="Google Shape;507;g3d1a0b1ea5e_1_2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g3d1a0b1ea5e_1_2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9" name="Google Shape;519;g3d1a0b1ea5e_1_2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2" name="Shape 542"/>
        <p:cNvGrpSpPr/>
        <p:nvPr/>
      </p:nvGrpSpPr>
      <p:grpSpPr>
        <a:xfrm>
          <a:off x="0" y="0"/>
          <a:ext cx="0" cy="0"/>
          <a:chOff x="0" y="0"/>
          <a:chExt cx="0" cy="0"/>
        </a:xfrm>
      </p:grpSpPr>
      <p:sp>
        <p:nvSpPr>
          <p:cNvPr id="543" name="Google Shape;543;g3d1a0b1ea5e_1_2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4" name="Google Shape;544;g3d1a0b1ea5e_1_2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g3d1a0b1ea5e_1_2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6" name="Google Shape;556;g3d1a0b1ea5e_1_2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2" name="Shape 572"/>
        <p:cNvGrpSpPr/>
        <p:nvPr/>
      </p:nvGrpSpPr>
      <p:grpSpPr>
        <a:xfrm>
          <a:off x="0" y="0"/>
          <a:ext cx="0" cy="0"/>
          <a:chOff x="0" y="0"/>
          <a:chExt cx="0" cy="0"/>
        </a:xfrm>
      </p:grpSpPr>
      <p:sp>
        <p:nvSpPr>
          <p:cNvPr id="573" name="Google Shape;573;g3d32225b443_1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4" name="Google Shape;574;g3d32225b443_1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2" name="Shape 582"/>
        <p:cNvGrpSpPr/>
        <p:nvPr/>
      </p:nvGrpSpPr>
      <p:grpSpPr>
        <a:xfrm>
          <a:off x="0" y="0"/>
          <a:ext cx="0" cy="0"/>
          <a:chOff x="0" y="0"/>
          <a:chExt cx="0" cy="0"/>
        </a:xfrm>
      </p:grpSpPr>
      <p:sp>
        <p:nvSpPr>
          <p:cNvPr id="583" name="Google Shape;583;g3be115fc00c_0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4" name="Google Shape;584;g3be115fc00c_0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solidFill>
                  <a:srgbClr val="188038"/>
                </a:solidFill>
                <a:latin typeface="Roboto Mono"/>
                <a:ea typeface="Roboto Mono"/>
                <a:cs typeface="Roboto Mono"/>
                <a:sym typeface="Roboto Mono"/>
              </a:rPr>
              <a:t>#section: Methods (I): LLM-based | 45</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8" name="Shape 588"/>
        <p:cNvGrpSpPr/>
        <p:nvPr/>
      </p:nvGrpSpPr>
      <p:grpSpPr>
        <a:xfrm>
          <a:off x="0" y="0"/>
          <a:ext cx="0" cy="0"/>
          <a:chOff x="0" y="0"/>
          <a:chExt cx="0" cy="0"/>
        </a:xfrm>
      </p:grpSpPr>
      <p:sp>
        <p:nvSpPr>
          <p:cNvPr id="589" name="Google Shape;589;g3d32225b443_14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0" name="Google Shape;590;g3d32225b443_14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solidFill>
                  <a:srgbClr val="188038"/>
                </a:solidFill>
                <a:latin typeface="Roboto Mono"/>
                <a:ea typeface="Roboto Mono"/>
                <a:cs typeface="Roboto Mono"/>
                <a:sym typeface="Roboto Mono"/>
              </a:rPr>
              <a:t>#section: Reasoning: Definition &amp; challenges in IR | 30</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4" name="Shape 594"/>
        <p:cNvGrpSpPr/>
        <p:nvPr/>
      </p:nvGrpSpPr>
      <p:grpSpPr>
        <a:xfrm>
          <a:off x="0" y="0"/>
          <a:ext cx="0" cy="0"/>
          <a:chOff x="0" y="0"/>
          <a:chExt cx="0" cy="0"/>
        </a:xfrm>
      </p:grpSpPr>
      <p:sp>
        <p:nvSpPr>
          <p:cNvPr id="595" name="Google Shape;595;g3d2600a6132_6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96" name="Google Shape;596;g3d2600a6132_6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0" name="Shape 600"/>
        <p:cNvGrpSpPr/>
        <p:nvPr/>
      </p:nvGrpSpPr>
      <p:grpSpPr>
        <a:xfrm>
          <a:off x="0" y="0"/>
          <a:ext cx="0" cy="0"/>
          <a:chOff x="0" y="0"/>
          <a:chExt cx="0" cy="0"/>
        </a:xfrm>
      </p:grpSpPr>
      <p:sp>
        <p:nvSpPr>
          <p:cNvPr id="601" name="Google Shape;601;g3d2600a6132_6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02" name="Google Shape;602;g3d2600a6132_6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8" name="Shape 608"/>
        <p:cNvGrpSpPr/>
        <p:nvPr/>
      </p:nvGrpSpPr>
      <p:grpSpPr>
        <a:xfrm>
          <a:off x="0" y="0"/>
          <a:ext cx="0" cy="0"/>
          <a:chOff x="0" y="0"/>
          <a:chExt cx="0" cy="0"/>
        </a:xfrm>
      </p:grpSpPr>
      <p:sp>
        <p:nvSpPr>
          <p:cNvPr id="609" name="Google Shape;609;g3d2600a6132_6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10" name="Google Shape;610;g3d2600a6132_6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7" name="Shape 617"/>
        <p:cNvGrpSpPr/>
        <p:nvPr/>
      </p:nvGrpSpPr>
      <p:grpSpPr>
        <a:xfrm>
          <a:off x="0" y="0"/>
          <a:ext cx="0" cy="0"/>
          <a:chOff x="0" y="0"/>
          <a:chExt cx="0" cy="0"/>
        </a:xfrm>
      </p:grpSpPr>
      <p:sp>
        <p:nvSpPr>
          <p:cNvPr id="618" name="Google Shape;618;g3d2600a6132_6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19" name="Google Shape;619;g3d2600a6132_6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7" name="Shape 627"/>
        <p:cNvGrpSpPr/>
        <p:nvPr/>
      </p:nvGrpSpPr>
      <p:grpSpPr>
        <a:xfrm>
          <a:off x="0" y="0"/>
          <a:ext cx="0" cy="0"/>
          <a:chOff x="0" y="0"/>
          <a:chExt cx="0" cy="0"/>
        </a:xfrm>
      </p:grpSpPr>
      <p:sp>
        <p:nvSpPr>
          <p:cNvPr id="628" name="Google Shape;628;g3d2600a6132_6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29" name="Google Shape;629;g3d2600a6132_6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8" name="Shape 668"/>
        <p:cNvGrpSpPr/>
        <p:nvPr/>
      </p:nvGrpSpPr>
      <p:grpSpPr>
        <a:xfrm>
          <a:off x="0" y="0"/>
          <a:ext cx="0" cy="0"/>
          <a:chOff x="0" y="0"/>
          <a:chExt cx="0" cy="0"/>
        </a:xfrm>
      </p:grpSpPr>
      <p:sp>
        <p:nvSpPr>
          <p:cNvPr id="669" name="Google Shape;669;g3d2600a6132_6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70" name="Google Shape;670;g3d2600a6132_6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6" name="Shape 736"/>
        <p:cNvGrpSpPr/>
        <p:nvPr/>
      </p:nvGrpSpPr>
      <p:grpSpPr>
        <a:xfrm>
          <a:off x="0" y="0"/>
          <a:ext cx="0" cy="0"/>
          <a:chOff x="0" y="0"/>
          <a:chExt cx="0" cy="0"/>
        </a:xfrm>
      </p:grpSpPr>
      <p:sp>
        <p:nvSpPr>
          <p:cNvPr id="737" name="Google Shape;737;g3d2600a6132_6_1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1400">
                <a:solidFill>
                  <a:srgbClr val="595959"/>
                </a:solidFill>
              </a:rPr>
              <a:t>Conceptually, a Transformer lays out its computations in two dimensions. It applies a fixed stack of T layers sequentially, and within each layer, it processes all N tokens in parallel.</a:t>
            </a:r>
            <a:endParaRPr sz="1400">
              <a:solidFill>
                <a:srgbClr val="595959"/>
              </a:solidFill>
            </a:endParaRPr>
          </a:p>
          <a:p>
            <a:pPr indent="0" lvl="0" marL="0" rtl="0" algn="l">
              <a:spcBef>
                <a:spcPts val="0"/>
              </a:spcBef>
              <a:spcAft>
                <a:spcPts val="0"/>
              </a:spcAft>
              <a:buNone/>
            </a:pPr>
            <a:r>
              <a:t/>
            </a:r>
            <a:endParaRPr sz="1400">
              <a:solidFill>
                <a:srgbClr val="595959"/>
              </a:solidFill>
            </a:endParaRPr>
          </a:p>
          <a:p>
            <a:pPr indent="0" lvl="0" marL="0" rtl="0" algn="l">
              <a:spcBef>
                <a:spcPts val="0"/>
              </a:spcBef>
              <a:spcAft>
                <a:spcPts val="0"/>
              </a:spcAft>
              <a:buNone/>
            </a:pPr>
            <a:r>
              <a:rPr lang="en-GB" sz="1400">
                <a:solidFill>
                  <a:srgbClr val="595959"/>
                </a:solidFill>
              </a:rPr>
              <a:t>This parallelism is powerful, but it does not help with problems that require strictly sequential reasoning. Each computational node in the path must happen on its own layer, since it cannot be computed in parallel with its parent.</a:t>
            </a:r>
            <a:endParaRPr sz="1400">
              <a:solidFill>
                <a:srgbClr val="595959"/>
              </a:solidFill>
            </a:endParaRPr>
          </a:p>
          <a:p>
            <a:pPr indent="0" lvl="0" marL="0" rtl="0" algn="l">
              <a:spcBef>
                <a:spcPts val="0"/>
              </a:spcBef>
              <a:spcAft>
                <a:spcPts val="0"/>
              </a:spcAft>
              <a:buNone/>
            </a:pPr>
            <a:r>
              <a:t/>
            </a:r>
            <a:endParaRPr sz="1400">
              <a:solidFill>
                <a:srgbClr val="595959"/>
              </a:solidFill>
            </a:endParaRPr>
          </a:p>
          <a:p>
            <a:pPr indent="0" lvl="0" marL="0" rtl="0" algn="l">
              <a:spcBef>
                <a:spcPts val="0"/>
              </a:spcBef>
              <a:spcAft>
                <a:spcPts val="0"/>
              </a:spcAft>
              <a:buNone/>
            </a:pPr>
            <a:r>
              <a:rPr lang="en-GB" sz="1400">
                <a:solidFill>
                  <a:srgbClr val="595959"/>
                </a:solidFill>
              </a:rPr>
              <a:t>If the reasoning path has length greater than T, the Transformer simply cannot execute it. </a:t>
            </a:r>
            <a:endParaRPr sz="1400">
              <a:solidFill>
                <a:srgbClr val="595959"/>
              </a:solidFill>
            </a:endParaRPr>
          </a:p>
          <a:p>
            <a:pPr indent="0" lvl="0" marL="0" rtl="0" algn="l">
              <a:spcBef>
                <a:spcPts val="0"/>
              </a:spcBef>
              <a:spcAft>
                <a:spcPts val="0"/>
              </a:spcAft>
              <a:buNone/>
            </a:pPr>
            <a:r>
              <a:rPr lang="en-GB" sz="1400">
                <a:solidFill>
                  <a:srgbClr val="595959"/>
                </a:solidFill>
              </a:rPr>
              <a:t>What is missing is recurrence.</a:t>
            </a:r>
            <a:endParaRPr sz="1400"/>
          </a:p>
        </p:txBody>
      </p:sp>
      <p:sp>
        <p:nvSpPr>
          <p:cNvPr id="738" name="Google Shape;738;g3d2600a6132_6_1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4" name="Shape 804"/>
        <p:cNvGrpSpPr/>
        <p:nvPr/>
      </p:nvGrpSpPr>
      <p:grpSpPr>
        <a:xfrm>
          <a:off x="0" y="0"/>
          <a:ext cx="0" cy="0"/>
          <a:chOff x="0" y="0"/>
          <a:chExt cx="0" cy="0"/>
        </a:xfrm>
      </p:grpSpPr>
      <p:sp>
        <p:nvSpPr>
          <p:cNvPr id="805" name="Google Shape;805;g3d2600a6132_6_2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a:p>
        </p:txBody>
      </p:sp>
      <p:sp>
        <p:nvSpPr>
          <p:cNvPr id="806" name="Google Shape;806;g3d2600a6132_6_2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5" name="Shape 815"/>
        <p:cNvGrpSpPr/>
        <p:nvPr/>
      </p:nvGrpSpPr>
      <p:grpSpPr>
        <a:xfrm>
          <a:off x="0" y="0"/>
          <a:ext cx="0" cy="0"/>
          <a:chOff x="0" y="0"/>
          <a:chExt cx="0" cy="0"/>
        </a:xfrm>
      </p:grpSpPr>
      <p:sp>
        <p:nvSpPr>
          <p:cNvPr id="816" name="Google Shape;816;g3d32225b443_17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7" name="Google Shape;817;g3d32225b443_17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solidFill>
                  <a:srgbClr val="188038"/>
                </a:solidFill>
                <a:latin typeface="Roboto Mono"/>
                <a:ea typeface="Roboto Mono"/>
                <a:cs typeface="Roboto Mono"/>
                <a:sym typeface="Roboto Mono"/>
              </a:rPr>
              <a:t>#section: Reasoning: Definition &amp; challenges in IR | 30</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1" name="Shape 821"/>
        <p:cNvGrpSpPr/>
        <p:nvPr/>
      </p:nvGrpSpPr>
      <p:grpSpPr>
        <a:xfrm>
          <a:off x="0" y="0"/>
          <a:ext cx="0" cy="0"/>
          <a:chOff x="0" y="0"/>
          <a:chExt cx="0" cy="0"/>
        </a:xfrm>
      </p:grpSpPr>
      <p:sp>
        <p:nvSpPr>
          <p:cNvPr id="822" name="Google Shape;822;g3d2600a6132_6_2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0"/>
              </a:spcBef>
              <a:spcAft>
                <a:spcPts val="0"/>
              </a:spcAft>
              <a:buSzPts val="1100"/>
              <a:buChar char="-"/>
            </a:pPr>
            <a:r>
              <a:rPr lang="en-GB"/>
              <a:t>The core idea behind chain-of-thought prompting is to provide a large language model with a few demonstrations of a "chain of thought"</a:t>
            </a:r>
            <a:endParaRPr/>
          </a:p>
          <a:p>
            <a:pPr indent="-298450" lvl="0" marL="457200" rtl="0" algn="l">
              <a:lnSpc>
                <a:spcPct val="115000"/>
              </a:lnSpc>
              <a:spcBef>
                <a:spcPts val="0"/>
              </a:spcBef>
              <a:spcAft>
                <a:spcPts val="0"/>
              </a:spcAft>
              <a:buSzPts val="1100"/>
              <a:buChar char="-"/>
            </a:pPr>
            <a:r>
              <a:rPr lang="en-GB"/>
              <a:t>CoT: a coherent series of intermediate natural language reasoning steps that lead to the final output</a:t>
            </a:r>
            <a:endParaRPr/>
          </a:p>
          <a:p>
            <a:pPr indent="-298450" lvl="0" marL="457200" rtl="0" algn="l">
              <a:lnSpc>
                <a:spcPct val="115000"/>
              </a:lnSpc>
              <a:spcBef>
                <a:spcPts val="0"/>
              </a:spcBef>
              <a:spcAft>
                <a:spcPts val="0"/>
              </a:spcAft>
              <a:buSzPts val="1100"/>
              <a:buChar char="-"/>
            </a:pPr>
            <a:r>
              <a:rPr lang="en-GB"/>
              <a:t>Designed to mimic the human thought process of decomposing complicated, multi-step problems into intermediate steps and solving each one before arriving at a final answer</a:t>
            </a:r>
            <a:endParaRPr/>
          </a:p>
          <a:p>
            <a:pPr indent="-298450" lvl="0" marL="457200" rtl="0" algn="l">
              <a:lnSpc>
                <a:spcPct val="115000"/>
              </a:lnSpc>
              <a:spcBef>
                <a:spcPts val="0"/>
              </a:spcBef>
              <a:spcAft>
                <a:spcPts val="0"/>
              </a:spcAft>
              <a:buSzPts val="1100"/>
              <a:buChar char="-"/>
            </a:pPr>
            <a:r>
              <a:rPr lang="en-GB"/>
              <a:t>It is implemented simply by including a few examples of &lt;input, chain of thought, output&gt; triples in the model's prompt</a:t>
            </a:r>
            <a:endParaRPr/>
          </a:p>
          <a:p>
            <a:pPr indent="-298450" lvl="0" marL="457200" rtl="0" algn="l">
              <a:lnSpc>
                <a:spcPct val="115000"/>
              </a:lnSpc>
              <a:spcBef>
                <a:spcPts val="0"/>
              </a:spcBef>
              <a:spcAft>
                <a:spcPts val="0"/>
              </a:spcAft>
              <a:buSzPts val="1100"/>
              <a:buChar char="-"/>
            </a:pPr>
            <a:r>
              <a:rPr lang="en-GB"/>
              <a:t>Motivation: 1) In-context few-shot prompting: Large language models have shown they can learn tasks simply by being prompted with a few input-output 2) Natural language rationales: Prior research demonstrated that models performing arithmetic reasoning benefit from generating intermediate natural language steps</a:t>
            </a:r>
            <a:endParaRPr/>
          </a:p>
          <a:p>
            <a:pPr indent="0" lvl="0" marL="0" rtl="0" algn="l">
              <a:lnSpc>
                <a:spcPct val="115000"/>
              </a:lnSpc>
              <a:spcBef>
                <a:spcPts val="0"/>
              </a:spcBef>
              <a:spcAft>
                <a:spcPts val="0"/>
              </a:spcAft>
              <a:buNone/>
            </a:pPr>
            <a:r>
              <a:rPr lang="en-GB">
                <a:solidFill>
                  <a:schemeClr val="dk1"/>
                </a:solidFill>
              </a:rPr>
              <a:t>Advantages CoT: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GB">
                <a:solidFill>
                  <a:schemeClr val="dk1"/>
                </a:solidFill>
              </a:rPr>
              <a:t>Improves complex reasoning</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GB">
                <a:solidFill>
                  <a:schemeClr val="dk1"/>
                </a:solidFill>
              </a:rPr>
              <a:t>Interpretability and debugging: Generating intermediate steps provides an interpretable window into the model's behavior</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GB">
                <a:solidFill>
                  <a:schemeClr val="dk1"/>
                </a:solidFill>
              </a:rPr>
              <a:t>By decomposing multi-step problems, the model learn to can spend more computation on problems that require harder reasoning</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GB">
                <a:solidFill>
                  <a:schemeClr val="dk1"/>
                </a:solidFill>
              </a:rPr>
              <a:t>Simplicity and efficiency: It unlocks powerful reasoning capabilities in off-the-shelf models simply by providing a few examples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GB">
                <a:solidFill>
                  <a:schemeClr val="dk1"/>
                </a:solidFill>
              </a:rPr>
              <a:t>Broad applicability: Because it relies on natural language, the method is versatile and potentially applicable to any task that humans solve via language</a:t>
            </a:r>
            <a:endParaRPr>
              <a:solidFill>
                <a:schemeClr val="dk1"/>
              </a:solidFill>
            </a:endParaRPr>
          </a:p>
          <a:p>
            <a:pPr indent="0" lvl="0" marL="0" rtl="0" algn="l">
              <a:lnSpc>
                <a:spcPct val="115000"/>
              </a:lnSpc>
              <a:spcBef>
                <a:spcPts val="0"/>
              </a:spcBef>
              <a:spcAft>
                <a:spcPts val="0"/>
              </a:spcAft>
              <a:buNone/>
            </a:pPr>
            <a:r>
              <a:rPr lang="en-GB">
                <a:solidFill>
                  <a:schemeClr val="dk1"/>
                </a:solidFill>
              </a:rPr>
              <a:t>Limitations: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GB">
                <a:solidFill>
                  <a:schemeClr val="dk1"/>
                </a:solidFill>
              </a:rPr>
              <a:t>Requires massive model scale: meaning it generally only improves performance on models with roughly 100 billion parameters or more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GB">
                <a:solidFill>
                  <a:schemeClr val="dk1"/>
                </a:solidFill>
              </a:rPr>
              <a:t>High deployment costs: Because it relies on very large language models to function effectively, it is costly to serve in real-world applications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GB">
                <a:solidFill>
                  <a:schemeClr val="dk1"/>
                </a:solidFill>
              </a:rPr>
              <a:t>When applied to smaller models, it often produces fluent but illogical reasoning, which can actually result in worse performance than standard prompting</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GB">
                <a:solidFill>
                  <a:schemeClr val="dk1"/>
                </a:solidFill>
              </a:rPr>
              <a:t>No guarantee of correctness: The generated reasoning paths are not guaranteed to be factual or logically sound</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GB">
                <a:solidFill>
                  <a:schemeClr val="dk1"/>
                </a:solidFill>
              </a:rPr>
              <a:t>Models can still make semantic errors, miss steps, or arrive at the correct final answer through entirely flawed logic or coincidence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GB">
                <a:solidFill>
                  <a:schemeClr val="dk1"/>
                </a:solidFill>
              </a:rPr>
              <a:t>Illusion of reasoning: Although the method successfully mimics human step-by-step thinking, it remains an open question whether the neural network is actually "reasoning"</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GB">
                <a:solidFill>
                  <a:schemeClr val="dk1"/>
                </a:solidFill>
              </a:rPr>
              <a:t>Sensitivity to prompt engineering: While generally robust, the model's performance can still vary depending on the linguistic style of the annotator, the order of the examples, or how the prompt is crafted, with some complex tasks requiring highly specific prompt engineering to succeed</a:t>
            </a:r>
            <a:endParaRPr>
              <a:solidFill>
                <a:schemeClr val="dk1"/>
              </a:solidFill>
            </a:endParaRPr>
          </a:p>
          <a:p>
            <a:pPr indent="0" lvl="0" marL="0" rtl="0" algn="l">
              <a:lnSpc>
                <a:spcPct val="115000"/>
              </a:lnSpc>
              <a:spcBef>
                <a:spcPts val="0"/>
              </a:spcBef>
              <a:spcAft>
                <a:spcPts val="0"/>
              </a:spcAft>
              <a:buNone/>
            </a:pPr>
            <a:r>
              <a:t/>
            </a:r>
            <a:endParaRPr/>
          </a:p>
        </p:txBody>
      </p:sp>
      <p:sp>
        <p:nvSpPr>
          <p:cNvPr id="823" name="Google Shape;823;g3d2600a6132_6_2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9" name="Shape 829"/>
        <p:cNvGrpSpPr/>
        <p:nvPr/>
      </p:nvGrpSpPr>
      <p:grpSpPr>
        <a:xfrm>
          <a:off x="0" y="0"/>
          <a:ext cx="0" cy="0"/>
          <a:chOff x="0" y="0"/>
          <a:chExt cx="0" cy="0"/>
        </a:xfrm>
      </p:grpSpPr>
      <p:sp>
        <p:nvSpPr>
          <p:cNvPr id="830" name="Google Shape;830;g3d28ca6f5e2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0"/>
              </a:spcBef>
              <a:spcAft>
                <a:spcPts val="0"/>
              </a:spcAft>
              <a:buSzPts val="1100"/>
              <a:buChar char="-"/>
            </a:pPr>
            <a:r>
              <a:rPr lang="en-GB"/>
              <a:t>The main idea behind CoT reasoning without prompting is to assess a language model's intrinsic reasoning abilities without the influence of human priors introduced by specific prompting techniques</a:t>
            </a:r>
            <a:endParaRPr/>
          </a:p>
          <a:p>
            <a:pPr indent="-298450" lvl="0" marL="457200" rtl="0" algn="l">
              <a:lnSpc>
                <a:spcPct val="115000"/>
              </a:lnSpc>
              <a:spcBef>
                <a:spcPts val="0"/>
              </a:spcBef>
              <a:spcAft>
                <a:spcPts val="0"/>
              </a:spcAft>
              <a:buSzPts val="1100"/>
              <a:buChar char="-"/>
            </a:pPr>
            <a:r>
              <a:rPr lang="en-GB"/>
              <a:t>Observation: pre-trained LLMs naturally possess inherent reasoning capabilities that are simply obscured by standard decoding methods</a:t>
            </a:r>
            <a:endParaRPr/>
          </a:p>
          <a:p>
            <a:pPr indent="-298450" lvl="0" marL="457200" rtl="0" algn="l">
              <a:lnSpc>
                <a:spcPct val="115000"/>
              </a:lnSpc>
              <a:spcBef>
                <a:spcPts val="0"/>
              </a:spcBef>
              <a:spcAft>
                <a:spcPts val="0"/>
              </a:spcAft>
              <a:buSzPts val="1100"/>
              <a:buChar char="-"/>
            </a:pPr>
            <a:r>
              <a:rPr lang="en-GB"/>
              <a:t>How: alter the decoding procedure by exploring alternative top−k tokens at the first decoding step instead of relying solely on the top-1 greedy path</a:t>
            </a:r>
            <a:endParaRPr/>
          </a:p>
          <a:p>
            <a:pPr indent="-298450" lvl="0" marL="457200" rtl="0" algn="l">
              <a:lnSpc>
                <a:spcPct val="115000"/>
              </a:lnSpc>
              <a:spcBef>
                <a:spcPts val="0"/>
              </a:spcBef>
              <a:spcAft>
                <a:spcPts val="0"/>
              </a:spcAft>
              <a:buSzPts val="1100"/>
              <a:buChar char="-"/>
            </a:pPr>
            <a:r>
              <a:rPr lang="en-GB"/>
              <a:t>When branching out to these alternative starting tokens, CoT reasoning patterns naturally emerge within the model's decoding trajectories</a:t>
            </a:r>
            <a:endParaRPr/>
          </a:p>
          <a:p>
            <a:pPr indent="-298450" lvl="0" marL="457200" rtl="0" algn="l">
              <a:lnSpc>
                <a:spcPct val="115000"/>
              </a:lnSpc>
              <a:spcBef>
                <a:spcPts val="0"/>
              </a:spcBef>
              <a:spcAft>
                <a:spcPts val="0"/>
              </a:spcAft>
              <a:buSzPts val="1100"/>
              <a:buChar char="-"/>
            </a:pPr>
            <a:r>
              <a:rPr lang="en-GB"/>
              <a:t>To reliably identify the correct reasoning path among these variations → CoT-decoding, which relies on the model's own confidence levels: when a CoT reasoning path is present, the model demonstrates significantly higher confidence in its final decoded answer</a:t>
            </a:r>
            <a:endParaRPr/>
          </a:p>
        </p:txBody>
      </p:sp>
      <p:sp>
        <p:nvSpPr>
          <p:cNvPr id="831" name="Google Shape;831;g3d28ca6f5e2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8" name="Shape 838"/>
        <p:cNvGrpSpPr/>
        <p:nvPr/>
      </p:nvGrpSpPr>
      <p:grpSpPr>
        <a:xfrm>
          <a:off x="0" y="0"/>
          <a:ext cx="0" cy="0"/>
          <a:chOff x="0" y="0"/>
          <a:chExt cx="0" cy="0"/>
        </a:xfrm>
      </p:grpSpPr>
      <p:sp>
        <p:nvSpPr>
          <p:cNvPr id="839" name="Google Shape;839;g3d28ca6f5e2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0"/>
              </a:spcBef>
              <a:spcAft>
                <a:spcPts val="0"/>
              </a:spcAft>
              <a:buSzPts val="1100"/>
              <a:buChar char="-"/>
            </a:pPr>
            <a:r>
              <a:rPr lang="en-GB"/>
              <a:t>This confidence is calculated by measuring the probability disparity between the top and secondary tokens when the model outputs its final answer.</a:t>
            </a:r>
            <a:endParaRPr/>
          </a:p>
          <a:p>
            <a:pPr indent="-298450" lvl="0" marL="457200" rtl="0" algn="l">
              <a:lnSpc>
                <a:spcPct val="115000"/>
              </a:lnSpc>
              <a:spcBef>
                <a:spcPts val="0"/>
              </a:spcBef>
              <a:spcAft>
                <a:spcPts val="0"/>
              </a:spcAft>
              <a:buSzPts val="1100"/>
              <a:buChar char="-"/>
            </a:pPr>
            <a:r>
              <a:rPr lang="en-GB"/>
              <a:t>By generating the top−k paths and selecting the one with the highest answer confidence, CoT-decoding effectively isolates the most reliable reasoning path without requiring any task-specific prompts or model tuning</a:t>
            </a:r>
            <a:endParaRPr/>
          </a:p>
          <a:p>
            <a:pPr indent="-298450" lvl="0" marL="457200" rtl="0" algn="l">
              <a:lnSpc>
                <a:spcPct val="115000"/>
              </a:lnSpc>
              <a:spcBef>
                <a:spcPts val="0"/>
              </a:spcBef>
              <a:spcAft>
                <a:spcPts val="0"/>
              </a:spcAft>
              <a:buSzPts val="1100"/>
              <a:buChar char="-"/>
            </a:pPr>
            <a:r>
              <a:rPr lang="en-GB"/>
              <a:t>Answer confidence serves as a reliable filter to identify the correct CoT path because language models naturally demonstrate significantly higher certainty in their final answer when a CoT reasoning process precedes it</a:t>
            </a:r>
            <a:endParaRPr/>
          </a:p>
          <a:p>
            <a:pPr indent="0" lvl="0" marL="0" rtl="0" algn="l">
              <a:lnSpc>
                <a:spcPct val="115000"/>
              </a:lnSpc>
              <a:spcBef>
                <a:spcPts val="0"/>
              </a:spcBef>
              <a:spcAft>
                <a:spcPts val="0"/>
              </a:spcAft>
              <a:buNone/>
            </a:pPr>
            <a:r>
              <a:rPr lang="en-GB"/>
              <a:t>= branch at the first token into top-k, decode each greedily, then select (or weight-aggregate) the path with the highest answer confidence Δ</a:t>
            </a:r>
            <a:endParaRPr/>
          </a:p>
        </p:txBody>
      </p:sp>
      <p:sp>
        <p:nvSpPr>
          <p:cNvPr id="840" name="Google Shape;840;g3d28ca6f5e2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0" name="Shape 850"/>
        <p:cNvGrpSpPr/>
        <p:nvPr/>
      </p:nvGrpSpPr>
      <p:grpSpPr>
        <a:xfrm>
          <a:off x="0" y="0"/>
          <a:ext cx="0" cy="0"/>
          <a:chOff x="0" y="0"/>
          <a:chExt cx="0" cy="0"/>
        </a:xfrm>
      </p:grpSpPr>
      <p:sp>
        <p:nvSpPr>
          <p:cNvPr id="851" name="Google Shape;851;g3cc5146f3df_1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2" name="Google Shape;852;g3cc5146f3df_1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GB"/>
              <a:t>M</a:t>
            </a:r>
            <a:r>
              <a:rPr lang="en-GB"/>
              <a:t>otivation: much like humans, LLMs do not always generate the best possible output on their first attempt</a:t>
            </a:r>
            <a:endParaRPr/>
          </a:p>
          <a:p>
            <a:pPr indent="-298450" lvl="0" marL="457200" rtl="0" algn="l">
              <a:spcBef>
                <a:spcPts val="0"/>
              </a:spcBef>
              <a:spcAft>
                <a:spcPts val="0"/>
              </a:spcAft>
              <a:buSzPts val="1100"/>
              <a:buChar char="-"/>
            </a:pPr>
            <a:r>
              <a:rPr lang="en-GB"/>
              <a:t>In human problem-solving, individuals naturally use iterative self-refinement (they create an initial draft, reflect on it to provide self-feedback, and then revise it to improve quality, such as rewriting an email to sound more polite)</a:t>
            </a:r>
            <a:endParaRPr/>
          </a:p>
          <a:p>
            <a:pPr indent="0" lvl="0" marL="0" rtl="0" algn="l">
              <a:spcBef>
                <a:spcPts val="0"/>
              </a:spcBef>
              <a:spcAft>
                <a:spcPts val="0"/>
              </a:spcAft>
              <a:buNone/>
            </a:pPr>
            <a:r>
              <a:rPr lang="en-GB"/>
              <a:t>The algorithm works by alternating between generative steps:</a:t>
            </a:r>
            <a:endParaRPr/>
          </a:p>
          <a:p>
            <a:pPr indent="-298450" lvl="0" marL="457200" rtl="0" algn="l">
              <a:spcBef>
                <a:spcPts val="0"/>
              </a:spcBef>
              <a:spcAft>
                <a:spcPts val="0"/>
              </a:spcAft>
              <a:buSzPts val="1100"/>
              <a:buChar char="-"/>
            </a:pPr>
            <a:r>
              <a:rPr lang="en-GB"/>
              <a:t>Initial Generation: The model creates a first draft based on the user's input</a:t>
            </a:r>
            <a:endParaRPr/>
          </a:p>
          <a:p>
            <a:pPr indent="-298450" lvl="0" marL="457200" rtl="0" algn="l">
              <a:spcBef>
                <a:spcPts val="0"/>
              </a:spcBef>
              <a:spcAft>
                <a:spcPts val="0"/>
              </a:spcAft>
              <a:buSzPts val="1100"/>
              <a:buChar char="-"/>
            </a:pPr>
            <a:r>
              <a:rPr lang="en-GB"/>
              <a:t>FEEDBACK: The same model reviews its own output and is prompted to generate specific, actionable feedback on how to improve it</a:t>
            </a:r>
            <a:endParaRPr/>
          </a:p>
          <a:p>
            <a:pPr indent="-298450" lvl="0" marL="457200" rtl="0" algn="l">
              <a:spcBef>
                <a:spcPts val="0"/>
              </a:spcBef>
              <a:spcAft>
                <a:spcPts val="0"/>
              </a:spcAft>
              <a:buSzPts val="1100"/>
              <a:buChar char="-"/>
            </a:pPr>
            <a:r>
              <a:rPr lang="en-GB"/>
              <a:t>REFINE: The model is then fed its own feedback and uses it to revise and improve the previous draft</a:t>
            </a:r>
            <a:endParaRPr/>
          </a:p>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8" name="Shape 858"/>
        <p:cNvGrpSpPr/>
        <p:nvPr/>
      </p:nvGrpSpPr>
      <p:grpSpPr>
        <a:xfrm>
          <a:off x="0" y="0"/>
          <a:ext cx="0" cy="0"/>
          <a:chOff x="0" y="0"/>
          <a:chExt cx="0" cy="0"/>
        </a:xfrm>
      </p:grpSpPr>
      <p:sp>
        <p:nvSpPr>
          <p:cNvPr id="859" name="Google Shape;859;g3cc5146f3df_1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0" name="Google Shape;860;g3cc5146f3df_1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GB"/>
              <a:t>Same as CoT but prompting is with retrieved documents</a:t>
            </a:r>
            <a:endParaRPr/>
          </a:p>
          <a:p>
            <a:pPr indent="-298450" lvl="0" marL="457200" rtl="0" algn="l">
              <a:spcBef>
                <a:spcPts val="0"/>
              </a:spcBef>
              <a:spcAft>
                <a:spcPts val="0"/>
              </a:spcAft>
              <a:buSzPts val="1100"/>
              <a:buChar char="-"/>
            </a:pPr>
            <a:r>
              <a:rPr lang="en-GB"/>
              <a:t>Motivation: LLMs often struggle with open-domain, multi-step question answering when the necessary knowledge is unavailable or not up-to-date within their internal parameters</a:t>
            </a:r>
            <a:endParaRPr/>
          </a:p>
          <a:p>
            <a:pPr indent="-298450" lvl="0" marL="457200" rtl="0" algn="l">
              <a:spcBef>
                <a:spcPts val="0"/>
              </a:spcBef>
              <a:spcAft>
                <a:spcPts val="0"/>
              </a:spcAft>
              <a:buSzPts val="1100"/>
              <a:buChar char="-"/>
            </a:pPr>
            <a:r>
              <a:rPr lang="en-GB"/>
              <a:t>Improvement upon single step RAG: While using the question to retrieve relevant text from an external knowledge source can help, a standard "one-step" retrieve-and-read approach is often insufficient for complex reasoning</a:t>
            </a:r>
            <a:endParaRPr/>
          </a:p>
          <a:p>
            <a:pPr indent="-298450" lvl="0" marL="457200" rtl="0" algn="l">
              <a:spcBef>
                <a:spcPts val="0"/>
              </a:spcBef>
              <a:spcAft>
                <a:spcPts val="0"/>
              </a:spcAft>
              <a:buSzPts val="1100"/>
              <a:buChar char="-"/>
            </a:pPr>
            <a:r>
              <a:rPr lang="en-GB"/>
              <a:t>Answering multi-step questions usually requires a model to retrieve partial knowledge, perform a piece of reasoning, and then use that outcome to retrieve more information</a:t>
            </a:r>
            <a:endParaRPr/>
          </a:p>
          <a:p>
            <a:pPr indent="0" lvl="0" marL="0" rtl="0" algn="l">
              <a:spcBef>
                <a:spcPts val="0"/>
              </a:spcBef>
              <a:spcAft>
                <a:spcPts val="0"/>
              </a:spcAft>
              <a:buNone/>
            </a:pPr>
            <a:r>
              <a:rPr lang="en-GB"/>
              <a:t>IRCoT:</a:t>
            </a:r>
            <a:endParaRPr/>
          </a:p>
          <a:p>
            <a:pPr indent="-298450" lvl="0" marL="457200" rtl="0" algn="l">
              <a:spcBef>
                <a:spcPts val="0"/>
              </a:spcBef>
              <a:spcAft>
                <a:spcPts val="0"/>
              </a:spcAft>
              <a:buSzPts val="1100"/>
              <a:buChar char="-"/>
            </a:pPr>
            <a:r>
              <a:rPr lang="en-GB"/>
              <a:t>Initial Retrieval: It retrieves a base set of paragraphs from a knowledge source using the original question as the query</a:t>
            </a:r>
            <a:endParaRPr/>
          </a:p>
          <a:p>
            <a:pPr indent="-298450" lvl="0" marL="457200" rtl="0" algn="l">
              <a:spcBef>
                <a:spcPts val="0"/>
              </a:spcBef>
              <a:spcAft>
                <a:spcPts val="0"/>
              </a:spcAft>
              <a:buSzPts val="1100"/>
              <a:buChar char="-"/>
            </a:pPr>
            <a:r>
              <a:rPr lang="en-GB"/>
              <a:t>Interleaved Cycle: It then alternates between two steps until the process terminates</a:t>
            </a:r>
            <a:endParaRPr/>
          </a:p>
          <a:p>
            <a:pPr indent="-298450" lvl="1" marL="914400" rtl="0" algn="l">
              <a:spcBef>
                <a:spcPts val="0"/>
              </a:spcBef>
              <a:spcAft>
                <a:spcPts val="0"/>
              </a:spcAft>
              <a:buSzPts val="1100"/>
              <a:buChar char="-"/>
            </a:pPr>
            <a:r>
              <a:rPr lang="en-GB"/>
              <a:t>Extend CoT (Reason): The model uses the original question, the paragraphs collected so far, and the reasoning sentences generated so far to write the next single sentence of the reasoning chain</a:t>
            </a:r>
            <a:endParaRPr/>
          </a:p>
          <a:p>
            <a:pPr indent="-298450" lvl="1" marL="914400" rtl="0" algn="l">
              <a:spcBef>
                <a:spcPts val="0"/>
              </a:spcBef>
              <a:spcAft>
                <a:spcPts val="0"/>
              </a:spcAft>
              <a:buSzPts val="1100"/>
              <a:buChar char="-"/>
            </a:pPr>
            <a:r>
              <a:rPr lang="en-GB"/>
              <a:t>Expand Retrieval (Retrieve): The model uses that newly generated reasoning sentence as a search query to retrieve additional relevant paragraphs, adding them to the collection</a:t>
            </a:r>
            <a:endParaRPr/>
          </a:p>
          <a:p>
            <a:pPr indent="-298450" lvl="0" marL="457200" rtl="0" algn="l">
              <a:spcBef>
                <a:spcPts val="0"/>
              </a:spcBef>
              <a:spcAft>
                <a:spcPts val="0"/>
              </a:spcAft>
              <a:buSzPts val="1100"/>
              <a:buChar char="-"/>
            </a:pPr>
            <a:r>
              <a:rPr lang="en-GB"/>
              <a:t>Termination and QA: This cycle repeats until the reasoning chain reports an answer (e.g., outputs "answer is:") or hits a maximum step limit. Upon termination, all the collected paragraphs are used as the context for a QA model to produce the final answer</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6" name="Shape 866"/>
        <p:cNvGrpSpPr/>
        <p:nvPr/>
      </p:nvGrpSpPr>
      <p:grpSpPr>
        <a:xfrm>
          <a:off x="0" y="0"/>
          <a:ext cx="0" cy="0"/>
          <a:chOff x="0" y="0"/>
          <a:chExt cx="0" cy="0"/>
        </a:xfrm>
      </p:grpSpPr>
      <p:sp>
        <p:nvSpPr>
          <p:cNvPr id="867" name="Google Shape;867;g3d2600a6132_6_3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17500" lvl="0" marL="457200" rtl="0" algn="l">
              <a:lnSpc>
                <a:spcPct val="115000"/>
              </a:lnSpc>
              <a:spcBef>
                <a:spcPts val="0"/>
              </a:spcBef>
              <a:spcAft>
                <a:spcPts val="0"/>
              </a:spcAft>
              <a:buClr>
                <a:srgbClr val="595959"/>
              </a:buClr>
              <a:buSzPts val="1400"/>
              <a:buChar char="-"/>
            </a:pPr>
            <a:r>
              <a:rPr lang="en-GB" sz="1400">
                <a:solidFill>
                  <a:srgbClr val="595959"/>
                </a:solidFill>
              </a:rPr>
              <a:t>While LLMs exhibit general problem-solving skills, they also show surprising reasoning gaps compared to humans, raising doubts about the robustness of their generalization strategies.</a:t>
            </a:r>
            <a:endParaRPr sz="1400">
              <a:solidFill>
                <a:srgbClr val="595959"/>
              </a:solidFill>
            </a:endParaRPr>
          </a:p>
          <a:p>
            <a:pPr indent="-317500" lvl="0" marL="457200" rtl="0" algn="l">
              <a:lnSpc>
                <a:spcPct val="115000"/>
              </a:lnSpc>
              <a:spcBef>
                <a:spcPts val="0"/>
              </a:spcBef>
              <a:spcAft>
                <a:spcPts val="0"/>
              </a:spcAft>
              <a:buClr>
                <a:srgbClr val="595959"/>
              </a:buClr>
              <a:buSzPts val="1400"/>
              <a:buChar char="-"/>
            </a:pPr>
            <a:r>
              <a:rPr lang="en-GB" sz="1400">
                <a:solidFill>
                  <a:srgbClr val="595959"/>
                </a:solidFill>
              </a:rPr>
              <a:t>Traditional methods of measuring generalization are no longer viable due to the massive volume of data used to train these models (data contamination)</a:t>
            </a:r>
            <a:endParaRPr sz="1400">
              <a:solidFill>
                <a:srgbClr val="595959"/>
              </a:solidFill>
            </a:endParaRPr>
          </a:p>
          <a:p>
            <a:pPr indent="-317500" lvl="0" marL="457200" rtl="0" algn="l">
              <a:lnSpc>
                <a:spcPct val="115000"/>
              </a:lnSpc>
              <a:spcBef>
                <a:spcPts val="0"/>
              </a:spcBef>
              <a:spcAft>
                <a:spcPts val="0"/>
              </a:spcAft>
              <a:buClr>
                <a:srgbClr val="595959"/>
              </a:buClr>
              <a:buSzPts val="1400"/>
              <a:buChar char="-"/>
            </a:pPr>
            <a:r>
              <a:rPr lang="en-GB" sz="1400">
                <a:solidFill>
                  <a:srgbClr val="595959"/>
                </a:solidFill>
              </a:rPr>
              <a:t>Data contamination: it has become difficult to determine whether LLMs are genuinely understanding and reasoning, or if they are simply retrieving memorized answers from their training data</a:t>
            </a:r>
            <a:endParaRPr sz="1400">
              <a:solidFill>
                <a:srgbClr val="595959"/>
              </a:solidFill>
            </a:endParaRPr>
          </a:p>
          <a:p>
            <a:pPr indent="-317500" lvl="0" marL="457200" rtl="0" algn="l">
              <a:lnSpc>
                <a:spcPct val="115000"/>
              </a:lnSpc>
              <a:spcBef>
                <a:spcPts val="0"/>
              </a:spcBef>
              <a:spcAft>
                <a:spcPts val="0"/>
              </a:spcAft>
              <a:buClr>
                <a:srgbClr val="595959"/>
              </a:buClr>
              <a:buSzPts val="1400"/>
              <a:buChar char="-"/>
            </a:pPr>
            <a:r>
              <a:rPr lang="en-GB" sz="1400">
                <a:solidFill>
                  <a:srgbClr val="595959"/>
                </a:solidFill>
              </a:rPr>
              <a:t>Influence functions answer a counterfactual question: how would the model's parameters, outputs, or accuracy change if a specific document were removed from the pretraining dataset and the model was completely retrained</a:t>
            </a:r>
            <a:endParaRPr sz="1400">
              <a:solidFill>
                <a:srgbClr val="595959"/>
              </a:solidFill>
            </a:endParaRPr>
          </a:p>
          <a:p>
            <a:pPr indent="-317500" lvl="0" marL="457200" rtl="0" algn="l">
              <a:lnSpc>
                <a:spcPct val="115000"/>
              </a:lnSpc>
              <a:spcBef>
                <a:spcPts val="0"/>
              </a:spcBef>
              <a:spcAft>
                <a:spcPts val="0"/>
              </a:spcAft>
              <a:buClr>
                <a:srgbClr val="595959"/>
              </a:buClr>
              <a:buSzPts val="1400"/>
              <a:buChar char="-"/>
            </a:pPr>
            <a:r>
              <a:rPr lang="en-GB" sz="1400">
                <a:solidFill>
                  <a:srgbClr val="595959"/>
                </a:solidFill>
              </a:rPr>
              <a:t>The central finding and underlying idea is that LLM reasoning is driven by procedural knowledge rather than simple memory retrieval</a:t>
            </a:r>
            <a:endParaRPr sz="1400">
              <a:solidFill>
                <a:srgbClr val="595959"/>
              </a:solidFill>
            </a:endParaRPr>
          </a:p>
          <a:p>
            <a:pPr indent="-317500" lvl="1" marL="914400" rtl="0" algn="l">
              <a:lnSpc>
                <a:spcPct val="115000"/>
              </a:lnSpc>
              <a:spcBef>
                <a:spcPts val="0"/>
              </a:spcBef>
              <a:spcAft>
                <a:spcPts val="0"/>
              </a:spcAft>
              <a:buClr>
                <a:srgbClr val="595959"/>
              </a:buClr>
              <a:buSzPts val="1400"/>
              <a:buChar char="-"/>
            </a:pPr>
            <a:r>
              <a:rPr lang="en-GB" sz="1400">
                <a:solidFill>
                  <a:srgbClr val="595959"/>
                </a:solidFill>
              </a:rPr>
              <a:t>When answering factual questions, models typically rely heavily on specific, individual documents that often contain the exact answer</a:t>
            </a:r>
            <a:endParaRPr sz="1400">
              <a:solidFill>
                <a:srgbClr val="595959"/>
              </a:solidFill>
            </a:endParaRPr>
          </a:p>
          <a:p>
            <a:pPr indent="-317500" lvl="1" marL="914400" rtl="0" algn="l">
              <a:lnSpc>
                <a:spcPct val="115000"/>
              </a:lnSpc>
              <a:spcBef>
                <a:spcPts val="0"/>
              </a:spcBef>
              <a:spcAft>
                <a:spcPts val="0"/>
              </a:spcAft>
              <a:buClr>
                <a:srgbClr val="595959"/>
              </a:buClr>
              <a:buSzPts val="1400"/>
              <a:buChar char="-"/>
            </a:pPr>
            <a:r>
              <a:rPr lang="en-GB" sz="1400">
                <a:solidFill>
                  <a:srgbClr val="595959"/>
                </a:solidFill>
              </a:rPr>
              <a:t>For reasoning tasks, the exact answers or intermediate reasoning steps almost never appear in the most influential data</a:t>
            </a:r>
            <a:endParaRPr sz="1400">
              <a:solidFill>
                <a:srgbClr val="595959"/>
              </a:solidFill>
            </a:endParaRPr>
          </a:p>
          <a:p>
            <a:pPr indent="-317500" lvl="1" marL="914400" rtl="0" algn="l">
              <a:lnSpc>
                <a:spcPct val="115000"/>
              </a:lnSpc>
              <a:spcBef>
                <a:spcPts val="0"/>
              </a:spcBef>
              <a:spcAft>
                <a:spcPts val="0"/>
              </a:spcAft>
              <a:buClr>
                <a:srgbClr val="595959"/>
              </a:buClr>
              <a:buSzPts val="1400"/>
              <a:buChar char="-"/>
            </a:pPr>
            <a:r>
              <a:rPr lang="en-GB" sz="1400">
                <a:solidFill>
                  <a:srgbClr val="595959"/>
                </a:solidFill>
              </a:rPr>
              <a:t>When generating reasoning traces, models rely less on specific, individual documents and instead generalize from a broader, less specific set of documents</a:t>
            </a:r>
            <a:endParaRPr sz="1400">
              <a:solidFill>
                <a:srgbClr val="595959"/>
              </a:solidFill>
            </a:endParaRPr>
          </a:p>
        </p:txBody>
      </p:sp>
      <p:sp>
        <p:nvSpPr>
          <p:cNvPr id="868" name="Google Shape;868;g3d2600a6132_6_3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7" name="Shape 877"/>
        <p:cNvGrpSpPr/>
        <p:nvPr/>
      </p:nvGrpSpPr>
      <p:grpSpPr>
        <a:xfrm>
          <a:off x="0" y="0"/>
          <a:ext cx="0" cy="0"/>
          <a:chOff x="0" y="0"/>
          <a:chExt cx="0" cy="0"/>
        </a:xfrm>
      </p:grpSpPr>
      <p:sp>
        <p:nvSpPr>
          <p:cNvPr id="878" name="Google Shape;878;g3d32225b443_27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0"/>
              </a:spcBef>
              <a:spcAft>
                <a:spcPts val="0"/>
              </a:spcAft>
              <a:buSzPts val="1100"/>
              <a:buChar char="-"/>
            </a:pPr>
            <a:r>
              <a:rPr lang="en-GB"/>
              <a:t>Motivation: observation that human intelligence naturally combines task-oriented actions with verbal reasoning, allowing humans to strategize, maintain a working memory, adapt to unseen circumstances, and realize when external information is needed</a:t>
            </a:r>
            <a:endParaRPr/>
          </a:p>
          <a:p>
            <a:pPr indent="-298450" lvl="0" marL="457200" rtl="0" algn="l">
              <a:lnSpc>
                <a:spcPct val="115000"/>
              </a:lnSpc>
              <a:spcBef>
                <a:spcPts val="0"/>
              </a:spcBef>
              <a:spcAft>
                <a:spcPts val="0"/>
              </a:spcAft>
              <a:buSzPts val="1100"/>
              <a:buChar char="-"/>
            </a:pPr>
            <a:r>
              <a:rPr lang="en-GB"/>
              <a:t>in the study of LLMs, the abilities to reason (such as chain-of-thought prompting) and to act (such as action plan generation) have primarily been treated as separate topics</a:t>
            </a:r>
            <a:endParaRPr/>
          </a:p>
        </p:txBody>
      </p:sp>
      <p:sp>
        <p:nvSpPr>
          <p:cNvPr id="879" name="Google Shape;879;g3d32225b443_27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7" name="Shape 887"/>
        <p:cNvGrpSpPr/>
        <p:nvPr/>
      </p:nvGrpSpPr>
      <p:grpSpPr>
        <a:xfrm>
          <a:off x="0" y="0"/>
          <a:ext cx="0" cy="0"/>
          <a:chOff x="0" y="0"/>
          <a:chExt cx="0" cy="0"/>
        </a:xfrm>
      </p:grpSpPr>
      <p:sp>
        <p:nvSpPr>
          <p:cNvPr id="888" name="Google Shape;888;g3d32225b443_27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0"/>
              </a:spcBef>
              <a:spcAft>
                <a:spcPts val="0"/>
              </a:spcAft>
              <a:buSzPts val="1100"/>
              <a:buChar char="-"/>
            </a:pPr>
            <a:r>
              <a:rPr lang="en-GB"/>
              <a:t>Question Answering (HotpotQA) The model is asked a complex question: "Aside from the Apple Remote, what other device can control the program Apple Remote was originally designed to interact with?"</a:t>
            </a:r>
            <a:endParaRPr/>
          </a:p>
          <a:p>
            <a:pPr indent="-298450" lvl="1" marL="914400" rtl="0" algn="l">
              <a:lnSpc>
                <a:spcPct val="115000"/>
              </a:lnSpc>
              <a:spcBef>
                <a:spcPts val="0"/>
              </a:spcBef>
              <a:spcAft>
                <a:spcPts val="0"/>
              </a:spcAft>
              <a:buSzPts val="1100"/>
              <a:buChar char="-"/>
            </a:pPr>
            <a:r>
              <a:rPr lang="en-GB"/>
              <a:t>(1a) Standard: The model attempts to answer directly without any reasoning or external information, incorrectly guessing "iPod"</a:t>
            </a:r>
            <a:endParaRPr/>
          </a:p>
          <a:p>
            <a:pPr indent="-298450" lvl="1" marL="914400" rtl="0" algn="l">
              <a:lnSpc>
                <a:spcPct val="115000"/>
              </a:lnSpc>
              <a:spcBef>
                <a:spcPts val="0"/>
              </a:spcBef>
              <a:spcAft>
                <a:spcPts val="0"/>
              </a:spcAft>
              <a:buSzPts val="1100"/>
              <a:buChar char="-"/>
            </a:pPr>
            <a:r>
              <a:rPr lang="en-GB"/>
              <a:t>(1b) Chain-of-Thought (Reason Only): The model generates a step-by-step reasoning trace but relies solely on its internal knowledge. Because it is not grounded in the external world, it hallucinates facts (guessing Apple TV, iPhone, iPad, and iPod Touch) and propagates these errors</a:t>
            </a:r>
            <a:endParaRPr/>
          </a:p>
          <a:p>
            <a:pPr indent="-298450" lvl="1" marL="914400" rtl="0" algn="l">
              <a:lnSpc>
                <a:spcPct val="115000"/>
              </a:lnSpc>
              <a:spcBef>
                <a:spcPts val="0"/>
              </a:spcBef>
              <a:spcAft>
                <a:spcPts val="0"/>
              </a:spcAft>
              <a:buSzPts val="1100"/>
              <a:buChar char="-"/>
            </a:pPr>
            <a:r>
              <a:rPr lang="en-GB"/>
              <a:t>(1c) Act-Only: The model interacts with a Wikipedia API to search for "Apple Remote" and "Front Row". However, because it lacks the ability to explicitly reason about the high-level goal or its previous observations, it cannot synthesize the information it gathers, ultimately failing and finishing with a nonsensical answer ("yes")</a:t>
            </a:r>
            <a:endParaRPr/>
          </a:p>
          <a:p>
            <a:pPr indent="-298450" lvl="1" marL="914400" rtl="0" algn="l">
              <a:lnSpc>
                <a:spcPct val="115000"/>
              </a:lnSpc>
              <a:spcBef>
                <a:spcPts val="0"/>
              </a:spcBef>
              <a:spcAft>
                <a:spcPts val="0"/>
              </a:spcAft>
              <a:buSzPts val="1100"/>
              <a:buChar char="-"/>
            </a:pPr>
            <a:r>
              <a:rPr lang="en-GB"/>
              <a:t>(1d) ReAct (Reason + Act): The model interleaves reasoning traces ("Thoughts") with task-specific actions ("Acts") and environmental feedback ("Obs"). It reasons that it first needs to find what program the remote interacts with, searches for the Apple Remote, reads the observation about "Front Row," reasons that it now needs to search for Front Row software, and eventually correctly deduces that "keyboard function keys" is the answer</a:t>
            </a:r>
            <a:endParaRPr/>
          </a:p>
        </p:txBody>
      </p:sp>
      <p:sp>
        <p:nvSpPr>
          <p:cNvPr id="889" name="Google Shape;889;g3d32225b443_27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6" name="Shape 896"/>
        <p:cNvGrpSpPr/>
        <p:nvPr/>
      </p:nvGrpSpPr>
      <p:grpSpPr>
        <a:xfrm>
          <a:off x="0" y="0"/>
          <a:ext cx="0" cy="0"/>
          <a:chOff x="0" y="0"/>
          <a:chExt cx="0" cy="0"/>
        </a:xfrm>
      </p:grpSpPr>
      <p:sp>
        <p:nvSpPr>
          <p:cNvPr id="897" name="Google Shape;897;g3d32225b443_17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8" name="Google Shape;898;g3d32225b443_17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solidFill>
                  <a:srgbClr val="188038"/>
                </a:solidFill>
                <a:latin typeface="Roboto Mono"/>
                <a:ea typeface="Roboto Mono"/>
                <a:cs typeface="Roboto Mono"/>
                <a:sym typeface="Roboto Mono"/>
              </a:rPr>
              <a:t>#section: Reasoning: Definition &amp; challenges in IR | 30</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2" name="Shape 902"/>
        <p:cNvGrpSpPr/>
        <p:nvPr/>
      </p:nvGrpSpPr>
      <p:grpSpPr>
        <a:xfrm>
          <a:off x="0" y="0"/>
          <a:ext cx="0" cy="0"/>
          <a:chOff x="0" y="0"/>
          <a:chExt cx="0" cy="0"/>
        </a:xfrm>
      </p:grpSpPr>
      <p:sp>
        <p:nvSpPr>
          <p:cNvPr id="903" name="Google Shape;903;g3d32225b443_25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4" name="Google Shape;904;g3d32225b443_25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2" name="Shape 912"/>
        <p:cNvGrpSpPr/>
        <p:nvPr/>
      </p:nvGrpSpPr>
      <p:grpSpPr>
        <a:xfrm>
          <a:off x="0" y="0"/>
          <a:ext cx="0" cy="0"/>
          <a:chOff x="0" y="0"/>
          <a:chExt cx="0" cy="0"/>
        </a:xfrm>
      </p:grpSpPr>
      <p:sp>
        <p:nvSpPr>
          <p:cNvPr id="913" name="Google Shape;913;g3d32225b443_26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a:p>
        </p:txBody>
      </p:sp>
      <p:sp>
        <p:nvSpPr>
          <p:cNvPr id="914" name="Google Shape;914;g3d32225b443_26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6" name="Shape 926"/>
        <p:cNvGrpSpPr/>
        <p:nvPr/>
      </p:nvGrpSpPr>
      <p:grpSpPr>
        <a:xfrm>
          <a:off x="0" y="0"/>
          <a:ext cx="0" cy="0"/>
          <a:chOff x="0" y="0"/>
          <a:chExt cx="0" cy="0"/>
        </a:xfrm>
      </p:grpSpPr>
      <p:sp>
        <p:nvSpPr>
          <p:cNvPr id="927" name="Google Shape;927;g3d32225b443_26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a:p>
        </p:txBody>
      </p:sp>
      <p:sp>
        <p:nvSpPr>
          <p:cNvPr id="928" name="Google Shape;928;g3d32225b443_26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1" name="Shape 941"/>
        <p:cNvGrpSpPr/>
        <p:nvPr/>
      </p:nvGrpSpPr>
      <p:grpSpPr>
        <a:xfrm>
          <a:off x="0" y="0"/>
          <a:ext cx="0" cy="0"/>
          <a:chOff x="0" y="0"/>
          <a:chExt cx="0" cy="0"/>
        </a:xfrm>
      </p:grpSpPr>
      <p:sp>
        <p:nvSpPr>
          <p:cNvPr id="942" name="Google Shape;942;g3d32225b443_26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218181"/>
              </a:lnSpc>
              <a:spcBef>
                <a:spcPts val="3200"/>
              </a:spcBef>
              <a:spcAft>
                <a:spcPts val="0"/>
              </a:spcAft>
              <a:buNone/>
            </a:pPr>
            <a:r>
              <a:rPr lang="en-GB" sz="1500">
                <a:solidFill>
                  <a:srgbClr val="242424"/>
                </a:solidFill>
                <a:highlight>
                  <a:srgbClr val="FFFFFF"/>
                </a:highlight>
                <a:latin typeface="Georgia"/>
                <a:ea typeface="Georgia"/>
                <a:cs typeface="Georgia"/>
                <a:sym typeface="Georgia"/>
              </a:rPr>
              <a:t>We then minimize the same </a:t>
            </a:r>
            <a:r>
              <a:rPr b="1" lang="en-GB" sz="1500">
                <a:solidFill>
                  <a:srgbClr val="242424"/>
                </a:solidFill>
                <a:highlight>
                  <a:srgbClr val="FFFFFF"/>
                </a:highlight>
                <a:latin typeface="Georgia"/>
                <a:ea typeface="Georgia"/>
                <a:cs typeface="Georgia"/>
                <a:sym typeface="Georgia"/>
              </a:rPr>
              <a:t>LLM Loss</a:t>
            </a:r>
            <a:r>
              <a:rPr lang="en-GB" sz="1500">
                <a:solidFill>
                  <a:srgbClr val="242424"/>
                </a:solidFill>
                <a:highlight>
                  <a:srgbClr val="FFFFFF"/>
                </a:highlight>
                <a:latin typeface="Georgia"/>
                <a:ea typeface="Georgia"/>
                <a:cs typeface="Georgia"/>
                <a:sym typeface="Georgia"/>
              </a:rPr>
              <a:t> on this new dataset.</a:t>
            </a:r>
            <a:endParaRPr sz="1500">
              <a:solidFill>
                <a:srgbClr val="242424"/>
              </a:solidFill>
              <a:highlight>
                <a:srgbClr val="FFFFFF"/>
              </a:highlight>
              <a:latin typeface="Georgia"/>
              <a:ea typeface="Georgia"/>
              <a:cs typeface="Georgia"/>
              <a:sym typeface="Georgia"/>
            </a:endParaRPr>
          </a:p>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None/>
            </a:pPr>
            <a:r>
              <a:rPr lang="en-GB"/>
              <a:t>We then minimize the same LLM Loss on this new dataset</a:t>
            </a:r>
            <a:endParaRPr/>
          </a:p>
        </p:txBody>
      </p:sp>
      <p:sp>
        <p:nvSpPr>
          <p:cNvPr id="943" name="Google Shape;943;g3d32225b443_26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2" name="Shape 962"/>
        <p:cNvGrpSpPr/>
        <p:nvPr/>
      </p:nvGrpSpPr>
      <p:grpSpPr>
        <a:xfrm>
          <a:off x="0" y="0"/>
          <a:ext cx="0" cy="0"/>
          <a:chOff x="0" y="0"/>
          <a:chExt cx="0" cy="0"/>
        </a:xfrm>
      </p:grpSpPr>
      <p:sp>
        <p:nvSpPr>
          <p:cNvPr id="963" name="Google Shape;963;g3d32225b443_26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a:p>
        </p:txBody>
      </p:sp>
      <p:sp>
        <p:nvSpPr>
          <p:cNvPr id="964" name="Google Shape;964;g3d32225b443_26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4" name="Shape 984"/>
        <p:cNvGrpSpPr/>
        <p:nvPr/>
      </p:nvGrpSpPr>
      <p:grpSpPr>
        <a:xfrm>
          <a:off x="0" y="0"/>
          <a:ext cx="0" cy="0"/>
          <a:chOff x="0" y="0"/>
          <a:chExt cx="0" cy="0"/>
        </a:xfrm>
      </p:grpSpPr>
      <p:sp>
        <p:nvSpPr>
          <p:cNvPr id="985" name="Google Shape;985;g3d32225b443_29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a:p>
        </p:txBody>
      </p:sp>
      <p:sp>
        <p:nvSpPr>
          <p:cNvPr id="986" name="Google Shape;986;g3d32225b443_29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9" name="Shape 1009"/>
        <p:cNvGrpSpPr/>
        <p:nvPr/>
      </p:nvGrpSpPr>
      <p:grpSpPr>
        <a:xfrm>
          <a:off x="0" y="0"/>
          <a:ext cx="0" cy="0"/>
          <a:chOff x="0" y="0"/>
          <a:chExt cx="0" cy="0"/>
        </a:xfrm>
      </p:grpSpPr>
      <p:sp>
        <p:nvSpPr>
          <p:cNvPr id="1010" name="Google Shape;1010;g3d32225b443_26_1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GB"/>
              <a:t>Gaps: training for Uncertainty-awareness</a:t>
            </a:r>
            <a:endParaRPr/>
          </a:p>
        </p:txBody>
      </p:sp>
      <p:sp>
        <p:nvSpPr>
          <p:cNvPr id="1011" name="Google Shape;1011;g3d32225b443_26_1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9" name="Shape 1039"/>
        <p:cNvGrpSpPr/>
        <p:nvPr/>
      </p:nvGrpSpPr>
      <p:grpSpPr>
        <a:xfrm>
          <a:off x="0" y="0"/>
          <a:ext cx="0" cy="0"/>
          <a:chOff x="0" y="0"/>
          <a:chExt cx="0" cy="0"/>
        </a:xfrm>
      </p:grpSpPr>
      <p:sp>
        <p:nvSpPr>
          <p:cNvPr id="1040" name="Google Shape;1040;g3d32225b443_25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sz="1800">
                <a:solidFill>
                  <a:srgbClr val="595959"/>
                </a:solidFill>
              </a:rPr>
              <a:t>GRPO is an algorithm or optimizer, commonly used within the RLVR framework to train models, that improves upon older methods (like PPO) by removing the need for a separate Critic model</a:t>
            </a:r>
            <a:endParaRPr/>
          </a:p>
        </p:txBody>
      </p:sp>
      <p:sp>
        <p:nvSpPr>
          <p:cNvPr id="1041" name="Google Shape;1041;g3d32225b443_25_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2" name="Shape 1052"/>
        <p:cNvGrpSpPr/>
        <p:nvPr/>
      </p:nvGrpSpPr>
      <p:grpSpPr>
        <a:xfrm>
          <a:off x="0" y="0"/>
          <a:ext cx="0" cy="0"/>
          <a:chOff x="0" y="0"/>
          <a:chExt cx="0" cy="0"/>
        </a:xfrm>
      </p:grpSpPr>
      <p:sp>
        <p:nvSpPr>
          <p:cNvPr id="1053" name="Google Shape;1053;g3d32225b443_35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sz="1800">
                <a:solidFill>
                  <a:srgbClr val="595959"/>
                </a:solidFill>
              </a:rPr>
              <a:t>GRPO is an algorithm or optimizer, commonly used within the RLVR framework to train models, that improves upon older methods (like PPO) by removing the need for a separate Critic model</a:t>
            </a:r>
            <a:endParaRPr/>
          </a:p>
        </p:txBody>
      </p:sp>
      <p:sp>
        <p:nvSpPr>
          <p:cNvPr id="1054" name="Google Shape;1054;g3d32225b443_35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0" name="Shape 1060"/>
        <p:cNvGrpSpPr/>
        <p:nvPr/>
      </p:nvGrpSpPr>
      <p:grpSpPr>
        <a:xfrm>
          <a:off x="0" y="0"/>
          <a:ext cx="0" cy="0"/>
          <a:chOff x="0" y="0"/>
          <a:chExt cx="0" cy="0"/>
        </a:xfrm>
      </p:grpSpPr>
      <p:sp>
        <p:nvSpPr>
          <p:cNvPr id="1061" name="Google Shape;1061;g3d32225b443_29_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2" name="Google Shape;1062;g3d32225b443_29_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8" name="Shape 1068"/>
        <p:cNvGrpSpPr/>
        <p:nvPr/>
      </p:nvGrpSpPr>
      <p:grpSpPr>
        <a:xfrm>
          <a:off x="0" y="0"/>
          <a:ext cx="0" cy="0"/>
          <a:chOff x="0" y="0"/>
          <a:chExt cx="0" cy="0"/>
        </a:xfrm>
      </p:grpSpPr>
      <p:sp>
        <p:nvSpPr>
          <p:cNvPr id="1069" name="Google Shape;1069;g3d14f939163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0" name="Google Shape;1070;g3d14f939163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7" name="Shape 1077"/>
        <p:cNvGrpSpPr/>
        <p:nvPr/>
      </p:nvGrpSpPr>
      <p:grpSpPr>
        <a:xfrm>
          <a:off x="0" y="0"/>
          <a:ext cx="0" cy="0"/>
          <a:chOff x="0" y="0"/>
          <a:chExt cx="0" cy="0"/>
        </a:xfrm>
      </p:grpSpPr>
      <p:sp>
        <p:nvSpPr>
          <p:cNvPr id="1078" name="Google Shape;1078;g3cf68068e55_1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9" name="Google Shape;1079;g3cf68068e55_1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09091" lvl="1" marL="914400" rtl="0" algn="l">
              <a:lnSpc>
                <a:spcPct val="115000"/>
              </a:lnSpc>
              <a:spcBef>
                <a:spcPts val="0"/>
              </a:spcBef>
              <a:spcAft>
                <a:spcPts val="0"/>
              </a:spcAft>
              <a:buClr>
                <a:srgbClr val="595959"/>
              </a:buClr>
              <a:buSzPts val="1268"/>
              <a:buChar char="○"/>
            </a:pPr>
            <a:r>
              <a:rPr lang="en-GB" sz="1268">
                <a:solidFill>
                  <a:srgbClr val="595959"/>
                </a:solidFill>
              </a:rPr>
              <a:t>A problem counts as "solvable" if any of the k sampled outputs is correct. </a:t>
            </a:r>
            <a:endParaRPr sz="1268">
              <a:solidFill>
                <a:srgbClr val="595959"/>
              </a:solidFill>
            </a:endParaRPr>
          </a:p>
          <a:p>
            <a:pPr indent="0" lvl="0" marL="0" rtl="0" algn="l">
              <a:spcBef>
                <a:spcPts val="1200"/>
              </a:spcBef>
              <a:spcAft>
                <a:spcPts val="0"/>
              </a:spcAft>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5" name="Shape 1085"/>
        <p:cNvGrpSpPr/>
        <p:nvPr/>
      </p:nvGrpSpPr>
      <p:grpSpPr>
        <a:xfrm>
          <a:off x="0" y="0"/>
          <a:ext cx="0" cy="0"/>
          <a:chOff x="0" y="0"/>
          <a:chExt cx="0" cy="0"/>
        </a:xfrm>
      </p:grpSpPr>
      <p:sp>
        <p:nvSpPr>
          <p:cNvPr id="1086" name="Google Shape;1086;g3d32225b443_33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7" name="Google Shape;1087;g3d32225b443_3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4" name="Shape 1094"/>
        <p:cNvGrpSpPr/>
        <p:nvPr/>
      </p:nvGrpSpPr>
      <p:grpSpPr>
        <a:xfrm>
          <a:off x="0" y="0"/>
          <a:ext cx="0" cy="0"/>
          <a:chOff x="0" y="0"/>
          <a:chExt cx="0" cy="0"/>
        </a:xfrm>
      </p:grpSpPr>
      <p:sp>
        <p:nvSpPr>
          <p:cNvPr id="1095" name="Google Shape;1095;g3d32225b443_33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6" name="Google Shape;1096;g3d32225b443_33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2" name="Shape 1102"/>
        <p:cNvGrpSpPr/>
        <p:nvPr/>
      </p:nvGrpSpPr>
      <p:grpSpPr>
        <a:xfrm>
          <a:off x="0" y="0"/>
          <a:ext cx="0" cy="0"/>
          <a:chOff x="0" y="0"/>
          <a:chExt cx="0" cy="0"/>
        </a:xfrm>
      </p:grpSpPr>
      <p:sp>
        <p:nvSpPr>
          <p:cNvPr id="1103" name="Google Shape;1103;g3d32225b443_29_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4" name="Google Shape;1104;g3d32225b443_29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2" name="Shape 1112"/>
        <p:cNvGrpSpPr/>
        <p:nvPr/>
      </p:nvGrpSpPr>
      <p:grpSpPr>
        <a:xfrm>
          <a:off x="0" y="0"/>
          <a:ext cx="0" cy="0"/>
          <a:chOff x="0" y="0"/>
          <a:chExt cx="0" cy="0"/>
        </a:xfrm>
      </p:grpSpPr>
      <p:sp>
        <p:nvSpPr>
          <p:cNvPr id="1113" name="Google Shape;1113;g3d32225b443_18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4" name="Google Shape;1114;g3d32225b443_18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solidFill>
                  <a:srgbClr val="188038"/>
                </a:solidFill>
                <a:latin typeface="Roboto Mono"/>
                <a:ea typeface="Roboto Mono"/>
                <a:cs typeface="Roboto Mono"/>
                <a:sym typeface="Roboto Mono"/>
              </a:rPr>
              <a:t>#section: Reasoning: Definition &amp; challenges in IR | 30</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8" name="Shape 1118"/>
        <p:cNvGrpSpPr/>
        <p:nvPr/>
      </p:nvGrpSpPr>
      <p:grpSpPr>
        <a:xfrm>
          <a:off x="0" y="0"/>
          <a:ext cx="0" cy="0"/>
          <a:chOff x="0" y="0"/>
          <a:chExt cx="0" cy="0"/>
        </a:xfrm>
      </p:grpSpPr>
      <p:sp>
        <p:nvSpPr>
          <p:cNvPr id="1119" name="Google Shape;1119;g3d32225b443_8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Clr>
                <a:schemeClr val="dk1"/>
              </a:buClr>
              <a:buSzPts val="1800"/>
              <a:buChar char="●"/>
            </a:pPr>
            <a:r>
              <a:rPr lang="en-GB" sz="1800">
                <a:solidFill>
                  <a:schemeClr val="dk1"/>
                </a:solidFill>
              </a:rPr>
              <a:t>CoT paper</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lang="en-GB" sz="1800">
                <a:solidFill>
                  <a:schemeClr val="dk1"/>
                </a:solidFill>
              </a:rPr>
              <a:t>RL + long chains of CoT → OpenAI technical report &amp; DeepSeek nature paper</a:t>
            </a:r>
            <a:endParaRPr/>
          </a:p>
        </p:txBody>
      </p:sp>
      <p:sp>
        <p:nvSpPr>
          <p:cNvPr id="1120" name="Google Shape;1120;g3d32225b443_8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5" name="Shape 1125"/>
        <p:cNvGrpSpPr/>
        <p:nvPr/>
      </p:nvGrpSpPr>
      <p:grpSpPr>
        <a:xfrm>
          <a:off x="0" y="0"/>
          <a:ext cx="0" cy="0"/>
          <a:chOff x="0" y="0"/>
          <a:chExt cx="0" cy="0"/>
        </a:xfrm>
      </p:grpSpPr>
      <p:sp>
        <p:nvSpPr>
          <p:cNvPr id="1126" name="Google Shape;1126;g3d32225b443_3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Clr>
                <a:schemeClr val="dk1"/>
              </a:buClr>
              <a:buSzPts val="1800"/>
              <a:buChar char="●"/>
            </a:pPr>
            <a:r>
              <a:rPr lang="en-GB" sz="1800">
                <a:solidFill>
                  <a:schemeClr val="dk1"/>
                </a:solidFill>
              </a:rPr>
              <a:t>CoT paper</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lang="en-GB" sz="1800">
                <a:solidFill>
                  <a:schemeClr val="dk1"/>
                </a:solidFill>
              </a:rPr>
              <a:t>RL + long chains of CoT → OpenAI technical report &amp; DeepSeek nature paper</a:t>
            </a:r>
            <a:endParaRPr/>
          </a:p>
        </p:txBody>
      </p:sp>
      <p:sp>
        <p:nvSpPr>
          <p:cNvPr id="1127" name="Google Shape;1127;g3d32225b443_3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4" name="Shape 1134"/>
        <p:cNvGrpSpPr/>
        <p:nvPr/>
      </p:nvGrpSpPr>
      <p:grpSpPr>
        <a:xfrm>
          <a:off x="0" y="0"/>
          <a:ext cx="0" cy="0"/>
          <a:chOff x="0" y="0"/>
          <a:chExt cx="0" cy="0"/>
        </a:xfrm>
      </p:grpSpPr>
      <p:sp>
        <p:nvSpPr>
          <p:cNvPr id="1135" name="Google Shape;1135;g3d32225b443_3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Clr>
                <a:schemeClr val="dk1"/>
              </a:buClr>
              <a:buSzPts val="1800"/>
              <a:buChar char="●"/>
            </a:pPr>
            <a:r>
              <a:rPr lang="en-GB" sz="1800">
                <a:solidFill>
                  <a:schemeClr val="dk1"/>
                </a:solidFill>
              </a:rPr>
              <a:t>CoT paper</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lang="en-GB" sz="1800">
                <a:solidFill>
                  <a:schemeClr val="dk1"/>
                </a:solidFill>
              </a:rPr>
              <a:t>RL + long chains of CoT → OpenAI technical report &amp; DeepSeek nature paper</a:t>
            </a:r>
            <a:endParaRPr/>
          </a:p>
        </p:txBody>
      </p:sp>
      <p:sp>
        <p:nvSpPr>
          <p:cNvPr id="1136" name="Google Shape;1136;g3d32225b443_3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5" name="Shape 1145"/>
        <p:cNvGrpSpPr/>
        <p:nvPr/>
      </p:nvGrpSpPr>
      <p:grpSpPr>
        <a:xfrm>
          <a:off x="0" y="0"/>
          <a:ext cx="0" cy="0"/>
          <a:chOff x="0" y="0"/>
          <a:chExt cx="0" cy="0"/>
        </a:xfrm>
      </p:grpSpPr>
      <p:sp>
        <p:nvSpPr>
          <p:cNvPr id="1146" name="Google Shape;1146;g3d32225b443_34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Clr>
                <a:schemeClr val="dk1"/>
              </a:buClr>
              <a:buSzPts val="1800"/>
              <a:buChar char="●"/>
            </a:pPr>
            <a:r>
              <a:rPr lang="en-GB" sz="1800">
                <a:solidFill>
                  <a:schemeClr val="dk1"/>
                </a:solidFill>
              </a:rPr>
              <a:t>CoT paper</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lang="en-GB" sz="1800">
                <a:solidFill>
                  <a:schemeClr val="dk1"/>
                </a:solidFill>
              </a:rPr>
              <a:t>RL + long chains of CoT → OpenAI technical report &amp; DeepSeek nature paper</a:t>
            </a:r>
            <a:endParaRPr/>
          </a:p>
        </p:txBody>
      </p:sp>
      <p:sp>
        <p:nvSpPr>
          <p:cNvPr id="1147" name="Google Shape;1147;g3d32225b443_34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4" name="Shape 1154"/>
        <p:cNvGrpSpPr/>
        <p:nvPr/>
      </p:nvGrpSpPr>
      <p:grpSpPr>
        <a:xfrm>
          <a:off x="0" y="0"/>
          <a:ext cx="0" cy="0"/>
          <a:chOff x="0" y="0"/>
          <a:chExt cx="0" cy="0"/>
        </a:xfrm>
      </p:grpSpPr>
      <p:sp>
        <p:nvSpPr>
          <p:cNvPr id="1155" name="Google Shape;1155;g3d32225b443_3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Clr>
                <a:schemeClr val="dk1"/>
              </a:buClr>
              <a:buSzPts val="1800"/>
              <a:buChar char="●"/>
            </a:pPr>
            <a:r>
              <a:rPr lang="en-GB" sz="1800">
                <a:solidFill>
                  <a:schemeClr val="dk1"/>
                </a:solidFill>
              </a:rPr>
              <a:t>CoT paper</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lang="en-GB" sz="1800">
                <a:solidFill>
                  <a:schemeClr val="dk1"/>
                </a:solidFill>
              </a:rPr>
              <a:t>RL + long chains of CoT → OpenAI technical report &amp; DeepSeek nature paper</a:t>
            </a:r>
            <a:endParaRPr/>
          </a:p>
        </p:txBody>
      </p:sp>
      <p:sp>
        <p:nvSpPr>
          <p:cNvPr id="1156" name="Google Shape;1156;g3d32225b443_3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3" name="Shape 1163"/>
        <p:cNvGrpSpPr/>
        <p:nvPr/>
      </p:nvGrpSpPr>
      <p:grpSpPr>
        <a:xfrm>
          <a:off x="0" y="0"/>
          <a:ext cx="0" cy="0"/>
          <a:chOff x="0" y="0"/>
          <a:chExt cx="0" cy="0"/>
        </a:xfrm>
      </p:grpSpPr>
      <p:sp>
        <p:nvSpPr>
          <p:cNvPr id="1164" name="Google Shape;1164;g3d32225b443_34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Clr>
                <a:schemeClr val="dk1"/>
              </a:buClr>
              <a:buSzPts val="1800"/>
              <a:buChar char="●"/>
            </a:pPr>
            <a:r>
              <a:rPr lang="en-GB" sz="1800">
                <a:solidFill>
                  <a:schemeClr val="dk1"/>
                </a:solidFill>
              </a:rPr>
              <a:t>CoT paper</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lang="en-GB" sz="1800">
                <a:solidFill>
                  <a:schemeClr val="dk1"/>
                </a:solidFill>
              </a:rPr>
              <a:t>RL + long chains of CoT → OpenAI technical report &amp; DeepSeek nature paper</a:t>
            </a:r>
            <a:endParaRPr/>
          </a:p>
        </p:txBody>
      </p:sp>
      <p:sp>
        <p:nvSpPr>
          <p:cNvPr id="1165" name="Google Shape;1165;g3d32225b443_34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2" name="Shape 1172"/>
        <p:cNvGrpSpPr/>
        <p:nvPr/>
      </p:nvGrpSpPr>
      <p:grpSpPr>
        <a:xfrm>
          <a:off x="0" y="0"/>
          <a:ext cx="0" cy="0"/>
          <a:chOff x="0" y="0"/>
          <a:chExt cx="0" cy="0"/>
        </a:xfrm>
      </p:grpSpPr>
      <p:sp>
        <p:nvSpPr>
          <p:cNvPr id="1173" name="Google Shape;1173;g3f93b6d86d5_2_17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Clr>
                <a:schemeClr val="dk1"/>
              </a:buClr>
              <a:buSzPts val="1800"/>
              <a:buChar char="●"/>
            </a:pPr>
            <a:r>
              <a:rPr lang="en-GB" sz="1800">
                <a:solidFill>
                  <a:schemeClr val="dk1"/>
                </a:solidFill>
              </a:rPr>
              <a:t>CoT paper</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lang="en-GB" sz="1800">
                <a:solidFill>
                  <a:schemeClr val="dk1"/>
                </a:solidFill>
              </a:rPr>
              <a:t>RL + long chains of CoT → OpenAI technical report &amp; DeepSeek nature paper</a:t>
            </a:r>
            <a:endParaRPr/>
          </a:p>
        </p:txBody>
      </p:sp>
      <p:sp>
        <p:nvSpPr>
          <p:cNvPr id="1174" name="Google Shape;1174;g3f93b6d86d5_2_1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3" name="Shape 1183"/>
        <p:cNvGrpSpPr/>
        <p:nvPr/>
      </p:nvGrpSpPr>
      <p:grpSpPr>
        <a:xfrm>
          <a:off x="0" y="0"/>
          <a:ext cx="0" cy="0"/>
          <a:chOff x="0" y="0"/>
          <a:chExt cx="0" cy="0"/>
        </a:xfrm>
      </p:grpSpPr>
      <p:sp>
        <p:nvSpPr>
          <p:cNvPr id="1184" name="Google Shape;1184;g3f93b6d86d5_2_2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GB" sz="1100"/>
              <a:t>CoT paper</a:t>
            </a:r>
            <a:endParaRPr/>
          </a:p>
          <a:p>
            <a:pPr indent="-298450" lvl="0" marL="457200" rtl="0" algn="l">
              <a:lnSpc>
                <a:spcPct val="100000"/>
              </a:lnSpc>
              <a:spcBef>
                <a:spcPts val="0"/>
              </a:spcBef>
              <a:spcAft>
                <a:spcPts val="0"/>
              </a:spcAft>
              <a:buSzPts val="1100"/>
              <a:buChar char="●"/>
            </a:pPr>
            <a:r>
              <a:rPr lang="en-GB" sz="1100"/>
              <a:t>RL + long chains of CoT → OpenAI technical report &amp; DeepSeek nature paper</a:t>
            </a:r>
            <a:endParaRPr/>
          </a:p>
          <a:p>
            <a:pPr indent="-228600" lvl="0" marL="457200" rtl="0" algn="l">
              <a:lnSpc>
                <a:spcPct val="100000"/>
              </a:lnSpc>
              <a:spcBef>
                <a:spcPts val="0"/>
              </a:spcBef>
              <a:spcAft>
                <a:spcPts val="0"/>
              </a:spcAft>
              <a:buSzPts val="1100"/>
              <a:buNone/>
            </a:pPr>
            <a:r>
              <a:t/>
            </a:r>
            <a:endParaRPr sz="1100"/>
          </a:p>
          <a:p>
            <a:pPr indent="-298450" lvl="0" marL="457200" rtl="0" algn="l">
              <a:lnSpc>
                <a:spcPct val="100000"/>
              </a:lnSpc>
              <a:spcBef>
                <a:spcPts val="0"/>
              </a:spcBef>
              <a:spcAft>
                <a:spcPts val="0"/>
              </a:spcAft>
              <a:buSzPts val="1100"/>
              <a:buChar char="●"/>
            </a:pPr>
            <a:r>
              <a:rPr lang="en-GB" sz="1100"/>
              <a:t>STORY LINK: transition beat — recap the three LLM-path deficits on the axes (implicit representation, unfaithful traces, per-query cost) as the reason to explore symbolic, probabilistic, and representation-level alternatives. This sentence is the hinge of the whole tutorial.</a:t>
            </a:r>
            <a:endParaRPr/>
          </a:p>
        </p:txBody>
      </p:sp>
      <p:sp>
        <p:nvSpPr>
          <p:cNvPr id="1185" name="Google Shape;1185;g3f93b6d86d5_2_2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1" name="Shape 1191"/>
        <p:cNvGrpSpPr/>
        <p:nvPr/>
      </p:nvGrpSpPr>
      <p:grpSpPr>
        <a:xfrm>
          <a:off x="0" y="0"/>
          <a:ext cx="0" cy="0"/>
          <a:chOff x="0" y="0"/>
          <a:chExt cx="0" cy="0"/>
        </a:xfrm>
      </p:grpSpPr>
      <p:sp>
        <p:nvSpPr>
          <p:cNvPr id="1192" name="Google Shape;1192;g3868c157717_5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3" name="Google Shape;1193;g3868c157717_5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#break: 15</a:t>
            </a:r>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7" name="Shape 1197"/>
        <p:cNvGrpSpPr/>
        <p:nvPr/>
      </p:nvGrpSpPr>
      <p:grpSpPr>
        <a:xfrm>
          <a:off x="0" y="0"/>
          <a:ext cx="0" cy="0"/>
          <a:chOff x="0" y="0"/>
          <a:chExt cx="0" cy="0"/>
        </a:xfrm>
      </p:grpSpPr>
      <p:sp>
        <p:nvSpPr>
          <p:cNvPr id="1198" name="Google Shape;1198;g3f93b6d86d5_2_2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99" name="Google Shape;1199;g3f93b6d86d5_2_27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GB" sz="1100"/>
              <a:t>#section: Future directions | 40</a:t>
            </a:r>
            <a:endParaRPr/>
          </a:p>
          <a:p>
            <a:pPr indent="-228600" lvl="0" marL="457200" rtl="0" algn="l">
              <a:lnSpc>
                <a:spcPct val="100000"/>
              </a:lnSpc>
              <a:spcBef>
                <a:spcPts val="0"/>
              </a:spcBef>
              <a:spcAft>
                <a:spcPts val="0"/>
              </a:spcAft>
              <a:buSzPts val="1100"/>
              <a:buNone/>
            </a:pPr>
            <a:r>
              <a:t/>
            </a:r>
            <a:endParaRPr sz="1100"/>
          </a:p>
          <a:p>
            <a:pPr indent="-298450" lvl="0" marL="457200" rtl="0" algn="l">
              <a:lnSpc>
                <a:spcPct val="100000"/>
              </a:lnSpc>
              <a:spcBef>
                <a:spcPts val="0"/>
              </a:spcBef>
              <a:spcAft>
                <a:spcPts val="0"/>
              </a:spcAft>
              <a:buSzPts val="1100"/>
              <a:buChar char="●"/>
            </a:pPr>
            <a:r>
              <a:rPr lang="en-GB" sz="1100"/>
              <a:t>STORY LINK: section framing — three moves: fix the REPRESENTATION (set logic in vectors), fix the TRAINING DATA (ReasonIR), or move smarts into the AGENT and keep retrieval simple (Pi-Serini/GrepSeek). All three are answers to the same axis question: how much reasoning can be amortized before query time?</a:t>
            </a:r>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3" name="Shape 1203"/>
        <p:cNvGrpSpPr/>
        <p:nvPr/>
      </p:nvGrpSpPr>
      <p:grpSpPr>
        <a:xfrm>
          <a:off x="0" y="0"/>
          <a:ext cx="0" cy="0"/>
          <a:chOff x="0" y="0"/>
          <a:chExt cx="0" cy="0"/>
        </a:xfrm>
      </p:grpSpPr>
      <p:sp>
        <p:nvSpPr>
          <p:cNvPr id="1204" name="Google Shape;1204;g3f5609be59c_0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05" name="Google Shape;1205;g3f5609be59c_0_8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GB"/>
              <a:t>Maybe at the end? How to make it fit</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GB"/>
              <a:t>Some methodsnot used in IR </a:t>
            </a:r>
            <a:br>
              <a:rPr lang="en-GB"/>
            </a:br>
            <a:r>
              <a:rPr lang="en-GB"/>
              <a:t>We do not know if they can be used or not but might spark ideas</a:t>
            </a:r>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9" name="Shape 1209"/>
        <p:cNvGrpSpPr/>
        <p:nvPr/>
      </p:nvGrpSpPr>
      <p:grpSpPr>
        <a:xfrm>
          <a:off x="0" y="0"/>
          <a:ext cx="0" cy="0"/>
          <a:chOff x="0" y="0"/>
          <a:chExt cx="0" cy="0"/>
        </a:xfrm>
      </p:grpSpPr>
      <p:sp>
        <p:nvSpPr>
          <p:cNvPr id="1210" name="Google Shape;1210;g3f5609be59c_0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11" name="Google Shape;1211;g3f5609be59c_0_8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GB" sz="1100"/>
              <a:t>STORY LINK: the 'fix the training data' thesis — reasoning amortized into the encoder so query time stays a dot product (computational-viability axis, ~200× cheaper than rerankers). BRIGHT arc: 18 → 24.4/29.9. Details next slide.</a:t>
            </a:r>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9" name="Shape 1219"/>
        <p:cNvGrpSpPr/>
        <p:nvPr/>
      </p:nvGrpSpPr>
      <p:grpSpPr>
        <a:xfrm>
          <a:off x="0" y="0"/>
          <a:ext cx="0" cy="0"/>
          <a:chOff x="0" y="0"/>
          <a:chExt cx="0" cy="0"/>
        </a:xfrm>
      </p:grpSpPr>
      <p:sp>
        <p:nvSpPr>
          <p:cNvPr id="1220" name="Google Shape;1220;g3f5609be59c_0_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21" name="Google Shape;1221;g3f5609be59c_0_9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GB" sz="1100"/>
              <a:t>ReasonIR's core claim: reasoning retrieval fails not because of architecture but because of data — MS MARCO-style pairs teach lexical/semantic matching, not 'is this document useful for reasoning about my problem'. They synthesize what doesn't exist: very long reasoning-style queries, hard questions brainstormed from reasoning-worthy documents, and hard negatives written by an LLM to be plausible-but-useless. An 8B Llama bi-encoder trained on this mixture reaches 24.4 nDCG@10 on BRIGHT (best prior retriever ~20.9), 29.9 with GPT-4 query rewriting, 36.9 with a reranker — and unlike competitors it keeps improving as rewritten queries get longer. Also strong RAG gains: +6.4% MMLU, +22.6% GPQA over closed-book. Efficiency: ~200x less test-time compute than LLM rerankers.</a:t>
            </a:r>
            <a:endParaRPr/>
          </a:p>
          <a:p>
            <a:pPr indent="-298450" lvl="0" marL="457200" rtl="0" algn="l">
              <a:lnSpc>
                <a:spcPct val="100000"/>
              </a:lnSpc>
              <a:spcBef>
                <a:spcPts val="0"/>
              </a:spcBef>
              <a:spcAft>
                <a:spcPts val="0"/>
              </a:spcAft>
              <a:buSzPts val="1100"/>
              <a:buChar char="●"/>
            </a:pPr>
            <a:r>
              <a:rPr lang="en-GB" sz="1100"/>
              <a:t>STORY LINK: this is the 'computational viability' answer — move reasoning INTO the representation at training time so inference stays a cheap dot product. Taxonomy: targets exactly the inferential-relevance types (BRIGHT) that similarity matching misses.</a:t>
            </a:r>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6" name="Shape 1226"/>
        <p:cNvGrpSpPr/>
        <p:nvPr/>
      </p:nvGrpSpPr>
      <p:grpSpPr>
        <a:xfrm>
          <a:off x="0" y="0"/>
          <a:ext cx="0" cy="0"/>
          <a:chOff x="0" y="0"/>
          <a:chExt cx="0" cy="0"/>
        </a:xfrm>
      </p:grpSpPr>
      <p:sp>
        <p:nvSpPr>
          <p:cNvPr id="1227" name="Google Shape;1227;g3f93b6d86d5_2_2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28" name="Google Shape;1228;g3f93b6d86d5_2_28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GB"/>
              <a:t>Maybe at the end? How to make it fit</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GB"/>
              <a:t>Some methodsnot used in IR </a:t>
            </a:r>
            <a:br>
              <a:rPr lang="en-GB"/>
            </a:br>
            <a:r>
              <a:rPr lang="en-GB"/>
              <a:t>We do not know if they can be used or not but might spark ideas</a:t>
            </a:r>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2" name="Shape 1232"/>
        <p:cNvGrpSpPr/>
        <p:nvPr/>
      </p:nvGrpSpPr>
      <p:grpSpPr>
        <a:xfrm>
          <a:off x="0" y="0"/>
          <a:ext cx="0" cy="0"/>
          <a:chOff x="0" y="0"/>
          <a:chExt cx="0" cy="0"/>
        </a:xfrm>
      </p:grpSpPr>
      <p:sp>
        <p:nvSpPr>
          <p:cNvPr id="1233" name="Google Shape;1233;g3f93b6d86d5_2_2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34" name="Google Shape;1234;g3f93b6d86d5_2_28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GB" sz="1100"/>
              <a:t>STORY LINK: constructive answer to the representational-adequacy failures of Part I (the NOT-clause of the running example!). Taxonomy: set-compositional/deductive rows at first-stage cost. Details + numbers on the next slide.</a:t>
            </a:r>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2" name="Shape 1242"/>
        <p:cNvGrpSpPr/>
        <p:nvPr/>
      </p:nvGrpSpPr>
      <p:grpSpPr>
        <a:xfrm>
          <a:off x="0" y="0"/>
          <a:ext cx="0" cy="0"/>
          <a:chOff x="0" y="0"/>
          <a:chExt cx="0" cy="0"/>
        </a:xfrm>
      </p:grpSpPr>
      <p:sp>
        <p:nvSpPr>
          <p:cNvPr id="1243" name="Google Shape;1243;g3f93b6d86d5_2_2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44" name="Google Shape;1244;g3f93b6d86d5_2_29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GB" sz="1100"/>
              <a:t>Start from the diagnostic: embed 'orchids in Malaysia and Thailand' vs 'orchids in Malaysia but not Thailand' — standard dense retrievers give nearly identical vectors; the logical operator is invisible. LogiCoL compiles logic into the training objective: subset relations become a t-norm soft constraint, mutual exclusion becomes a divergence term pushing the two queries' score distributions apart. Batches are built from logically-related variants sharing the same atoms so the model actually sees the contrast. Result: better recall AND a measurable drop in logical violations — excluded entities stop outranking correct ones. Limits they admit: ~110M models only, English-only, Wikipedia entity retrieval domains.</a:t>
            </a:r>
            <a:endParaRPr/>
          </a:p>
          <a:p>
            <a:pPr indent="-298450" lvl="0" marL="457200" rtl="0" algn="l">
              <a:lnSpc>
                <a:spcPct val="100000"/>
              </a:lnSpc>
              <a:spcBef>
                <a:spcPts val="0"/>
              </a:spcBef>
              <a:spcAft>
                <a:spcPts val="0"/>
              </a:spcAft>
              <a:buSzPts val="1100"/>
              <a:buChar char="●"/>
            </a:pPr>
            <a:r>
              <a:rPr lang="en-GB" sz="1100"/>
              <a:t>STORY LINK: representational adequacy axis — the constructive counterpart to the embedding-limitation results; taxonomy rows: deductive &amp; set-compositional reasoning at first-stage cost (computational viability preserved).</a:t>
            </a:r>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9" name="Shape 1249"/>
        <p:cNvGrpSpPr/>
        <p:nvPr/>
      </p:nvGrpSpPr>
      <p:grpSpPr>
        <a:xfrm>
          <a:off x="0" y="0"/>
          <a:ext cx="0" cy="0"/>
          <a:chOff x="0" y="0"/>
          <a:chExt cx="0" cy="0"/>
        </a:xfrm>
      </p:grpSpPr>
      <p:sp>
        <p:nvSpPr>
          <p:cNvPr id="1250" name="Google Shape;1250;g3f93b6d86d5_2_3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51" name="Google Shape;1251;g3f93b6d86d5_2_30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GB" sz="1100"/>
              <a:t>STORY LINK: the zero-shot counterpart to LogiCoL — same axis (representational adequacy), opposite strategy: no training, algebra at query time. The 'intersections unsolved' finding is a genuine representational LIMIT — cite alongside Weller et al.'s embedding-limits theorem in discussions.</a:t>
            </a:r>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9" name="Shape 1259"/>
        <p:cNvGrpSpPr/>
        <p:nvPr/>
      </p:nvGrpSpPr>
      <p:grpSpPr>
        <a:xfrm>
          <a:off x="0" y="0"/>
          <a:ext cx="0" cy="0"/>
          <a:chOff x="0" y="0"/>
          <a:chExt cx="0" cy="0"/>
        </a:xfrm>
      </p:grpSpPr>
      <p:sp>
        <p:nvSpPr>
          <p:cNvPr id="1260" name="Google Shape;1260;g3f5609be59c_0_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1" name="Google Shape;1261;g3f5609be59c_0_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Add/say the message &amp; add the session</a:t>
            </a:r>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7" name="Shape 1267"/>
        <p:cNvGrpSpPr/>
        <p:nvPr/>
      </p:nvGrpSpPr>
      <p:grpSpPr>
        <a:xfrm>
          <a:off x="0" y="0"/>
          <a:ext cx="0" cy="0"/>
          <a:chOff x="0" y="0"/>
          <a:chExt cx="0" cy="0"/>
        </a:xfrm>
      </p:grpSpPr>
      <p:sp>
        <p:nvSpPr>
          <p:cNvPr id="1268" name="Google Shape;1268;g3f93b6d86d5_2_3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69" name="Google Shape;1269;g3f93b6d86d5_2_3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GB"/>
              <a:t>Maybe at the end? How to make it fit</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GB"/>
              <a:t>Some methodsnot used in IR </a:t>
            </a:r>
            <a:br>
              <a:rPr lang="en-GB"/>
            </a:br>
            <a:r>
              <a:rPr lang="en-GB"/>
              <a:t>We do not know if they can be used or not but might spark ideas</a:t>
            </a:r>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3" name="Shape 1273"/>
        <p:cNvGrpSpPr/>
        <p:nvPr/>
      </p:nvGrpSpPr>
      <p:grpSpPr>
        <a:xfrm>
          <a:off x="0" y="0"/>
          <a:ext cx="0" cy="0"/>
          <a:chOff x="0" y="0"/>
          <a:chExt cx="0" cy="0"/>
        </a:xfrm>
      </p:grpSpPr>
      <p:sp>
        <p:nvSpPr>
          <p:cNvPr id="1274" name="Google Shape;1274;g3f93b6d86d5_2_3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75" name="Google Shape;1275;g3f93b6d86d5_2_3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GB" sz="1100"/>
              <a:t>STORY LINK: the provocation of the section — maybe the bottleneck was never the retriever's semantics but the agent-retriever INTERFACE and configuration. Keeps the axes honest: before buying representational sophistication, check the viability baseline. Details next slide.</a:t>
            </a:r>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3" name="Shape 1283"/>
        <p:cNvGrpSpPr/>
        <p:nvPr/>
      </p:nvGrpSpPr>
      <p:grpSpPr>
        <a:xfrm>
          <a:off x="0" y="0"/>
          <a:ext cx="0" cy="0"/>
          <a:chOff x="0" y="0"/>
          <a:chExt cx="0" cy="0"/>
        </a:xfrm>
      </p:grpSpPr>
      <p:sp>
        <p:nvSpPr>
          <p:cNvPr id="1284" name="Google Shape;1284;g3f93b6d86d5_2_3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85" name="Google Shape;1285;g3f93b6d86d5_2_35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GB" sz="1100"/>
              <a:t>This is the contrarian paper of the section: everyone trains reasoning-aware dense retrievers, and Lin's group asks whether the baselines those systems beat were ever configured properly. The agent is almost aggressively simple — BM25 via Anserini plus three tools — but two choices do all the work: retuning BM25 for BrowseComp-Plus's long documents (Anserini defaults are badly underfit) and retrieving 1,000 documents into a cached ranking the agent can page through instead of stuffing top-5 into context. With gpt-5.5 that yields 83.1% accuracy and ~95% evidence recall, above released dense-retriever agents, at a fraction of the cost. They do NOT claim BM25 wins everywhere: the claim is that weak agent-retriever interaction and untuned baselines hide where the real bottleneck is. Fun detail: the gap between claude-opus-4.7 (69.8%) and gpt-5.5 (83.1%) traces to premature branch commitment — the weaker agent keeps drilling a wrong candidate instead of backtracking.</a:t>
            </a:r>
            <a:endParaRPr/>
          </a:p>
          <a:p>
            <a:pPr indent="-298450" lvl="0" marL="457200" rtl="0" algn="l">
              <a:lnSpc>
                <a:spcPct val="100000"/>
              </a:lnSpc>
              <a:spcBef>
                <a:spcPts val="0"/>
              </a:spcBef>
              <a:spcAft>
                <a:spcPts val="0"/>
              </a:spcAft>
              <a:buSzPts val="1100"/>
              <a:buChar char="●"/>
            </a:pPr>
            <a:r>
              <a:rPr lang="en-GB" sz="1100"/>
              <a:t>STORY LINK: computational viability axis head-on; also inference verifiability — the cached-ranking interface makes the agent's evidence trail auditable (surfaced/previewed/opened/cited tiers).</a:t>
            </a:r>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0" name="Shape 1290"/>
        <p:cNvGrpSpPr/>
        <p:nvPr/>
      </p:nvGrpSpPr>
      <p:grpSpPr>
        <a:xfrm>
          <a:off x="0" y="0"/>
          <a:ext cx="0" cy="0"/>
          <a:chOff x="0" y="0"/>
          <a:chExt cx="0" cy="0"/>
        </a:xfrm>
      </p:grpSpPr>
      <p:sp>
        <p:nvSpPr>
          <p:cNvPr id="1291" name="Google Shape;1291;g3f93b6d86d5_2_3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92" name="Google Shape;1292;g3f93b6d86d5_2_35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GB" sz="1100"/>
              <a:t>STORY LINK: the extreme end of the dilemma — no index at all; the agent's learned policy IS the retrieval system. Trade: viability at setup time (1 min, 14 GB) vs surface-form brittleness (representation axis pays). Details next slide.</a:t>
            </a:r>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0" name="Shape 1300"/>
        <p:cNvGrpSpPr/>
        <p:nvPr/>
      </p:nvGrpSpPr>
      <p:grpSpPr>
        <a:xfrm>
          <a:off x="0" y="0"/>
          <a:ext cx="0" cy="0"/>
          <a:chOff x="0" y="0"/>
          <a:chExt cx="0" cy="0"/>
        </a:xfrm>
      </p:grpSpPr>
      <p:sp>
        <p:nvSpPr>
          <p:cNvPr id="1301" name="Google Shape;1301;g3be115fc00c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2" name="Google Shape;1302;g3be115fc00c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solidFill>
                  <a:srgbClr val="188038"/>
                </a:solidFill>
                <a:latin typeface="Roboto Mono"/>
                <a:ea typeface="Roboto Mono"/>
                <a:cs typeface="Roboto Mono"/>
                <a:sym typeface="Roboto Mono"/>
              </a:rPr>
              <a:t>#section: Methods (II): Non-LLM-based | 45</a:t>
            </a:r>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6" name="Shape 1306"/>
        <p:cNvGrpSpPr/>
        <p:nvPr/>
      </p:nvGrpSpPr>
      <p:grpSpPr>
        <a:xfrm>
          <a:off x="0" y="0"/>
          <a:ext cx="0" cy="0"/>
          <a:chOff x="0" y="0"/>
          <a:chExt cx="0" cy="0"/>
        </a:xfrm>
      </p:grpSpPr>
      <p:sp>
        <p:nvSpPr>
          <p:cNvPr id="1307" name="Google Shape;1307;g3868c157717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8" name="Google Shape;1308;g3868c157717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2" name="Shape 1312"/>
        <p:cNvGrpSpPr/>
        <p:nvPr/>
      </p:nvGrpSpPr>
      <p:grpSpPr>
        <a:xfrm>
          <a:off x="0" y="0"/>
          <a:ext cx="0" cy="0"/>
          <a:chOff x="0" y="0"/>
          <a:chExt cx="0" cy="0"/>
        </a:xfrm>
      </p:grpSpPr>
      <p:sp>
        <p:nvSpPr>
          <p:cNvPr id="1313" name="Google Shape;1313;g3d32225b443_28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4" name="Google Shape;1314;g3d32225b443_28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2" name="Shape 1322"/>
        <p:cNvGrpSpPr/>
        <p:nvPr/>
      </p:nvGrpSpPr>
      <p:grpSpPr>
        <a:xfrm>
          <a:off x="0" y="0"/>
          <a:ext cx="0" cy="0"/>
          <a:chOff x="0" y="0"/>
          <a:chExt cx="0" cy="0"/>
        </a:xfrm>
      </p:grpSpPr>
      <p:sp>
        <p:nvSpPr>
          <p:cNvPr id="1323" name="Google Shape;1323;g3d32225b443_28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4" name="Google Shape;1324;g3d32225b443_28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1" name="Shape 1331"/>
        <p:cNvGrpSpPr/>
        <p:nvPr/>
      </p:nvGrpSpPr>
      <p:grpSpPr>
        <a:xfrm>
          <a:off x="0" y="0"/>
          <a:ext cx="0" cy="0"/>
          <a:chOff x="0" y="0"/>
          <a:chExt cx="0" cy="0"/>
        </a:xfrm>
      </p:grpSpPr>
      <p:sp>
        <p:nvSpPr>
          <p:cNvPr id="1332" name="Google Shape;1332;g3d32225b443_28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3" name="Google Shape;1333;g3d32225b443_28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7" name="Shape 1337"/>
        <p:cNvGrpSpPr/>
        <p:nvPr/>
      </p:nvGrpSpPr>
      <p:grpSpPr>
        <a:xfrm>
          <a:off x="0" y="0"/>
          <a:ext cx="0" cy="0"/>
          <a:chOff x="0" y="0"/>
          <a:chExt cx="0" cy="0"/>
        </a:xfrm>
      </p:grpSpPr>
      <p:sp>
        <p:nvSpPr>
          <p:cNvPr id="1338" name="Google Shape;1338;g3d32225b443_28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9" name="Google Shape;1339;g3d32225b443_28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3" name="Shape 1343"/>
        <p:cNvGrpSpPr/>
        <p:nvPr/>
      </p:nvGrpSpPr>
      <p:grpSpPr>
        <a:xfrm>
          <a:off x="0" y="0"/>
          <a:ext cx="0" cy="0"/>
          <a:chOff x="0" y="0"/>
          <a:chExt cx="0" cy="0"/>
        </a:xfrm>
      </p:grpSpPr>
      <p:sp>
        <p:nvSpPr>
          <p:cNvPr id="1344" name="Google Shape;1344;g3d32225b443_28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5" name="Google Shape;1345;g3d32225b443_28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9" name="Shape 1349"/>
        <p:cNvGrpSpPr/>
        <p:nvPr/>
      </p:nvGrpSpPr>
      <p:grpSpPr>
        <a:xfrm>
          <a:off x="0" y="0"/>
          <a:ext cx="0" cy="0"/>
          <a:chOff x="0" y="0"/>
          <a:chExt cx="0" cy="0"/>
        </a:xfrm>
      </p:grpSpPr>
      <p:sp>
        <p:nvSpPr>
          <p:cNvPr id="1350" name="Google Shape;1350;g3d32225b443_28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1" name="Google Shape;1351;g3d32225b443_28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6" name="Shape 1356"/>
        <p:cNvGrpSpPr/>
        <p:nvPr/>
      </p:nvGrpSpPr>
      <p:grpSpPr>
        <a:xfrm>
          <a:off x="0" y="0"/>
          <a:ext cx="0" cy="0"/>
          <a:chOff x="0" y="0"/>
          <a:chExt cx="0" cy="0"/>
        </a:xfrm>
      </p:grpSpPr>
      <p:sp>
        <p:nvSpPr>
          <p:cNvPr id="1357" name="Google Shape;1357;g3d32225b443_28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8" name="Google Shape;1358;g3d32225b443_28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2" name="Shape 1362"/>
        <p:cNvGrpSpPr/>
        <p:nvPr/>
      </p:nvGrpSpPr>
      <p:grpSpPr>
        <a:xfrm>
          <a:off x="0" y="0"/>
          <a:ext cx="0" cy="0"/>
          <a:chOff x="0" y="0"/>
          <a:chExt cx="0" cy="0"/>
        </a:xfrm>
      </p:grpSpPr>
      <p:sp>
        <p:nvSpPr>
          <p:cNvPr id="1363" name="Google Shape;1363;g3d32225b443_28_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4" name="Google Shape;1364;g3d32225b443_28_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8" name="Shape 1368"/>
        <p:cNvGrpSpPr/>
        <p:nvPr/>
      </p:nvGrpSpPr>
      <p:grpSpPr>
        <a:xfrm>
          <a:off x="0" y="0"/>
          <a:ext cx="0" cy="0"/>
          <a:chOff x="0" y="0"/>
          <a:chExt cx="0" cy="0"/>
        </a:xfrm>
      </p:grpSpPr>
      <p:sp>
        <p:nvSpPr>
          <p:cNvPr id="1369" name="Google Shape;1369;g3d32225b443_28_1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0" name="Google Shape;1370;g3d32225b443_28_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4" name="Shape 1374"/>
        <p:cNvGrpSpPr/>
        <p:nvPr/>
      </p:nvGrpSpPr>
      <p:grpSpPr>
        <a:xfrm>
          <a:off x="0" y="0"/>
          <a:ext cx="0" cy="0"/>
          <a:chOff x="0" y="0"/>
          <a:chExt cx="0" cy="0"/>
        </a:xfrm>
      </p:grpSpPr>
      <p:sp>
        <p:nvSpPr>
          <p:cNvPr id="1375" name="Google Shape;1375;g3d32225b443_28_1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6" name="Google Shape;1376;g3d32225b443_28_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0" name="Shape 1380"/>
        <p:cNvGrpSpPr/>
        <p:nvPr/>
      </p:nvGrpSpPr>
      <p:grpSpPr>
        <a:xfrm>
          <a:off x="0" y="0"/>
          <a:ext cx="0" cy="0"/>
          <a:chOff x="0" y="0"/>
          <a:chExt cx="0" cy="0"/>
        </a:xfrm>
      </p:grpSpPr>
      <p:sp>
        <p:nvSpPr>
          <p:cNvPr id="1381" name="Google Shape;1381;g3d32225b443_28_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2" name="Google Shape;1382;g3d32225b443_28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6" name="Shape 1386"/>
        <p:cNvGrpSpPr/>
        <p:nvPr/>
      </p:nvGrpSpPr>
      <p:grpSpPr>
        <a:xfrm>
          <a:off x="0" y="0"/>
          <a:ext cx="0" cy="0"/>
          <a:chOff x="0" y="0"/>
          <a:chExt cx="0" cy="0"/>
        </a:xfrm>
      </p:grpSpPr>
      <p:sp>
        <p:nvSpPr>
          <p:cNvPr id="1387" name="Google Shape;1387;g3d32225b443_28_1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8" name="Google Shape;1388;g3d32225b443_28_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5" name="Shape 1395"/>
        <p:cNvGrpSpPr/>
        <p:nvPr/>
      </p:nvGrpSpPr>
      <p:grpSpPr>
        <a:xfrm>
          <a:off x="0" y="0"/>
          <a:ext cx="0" cy="0"/>
          <a:chOff x="0" y="0"/>
          <a:chExt cx="0" cy="0"/>
        </a:xfrm>
      </p:grpSpPr>
      <p:sp>
        <p:nvSpPr>
          <p:cNvPr id="1396" name="Google Shape;1396;g3f565741b67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7" name="Google Shape;1397;g3f565741b67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2" name="Shape 1402"/>
        <p:cNvGrpSpPr/>
        <p:nvPr/>
      </p:nvGrpSpPr>
      <p:grpSpPr>
        <a:xfrm>
          <a:off x="0" y="0"/>
          <a:ext cx="0" cy="0"/>
          <a:chOff x="0" y="0"/>
          <a:chExt cx="0" cy="0"/>
        </a:xfrm>
      </p:grpSpPr>
      <p:sp>
        <p:nvSpPr>
          <p:cNvPr id="1403" name="Google Shape;1403;g3d32225b443_28_1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4" name="Google Shape;1404;g3d32225b443_28_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9" name="Shape 1409"/>
        <p:cNvGrpSpPr/>
        <p:nvPr/>
      </p:nvGrpSpPr>
      <p:grpSpPr>
        <a:xfrm>
          <a:off x="0" y="0"/>
          <a:ext cx="0" cy="0"/>
          <a:chOff x="0" y="0"/>
          <a:chExt cx="0" cy="0"/>
        </a:xfrm>
      </p:grpSpPr>
      <p:sp>
        <p:nvSpPr>
          <p:cNvPr id="1410" name="Google Shape;1410;g3d32225b443_28_1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1" name="Google Shape;1411;g3d32225b443_28_1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6" name="Shape 1416"/>
        <p:cNvGrpSpPr/>
        <p:nvPr/>
      </p:nvGrpSpPr>
      <p:grpSpPr>
        <a:xfrm>
          <a:off x="0" y="0"/>
          <a:ext cx="0" cy="0"/>
          <a:chOff x="0" y="0"/>
          <a:chExt cx="0" cy="0"/>
        </a:xfrm>
      </p:grpSpPr>
      <p:sp>
        <p:nvSpPr>
          <p:cNvPr id="1417" name="Google Shape;1417;g3d32225b443_28_1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8" name="Google Shape;1418;g3d32225b443_28_1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3" name="Shape 1423"/>
        <p:cNvGrpSpPr/>
        <p:nvPr/>
      </p:nvGrpSpPr>
      <p:grpSpPr>
        <a:xfrm>
          <a:off x="0" y="0"/>
          <a:ext cx="0" cy="0"/>
          <a:chOff x="0" y="0"/>
          <a:chExt cx="0" cy="0"/>
        </a:xfrm>
      </p:grpSpPr>
      <p:sp>
        <p:nvSpPr>
          <p:cNvPr id="1424" name="Google Shape;1424;g3d32225b443_28_1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5" name="Google Shape;1425;g3d32225b443_28_1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1" name="Shape 1431"/>
        <p:cNvGrpSpPr/>
        <p:nvPr/>
      </p:nvGrpSpPr>
      <p:grpSpPr>
        <a:xfrm>
          <a:off x="0" y="0"/>
          <a:ext cx="0" cy="0"/>
          <a:chOff x="0" y="0"/>
          <a:chExt cx="0" cy="0"/>
        </a:xfrm>
      </p:grpSpPr>
      <p:sp>
        <p:nvSpPr>
          <p:cNvPr id="1432" name="Google Shape;1432;g3d32225b443_28_1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3" name="Google Shape;1433;g3d32225b443_28_1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7" name="Shape 1437"/>
        <p:cNvGrpSpPr/>
        <p:nvPr/>
      </p:nvGrpSpPr>
      <p:grpSpPr>
        <a:xfrm>
          <a:off x="0" y="0"/>
          <a:ext cx="0" cy="0"/>
          <a:chOff x="0" y="0"/>
          <a:chExt cx="0" cy="0"/>
        </a:xfrm>
      </p:grpSpPr>
      <p:sp>
        <p:nvSpPr>
          <p:cNvPr id="1438" name="Google Shape;1438;g3d32225b443_28_1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9" name="Google Shape;1439;g3d32225b443_28_1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Closed world assumption</a:t>
            </a:r>
            <a:endParaRPr/>
          </a:p>
        </p:txBody>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4" name="Shape 1444"/>
        <p:cNvGrpSpPr/>
        <p:nvPr/>
      </p:nvGrpSpPr>
      <p:grpSpPr>
        <a:xfrm>
          <a:off x="0" y="0"/>
          <a:ext cx="0" cy="0"/>
          <a:chOff x="0" y="0"/>
          <a:chExt cx="0" cy="0"/>
        </a:xfrm>
      </p:grpSpPr>
      <p:sp>
        <p:nvSpPr>
          <p:cNvPr id="1445" name="Google Shape;1445;g3d32225b443_28_1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6" name="Google Shape;1446;g3d32225b443_28_1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2" name="Shape 1452"/>
        <p:cNvGrpSpPr/>
        <p:nvPr/>
      </p:nvGrpSpPr>
      <p:grpSpPr>
        <a:xfrm>
          <a:off x="0" y="0"/>
          <a:ext cx="0" cy="0"/>
          <a:chOff x="0" y="0"/>
          <a:chExt cx="0" cy="0"/>
        </a:xfrm>
      </p:grpSpPr>
      <p:sp>
        <p:nvSpPr>
          <p:cNvPr id="1453" name="Google Shape;1453;g3d32225b443_28_1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4" name="Google Shape;1454;g3d32225b443_28_1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Closed world assumption</a:t>
            </a:r>
            <a:endParaRPr/>
          </a:p>
        </p:txBody>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0" name="Shape 1460"/>
        <p:cNvGrpSpPr/>
        <p:nvPr/>
      </p:nvGrpSpPr>
      <p:grpSpPr>
        <a:xfrm>
          <a:off x="0" y="0"/>
          <a:ext cx="0" cy="0"/>
          <a:chOff x="0" y="0"/>
          <a:chExt cx="0" cy="0"/>
        </a:xfrm>
      </p:grpSpPr>
      <p:sp>
        <p:nvSpPr>
          <p:cNvPr id="1461" name="Google Shape;1461;g3d32225b443_28_1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2" name="Google Shape;1462;g3d32225b443_28_1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Closed world assumption</a:t>
            </a:r>
            <a:endParaRPr/>
          </a:p>
        </p:txBody>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7" name="Shape 1467"/>
        <p:cNvGrpSpPr/>
        <p:nvPr/>
      </p:nvGrpSpPr>
      <p:grpSpPr>
        <a:xfrm>
          <a:off x="0" y="0"/>
          <a:ext cx="0" cy="0"/>
          <a:chOff x="0" y="0"/>
          <a:chExt cx="0" cy="0"/>
        </a:xfrm>
      </p:grpSpPr>
      <p:sp>
        <p:nvSpPr>
          <p:cNvPr id="1468" name="Google Shape;1468;g3d32225b443_28_1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9" name="Google Shape;1469;g3d32225b443_28_1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7" name="Shape 1477"/>
        <p:cNvGrpSpPr/>
        <p:nvPr/>
      </p:nvGrpSpPr>
      <p:grpSpPr>
        <a:xfrm>
          <a:off x="0" y="0"/>
          <a:ext cx="0" cy="0"/>
          <a:chOff x="0" y="0"/>
          <a:chExt cx="0" cy="0"/>
        </a:xfrm>
      </p:grpSpPr>
      <p:sp>
        <p:nvSpPr>
          <p:cNvPr id="1478" name="Google Shape;1478;g3f5609be59c_0_5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9" name="Google Shape;1479;g3f5609be59c_0_5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solidFill>
                  <a:srgbClr val="188038"/>
                </a:solidFill>
                <a:latin typeface="Roboto Mono"/>
                <a:ea typeface="Roboto Mono"/>
                <a:cs typeface="Roboto Mono"/>
                <a:sym typeface="Roboto Mono"/>
              </a:rPr>
              <a:t>#section: Methods (II): Non-LLM-based | 45</a:t>
            </a:r>
            <a:endParaRPr/>
          </a:p>
        </p:txBody>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3" name="Shape 1483"/>
        <p:cNvGrpSpPr/>
        <p:nvPr/>
      </p:nvGrpSpPr>
      <p:grpSpPr>
        <a:xfrm>
          <a:off x="0" y="0"/>
          <a:ext cx="0" cy="0"/>
          <a:chOff x="0" y="0"/>
          <a:chExt cx="0" cy="0"/>
        </a:xfrm>
      </p:grpSpPr>
      <p:sp>
        <p:nvSpPr>
          <p:cNvPr id="1484" name="Google Shape;1484;g3c652e8fe5d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5" name="Google Shape;1485;g3c652e8fe5d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0" name="Shape 1490"/>
        <p:cNvGrpSpPr/>
        <p:nvPr/>
      </p:nvGrpSpPr>
      <p:grpSpPr>
        <a:xfrm>
          <a:off x="0" y="0"/>
          <a:ext cx="0" cy="0"/>
          <a:chOff x="0" y="0"/>
          <a:chExt cx="0" cy="0"/>
        </a:xfrm>
      </p:grpSpPr>
      <p:sp>
        <p:nvSpPr>
          <p:cNvPr id="1491" name="Google Shape;1491;g3f5609be59c_0_1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92" name="Google Shape;1492;g3f5609be59c_0_17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GB" sz="1100"/>
              <a:t>STORY LINK: overconfident + poorly calibrated + brittle = the three findings of Part I restated as an uncertainty problem. The section's promise: make the uncertain object explicit, put a posterior on it, ACT on the posterior — and (new in this version) show that the same recipe is already running inside RAG and search agents.</a:t>
            </a:r>
            <a:endParaRPr/>
          </a:p>
        </p:txBody>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7" name="Shape 1497"/>
        <p:cNvGrpSpPr/>
        <p:nvPr/>
      </p:nvGrpSpPr>
      <p:grpSpPr>
        <a:xfrm>
          <a:off x="0" y="0"/>
          <a:ext cx="0" cy="0"/>
          <a:chOff x="0" y="0"/>
          <a:chExt cx="0" cy="0"/>
        </a:xfrm>
      </p:grpSpPr>
      <p:sp>
        <p:nvSpPr>
          <p:cNvPr id="1498" name="Google Shape;1498;g3d2c49019a2_1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9" name="Google Shape;1499;g3d2c49019a2_1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6" name="Shape 1506"/>
        <p:cNvGrpSpPr/>
        <p:nvPr/>
      </p:nvGrpSpPr>
      <p:grpSpPr>
        <a:xfrm>
          <a:off x="0" y="0"/>
          <a:ext cx="0" cy="0"/>
          <a:chOff x="0" y="0"/>
          <a:chExt cx="0" cy="0"/>
        </a:xfrm>
      </p:grpSpPr>
      <p:sp>
        <p:nvSpPr>
          <p:cNvPr id="1507" name="Google Shape;1507;g3d32225b443_22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8" name="Google Shape;1508;g3d32225b443_22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GB"/>
              <a:t>LLMs </a:t>
            </a:r>
            <a:r>
              <a:rPr lang="en-GB"/>
              <a:t>struggle with accumulating errors during complex multi-step reasoning tasks</a:t>
            </a:r>
            <a:endParaRPr/>
          </a:p>
          <a:p>
            <a:pPr indent="-298450" lvl="0" marL="457200" rtl="0" algn="l">
              <a:spcBef>
                <a:spcPts val="0"/>
              </a:spcBef>
              <a:spcAft>
                <a:spcPts val="0"/>
              </a:spcAft>
              <a:buSzPts val="1100"/>
              <a:buChar char="-"/>
            </a:pPr>
            <a:r>
              <a:rPr lang="en-GB"/>
              <a:t>Existing methods like Tree of Thought typically manipulate the reasoning process only after individual intermediate steps have already been generated</a:t>
            </a:r>
            <a:endParaRPr/>
          </a:p>
          <a:p>
            <a:pPr indent="-298450" lvl="0" marL="457200" rtl="0" algn="l">
              <a:spcBef>
                <a:spcPts val="0"/>
              </a:spcBef>
              <a:spcAft>
                <a:spcPts val="0"/>
              </a:spcAft>
              <a:buSzPts val="1100"/>
              <a:buChar char="-"/>
            </a:pPr>
            <a:r>
              <a:rPr lang="en-GB"/>
              <a:t>Phase 1: Uncertainty identification during autoregressive generation </a:t>
            </a:r>
            <a:endParaRPr/>
          </a:p>
          <a:p>
            <a:pPr indent="-298450" lvl="0" marL="457200" rtl="0" algn="l">
              <a:spcBef>
                <a:spcPts val="0"/>
              </a:spcBef>
              <a:spcAft>
                <a:spcPts val="0"/>
              </a:spcAft>
              <a:buSzPts val="1100"/>
              <a:buChar char="-"/>
            </a:pPr>
            <a:r>
              <a:rPr lang="en-GB"/>
              <a:t>Phase 2: Once a spike in uncertainty is detected, UAG actively intervenes by retracting the reasoning chain back to the last reliable and coherent step</a:t>
            </a:r>
            <a:endParaRPr/>
          </a:p>
        </p:txBody>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6" name="Shape 1516"/>
        <p:cNvGrpSpPr/>
        <p:nvPr/>
      </p:nvGrpSpPr>
      <p:grpSpPr>
        <a:xfrm>
          <a:off x="0" y="0"/>
          <a:ext cx="0" cy="0"/>
          <a:chOff x="0" y="0"/>
          <a:chExt cx="0" cy="0"/>
        </a:xfrm>
      </p:grpSpPr>
      <p:sp>
        <p:nvSpPr>
          <p:cNvPr id="1517" name="Google Shape;1517;g3f5609be59c_0_2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18" name="Google Shape;1518;g3f5609be59c_0_27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GB" sz="1100"/>
              <a:t>This slide turns the section homeward to IR. The axiomatic paper is the 'naive thing fails' result: standard uncertainty estimators (entropy, verbalized confidence, sampling-consistency) were designed for closed-book generation; add retrieved evidence and they collapse — they output low uncertainty regardless of whether the retrieved context is relevant. The paper formalizes five axioms (e.g., relevant supporting context should reduce uncertainty; irrelevant context should not) and shows every existing method violates some. FRANQ makes the same point structurally: a RAG claim can be faithful-but-false (context was wrong) or unfaithful-but-true — so uncertainty must be decomposed. STORY LINK: this is Step 1 of the section's lens (choose the uncertain object) applied to RAG; axes — representational adequacy of the UNCERTAINTY representation itself.</a:t>
            </a:r>
            <a:endParaRPr/>
          </a:p>
        </p:txBody>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3" name="Shape 1523"/>
        <p:cNvGrpSpPr/>
        <p:nvPr/>
      </p:nvGrpSpPr>
      <p:grpSpPr>
        <a:xfrm>
          <a:off x="0" y="0"/>
          <a:ext cx="0" cy="0"/>
          <a:chOff x="0" y="0"/>
          <a:chExt cx="0" cy="0"/>
        </a:xfrm>
      </p:grpSpPr>
      <p:sp>
        <p:nvSpPr>
          <p:cNvPr id="1524" name="Google Shape;1524;g3f5609be59c_0_2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25" name="Google Shape;1525;g3f5609be59c_0_28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GB" sz="1100"/>
              <a:t>R2C is the flagship 'IR-side' uncertainty paper: instead of scoring a single generation, it perturbs the multi-step retrieval+reasoning chain (query rewriting, answer validation, critique actions on intermediate steps) and measures how stable the outcome is — capturing uncertainty from retrieval, generation, AND their feedback loop. Then the punchline: modern RL search agents already implement 'retrieve when uncertain' implicitly — R1-Searcher++ rewards using internal knowledge when confident (~30% fewer retrievals), WebSailor explicitly frames deep search as uncertainty reduction. This section gives those heuristics their formal home. URAG is the cautionary benchmark: under retrieval noise, accuracy gains and calibration decouple; simple modular RAG often has better accuracy-uncertainty trade-offs than complex reasoning pipelines. STORY LINK: connects the Bayesian section to Part II's agentic search (Search-R1, adaptive orchestration). Axes: computational viability — knowing when NOT to retrieve/reason is a cost-control mechanism.</a:t>
            </a:r>
            <a:endParaRPr/>
          </a:p>
        </p:txBody>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1" name="Shape 1531"/>
        <p:cNvGrpSpPr/>
        <p:nvPr/>
      </p:nvGrpSpPr>
      <p:grpSpPr>
        <a:xfrm>
          <a:off x="0" y="0"/>
          <a:ext cx="0" cy="0"/>
          <a:chOff x="0" y="0"/>
          <a:chExt cx="0" cy="0"/>
        </a:xfrm>
      </p:grpSpPr>
      <p:sp>
        <p:nvSpPr>
          <p:cNvPr id="1532" name="Google Shape;1532;g3d2ed856adf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3" name="Google Shape;1533;g3d2ed856adf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8" name="Shape 1538"/>
        <p:cNvGrpSpPr/>
        <p:nvPr/>
      </p:nvGrpSpPr>
      <p:grpSpPr>
        <a:xfrm>
          <a:off x="0" y="0"/>
          <a:ext cx="0" cy="0"/>
          <a:chOff x="0" y="0"/>
          <a:chExt cx="0" cy="0"/>
        </a:xfrm>
      </p:grpSpPr>
      <p:sp>
        <p:nvSpPr>
          <p:cNvPr id="1539" name="Google Shape;1539;g3f5609be59c_0_3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40" name="Google Shape;1540;g3f5609be59c_0_38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GB" sz="1100"/>
              <a:t>STORY LINK: after the IR-bridge slides, upgrade the answer verbally: 'Probably — and for IR, necessarily: retrieval under uncertainty is our field's founding problem (PRP), and agents have made it a CONTROL problem.' Then hand to Bridging.</a:t>
            </a:r>
            <a:endParaRPr/>
          </a:p>
        </p:txBody>
      </p:sp>
    </p:spTree>
  </p:cSld>
  <p:clrMapOvr>
    <a:masterClrMapping/>
  </p:clrMapOvr>
</p:notes>
</file>

<file path=ppt/notesSlides/notesSlide1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7" name="Shape 1547"/>
        <p:cNvGrpSpPr/>
        <p:nvPr/>
      </p:nvGrpSpPr>
      <p:grpSpPr>
        <a:xfrm>
          <a:off x="0" y="0"/>
          <a:ext cx="0" cy="0"/>
          <a:chOff x="0" y="0"/>
          <a:chExt cx="0" cy="0"/>
        </a:xfrm>
      </p:grpSpPr>
      <p:sp>
        <p:nvSpPr>
          <p:cNvPr id="1548" name="Google Shape;1548;g3868c157717_3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9" name="Google Shape;1549;g3868c157717_3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rPr lang="en-GB">
                <a:solidFill>
                  <a:srgbClr val="188038"/>
                </a:solidFill>
                <a:latin typeface="Roboto Mono"/>
                <a:ea typeface="Roboto Mono"/>
                <a:cs typeface="Roboto Mono"/>
                <a:sym typeface="Roboto Mono"/>
              </a:rPr>
              <a:t>#section: Future directions | 40</a:t>
            </a:r>
            <a:endParaRPr>
              <a:solidFill>
                <a:srgbClr val="188038"/>
              </a:solidFill>
              <a:latin typeface="Roboto Mono"/>
              <a:ea typeface="Roboto Mono"/>
              <a:cs typeface="Roboto Mono"/>
              <a:sym typeface="Roboto Mono"/>
            </a:endParaRPr>
          </a:p>
        </p:txBody>
      </p:sp>
    </p:spTree>
  </p:cSld>
  <p:clrMapOvr>
    <a:masterClrMapping/>
  </p:clrMapOvr>
</p:notes>
</file>

<file path=ppt/notesSlides/notesSlide1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3" name="Shape 1553"/>
        <p:cNvGrpSpPr/>
        <p:nvPr/>
      </p:nvGrpSpPr>
      <p:grpSpPr>
        <a:xfrm>
          <a:off x="0" y="0"/>
          <a:ext cx="0" cy="0"/>
          <a:chOff x="0" y="0"/>
          <a:chExt cx="0" cy="0"/>
        </a:xfrm>
      </p:grpSpPr>
      <p:sp>
        <p:nvSpPr>
          <p:cNvPr id="1554" name="Google Shape;1554;g3868c157717_3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5" name="Google Shape;1555;g3868c157717_3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9" name="Shape 1559"/>
        <p:cNvGrpSpPr/>
        <p:nvPr/>
      </p:nvGrpSpPr>
      <p:grpSpPr>
        <a:xfrm>
          <a:off x="0" y="0"/>
          <a:ext cx="0" cy="0"/>
          <a:chOff x="0" y="0"/>
          <a:chExt cx="0" cy="0"/>
        </a:xfrm>
      </p:grpSpPr>
      <p:sp>
        <p:nvSpPr>
          <p:cNvPr id="1560" name="Google Shape;1560;g3d32225b443_5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1" name="Google Shape;1561;g3d32225b443_5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6" name="Shape 1566"/>
        <p:cNvGrpSpPr/>
        <p:nvPr/>
      </p:nvGrpSpPr>
      <p:grpSpPr>
        <a:xfrm>
          <a:off x="0" y="0"/>
          <a:ext cx="0" cy="0"/>
          <a:chOff x="0" y="0"/>
          <a:chExt cx="0" cy="0"/>
        </a:xfrm>
      </p:grpSpPr>
      <p:sp>
        <p:nvSpPr>
          <p:cNvPr id="1567" name="Google Shape;1567;g3d32225b443_35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8" name="Google Shape;1568;g3d32225b443_35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3" name="Shape 1583"/>
        <p:cNvGrpSpPr/>
        <p:nvPr/>
      </p:nvGrpSpPr>
      <p:grpSpPr>
        <a:xfrm>
          <a:off x="0" y="0"/>
          <a:ext cx="0" cy="0"/>
          <a:chOff x="0" y="0"/>
          <a:chExt cx="0" cy="0"/>
        </a:xfrm>
      </p:grpSpPr>
      <p:sp>
        <p:nvSpPr>
          <p:cNvPr id="1584" name="Google Shape;1584;g3d32225b443_35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5" name="Google Shape;1585;g3d32225b443_35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6" name="Shape 1606"/>
        <p:cNvGrpSpPr/>
        <p:nvPr/>
      </p:nvGrpSpPr>
      <p:grpSpPr>
        <a:xfrm>
          <a:off x="0" y="0"/>
          <a:ext cx="0" cy="0"/>
          <a:chOff x="0" y="0"/>
          <a:chExt cx="0" cy="0"/>
        </a:xfrm>
      </p:grpSpPr>
      <p:sp>
        <p:nvSpPr>
          <p:cNvPr id="1607" name="Google Shape;1607;g3f5609be59c_0_4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08" name="Google Shape;1608;g3f5609be59c_0_4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GB" sz="1100"/>
              <a:t>Present AFTER the audience-placement exercise, as 'our answer key'. Walk one column at a time, not row by row. Representational capability: only the symbolic and Bayesian families ENCODE logic/uncertainty explicitly; trained retrievers get partial credit because LogiCoL/ReasonIR bake structure into vectors but can't inspect it. Inference faithfulness: neuro-symbolic wins — a ProbLog/FOL derivation IS the explanation (OrLog); LLM traces are unfaithful (Chen et al. 2025, Part I); multi-agent is worst — trace is scattered across agents (slide 'Why do multi-agent systems fail?'). Computational feasibility: representations win — all reasoning is amortized into training so query time stays a dot product; inference-time LLM reasoning pays per query; multi-agent pays coordination overhead. The diagonal structure is the story: NO ROW IS ALL-GREEN. That's the punchline slide next. STORY LINK: this is the payoff of the three axes introduced in Part I — every method section of the day now sits in one comparable frame.</a:t>
            </a:r>
            <a:endParaRPr/>
          </a:p>
        </p:txBody>
      </p:sp>
    </p:spTree>
  </p:cSld>
  <p:clrMapOvr>
    <a:masterClrMapping/>
  </p:clrMapOvr>
</p:notes>
</file>

<file path=ppt/notesSlides/notesSlide1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3" name="Shape 1613"/>
        <p:cNvGrpSpPr/>
        <p:nvPr/>
      </p:nvGrpSpPr>
      <p:grpSpPr>
        <a:xfrm>
          <a:off x="0" y="0"/>
          <a:ext cx="0" cy="0"/>
          <a:chOff x="0" y="0"/>
          <a:chExt cx="0" cy="0"/>
        </a:xfrm>
      </p:grpSpPr>
      <p:sp>
        <p:nvSpPr>
          <p:cNvPr id="1614" name="Google Shape;1614;g3f5609be59c_0_45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GB" sz="1100"/>
              <a:t>Discussion openers, one per axis + two meta-questions. Pick 2-3 depending on remaining time; the bitter-lesson question reliably starts an argument — use it last. Numbers behind the viability bullet: BRIGHT nDCG@10 — SFR-Embedding ~18 (2024) → ReasonIR 24.4/29.9 (2025) → leaderboard mid-2026: DIVER-v3 46.8, LATTICE ~46-49, and top entries Mira 66.9 / INF-X 63.4 (leaderboard-only, unpublished — say so if citing). STORY LINK: each question is one of the three axes left open + taxonomy coverage + the field-level question; they mirror the 'three open questions' of Part I's normative-gap slide, now informed by the whole day.</a:t>
            </a:r>
            <a:endParaRPr/>
          </a:p>
        </p:txBody>
      </p:sp>
      <p:sp>
        <p:nvSpPr>
          <p:cNvPr id="1615" name="Google Shape;1615;g3f5609be59c_0_4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1" name="Shape 1621"/>
        <p:cNvGrpSpPr/>
        <p:nvPr/>
      </p:nvGrpSpPr>
      <p:grpSpPr>
        <a:xfrm>
          <a:off x="0" y="0"/>
          <a:ext cx="0" cy="0"/>
          <a:chOff x="0" y="0"/>
          <a:chExt cx="0" cy="0"/>
        </a:xfrm>
      </p:grpSpPr>
      <p:sp>
        <p:nvSpPr>
          <p:cNvPr id="1622" name="Google Shape;1622;g3d0e5b8bcb3_0_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23" name="Google Shape;1623;g3d0e5b8bcb3_0_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1200"/>
              </a:spcAft>
              <a:buSzPts val="1100"/>
              <a:buNone/>
            </a:pPr>
            <a:r>
              <a:rPr lang="en-GB">
                <a:solidFill>
                  <a:srgbClr val="188038"/>
                </a:solidFill>
                <a:latin typeface="Roboto Mono"/>
                <a:ea typeface="Roboto Mono"/>
                <a:cs typeface="Roboto Mono"/>
                <a:sym typeface="Roboto Mono"/>
              </a:rPr>
              <a:t>#section: Future directions | 45</a:t>
            </a:r>
            <a:endParaRPr>
              <a:solidFill>
                <a:srgbClr val="188038"/>
              </a:solidFill>
              <a:latin typeface="Roboto Mono"/>
              <a:ea typeface="Roboto Mono"/>
              <a:cs typeface="Roboto Mono"/>
              <a:sym typeface="Roboto Mono"/>
            </a:endParaRPr>
          </a:p>
        </p:txBody>
      </p:sp>
    </p:spTree>
  </p:cSld>
  <p:clrMapOvr>
    <a:masterClrMapping/>
  </p:clrMapOvr>
</p:notes>
</file>

<file path=ppt/notesSlides/notesSlide1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7" name="Shape 1627"/>
        <p:cNvGrpSpPr/>
        <p:nvPr/>
      </p:nvGrpSpPr>
      <p:grpSpPr>
        <a:xfrm>
          <a:off x="0" y="0"/>
          <a:ext cx="0" cy="0"/>
          <a:chOff x="0" y="0"/>
          <a:chExt cx="0" cy="0"/>
        </a:xfrm>
      </p:grpSpPr>
      <p:sp>
        <p:nvSpPr>
          <p:cNvPr id="1628" name="Google Shape;1628;g3d0e5b8bcb3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29" name="Google Shape;1629;g3d0e5b8bcb3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4" name="Shape 1634"/>
        <p:cNvGrpSpPr/>
        <p:nvPr/>
      </p:nvGrpSpPr>
      <p:grpSpPr>
        <a:xfrm>
          <a:off x="0" y="0"/>
          <a:ext cx="0" cy="0"/>
          <a:chOff x="0" y="0"/>
          <a:chExt cx="0" cy="0"/>
        </a:xfrm>
      </p:grpSpPr>
      <p:sp>
        <p:nvSpPr>
          <p:cNvPr id="1635" name="Google Shape;1635;g3d2600a6132_6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36" name="Google Shape;1636;g3d2600a6132_6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1" name="Shape 1641"/>
        <p:cNvGrpSpPr/>
        <p:nvPr/>
      </p:nvGrpSpPr>
      <p:grpSpPr>
        <a:xfrm>
          <a:off x="0" y="0"/>
          <a:ext cx="0" cy="0"/>
          <a:chOff x="0" y="0"/>
          <a:chExt cx="0" cy="0"/>
        </a:xfrm>
      </p:grpSpPr>
      <p:sp>
        <p:nvSpPr>
          <p:cNvPr id="1642" name="Google Shape;1642;g3d32225b443_28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43" name="Google Shape;1643;g3d32225b443_28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8" name="Shape 1648"/>
        <p:cNvGrpSpPr/>
        <p:nvPr/>
      </p:nvGrpSpPr>
      <p:grpSpPr>
        <a:xfrm>
          <a:off x="0" y="0"/>
          <a:ext cx="0" cy="0"/>
          <a:chOff x="0" y="0"/>
          <a:chExt cx="0" cy="0"/>
        </a:xfrm>
      </p:grpSpPr>
      <p:sp>
        <p:nvSpPr>
          <p:cNvPr id="1649" name="Google Shape;1649;g3d1df8b7ab8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50" name="Google Shape;1650;g3d1df8b7ab8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6" name="Shape 56"/>
        <p:cNvGrpSpPr/>
        <p:nvPr/>
      </p:nvGrpSpPr>
      <p:grpSpPr>
        <a:xfrm>
          <a:off x="0" y="0"/>
          <a:ext cx="0" cy="0"/>
          <a:chOff x="0" y="0"/>
          <a:chExt cx="0" cy="0"/>
        </a:xfrm>
      </p:grpSpPr>
      <p:sp>
        <p:nvSpPr>
          <p:cNvPr id="57" name="Google Shape;57;p1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1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60" name="Shape 60"/>
        <p:cNvGrpSpPr/>
        <p:nvPr/>
      </p:nvGrpSpPr>
      <p:grpSpPr>
        <a:xfrm>
          <a:off x="0" y="0"/>
          <a:ext cx="0" cy="0"/>
          <a:chOff x="0" y="0"/>
          <a:chExt cx="0" cy="0"/>
        </a:xfrm>
      </p:grpSpPr>
      <p:sp>
        <p:nvSpPr>
          <p:cNvPr id="61" name="Google Shape;61;p15"/>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2" name="Google Shape;62;p15"/>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63" name="Google Shape;63;p1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1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66" name="Shape 66"/>
        <p:cNvGrpSpPr/>
        <p:nvPr/>
      </p:nvGrpSpPr>
      <p:grpSpPr>
        <a:xfrm>
          <a:off x="0" y="0"/>
          <a:ext cx="0" cy="0"/>
          <a:chOff x="0" y="0"/>
          <a:chExt cx="0" cy="0"/>
        </a:xfrm>
      </p:grpSpPr>
      <p:sp>
        <p:nvSpPr>
          <p:cNvPr id="67" name="Google Shape;67;p1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8" name="Google Shape;68;p1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69" name="Google Shape;69;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2" name="Shape 72"/>
        <p:cNvGrpSpPr/>
        <p:nvPr/>
      </p:nvGrpSpPr>
      <p:grpSpPr>
        <a:xfrm>
          <a:off x="0" y="0"/>
          <a:ext cx="0" cy="0"/>
          <a:chOff x="0" y="0"/>
          <a:chExt cx="0" cy="0"/>
        </a:xfrm>
      </p:grpSpPr>
      <p:sp>
        <p:nvSpPr>
          <p:cNvPr id="73" name="Google Shape;73;p17"/>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17"/>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75" name="Google Shape;75;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78" name="Shape 78"/>
        <p:cNvGrpSpPr/>
        <p:nvPr/>
      </p:nvGrpSpPr>
      <p:grpSpPr>
        <a:xfrm>
          <a:off x="0" y="0"/>
          <a:ext cx="0" cy="0"/>
          <a:chOff x="0" y="0"/>
          <a:chExt cx="0" cy="0"/>
        </a:xfrm>
      </p:grpSpPr>
      <p:sp>
        <p:nvSpPr>
          <p:cNvPr id="79" name="Google Shape;79;p1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18"/>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81" name="Google Shape;81;p18"/>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82" name="Google Shape;82;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85" name="Shape 85"/>
        <p:cNvGrpSpPr/>
        <p:nvPr/>
      </p:nvGrpSpPr>
      <p:grpSpPr>
        <a:xfrm>
          <a:off x="0" y="0"/>
          <a:ext cx="0" cy="0"/>
          <a:chOff x="0" y="0"/>
          <a:chExt cx="0" cy="0"/>
        </a:xfrm>
      </p:grpSpPr>
      <p:sp>
        <p:nvSpPr>
          <p:cNvPr id="86" name="Google Shape;86;p1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7" name="Google Shape;87;p19"/>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88" name="Google Shape;88;p19"/>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89" name="Google Shape;89;p19"/>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90" name="Google Shape;90;p19"/>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91" name="Google Shape;91;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2" name="Google Shape;92;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3" name="Google Shape;93;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4" name="Shape 94"/>
        <p:cNvGrpSpPr/>
        <p:nvPr/>
      </p:nvGrpSpPr>
      <p:grpSpPr>
        <a:xfrm>
          <a:off x="0" y="0"/>
          <a:ext cx="0" cy="0"/>
          <a:chOff x="0" y="0"/>
          <a:chExt cx="0" cy="0"/>
        </a:xfrm>
      </p:grpSpPr>
      <p:sp>
        <p:nvSpPr>
          <p:cNvPr id="95" name="Google Shape;95;p2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6" name="Google Shape;96;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7" name="Google Shape;97;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8" name="Google Shape;98;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99" name="Shape 99"/>
        <p:cNvGrpSpPr/>
        <p:nvPr/>
      </p:nvGrpSpPr>
      <p:grpSpPr>
        <a:xfrm>
          <a:off x="0" y="0"/>
          <a:ext cx="0" cy="0"/>
          <a:chOff x="0" y="0"/>
          <a:chExt cx="0" cy="0"/>
        </a:xfrm>
      </p:grpSpPr>
      <p:sp>
        <p:nvSpPr>
          <p:cNvPr id="100" name="Google Shape;100;p21"/>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1" name="Google Shape;101;p21"/>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102" name="Google Shape;102;p21"/>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103" name="Google Shape;103;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4" name="Google Shape;104;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5" name="Google Shape;105;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06" name="Shape 106"/>
        <p:cNvGrpSpPr/>
        <p:nvPr/>
      </p:nvGrpSpPr>
      <p:grpSpPr>
        <a:xfrm>
          <a:off x="0" y="0"/>
          <a:ext cx="0" cy="0"/>
          <a:chOff x="0" y="0"/>
          <a:chExt cx="0" cy="0"/>
        </a:xfrm>
      </p:grpSpPr>
      <p:sp>
        <p:nvSpPr>
          <p:cNvPr id="107" name="Google Shape;107;p22"/>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8" name="Google Shape;108;p22"/>
          <p:cNvSpPr/>
          <p:nvPr>
            <p:ph idx="2" type="pic"/>
          </p:nvPr>
        </p:nvSpPr>
        <p:spPr>
          <a:xfrm>
            <a:off x="1792288" y="612775"/>
            <a:ext cx="5486400" cy="4114800"/>
          </a:xfrm>
          <a:prstGeom prst="rect">
            <a:avLst/>
          </a:prstGeom>
          <a:noFill/>
          <a:ln>
            <a:noFill/>
          </a:ln>
        </p:spPr>
      </p:sp>
      <p:sp>
        <p:nvSpPr>
          <p:cNvPr id="109" name="Google Shape;109;p22"/>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110" name="Google Shape;110;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1" name="Google Shape;111;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2" name="Google Shape;112;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13" name="Shape 113"/>
        <p:cNvGrpSpPr/>
        <p:nvPr/>
      </p:nvGrpSpPr>
      <p:grpSpPr>
        <a:xfrm>
          <a:off x="0" y="0"/>
          <a:ext cx="0" cy="0"/>
          <a:chOff x="0" y="0"/>
          <a:chExt cx="0" cy="0"/>
        </a:xfrm>
      </p:grpSpPr>
      <p:sp>
        <p:nvSpPr>
          <p:cNvPr id="114" name="Google Shape;114;p2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5" name="Google Shape;115;p23"/>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16" name="Google Shape;116;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7" name="Google Shape;117;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8" name="Google Shape;118;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19" name="Shape 119"/>
        <p:cNvGrpSpPr/>
        <p:nvPr/>
      </p:nvGrpSpPr>
      <p:grpSpPr>
        <a:xfrm>
          <a:off x="0" y="0"/>
          <a:ext cx="0" cy="0"/>
          <a:chOff x="0" y="0"/>
          <a:chExt cx="0" cy="0"/>
        </a:xfrm>
      </p:grpSpPr>
      <p:sp>
        <p:nvSpPr>
          <p:cNvPr id="120" name="Google Shape;120;p24"/>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1" name="Google Shape;121;p24"/>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22" name="Google Shape;122;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3" name="Google Shape;123;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4" name="Google Shape;124;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29" name="Shape 129"/>
        <p:cNvGrpSpPr/>
        <p:nvPr/>
      </p:nvGrpSpPr>
      <p:grpSpPr>
        <a:xfrm>
          <a:off x="0" y="0"/>
          <a:ext cx="0" cy="0"/>
          <a:chOff x="0" y="0"/>
          <a:chExt cx="0" cy="0"/>
        </a:xfrm>
      </p:grpSpPr>
      <p:sp>
        <p:nvSpPr>
          <p:cNvPr id="130" name="Google Shape;130;p26"/>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31" name="Google Shape;131;p26"/>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32" name="Google Shape;132;p2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Palatino Linotype"/>
              <a:buNone/>
              <a:defRPr b="0" i="0" sz="1000" u="none" cap="none" strike="noStrike">
                <a:solidFill>
                  <a:schemeClr val="dk2"/>
                </a:solidFill>
                <a:latin typeface="Palatino Linotype"/>
                <a:ea typeface="Palatino Linotype"/>
                <a:cs typeface="Palatino Linotype"/>
                <a:sym typeface="Palatino Linotype"/>
              </a:defRPr>
            </a:lvl1pPr>
            <a:lvl2pPr indent="0" lvl="1" marL="0" marR="0" algn="r">
              <a:lnSpc>
                <a:spcPct val="100000"/>
              </a:lnSpc>
              <a:spcBef>
                <a:spcPts val="0"/>
              </a:spcBef>
              <a:spcAft>
                <a:spcPts val="0"/>
              </a:spcAft>
              <a:buClr>
                <a:srgbClr val="000000"/>
              </a:buClr>
              <a:buSzPts val="1000"/>
              <a:buFont typeface="Palatino Linotype"/>
              <a:buNone/>
              <a:defRPr b="0" i="0" sz="1000" u="none" cap="none" strike="noStrike">
                <a:solidFill>
                  <a:schemeClr val="dk2"/>
                </a:solidFill>
                <a:latin typeface="Palatino Linotype"/>
                <a:ea typeface="Palatino Linotype"/>
                <a:cs typeface="Palatino Linotype"/>
                <a:sym typeface="Palatino Linotype"/>
              </a:defRPr>
            </a:lvl2pPr>
            <a:lvl3pPr indent="0" lvl="2" marL="0" marR="0" algn="r">
              <a:lnSpc>
                <a:spcPct val="100000"/>
              </a:lnSpc>
              <a:spcBef>
                <a:spcPts val="0"/>
              </a:spcBef>
              <a:spcAft>
                <a:spcPts val="0"/>
              </a:spcAft>
              <a:buClr>
                <a:srgbClr val="000000"/>
              </a:buClr>
              <a:buSzPts val="1000"/>
              <a:buFont typeface="Palatino Linotype"/>
              <a:buNone/>
              <a:defRPr b="0" i="0" sz="1000" u="none" cap="none" strike="noStrike">
                <a:solidFill>
                  <a:schemeClr val="dk2"/>
                </a:solidFill>
                <a:latin typeface="Palatino Linotype"/>
                <a:ea typeface="Palatino Linotype"/>
                <a:cs typeface="Palatino Linotype"/>
                <a:sym typeface="Palatino Linotype"/>
              </a:defRPr>
            </a:lvl3pPr>
            <a:lvl4pPr indent="0" lvl="3" marL="0" marR="0" algn="r">
              <a:lnSpc>
                <a:spcPct val="100000"/>
              </a:lnSpc>
              <a:spcBef>
                <a:spcPts val="0"/>
              </a:spcBef>
              <a:spcAft>
                <a:spcPts val="0"/>
              </a:spcAft>
              <a:buClr>
                <a:srgbClr val="000000"/>
              </a:buClr>
              <a:buSzPts val="1000"/>
              <a:buFont typeface="Palatino Linotype"/>
              <a:buNone/>
              <a:defRPr b="0" i="0" sz="1000" u="none" cap="none" strike="noStrike">
                <a:solidFill>
                  <a:schemeClr val="dk2"/>
                </a:solidFill>
                <a:latin typeface="Palatino Linotype"/>
                <a:ea typeface="Palatino Linotype"/>
                <a:cs typeface="Palatino Linotype"/>
                <a:sym typeface="Palatino Linotype"/>
              </a:defRPr>
            </a:lvl4pPr>
            <a:lvl5pPr indent="0" lvl="4" marL="0" marR="0" algn="r">
              <a:lnSpc>
                <a:spcPct val="100000"/>
              </a:lnSpc>
              <a:spcBef>
                <a:spcPts val="0"/>
              </a:spcBef>
              <a:spcAft>
                <a:spcPts val="0"/>
              </a:spcAft>
              <a:buClr>
                <a:srgbClr val="000000"/>
              </a:buClr>
              <a:buSzPts val="1000"/>
              <a:buFont typeface="Palatino Linotype"/>
              <a:buNone/>
              <a:defRPr b="0" i="0" sz="1000" u="none" cap="none" strike="noStrike">
                <a:solidFill>
                  <a:schemeClr val="dk2"/>
                </a:solidFill>
                <a:latin typeface="Palatino Linotype"/>
                <a:ea typeface="Palatino Linotype"/>
                <a:cs typeface="Palatino Linotype"/>
                <a:sym typeface="Palatino Linotype"/>
              </a:defRPr>
            </a:lvl5pPr>
            <a:lvl6pPr indent="0" lvl="5" marL="0" marR="0" algn="r">
              <a:lnSpc>
                <a:spcPct val="100000"/>
              </a:lnSpc>
              <a:spcBef>
                <a:spcPts val="0"/>
              </a:spcBef>
              <a:spcAft>
                <a:spcPts val="0"/>
              </a:spcAft>
              <a:buClr>
                <a:srgbClr val="000000"/>
              </a:buClr>
              <a:buSzPts val="1000"/>
              <a:buFont typeface="Palatino Linotype"/>
              <a:buNone/>
              <a:defRPr b="0" i="0" sz="1000" u="none" cap="none" strike="noStrike">
                <a:solidFill>
                  <a:schemeClr val="dk2"/>
                </a:solidFill>
                <a:latin typeface="Palatino Linotype"/>
                <a:ea typeface="Palatino Linotype"/>
                <a:cs typeface="Palatino Linotype"/>
                <a:sym typeface="Palatino Linotype"/>
              </a:defRPr>
            </a:lvl6pPr>
            <a:lvl7pPr indent="0" lvl="6" marL="0" marR="0" algn="r">
              <a:lnSpc>
                <a:spcPct val="100000"/>
              </a:lnSpc>
              <a:spcBef>
                <a:spcPts val="0"/>
              </a:spcBef>
              <a:spcAft>
                <a:spcPts val="0"/>
              </a:spcAft>
              <a:buClr>
                <a:srgbClr val="000000"/>
              </a:buClr>
              <a:buSzPts val="1000"/>
              <a:buFont typeface="Palatino Linotype"/>
              <a:buNone/>
              <a:defRPr b="0" i="0" sz="1000" u="none" cap="none" strike="noStrike">
                <a:solidFill>
                  <a:schemeClr val="dk2"/>
                </a:solidFill>
                <a:latin typeface="Palatino Linotype"/>
                <a:ea typeface="Palatino Linotype"/>
                <a:cs typeface="Palatino Linotype"/>
                <a:sym typeface="Palatino Linotype"/>
              </a:defRPr>
            </a:lvl7pPr>
            <a:lvl8pPr indent="0" lvl="7" marL="0" marR="0" algn="r">
              <a:lnSpc>
                <a:spcPct val="100000"/>
              </a:lnSpc>
              <a:spcBef>
                <a:spcPts val="0"/>
              </a:spcBef>
              <a:spcAft>
                <a:spcPts val="0"/>
              </a:spcAft>
              <a:buClr>
                <a:srgbClr val="000000"/>
              </a:buClr>
              <a:buSzPts val="1000"/>
              <a:buFont typeface="Palatino Linotype"/>
              <a:buNone/>
              <a:defRPr b="0" i="0" sz="1000" u="none" cap="none" strike="noStrike">
                <a:solidFill>
                  <a:schemeClr val="dk2"/>
                </a:solidFill>
                <a:latin typeface="Palatino Linotype"/>
                <a:ea typeface="Palatino Linotype"/>
                <a:cs typeface="Palatino Linotype"/>
                <a:sym typeface="Palatino Linotype"/>
              </a:defRPr>
            </a:lvl8pPr>
            <a:lvl9pPr indent="0" lvl="8" marL="0" marR="0" algn="r">
              <a:lnSpc>
                <a:spcPct val="100000"/>
              </a:lnSpc>
              <a:spcBef>
                <a:spcPts val="0"/>
              </a:spcBef>
              <a:spcAft>
                <a:spcPts val="0"/>
              </a:spcAft>
              <a:buClr>
                <a:srgbClr val="000000"/>
              </a:buClr>
              <a:buSzPts val="1000"/>
              <a:buFont typeface="Palatino Linotype"/>
              <a:buNone/>
              <a:defRPr b="0" i="0" sz="1000" u="none" cap="none" strike="noStrike">
                <a:solidFill>
                  <a:schemeClr val="dk2"/>
                </a:solidFill>
                <a:latin typeface="Palatino Linotype"/>
                <a:ea typeface="Palatino Linotype"/>
                <a:cs typeface="Palatino Linotype"/>
                <a:sym typeface="Palatino Linotyp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3" name="Shape 133"/>
        <p:cNvGrpSpPr/>
        <p:nvPr/>
      </p:nvGrpSpPr>
      <p:grpSpPr>
        <a:xfrm>
          <a:off x="0" y="0"/>
          <a:ext cx="0" cy="0"/>
          <a:chOff x="0" y="0"/>
          <a:chExt cx="0" cy="0"/>
        </a:xfrm>
      </p:grpSpPr>
      <p:sp>
        <p:nvSpPr>
          <p:cNvPr id="134" name="Google Shape;134;p2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35" name="Google Shape;135;p2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36" name="Google Shape;136;p2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Palatino Linotype"/>
              <a:buNone/>
              <a:defRPr b="0" i="0" sz="1000" u="none" cap="none" strike="noStrike">
                <a:solidFill>
                  <a:schemeClr val="dk2"/>
                </a:solidFill>
                <a:latin typeface="Palatino Linotype"/>
                <a:ea typeface="Palatino Linotype"/>
                <a:cs typeface="Palatino Linotype"/>
                <a:sym typeface="Palatino Linotype"/>
              </a:defRPr>
            </a:lvl1pPr>
            <a:lvl2pPr indent="0" lvl="1" marL="0" marR="0" algn="r">
              <a:lnSpc>
                <a:spcPct val="100000"/>
              </a:lnSpc>
              <a:spcBef>
                <a:spcPts val="0"/>
              </a:spcBef>
              <a:spcAft>
                <a:spcPts val="0"/>
              </a:spcAft>
              <a:buClr>
                <a:srgbClr val="000000"/>
              </a:buClr>
              <a:buSzPts val="1000"/>
              <a:buFont typeface="Palatino Linotype"/>
              <a:buNone/>
              <a:defRPr b="0" i="0" sz="1000" u="none" cap="none" strike="noStrike">
                <a:solidFill>
                  <a:schemeClr val="dk2"/>
                </a:solidFill>
                <a:latin typeface="Palatino Linotype"/>
                <a:ea typeface="Palatino Linotype"/>
                <a:cs typeface="Palatino Linotype"/>
                <a:sym typeface="Palatino Linotype"/>
              </a:defRPr>
            </a:lvl2pPr>
            <a:lvl3pPr indent="0" lvl="2" marL="0" marR="0" algn="r">
              <a:lnSpc>
                <a:spcPct val="100000"/>
              </a:lnSpc>
              <a:spcBef>
                <a:spcPts val="0"/>
              </a:spcBef>
              <a:spcAft>
                <a:spcPts val="0"/>
              </a:spcAft>
              <a:buClr>
                <a:srgbClr val="000000"/>
              </a:buClr>
              <a:buSzPts val="1000"/>
              <a:buFont typeface="Palatino Linotype"/>
              <a:buNone/>
              <a:defRPr b="0" i="0" sz="1000" u="none" cap="none" strike="noStrike">
                <a:solidFill>
                  <a:schemeClr val="dk2"/>
                </a:solidFill>
                <a:latin typeface="Palatino Linotype"/>
                <a:ea typeface="Palatino Linotype"/>
                <a:cs typeface="Palatino Linotype"/>
                <a:sym typeface="Palatino Linotype"/>
              </a:defRPr>
            </a:lvl3pPr>
            <a:lvl4pPr indent="0" lvl="3" marL="0" marR="0" algn="r">
              <a:lnSpc>
                <a:spcPct val="100000"/>
              </a:lnSpc>
              <a:spcBef>
                <a:spcPts val="0"/>
              </a:spcBef>
              <a:spcAft>
                <a:spcPts val="0"/>
              </a:spcAft>
              <a:buClr>
                <a:srgbClr val="000000"/>
              </a:buClr>
              <a:buSzPts val="1000"/>
              <a:buFont typeface="Palatino Linotype"/>
              <a:buNone/>
              <a:defRPr b="0" i="0" sz="1000" u="none" cap="none" strike="noStrike">
                <a:solidFill>
                  <a:schemeClr val="dk2"/>
                </a:solidFill>
                <a:latin typeface="Palatino Linotype"/>
                <a:ea typeface="Palatino Linotype"/>
                <a:cs typeface="Palatino Linotype"/>
                <a:sym typeface="Palatino Linotype"/>
              </a:defRPr>
            </a:lvl4pPr>
            <a:lvl5pPr indent="0" lvl="4" marL="0" marR="0" algn="r">
              <a:lnSpc>
                <a:spcPct val="100000"/>
              </a:lnSpc>
              <a:spcBef>
                <a:spcPts val="0"/>
              </a:spcBef>
              <a:spcAft>
                <a:spcPts val="0"/>
              </a:spcAft>
              <a:buClr>
                <a:srgbClr val="000000"/>
              </a:buClr>
              <a:buSzPts val="1000"/>
              <a:buFont typeface="Palatino Linotype"/>
              <a:buNone/>
              <a:defRPr b="0" i="0" sz="1000" u="none" cap="none" strike="noStrike">
                <a:solidFill>
                  <a:schemeClr val="dk2"/>
                </a:solidFill>
                <a:latin typeface="Palatino Linotype"/>
                <a:ea typeface="Palatino Linotype"/>
                <a:cs typeface="Palatino Linotype"/>
                <a:sym typeface="Palatino Linotype"/>
              </a:defRPr>
            </a:lvl5pPr>
            <a:lvl6pPr indent="0" lvl="5" marL="0" marR="0" algn="r">
              <a:lnSpc>
                <a:spcPct val="100000"/>
              </a:lnSpc>
              <a:spcBef>
                <a:spcPts val="0"/>
              </a:spcBef>
              <a:spcAft>
                <a:spcPts val="0"/>
              </a:spcAft>
              <a:buClr>
                <a:srgbClr val="000000"/>
              </a:buClr>
              <a:buSzPts val="1000"/>
              <a:buFont typeface="Palatino Linotype"/>
              <a:buNone/>
              <a:defRPr b="0" i="0" sz="1000" u="none" cap="none" strike="noStrike">
                <a:solidFill>
                  <a:schemeClr val="dk2"/>
                </a:solidFill>
                <a:latin typeface="Palatino Linotype"/>
                <a:ea typeface="Palatino Linotype"/>
                <a:cs typeface="Palatino Linotype"/>
                <a:sym typeface="Palatino Linotype"/>
              </a:defRPr>
            </a:lvl6pPr>
            <a:lvl7pPr indent="0" lvl="6" marL="0" marR="0" algn="r">
              <a:lnSpc>
                <a:spcPct val="100000"/>
              </a:lnSpc>
              <a:spcBef>
                <a:spcPts val="0"/>
              </a:spcBef>
              <a:spcAft>
                <a:spcPts val="0"/>
              </a:spcAft>
              <a:buClr>
                <a:srgbClr val="000000"/>
              </a:buClr>
              <a:buSzPts val="1000"/>
              <a:buFont typeface="Palatino Linotype"/>
              <a:buNone/>
              <a:defRPr b="0" i="0" sz="1000" u="none" cap="none" strike="noStrike">
                <a:solidFill>
                  <a:schemeClr val="dk2"/>
                </a:solidFill>
                <a:latin typeface="Palatino Linotype"/>
                <a:ea typeface="Palatino Linotype"/>
                <a:cs typeface="Palatino Linotype"/>
                <a:sym typeface="Palatino Linotype"/>
              </a:defRPr>
            </a:lvl7pPr>
            <a:lvl8pPr indent="0" lvl="7" marL="0" marR="0" algn="r">
              <a:lnSpc>
                <a:spcPct val="100000"/>
              </a:lnSpc>
              <a:spcBef>
                <a:spcPts val="0"/>
              </a:spcBef>
              <a:spcAft>
                <a:spcPts val="0"/>
              </a:spcAft>
              <a:buClr>
                <a:srgbClr val="000000"/>
              </a:buClr>
              <a:buSzPts val="1000"/>
              <a:buFont typeface="Palatino Linotype"/>
              <a:buNone/>
              <a:defRPr b="0" i="0" sz="1000" u="none" cap="none" strike="noStrike">
                <a:solidFill>
                  <a:schemeClr val="dk2"/>
                </a:solidFill>
                <a:latin typeface="Palatino Linotype"/>
                <a:ea typeface="Palatino Linotype"/>
                <a:cs typeface="Palatino Linotype"/>
                <a:sym typeface="Palatino Linotype"/>
              </a:defRPr>
            </a:lvl8pPr>
            <a:lvl9pPr indent="0" lvl="8" marL="0" marR="0" algn="r">
              <a:lnSpc>
                <a:spcPct val="100000"/>
              </a:lnSpc>
              <a:spcBef>
                <a:spcPts val="0"/>
              </a:spcBef>
              <a:spcAft>
                <a:spcPts val="0"/>
              </a:spcAft>
              <a:buClr>
                <a:srgbClr val="000000"/>
              </a:buClr>
              <a:buSzPts val="1000"/>
              <a:buFont typeface="Palatino Linotype"/>
              <a:buNone/>
              <a:defRPr b="0" i="0" sz="1000" u="none" cap="none" strike="noStrike">
                <a:solidFill>
                  <a:schemeClr val="dk2"/>
                </a:solidFill>
                <a:latin typeface="Palatino Linotype"/>
                <a:ea typeface="Palatino Linotype"/>
                <a:cs typeface="Palatino Linotype"/>
                <a:sym typeface="Palatino Linotyp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37" name="Shape 137"/>
        <p:cNvGrpSpPr/>
        <p:nvPr/>
      </p:nvGrpSpPr>
      <p:grpSpPr>
        <a:xfrm>
          <a:off x="0" y="0"/>
          <a:ext cx="0" cy="0"/>
          <a:chOff x="0" y="0"/>
          <a:chExt cx="0" cy="0"/>
        </a:xfrm>
      </p:grpSpPr>
      <p:sp>
        <p:nvSpPr>
          <p:cNvPr id="138" name="Google Shape;138;p2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39" name="Google Shape;139;p28"/>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140" name="Google Shape;140;p28"/>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141" name="Google Shape;141;p2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Palatino Linotype"/>
              <a:buNone/>
              <a:defRPr b="0" i="0" sz="1000" u="none" cap="none" strike="noStrike">
                <a:solidFill>
                  <a:schemeClr val="dk2"/>
                </a:solidFill>
                <a:latin typeface="Palatino Linotype"/>
                <a:ea typeface="Palatino Linotype"/>
                <a:cs typeface="Palatino Linotype"/>
                <a:sym typeface="Palatino Linotype"/>
              </a:defRPr>
            </a:lvl1pPr>
            <a:lvl2pPr indent="0" lvl="1" marL="0" marR="0" algn="r">
              <a:lnSpc>
                <a:spcPct val="100000"/>
              </a:lnSpc>
              <a:spcBef>
                <a:spcPts val="0"/>
              </a:spcBef>
              <a:spcAft>
                <a:spcPts val="0"/>
              </a:spcAft>
              <a:buClr>
                <a:srgbClr val="000000"/>
              </a:buClr>
              <a:buSzPts val="1000"/>
              <a:buFont typeface="Palatino Linotype"/>
              <a:buNone/>
              <a:defRPr b="0" i="0" sz="1000" u="none" cap="none" strike="noStrike">
                <a:solidFill>
                  <a:schemeClr val="dk2"/>
                </a:solidFill>
                <a:latin typeface="Palatino Linotype"/>
                <a:ea typeface="Palatino Linotype"/>
                <a:cs typeface="Palatino Linotype"/>
                <a:sym typeface="Palatino Linotype"/>
              </a:defRPr>
            </a:lvl2pPr>
            <a:lvl3pPr indent="0" lvl="2" marL="0" marR="0" algn="r">
              <a:lnSpc>
                <a:spcPct val="100000"/>
              </a:lnSpc>
              <a:spcBef>
                <a:spcPts val="0"/>
              </a:spcBef>
              <a:spcAft>
                <a:spcPts val="0"/>
              </a:spcAft>
              <a:buClr>
                <a:srgbClr val="000000"/>
              </a:buClr>
              <a:buSzPts val="1000"/>
              <a:buFont typeface="Palatino Linotype"/>
              <a:buNone/>
              <a:defRPr b="0" i="0" sz="1000" u="none" cap="none" strike="noStrike">
                <a:solidFill>
                  <a:schemeClr val="dk2"/>
                </a:solidFill>
                <a:latin typeface="Palatino Linotype"/>
                <a:ea typeface="Palatino Linotype"/>
                <a:cs typeface="Palatino Linotype"/>
                <a:sym typeface="Palatino Linotype"/>
              </a:defRPr>
            </a:lvl3pPr>
            <a:lvl4pPr indent="0" lvl="3" marL="0" marR="0" algn="r">
              <a:lnSpc>
                <a:spcPct val="100000"/>
              </a:lnSpc>
              <a:spcBef>
                <a:spcPts val="0"/>
              </a:spcBef>
              <a:spcAft>
                <a:spcPts val="0"/>
              </a:spcAft>
              <a:buClr>
                <a:srgbClr val="000000"/>
              </a:buClr>
              <a:buSzPts val="1000"/>
              <a:buFont typeface="Palatino Linotype"/>
              <a:buNone/>
              <a:defRPr b="0" i="0" sz="1000" u="none" cap="none" strike="noStrike">
                <a:solidFill>
                  <a:schemeClr val="dk2"/>
                </a:solidFill>
                <a:latin typeface="Palatino Linotype"/>
                <a:ea typeface="Palatino Linotype"/>
                <a:cs typeface="Palatino Linotype"/>
                <a:sym typeface="Palatino Linotype"/>
              </a:defRPr>
            </a:lvl4pPr>
            <a:lvl5pPr indent="0" lvl="4" marL="0" marR="0" algn="r">
              <a:lnSpc>
                <a:spcPct val="100000"/>
              </a:lnSpc>
              <a:spcBef>
                <a:spcPts val="0"/>
              </a:spcBef>
              <a:spcAft>
                <a:spcPts val="0"/>
              </a:spcAft>
              <a:buClr>
                <a:srgbClr val="000000"/>
              </a:buClr>
              <a:buSzPts val="1000"/>
              <a:buFont typeface="Palatino Linotype"/>
              <a:buNone/>
              <a:defRPr b="0" i="0" sz="1000" u="none" cap="none" strike="noStrike">
                <a:solidFill>
                  <a:schemeClr val="dk2"/>
                </a:solidFill>
                <a:latin typeface="Palatino Linotype"/>
                <a:ea typeface="Palatino Linotype"/>
                <a:cs typeface="Palatino Linotype"/>
                <a:sym typeface="Palatino Linotype"/>
              </a:defRPr>
            </a:lvl5pPr>
            <a:lvl6pPr indent="0" lvl="5" marL="0" marR="0" algn="r">
              <a:lnSpc>
                <a:spcPct val="100000"/>
              </a:lnSpc>
              <a:spcBef>
                <a:spcPts val="0"/>
              </a:spcBef>
              <a:spcAft>
                <a:spcPts val="0"/>
              </a:spcAft>
              <a:buClr>
                <a:srgbClr val="000000"/>
              </a:buClr>
              <a:buSzPts val="1000"/>
              <a:buFont typeface="Palatino Linotype"/>
              <a:buNone/>
              <a:defRPr b="0" i="0" sz="1000" u="none" cap="none" strike="noStrike">
                <a:solidFill>
                  <a:schemeClr val="dk2"/>
                </a:solidFill>
                <a:latin typeface="Palatino Linotype"/>
                <a:ea typeface="Palatino Linotype"/>
                <a:cs typeface="Palatino Linotype"/>
                <a:sym typeface="Palatino Linotype"/>
              </a:defRPr>
            </a:lvl6pPr>
            <a:lvl7pPr indent="0" lvl="6" marL="0" marR="0" algn="r">
              <a:lnSpc>
                <a:spcPct val="100000"/>
              </a:lnSpc>
              <a:spcBef>
                <a:spcPts val="0"/>
              </a:spcBef>
              <a:spcAft>
                <a:spcPts val="0"/>
              </a:spcAft>
              <a:buClr>
                <a:srgbClr val="000000"/>
              </a:buClr>
              <a:buSzPts val="1000"/>
              <a:buFont typeface="Palatino Linotype"/>
              <a:buNone/>
              <a:defRPr b="0" i="0" sz="1000" u="none" cap="none" strike="noStrike">
                <a:solidFill>
                  <a:schemeClr val="dk2"/>
                </a:solidFill>
                <a:latin typeface="Palatino Linotype"/>
                <a:ea typeface="Palatino Linotype"/>
                <a:cs typeface="Palatino Linotype"/>
                <a:sym typeface="Palatino Linotype"/>
              </a:defRPr>
            </a:lvl7pPr>
            <a:lvl8pPr indent="0" lvl="7" marL="0" marR="0" algn="r">
              <a:lnSpc>
                <a:spcPct val="100000"/>
              </a:lnSpc>
              <a:spcBef>
                <a:spcPts val="0"/>
              </a:spcBef>
              <a:spcAft>
                <a:spcPts val="0"/>
              </a:spcAft>
              <a:buClr>
                <a:srgbClr val="000000"/>
              </a:buClr>
              <a:buSzPts val="1000"/>
              <a:buFont typeface="Palatino Linotype"/>
              <a:buNone/>
              <a:defRPr b="0" i="0" sz="1000" u="none" cap="none" strike="noStrike">
                <a:solidFill>
                  <a:schemeClr val="dk2"/>
                </a:solidFill>
                <a:latin typeface="Palatino Linotype"/>
                <a:ea typeface="Palatino Linotype"/>
                <a:cs typeface="Palatino Linotype"/>
                <a:sym typeface="Palatino Linotype"/>
              </a:defRPr>
            </a:lvl8pPr>
            <a:lvl9pPr indent="0" lvl="8" marL="0" marR="0" algn="r">
              <a:lnSpc>
                <a:spcPct val="100000"/>
              </a:lnSpc>
              <a:spcBef>
                <a:spcPts val="0"/>
              </a:spcBef>
              <a:spcAft>
                <a:spcPts val="0"/>
              </a:spcAft>
              <a:buClr>
                <a:srgbClr val="000000"/>
              </a:buClr>
              <a:buSzPts val="1000"/>
              <a:buFont typeface="Palatino Linotype"/>
              <a:buNone/>
              <a:defRPr b="0" i="0" sz="1000" u="none" cap="none" strike="noStrike">
                <a:solidFill>
                  <a:schemeClr val="dk2"/>
                </a:solidFill>
                <a:latin typeface="Palatino Linotype"/>
                <a:ea typeface="Palatino Linotype"/>
                <a:cs typeface="Palatino Linotype"/>
                <a:sym typeface="Palatino Linotyp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42" name="Shape 142"/>
        <p:cNvGrpSpPr/>
        <p:nvPr/>
      </p:nvGrpSpPr>
      <p:grpSpPr>
        <a:xfrm>
          <a:off x="0" y="0"/>
          <a:ext cx="0" cy="0"/>
          <a:chOff x="0" y="0"/>
          <a:chExt cx="0" cy="0"/>
        </a:xfrm>
      </p:grpSpPr>
      <p:sp>
        <p:nvSpPr>
          <p:cNvPr id="143" name="Google Shape;143;p29"/>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44" name="Google Shape;144;p2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Palatino Linotype"/>
              <a:buNone/>
              <a:defRPr b="0" i="0" sz="1000" u="none" cap="none" strike="noStrike">
                <a:solidFill>
                  <a:schemeClr val="dk2"/>
                </a:solidFill>
                <a:latin typeface="Palatino Linotype"/>
                <a:ea typeface="Palatino Linotype"/>
                <a:cs typeface="Palatino Linotype"/>
                <a:sym typeface="Palatino Linotype"/>
              </a:defRPr>
            </a:lvl1pPr>
            <a:lvl2pPr indent="0" lvl="1" marL="0" marR="0" algn="r">
              <a:lnSpc>
                <a:spcPct val="100000"/>
              </a:lnSpc>
              <a:spcBef>
                <a:spcPts val="0"/>
              </a:spcBef>
              <a:spcAft>
                <a:spcPts val="0"/>
              </a:spcAft>
              <a:buClr>
                <a:srgbClr val="000000"/>
              </a:buClr>
              <a:buSzPts val="1000"/>
              <a:buFont typeface="Palatino Linotype"/>
              <a:buNone/>
              <a:defRPr b="0" i="0" sz="1000" u="none" cap="none" strike="noStrike">
                <a:solidFill>
                  <a:schemeClr val="dk2"/>
                </a:solidFill>
                <a:latin typeface="Palatino Linotype"/>
                <a:ea typeface="Palatino Linotype"/>
                <a:cs typeface="Palatino Linotype"/>
                <a:sym typeface="Palatino Linotype"/>
              </a:defRPr>
            </a:lvl2pPr>
            <a:lvl3pPr indent="0" lvl="2" marL="0" marR="0" algn="r">
              <a:lnSpc>
                <a:spcPct val="100000"/>
              </a:lnSpc>
              <a:spcBef>
                <a:spcPts val="0"/>
              </a:spcBef>
              <a:spcAft>
                <a:spcPts val="0"/>
              </a:spcAft>
              <a:buClr>
                <a:srgbClr val="000000"/>
              </a:buClr>
              <a:buSzPts val="1000"/>
              <a:buFont typeface="Palatino Linotype"/>
              <a:buNone/>
              <a:defRPr b="0" i="0" sz="1000" u="none" cap="none" strike="noStrike">
                <a:solidFill>
                  <a:schemeClr val="dk2"/>
                </a:solidFill>
                <a:latin typeface="Palatino Linotype"/>
                <a:ea typeface="Palatino Linotype"/>
                <a:cs typeface="Palatino Linotype"/>
                <a:sym typeface="Palatino Linotype"/>
              </a:defRPr>
            </a:lvl3pPr>
            <a:lvl4pPr indent="0" lvl="3" marL="0" marR="0" algn="r">
              <a:lnSpc>
                <a:spcPct val="100000"/>
              </a:lnSpc>
              <a:spcBef>
                <a:spcPts val="0"/>
              </a:spcBef>
              <a:spcAft>
                <a:spcPts val="0"/>
              </a:spcAft>
              <a:buClr>
                <a:srgbClr val="000000"/>
              </a:buClr>
              <a:buSzPts val="1000"/>
              <a:buFont typeface="Palatino Linotype"/>
              <a:buNone/>
              <a:defRPr b="0" i="0" sz="1000" u="none" cap="none" strike="noStrike">
                <a:solidFill>
                  <a:schemeClr val="dk2"/>
                </a:solidFill>
                <a:latin typeface="Palatino Linotype"/>
                <a:ea typeface="Palatino Linotype"/>
                <a:cs typeface="Palatino Linotype"/>
                <a:sym typeface="Palatino Linotype"/>
              </a:defRPr>
            </a:lvl4pPr>
            <a:lvl5pPr indent="0" lvl="4" marL="0" marR="0" algn="r">
              <a:lnSpc>
                <a:spcPct val="100000"/>
              </a:lnSpc>
              <a:spcBef>
                <a:spcPts val="0"/>
              </a:spcBef>
              <a:spcAft>
                <a:spcPts val="0"/>
              </a:spcAft>
              <a:buClr>
                <a:srgbClr val="000000"/>
              </a:buClr>
              <a:buSzPts val="1000"/>
              <a:buFont typeface="Palatino Linotype"/>
              <a:buNone/>
              <a:defRPr b="0" i="0" sz="1000" u="none" cap="none" strike="noStrike">
                <a:solidFill>
                  <a:schemeClr val="dk2"/>
                </a:solidFill>
                <a:latin typeface="Palatino Linotype"/>
                <a:ea typeface="Palatino Linotype"/>
                <a:cs typeface="Palatino Linotype"/>
                <a:sym typeface="Palatino Linotype"/>
              </a:defRPr>
            </a:lvl5pPr>
            <a:lvl6pPr indent="0" lvl="5" marL="0" marR="0" algn="r">
              <a:lnSpc>
                <a:spcPct val="100000"/>
              </a:lnSpc>
              <a:spcBef>
                <a:spcPts val="0"/>
              </a:spcBef>
              <a:spcAft>
                <a:spcPts val="0"/>
              </a:spcAft>
              <a:buClr>
                <a:srgbClr val="000000"/>
              </a:buClr>
              <a:buSzPts val="1000"/>
              <a:buFont typeface="Palatino Linotype"/>
              <a:buNone/>
              <a:defRPr b="0" i="0" sz="1000" u="none" cap="none" strike="noStrike">
                <a:solidFill>
                  <a:schemeClr val="dk2"/>
                </a:solidFill>
                <a:latin typeface="Palatino Linotype"/>
                <a:ea typeface="Palatino Linotype"/>
                <a:cs typeface="Palatino Linotype"/>
                <a:sym typeface="Palatino Linotype"/>
              </a:defRPr>
            </a:lvl6pPr>
            <a:lvl7pPr indent="0" lvl="6" marL="0" marR="0" algn="r">
              <a:lnSpc>
                <a:spcPct val="100000"/>
              </a:lnSpc>
              <a:spcBef>
                <a:spcPts val="0"/>
              </a:spcBef>
              <a:spcAft>
                <a:spcPts val="0"/>
              </a:spcAft>
              <a:buClr>
                <a:srgbClr val="000000"/>
              </a:buClr>
              <a:buSzPts val="1000"/>
              <a:buFont typeface="Palatino Linotype"/>
              <a:buNone/>
              <a:defRPr b="0" i="0" sz="1000" u="none" cap="none" strike="noStrike">
                <a:solidFill>
                  <a:schemeClr val="dk2"/>
                </a:solidFill>
                <a:latin typeface="Palatino Linotype"/>
                <a:ea typeface="Palatino Linotype"/>
                <a:cs typeface="Palatino Linotype"/>
                <a:sym typeface="Palatino Linotype"/>
              </a:defRPr>
            </a:lvl7pPr>
            <a:lvl8pPr indent="0" lvl="7" marL="0" marR="0" algn="r">
              <a:lnSpc>
                <a:spcPct val="100000"/>
              </a:lnSpc>
              <a:spcBef>
                <a:spcPts val="0"/>
              </a:spcBef>
              <a:spcAft>
                <a:spcPts val="0"/>
              </a:spcAft>
              <a:buClr>
                <a:srgbClr val="000000"/>
              </a:buClr>
              <a:buSzPts val="1000"/>
              <a:buFont typeface="Palatino Linotype"/>
              <a:buNone/>
              <a:defRPr b="0" i="0" sz="1000" u="none" cap="none" strike="noStrike">
                <a:solidFill>
                  <a:schemeClr val="dk2"/>
                </a:solidFill>
                <a:latin typeface="Palatino Linotype"/>
                <a:ea typeface="Palatino Linotype"/>
                <a:cs typeface="Palatino Linotype"/>
                <a:sym typeface="Palatino Linotype"/>
              </a:defRPr>
            </a:lvl8pPr>
            <a:lvl9pPr indent="0" lvl="8" marL="0" marR="0" algn="r">
              <a:lnSpc>
                <a:spcPct val="100000"/>
              </a:lnSpc>
              <a:spcBef>
                <a:spcPts val="0"/>
              </a:spcBef>
              <a:spcAft>
                <a:spcPts val="0"/>
              </a:spcAft>
              <a:buClr>
                <a:srgbClr val="000000"/>
              </a:buClr>
              <a:buSzPts val="1000"/>
              <a:buFont typeface="Palatino Linotype"/>
              <a:buNone/>
              <a:defRPr b="0" i="0" sz="1000" u="none" cap="none" strike="noStrike">
                <a:solidFill>
                  <a:schemeClr val="dk2"/>
                </a:solidFill>
                <a:latin typeface="Palatino Linotype"/>
                <a:ea typeface="Palatino Linotype"/>
                <a:cs typeface="Palatino Linotype"/>
                <a:sym typeface="Palatino Linotyp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45" name="Shape 145"/>
        <p:cNvGrpSpPr/>
        <p:nvPr/>
      </p:nvGrpSpPr>
      <p:grpSpPr>
        <a:xfrm>
          <a:off x="0" y="0"/>
          <a:ext cx="0" cy="0"/>
          <a:chOff x="0" y="0"/>
          <a:chExt cx="0" cy="0"/>
        </a:xfrm>
      </p:grpSpPr>
      <p:sp>
        <p:nvSpPr>
          <p:cNvPr id="146" name="Google Shape;146;p3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Palatino Linotype"/>
              <a:buNone/>
              <a:defRPr b="0" i="0" sz="1000" u="none" cap="none" strike="noStrike">
                <a:solidFill>
                  <a:schemeClr val="dk2"/>
                </a:solidFill>
                <a:latin typeface="Palatino Linotype"/>
                <a:ea typeface="Palatino Linotype"/>
                <a:cs typeface="Palatino Linotype"/>
                <a:sym typeface="Palatino Linotype"/>
              </a:defRPr>
            </a:lvl1pPr>
            <a:lvl2pPr indent="0" lvl="1" marL="0" marR="0" algn="r">
              <a:lnSpc>
                <a:spcPct val="100000"/>
              </a:lnSpc>
              <a:spcBef>
                <a:spcPts val="0"/>
              </a:spcBef>
              <a:spcAft>
                <a:spcPts val="0"/>
              </a:spcAft>
              <a:buClr>
                <a:srgbClr val="000000"/>
              </a:buClr>
              <a:buSzPts val="1000"/>
              <a:buFont typeface="Palatino Linotype"/>
              <a:buNone/>
              <a:defRPr b="0" i="0" sz="1000" u="none" cap="none" strike="noStrike">
                <a:solidFill>
                  <a:schemeClr val="dk2"/>
                </a:solidFill>
                <a:latin typeface="Palatino Linotype"/>
                <a:ea typeface="Palatino Linotype"/>
                <a:cs typeface="Palatino Linotype"/>
                <a:sym typeface="Palatino Linotype"/>
              </a:defRPr>
            </a:lvl2pPr>
            <a:lvl3pPr indent="0" lvl="2" marL="0" marR="0" algn="r">
              <a:lnSpc>
                <a:spcPct val="100000"/>
              </a:lnSpc>
              <a:spcBef>
                <a:spcPts val="0"/>
              </a:spcBef>
              <a:spcAft>
                <a:spcPts val="0"/>
              </a:spcAft>
              <a:buClr>
                <a:srgbClr val="000000"/>
              </a:buClr>
              <a:buSzPts val="1000"/>
              <a:buFont typeface="Palatino Linotype"/>
              <a:buNone/>
              <a:defRPr b="0" i="0" sz="1000" u="none" cap="none" strike="noStrike">
                <a:solidFill>
                  <a:schemeClr val="dk2"/>
                </a:solidFill>
                <a:latin typeface="Palatino Linotype"/>
                <a:ea typeface="Palatino Linotype"/>
                <a:cs typeface="Palatino Linotype"/>
                <a:sym typeface="Palatino Linotype"/>
              </a:defRPr>
            </a:lvl3pPr>
            <a:lvl4pPr indent="0" lvl="3" marL="0" marR="0" algn="r">
              <a:lnSpc>
                <a:spcPct val="100000"/>
              </a:lnSpc>
              <a:spcBef>
                <a:spcPts val="0"/>
              </a:spcBef>
              <a:spcAft>
                <a:spcPts val="0"/>
              </a:spcAft>
              <a:buClr>
                <a:srgbClr val="000000"/>
              </a:buClr>
              <a:buSzPts val="1000"/>
              <a:buFont typeface="Palatino Linotype"/>
              <a:buNone/>
              <a:defRPr b="0" i="0" sz="1000" u="none" cap="none" strike="noStrike">
                <a:solidFill>
                  <a:schemeClr val="dk2"/>
                </a:solidFill>
                <a:latin typeface="Palatino Linotype"/>
                <a:ea typeface="Palatino Linotype"/>
                <a:cs typeface="Palatino Linotype"/>
                <a:sym typeface="Palatino Linotype"/>
              </a:defRPr>
            </a:lvl4pPr>
            <a:lvl5pPr indent="0" lvl="4" marL="0" marR="0" algn="r">
              <a:lnSpc>
                <a:spcPct val="100000"/>
              </a:lnSpc>
              <a:spcBef>
                <a:spcPts val="0"/>
              </a:spcBef>
              <a:spcAft>
                <a:spcPts val="0"/>
              </a:spcAft>
              <a:buClr>
                <a:srgbClr val="000000"/>
              </a:buClr>
              <a:buSzPts val="1000"/>
              <a:buFont typeface="Palatino Linotype"/>
              <a:buNone/>
              <a:defRPr b="0" i="0" sz="1000" u="none" cap="none" strike="noStrike">
                <a:solidFill>
                  <a:schemeClr val="dk2"/>
                </a:solidFill>
                <a:latin typeface="Palatino Linotype"/>
                <a:ea typeface="Palatino Linotype"/>
                <a:cs typeface="Palatino Linotype"/>
                <a:sym typeface="Palatino Linotype"/>
              </a:defRPr>
            </a:lvl5pPr>
            <a:lvl6pPr indent="0" lvl="5" marL="0" marR="0" algn="r">
              <a:lnSpc>
                <a:spcPct val="100000"/>
              </a:lnSpc>
              <a:spcBef>
                <a:spcPts val="0"/>
              </a:spcBef>
              <a:spcAft>
                <a:spcPts val="0"/>
              </a:spcAft>
              <a:buClr>
                <a:srgbClr val="000000"/>
              </a:buClr>
              <a:buSzPts val="1000"/>
              <a:buFont typeface="Palatino Linotype"/>
              <a:buNone/>
              <a:defRPr b="0" i="0" sz="1000" u="none" cap="none" strike="noStrike">
                <a:solidFill>
                  <a:schemeClr val="dk2"/>
                </a:solidFill>
                <a:latin typeface="Palatino Linotype"/>
                <a:ea typeface="Palatino Linotype"/>
                <a:cs typeface="Palatino Linotype"/>
                <a:sym typeface="Palatino Linotype"/>
              </a:defRPr>
            </a:lvl6pPr>
            <a:lvl7pPr indent="0" lvl="6" marL="0" marR="0" algn="r">
              <a:lnSpc>
                <a:spcPct val="100000"/>
              </a:lnSpc>
              <a:spcBef>
                <a:spcPts val="0"/>
              </a:spcBef>
              <a:spcAft>
                <a:spcPts val="0"/>
              </a:spcAft>
              <a:buClr>
                <a:srgbClr val="000000"/>
              </a:buClr>
              <a:buSzPts val="1000"/>
              <a:buFont typeface="Palatino Linotype"/>
              <a:buNone/>
              <a:defRPr b="0" i="0" sz="1000" u="none" cap="none" strike="noStrike">
                <a:solidFill>
                  <a:schemeClr val="dk2"/>
                </a:solidFill>
                <a:latin typeface="Palatino Linotype"/>
                <a:ea typeface="Palatino Linotype"/>
                <a:cs typeface="Palatino Linotype"/>
                <a:sym typeface="Palatino Linotype"/>
              </a:defRPr>
            </a:lvl7pPr>
            <a:lvl8pPr indent="0" lvl="7" marL="0" marR="0" algn="r">
              <a:lnSpc>
                <a:spcPct val="100000"/>
              </a:lnSpc>
              <a:spcBef>
                <a:spcPts val="0"/>
              </a:spcBef>
              <a:spcAft>
                <a:spcPts val="0"/>
              </a:spcAft>
              <a:buClr>
                <a:srgbClr val="000000"/>
              </a:buClr>
              <a:buSzPts val="1000"/>
              <a:buFont typeface="Palatino Linotype"/>
              <a:buNone/>
              <a:defRPr b="0" i="0" sz="1000" u="none" cap="none" strike="noStrike">
                <a:solidFill>
                  <a:schemeClr val="dk2"/>
                </a:solidFill>
                <a:latin typeface="Palatino Linotype"/>
                <a:ea typeface="Palatino Linotype"/>
                <a:cs typeface="Palatino Linotype"/>
                <a:sym typeface="Palatino Linotype"/>
              </a:defRPr>
            </a:lvl8pPr>
            <a:lvl9pPr indent="0" lvl="8" marL="0" marR="0" algn="r">
              <a:lnSpc>
                <a:spcPct val="100000"/>
              </a:lnSpc>
              <a:spcBef>
                <a:spcPts val="0"/>
              </a:spcBef>
              <a:spcAft>
                <a:spcPts val="0"/>
              </a:spcAft>
              <a:buClr>
                <a:srgbClr val="000000"/>
              </a:buClr>
              <a:buSzPts val="1000"/>
              <a:buFont typeface="Palatino Linotype"/>
              <a:buNone/>
              <a:defRPr b="0" i="0" sz="1000" u="none" cap="none" strike="noStrike">
                <a:solidFill>
                  <a:schemeClr val="dk2"/>
                </a:solidFill>
                <a:latin typeface="Palatino Linotype"/>
                <a:ea typeface="Palatino Linotype"/>
                <a:cs typeface="Palatino Linotype"/>
                <a:sym typeface="Palatino Linotyp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47" name="Shape 147"/>
        <p:cNvGrpSpPr/>
        <p:nvPr/>
      </p:nvGrpSpPr>
      <p:grpSpPr>
        <a:xfrm>
          <a:off x="0" y="0"/>
          <a:ext cx="0" cy="0"/>
          <a:chOff x="0" y="0"/>
          <a:chExt cx="0" cy="0"/>
        </a:xfrm>
      </p:grpSpPr>
      <p:sp>
        <p:nvSpPr>
          <p:cNvPr id="148" name="Google Shape;148;p3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49" name="Google Shape;149;p3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Palatino Linotype"/>
              <a:buNone/>
              <a:defRPr b="0" i="0" sz="1000" u="none" cap="none" strike="noStrike">
                <a:solidFill>
                  <a:schemeClr val="dk2"/>
                </a:solidFill>
                <a:latin typeface="Palatino Linotype"/>
                <a:ea typeface="Palatino Linotype"/>
                <a:cs typeface="Palatino Linotype"/>
                <a:sym typeface="Palatino Linotype"/>
              </a:defRPr>
            </a:lvl1pPr>
            <a:lvl2pPr indent="0" lvl="1" marL="0" marR="0" algn="r">
              <a:lnSpc>
                <a:spcPct val="100000"/>
              </a:lnSpc>
              <a:spcBef>
                <a:spcPts val="0"/>
              </a:spcBef>
              <a:spcAft>
                <a:spcPts val="0"/>
              </a:spcAft>
              <a:buClr>
                <a:srgbClr val="000000"/>
              </a:buClr>
              <a:buSzPts val="1000"/>
              <a:buFont typeface="Palatino Linotype"/>
              <a:buNone/>
              <a:defRPr b="0" i="0" sz="1000" u="none" cap="none" strike="noStrike">
                <a:solidFill>
                  <a:schemeClr val="dk2"/>
                </a:solidFill>
                <a:latin typeface="Palatino Linotype"/>
                <a:ea typeface="Palatino Linotype"/>
                <a:cs typeface="Palatino Linotype"/>
                <a:sym typeface="Palatino Linotype"/>
              </a:defRPr>
            </a:lvl2pPr>
            <a:lvl3pPr indent="0" lvl="2" marL="0" marR="0" algn="r">
              <a:lnSpc>
                <a:spcPct val="100000"/>
              </a:lnSpc>
              <a:spcBef>
                <a:spcPts val="0"/>
              </a:spcBef>
              <a:spcAft>
                <a:spcPts val="0"/>
              </a:spcAft>
              <a:buClr>
                <a:srgbClr val="000000"/>
              </a:buClr>
              <a:buSzPts val="1000"/>
              <a:buFont typeface="Palatino Linotype"/>
              <a:buNone/>
              <a:defRPr b="0" i="0" sz="1000" u="none" cap="none" strike="noStrike">
                <a:solidFill>
                  <a:schemeClr val="dk2"/>
                </a:solidFill>
                <a:latin typeface="Palatino Linotype"/>
                <a:ea typeface="Palatino Linotype"/>
                <a:cs typeface="Palatino Linotype"/>
                <a:sym typeface="Palatino Linotype"/>
              </a:defRPr>
            </a:lvl3pPr>
            <a:lvl4pPr indent="0" lvl="3" marL="0" marR="0" algn="r">
              <a:lnSpc>
                <a:spcPct val="100000"/>
              </a:lnSpc>
              <a:spcBef>
                <a:spcPts val="0"/>
              </a:spcBef>
              <a:spcAft>
                <a:spcPts val="0"/>
              </a:spcAft>
              <a:buClr>
                <a:srgbClr val="000000"/>
              </a:buClr>
              <a:buSzPts val="1000"/>
              <a:buFont typeface="Palatino Linotype"/>
              <a:buNone/>
              <a:defRPr b="0" i="0" sz="1000" u="none" cap="none" strike="noStrike">
                <a:solidFill>
                  <a:schemeClr val="dk2"/>
                </a:solidFill>
                <a:latin typeface="Palatino Linotype"/>
                <a:ea typeface="Palatino Linotype"/>
                <a:cs typeface="Palatino Linotype"/>
                <a:sym typeface="Palatino Linotype"/>
              </a:defRPr>
            </a:lvl4pPr>
            <a:lvl5pPr indent="0" lvl="4" marL="0" marR="0" algn="r">
              <a:lnSpc>
                <a:spcPct val="100000"/>
              </a:lnSpc>
              <a:spcBef>
                <a:spcPts val="0"/>
              </a:spcBef>
              <a:spcAft>
                <a:spcPts val="0"/>
              </a:spcAft>
              <a:buClr>
                <a:srgbClr val="000000"/>
              </a:buClr>
              <a:buSzPts val="1000"/>
              <a:buFont typeface="Palatino Linotype"/>
              <a:buNone/>
              <a:defRPr b="0" i="0" sz="1000" u="none" cap="none" strike="noStrike">
                <a:solidFill>
                  <a:schemeClr val="dk2"/>
                </a:solidFill>
                <a:latin typeface="Palatino Linotype"/>
                <a:ea typeface="Palatino Linotype"/>
                <a:cs typeface="Palatino Linotype"/>
                <a:sym typeface="Palatino Linotype"/>
              </a:defRPr>
            </a:lvl5pPr>
            <a:lvl6pPr indent="0" lvl="5" marL="0" marR="0" algn="r">
              <a:lnSpc>
                <a:spcPct val="100000"/>
              </a:lnSpc>
              <a:spcBef>
                <a:spcPts val="0"/>
              </a:spcBef>
              <a:spcAft>
                <a:spcPts val="0"/>
              </a:spcAft>
              <a:buClr>
                <a:srgbClr val="000000"/>
              </a:buClr>
              <a:buSzPts val="1000"/>
              <a:buFont typeface="Palatino Linotype"/>
              <a:buNone/>
              <a:defRPr b="0" i="0" sz="1000" u="none" cap="none" strike="noStrike">
                <a:solidFill>
                  <a:schemeClr val="dk2"/>
                </a:solidFill>
                <a:latin typeface="Palatino Linotype"/>
                <a:ea typeface="Palatino Linotype"/>
                <a:cs typeface="Palatino Linotype"/>
                <a:sym typeface="Palatino Linotype"/>
              </a:defRPr>
            </a:lvl6pPr>
            <a:lvl7pPr indent="0" lvl="6" marL="0" marR="0" algn="r">
              <a:lnSpc>
                <a:spcPct val="100000"/>
              </a:lnSpc>
              <a:spcBef>
                <a:spcPts val="0"/>
              </a:spcBef>
              <a:spcAft>
                <a:spcPts val="0"/>
              </a:spcAft>
              <a:buClr>
                <a:srgbClr val="000000"/>
              </a:buClr>
              <a:buSzPts val="1000"/>
              <a:buFont typeface="Palatino Linotype"/>
              <a:buNone/>
              <a:defRPr b="0" i="0" sz="1000" u="none" cap="none" strike="noStrike">
                <a:solidFill>
                  <a:schemeClr val="dk2"/>
                </a:solidFill>
                <a:latin typeface="Palatino Linotype"/>
                <a:ea typeface="Palatino Linotype"/>
                <a:cs typeface="Palatino Linotype"/>
                <a:sym typeface="Palatino Linotype"/>
              </a:defRPr>
            </a:lvl7pPr>
            <a:lvl8pPr indent="0" lvl="7" marL="0" marR="0" algn="r">
              <a:lnSpc>
                <a:spcPct val="100000"/>
              </a:lnSpc>
              <a:spcBef>
                <a:spcPts val="0"/>
              </a:spcBef>
              <a:spcAft>
                <a:spcPts val="0"/>
              </a:spcAft>
              <a:buClr>
                <a:srgbClr val="000000"/>
              </a:buClr>
              <a:buSzPts val="1000"/>
              <a:buFont typeface="Palatino Linotype"/>
              <a:buNone/>
              <a:defRPr b="0" i="0" sz="1000" u="none" cap="none" strike="noStrike">
                <a:solidFill>
                  <a:schemeClr val="dk2"/>
                </a:solidFill>
                <a:latin typeface="Palatino Linotype"/>
                <a:ea typeface="Palatino Linotype"/>
                <a:cs typeface="Palatino Linotype"/>
                <a:sym typeface="Palatino Linotype"/>
              </a:defRPr>
            </a:lvl8pPr>
            <a:lvl9pPr indent="0" lvl="8" marL="0" marR="0" algn="r">
              <a:lnSpc>
                <a:spcPct val="100000"/>
              </a:lnSpc>
              <a:spcBef>
                <a:spcPts val="0"/>
              </a:spcBef>
              <a:spcAft>
                <a:spcPts val="0"/>
              </a:spcAft>
              <a:buClr>
                <a:srgbClr val="000000"/>
              </a:buClr>
              <a:buSzPts val="1000"/>
              <a:buFont typeface="Palatino Linotype"/>
              <a:buNone/>
              <a:defRPr b="0" i="0" sz="1000" u="none" cap="none" strike="noStrike">
                <a:solidFill>
                  <a:schemeClr val="dk2"/>
                </a:solidFill>
                <a:latin typeface="Palatino Linotype"/>
                <a:ea typeface="Palatino Linotype"/>
                <a:cs typeface="Palatino Linotype"/>
                <a:sym typeface="Palatino Linotyp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50" name="Shape 150"/>
        <p:cNvGrpSpPr/>
        <p:nvPr/>
      </p:nvGrpSpPr>
      <p:grpSpPr>
        <a:xfrm>
          <a:off x="0" y="0"/>
          <a:ext cx="0" cy="0"/>
          <a:chOff x="0" y="0"/>
          <a:chExt cx="0" cy="0"/>
        </a:xfrm>
      </p:grpSpPr>
      <p:sp>
        <p:nvSpPr>
          <p:cNvPr id="151" name="Google Shape;151;p32"/>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152" name="Google Shape;152;p32"/>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153" name="Google Shape;153;p3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Palatino Linotype"/>
              <a:buNone/>
              <a:defRPr b="0" i="0" sz="1000" u="none" cap="none" strike="noStrike">
                <a:solidFill>
                  <a:schemeClr val="dk2"/>
                </a:solidFill>
                <a:latin typeface="Palatino Linotype"/>
                <a:ea typeface="Palatino Linotype"/>
                <a:cs typeface="Palatino Linotype"/>
                <a:sym typeface="Palatino Linotype"/>
              </a:defRPr>
            </a:lvl1pPr>
            <a:lvl2pPr indent="0" lvl="1" marL="0" marR="0" algn="r">
              <a:lnSpc>
                <a:spcPct val="100000"/>
              </a:lnSpc>
              <a:spcBef>
                <a:spcPts val="0"/>
              </a:spcBef>
              <a:spcAft>
                <a:spcPts val="0"/>
              </a:spcAft>
              <a:buClr>
                <a:srgbClr val="000000"/>
              </a:buClr>
              <a:buSzPts val="1000"/>
              <a:buFont typeface="Palatino Linotype"/>
              <a:buNone/>
              <a:defRPr b="0" i="0" sz="1000" u="none" cap="none" strike="noStrike">
                <a:solidFill>
                  <a:schemeClr val="dk2"/>
                </a:solidFill>
                <a:latin typeface="Palatino Linotype"/>
                <a:ea typeface="Palatino Linotype"/>
                <a:cs typeface="Palatino Linotype"/>
                <a:sym typeface="Palatino Linotype"/>
              </a:defRPr>
            </a:lvl2pPr>
            <a:lvl3pPr indent="0" lvl="2" marL="0" marR="0" algn="r">
              <a:lnSpc>
                <a:spcPct val="100000"/>
              </a:lnSpc>
              <a:spcBef>
                <a:spcPts val="0"/>
              </a:spcBef>
              <a:spcAft>
                <a:spcPts val="0"/>
              </a:spcAft>
              <a:buClr>
                <a:srgbClr val="000000"/>
              </a:buClr>
              <a:buSzPts val="1000"/>
              <a:buFont typeface="Palatino Linotype"/>
              <a:buNone/>
              <a:defRPr b="0" i="0" sz="1000" u="none" cap="none" strike="noStrike">
                <a:solidFill>
                  <a:schemeClr val="dk2"/>
                </a:solidFill>
                <a:latin typeface="Palatino Linotype"/>
                <a:ea typeface="Palatino Linotype"/>
                <a:cs typeface="Palatino Linotype"/>
                <a:sym typeface="Palatino Linotype"/>
              </a:defRPr>
            </a:lvl3pPr>
            <a:lvl4pPr indent="0" lvl="3" marL="0" marR="0" algn="r">
              <a:lnSpc>
                <a:spcPct val="100000"/>
              </a:lnSpc>
              <a:spcBef>
                <a:spcPts val="0"/>
              </a:spcBef>
              <a:spcAft>
                <a:spcPts val="0"/>
              </a:spcAft>
              <a:buClr>
                <a:srgbClr val="000000"/>
              </a:buClr>
              <a:buSzPts val="1000"/>
              <a:buFont typeface="Palatino Linotype"/>
              <a:buNone/>
              <a:defRPr b="0" i="0" sz="1000" u="none" cap="none" strike="noStrike">
                <a:solidFill>
                  <a:schemeClr val="dk2"/>
                </a:solidFill>
                <a:latin typeface="Palatino Linotype"/>
                <a:ea typeface="Palatino Linotype"/>
                <a:cs typeface="Palatino Linotype"/>
                <a:sym typeface="Palatino Linotype"/>
              </a:defRPr>
            </a:lvl4pPr>
            <a:lvl5pPr indent="0" lvl="4" marL="0" marR="0" algn="r">
              <a:lnSpc>
                <a:spcPct val="100000"/>
              </a:lnSpc>
              <a:spcBef>
                <a:spcPts val="0"/>
              </a:spcBef>
              <a:spcAft>
                <a:spcPts val="0"/>
              </a:spcAft>
              <a:buClr>
                <a:srgbClr val="000000"/>
              </a:buClr>
              <a:buSzPts val="1000"/>
              <a:buFont typeface="Palatino Linotype"/>
              <a:buNone/>
              <a:defRPr b="0" i="0" sz="1000" u="none" cap="none" strike="noStrike">
                <a:solidFill>
                  <a:schemeClr val="dk2"/>
                </a:solidFill>
                <a:latin typeface="Palatino Linotype"/>
                <a:ea typeface="Palatino Linotype"/>
                <a:cs typeface="Palatino Linotype"/>
                <a:sym typeface="Palatino Linotype"/>
              </a:defRPr>
            </a:lvl5pPr>
            <a:lvl6pPr indent="0" lvl="5" marL="0" marR="0" algn="r">
              <a:lnSpc>
                <a:spcPct val="100000"/>
              </a:lnSpc>
              <a:spcBef>
                <a:spcPts val="0"/>
              </a:spcBef>
              <a:spcAft>
                <a:spcPts val="0"/>
              </a:spcAft>
              <a:buClr>
                <a:srgbClr val="000000"/>
              </a:buClr>
              <a:buSzPts val="1000"/>
              <a:buFont typeface="Palatino Linotype"/>
              <a:buNone/>
              <a:defRPr b="0" i="0" sz="1000" u="none" cap="none" strike="noStrike">
                <a:solidFill>
                  <a:schemeClr val="dk2"/>
                </a:solidFill>
                <a:latin typeface="Palatino Linotype"/>
                <a:ea typeface="Palatino Linotype"/>
                <a:cs typeface="Palatino Linotype"/>
                <a:sym typeface="Palatino Linotype"/>
              </a:defRPr>
            </a:lvl6pPr>
            <a:lvl7pPr indent="0" lvl="6" marL="0" marR="0" algn="r">
              <a:lnSpc>
                <a:spcPct val="100000"/>
              </a:lnSpc>
              <a:spcBef>
                <a:spcPts val="0"/>
              </a:spcBef>
              <a:spcAft>
                <a:spcPts val="0"/>
              </a:spcAft>
              <a:buClr>
                <a:srgbClr val="000000"/>
              </a:buClr>
              <a:buSzPts val="1000"/>
              <a:buFont typeface="Palatino Linotype"/>
              <a:buNone/>
              <a:defRPr b="0" i="0" sz="1000" u="none" cap="none" strike="noStrike">
                <a:solidFill>
                  <a:schemeClr val="dk2"/>
                </a:solidFill>
                <a:latin typeface="Palatino Linotype"/>
                <a:ea typeface="Palatino Linotype"/>
                <a:cs typeface="Palatino Linotype"/>
                <a:sym typeface="Palatino Linotype"/>
              </a:defRPr>
            </a:lvl7pPr>
            <a:lvl8pPr indent="0" lvl="7" marL="0" marR="0" algn="r">
              <a:lnSpc>
                <a:spcPct val="100000"/>
              </a:lnSpc>
              <a:spcBef>
                <a:spcPts val="0"/>
              </a:spcBef>
              <a:spcAft>
                <a:spcPts val="0"/>
              </a:spcAft>
              <a:buClr>
                <a:srgbClr val="000000"/>
              </a:buClr>
              <a:buSzPts val="1000"/>
              <a:buFont typeface="Palatino Linotype"/>
              <a:buNone/>
              <a:defRPr b="0" i="0" sz="1000" u="none" cap="none" strike="noStrike">
                <a:solidFill>
                  <a:schemeClr val="dk2"/>
                </a:solidFill>
                <a:latin typeface="Palatino Linotype"/>
                <a:ea typeface="Palatino Linotype"/>
                <a:cs typeface="Palatino Linotype"/>
                <a:sym typeface="Palatino Linotype"/>
              </a:defRPr>
            </a:lvl8pPr>
            <a:lvl9pPr indent="0" lvl="8" marL="0" marR="0" algn="r">
              <a:lnSpc>
                <a:spcPct val="100000"/>
              </a:lnSpc>
              <a:spcBef>
                <a:spcPts val="0"/>
              </a:spcBef>
              <a:spcAft>
                <a:spcPts val="0"/>
              </a:spcAft>
              <a:buClr>
                <a:srgbClr val="000000"/>
              </a:buClr>
              <a:buSzPts val="1000"/>
              <a:buFont typeface="Palatino Linotype"/>
              <a:buNone/>
              <a:defRPr b="0" i="0" sz="1000" u="none" cap="none" strike="noStrike">
                <a:solidFill>
                  <a:schemeClr val="dk2"/>
                </a:solidFill>
                <a:latin typeface="Palatino Linotype"/>
                <a:ea typeface="Palatino Linotype"/>
                <a:cs typeface="Palatino Linotype"/>
                <a:sym typeface="Palatino Linotyp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54" name="Shape 154"/>
        <p:cNvGrpSpPr/>
        <p:nvPr/>
      </p:nvGrpSpPr>
      <p:grpSpPr>
        <a:xfrm>
          <a:off x="0" y="0"/>
          <a:ext cx="0" cy="0"/>
          <a:chOff x="0" y="0"/>
          <a:chExt cx="0" cy="0"/>
        </a:xfrm>
      </p:grpSpPr>
      <p:sp>
        <p:nvSpPr>
          <p:cNvPr id="155" name="Google Shape;155;p33"/>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156" name="Google Shape;156;p3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Palatino Linotype"/>
              <a:buNone/>
              <a:defRPr b="0" i="0" sz="1000" u="none" cap="none" strike="noStrike">
                <a:solidFill>
                  <a:schemeClr val="dk2"/>
                </a:solidFill>
                <a:latin typeface="Palatino Linotype"/>
                <a:ea typeface="Palatino Linotype"/>
                <a:cs typeface="Palatino Linotype"/>
                <a:sym typeface="Palatino Linotype"/>
              </a:defRPr>
            </a:lvl1pPr>
            <a:lvl2pPr indent="0" lvl="1" marL="0" marR="0" algn="r">
              <a:lnSpc>
                <a:spcPct val="100000"/>
              </a:lnSpc>
              <a:spcBef>
                <a:spcPts val="0"/>
              </a:spcBef>
              <a:spcAft>
                <a:spcPts val="0"/>
              </a:spcAft>
              <a:buClr>
                <a:srgbClr val="000000"/>
              </a:buClr>
              <a:buSzPts val="1000"/>
              <a:buFont typeface="Palatino Linotype"/>
              <a:buNone/>
              <a:defRPr b="0" i="0" sz="1000" u="none" cap="none" strike="noStrike">
                <a:solidFill>
                  <a:schemeClr val="dk2"/>
                </a:solidFill>
                <a:latin typeface="Palatino Linotype"/>
                <a:ea typeface="Palatino Linotype"/>
                <a:cs typeface="Palatino Linotype"/>
                <a:sym typeface="Palatino Linotype"/>
              </a:defRPr>
            </a:lvl2pPr>
            <a:lvl3pPr indent="0" lvl="2" marL="0" marR="0" algn="r">
              <a:lnSpc>
                <a:spcPct val="100000"/>
              </a:lnSpc>
              <a:spcBef>
                <a:spcPts val="0"/>
              </a:spcBef>
              <a:spcAft>
                <a:spcPts val="0"/>
              </a:spcAft>
              <a:buClr>
                <a:srgbClr val="000000"/>
              </a:buClr>
              <a:buSzPts val="1000"/>
              <a:buFont typeface="Palatino Linotype"/>
              <a:buNone/>
              <a:defRPr b="0" i="0" sz="1000" u="none" cap="none" strike="noStrike">
                <a:solidFill>
                  <a:schemeClr val="dk2"/>
                </a:solidFill>
                <a:latin typeface="Palatino Linotype"/>
                <a:ea typeface="Palatino Linotype"/>
                <a:cs typeface="Palatino Linotype"/>
                <a:sym typeface="Palatino Linotype"/>
              </a:defRPr>
            </a:lvl3pPr>
            <a:lvl4pPr indent="0" lvl="3" marL="0" marR="0" algn="r">
              <a:lnSpc>
                <a:spcPct val="100000"/>
              </a:lnSpc>
              <a:spcBef>
                <a:spcPts val="0"/>
              </a:spcBef>
              <a:spcAft>
                <a:spcPts val="0"/>
              </a:spcAft>
              <a:buClr>
                <a:srgbClr val="000000"/>
              </a:buClr>
              <a:buSzPts val="1000"/>
              <a:buFont typeface="Palatino Linotype"/>
              <a:buNone/>
              <a:defRPr b="0" i="0" sz="1000" u="none" cap="none" strike="noStrike">
                <a:solidFill>
                  <a:schemeClr val="dk2"/>
                </a:solidFill>
                <a:latin typeface="Palatino Linotype"/>
                <a:ea typeface="Palatino Linotype"/>
                <a:cs typeface="Palatino Linotype"/>
                <a:sym typeface="Palatino Linotype"/>
              </a:defRPr>
            </a:lvl4pPr>
            <a:lvl5pPr indent="0" lvl="4" marL="0" marR="0" algn="r">
              <a:lnSpc>
                <a:spcPct val="100000"/>
              </a:lnSpc>
              <a:spcBef>
                <a:spcPts val="0"/>
              </a:spcBef>
              <a:spcAft>
                <a:spcPts val="0"/>
              </a:spcAft>
              <a:buClr>
                <a:srgbClr val="000000"/>
              </a:buClr>
              <a:buSzPts val="1000"/>
              <a:buFont typeface="Palatino Linotype"/>
              <a:buNone/>
              <a:defRPr b="0" i="0" sz="1000" u="none" cap="none" strike="noStrike">
                <a:solidFill>
                  <a:schemeClr val="dk2"/>
                </a:solidFill>
                <a:latin typeface="Palatino Linotype"/>
                <a:ea typeface="Palatino Linotype"/>
                <a:cs typeface="Palatino Linotype"/>
                <a:sym typeface="Palatino Linotype"/>
              </a:defRPr>
            </a:lvl5pPr>
            <a:lvl6pPr indent="0" lvl="5" marL="0" marR="0" algn="r">
              <a:lnSpc>
                <a:spcPct val="100000"/>
              </a:lnSpc>
              <a:spcBef>
                <a:spcPts val="0"/>
              </a:spcBef>
              <a:spcAft>
                <a:spcPts val="0"/>
              </a:spcAft>
              <a:buClr>
                <a:srgbClr val="000000"/>
              </a:buClr>
              <a:buSzPts val="1000"/>
              <a:buFont typeface="Palatino Linotype"/>
              <a:buNone/>
              <a:defRPr b="0" i="0" sz="1000" u="none" cap="none" strike="noStrike">
                <a:solidFill>
                  <a:schemeClr val="dk2"/>
                </a:solidFill>
                <a:latin typeface="Palatino Linotype"/>
                <a:ea typeface="Palatino Linotype"/>
                <a:cs typeface="Palatino Linotype"/>
                <a:sym typeface="Palatino Linotype"/>
              </a:defRPr>
            </a:lvl6pPr>
            <a:lvl7pPr indent="0" lvl="6" marL="0" marR="0" algn="r">
              <a:lnSpc>
                <a:spcPct val="100000"/>
              </a:lnSpc>
              <a:spcBef>
                <a:spcPts val="0"/>
              </a:spcBef>
              <a:spcAft>
                <a:spcPts val="0"/>
              </a:spcAft>
              <a:buClr>
                <a:srgbClr val="000000"/>
              </a:buClr>
              <a:buSzPts val="1000"/>
              <a:buFont typeface="Palatino Linotype"/>
              <a:buNone/>
              <a:defRPr b="0" i="0" sz="1000" u="none" cap="none" strike="noStrike">
                <a:solidFill>
                  <a:schemeClr val="dk2"/>
                </a:solidFill>
                <a:latin typeface="Palatino Linotype"/>
                <a:ea typeface="Palatino Linotype"/>
                <a:cs typeface="Palatino Linotype"/>
                <a:sym typeface="Palatino Linotype"/>
              </a:defRPr>
            </a:lvl7pPr>
            <a:lvl8pPr indent="0" lvl="7" marL="0" marR="0" algn="r">
              <a:lnSpc>
                <a:spcPct val="100000"/>
              </a:lnSpc>
              <a:spcBef>
                <a:spcPts val="0"/>
              </a:spcBef>
              <a:spcAft>
                <a:spcPts val="0"/>
              </a:spcAft>
              <a:buClr>
                <a:srgbClr val="000000"/>
              </a:buClr>
              <a:buSzPts val="1000"/>
              <a:buFont typeface="Palatino Linotype"/>
              <a:buNone/>
              <a:defRPr b="0" i="0" sz="1000" u="none" cap="none" strike="noStrike">
                <a:solidFill>
                  <a:schemeClr val="dk2"/>
                </a:solidFill>
                <a:latin typeface="Palatino Linotype"/>
                <a:ea typeface="Palatino Linotype"/>
                <a:cs typeface="Palatino Linotype"/>
                <a:sym typeface="Palatino Linotype"/>
              </a:defRPr>
            </a:lvl8pPr>
            <a:lvl9pPr indent="0" lvl="8" marL="0" marR="0" algn="r">
              <a:lnSpc>
                <a:spcPct val="100000"/>
              </a:lnSpc>
              <a:spcBef>
                <a:spcPts val="0"/>
              </a:spcBef>
              <a:spcAft>
                <a:spcPts val="0"/>
              </a:spcAft>
              <a:buClr>
                <a:srgbClr val="000000"/>
              </a:buClr>
              <a:buSzPts val="1000"/>
              <a:buFont typeface="Palatino Linotype"/>
              <a:buNone/>
              <a:defRPr b="0" i="0" sz="1000" u="none" cap="none" strike="noStrike">
                <a:solidFill>
                  <a:schemeClr val="dk2"/>
                </a:solidFill>
                <a:latin typeface="Palatino Linotype"/>
                <a:ea typeface="Palatino Linotype"/>
                <a:cs typeface="Palatino Linotype"/>
                <a:sym typeface="Palatino Linotyp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57" name="Shape 157"/>
        <p:cNvGrpSpPr/>
        <p:nvPr/>
      </p:nvGrpSpPr>
      <p:grpSpPr>
        <a:xfrm>
          <a:off x="0" y="0"/>
          <a:ext cx="0" cy="0"/>
          <a:chOff x="0" y="0"/>
          <a:chExt cx="0" cy="0"/>
        </a:xfrm>
      </p:grpSpPr>
      <p:sp>
        <p:nvSpPr>
          <p:cNvPr id="158" name="Google Shape;158;p34"/>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Palatino Linotype"/>
              <a:buNone/>
            </a:pPr>
            <a:r>
              <a:t/>
            </a:r>
            <a:endParaRPr b="0" i="0" sz="1400" u="none" cap="none" strike="noStrike">
              <a:solidFill>
                <a:srgbClr val="000000"/>
              </a:solidFill>
              <a:latin typeface="Palatino Linotype"/>
              <a:ea typeface="Palatino Linotype"/>
              <a:cs typeface="Palatino Linotype"/>
              <a:sym typeface="Palatino Linotype"/>
            </a:endParaRPr>
          </a:p>
        </p:txBody>
      </p:sp>
      <p:sp>
        <p:nvSpPr>
          <p:cNvPr id="159" name="Google Shape;159;p34"/>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160" name="Google Shape;160;p34"/>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61" name="Google Shape;161;p34"/>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62" name="Google Shape;162;p3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Palatino Linotype"/>
              <a:buNone/>
              <a:defRPr b="0" i="0" sz="1000" u="none" cap="none" strike="noStrike">
                <a:solidFill>
                  <a:schemeClr val="dk2"/>
                </a:solidFill>
                <a:latin typeface="Palatino Linotype"/>
                <a:ea typeface="Palatino Linotype"/>
                <a:cs typeface="Palatino Linotype"/>
                <a:sym typeface="Palatino Linotype"/>
              </a:defRPr>
            </a:lvl1pPr>
            <a:lvl2pPr indent="0" lvl="1" marL="0" marR="0" algn="r">
              <a:lnSpc>
                <a:spcPct val="100000"/>
              </a:lnSpc>
              <a:spcBef>
                <a:spcPts val="0"/>
              </a:spcBef>
              <a:spcAft>
                <a:spcPts val="0"/>
              </a:spcAft>
              <a:buClr>
                <a:srgbClr val="000000"/>
              </a:buClr>
              <a:buSzPts val="1000"/>
              <a:buFont typeface="Palatino Linotype"/>
              <a:buNone/>
              <a:defRPr b="0" i="0" sz="1000" u="none" cap="none" strike="noStrike">
                <a:solidFill>
                  <a:schemeClr val="dk2"/>
                </a:solidFill>
                <a:latin typeface="Palatino Linotype"/>
                <a:ea typeface="Palatino Linotype"/>
                <a:cs typeface="Palatino Linotype"/>
                <a:sym typeface="Palatino Linotype"/>
              </a:defRPr>
            </a:lvl2pPr>
            <a:lvl3pPr indent="0" lvl="2" marL="0" marR="0" algn="r">
              <a:lnSpc>
                <a:spcPct val="100000"/>
              </a:lnSpc>
              <a:spcBef>
                <a:spcPts val="0"/>
              </a:spcBef>
              <a:spcAft>
                <a:spcPts val="0"/>
              </a:spcAft>
              <a:buClr>
                <a:srgbClr val="000000"/>
              </a:buClr>
              <a:buSzPts val="1000"/>
              <a:buFont typeface="Palatino Linotype"/>
              <a:buNone/>
              <a:defRPr b="0" i="0" sz="1000" u="none" cap="none" strike="noStrike">
                <a:solidFill>
                  <a:schemeClr val="dk2"/>
                </a:solidFill>
                <a:latin typeface="Palatino Linotype"/>
                <a:ea typeface="Palatino Linotype"/>
                <a:cs typeface="Palatino Linotype"/>
                <a:sym typeface="Palatino Linotype"/>
              </a:defRPr>
            </a:lvl3pPr>
            <a:lvl4pPr indent="0" lvl="3" marL="0" marR="0" algn="r">
              <a:lnSpc>
                <a:spcPct val="100000"/>
              </a:lnSpc>
              <a:spcBef>
                <a:spcPts val="0"/>
              </a:spcBef>
              <a:spcAft>
                <a:spcPts val="0"/>
              </a:spcAft>
              <a:buClr>
                <a:srgbClr val="000000"/>
              </a:buClr>
              <a:buSzPts val="1000"/>
              <a:buFont typeface="Palatino Linotype"/>
              <a:buNone/>
              <a:defRPr b="0" i="0" sz="1000" u="none" cap="none" strike="noStrike">
                <a:solidFill>
                  <a:schemeClr val="dk2"/>
                </a:solidFill>
                <a:latin typeface="Palatino Linotype"/>
                <a:ea typeface="Palatino Linotype"/>
                <a:cs typeface="Palatino Linotype"/>
                <a:sym typeface="Palatino Linotype"/>
              </a:defRPr>
            </a:lvl4pPr>
            <a:lvl5pPr indent="0" lvl="4" marL="0" marR="0" algn="r">
              <a:lnSpc>
                <a:spcPct val="100000"/>
              </a:lnSpc>
              <a:spcBef>
                <a:spcPts val="0"/>
              </a:spcBef>
              <a:spcAft>
                <a:spcPts val="0"/>
              </a:spcAft>
              <a:buClr>
                <a:srgbClr val="000000"/>
              </a:buClr>
              <a:buSzPts val="1000"/>
              <a:buFont typeface="Palatino Linotype"/>
              <a:buNone/>
              <a:defRPr b="0" i="0" sz="1000" u="none" cap="none" strike="noStrike">
                <a:solidFill>
                  <a:schemeClr val="dk2"/>
                </a:solidFill>
                <a:latin typeface="Palatino Linotype"/>
                <a:ea typeface="Palatino Linotype"/>
                <a:cs typeface="Palatino Linotype"/>
                <a:sym typeface="Palatino Linotype"/>
              </a:defRPr>
            </a:lvl5pPr>
            <a:lvl6pPr indent="0" lvl="5" marL="0" marR="0" algn="r">
              <a:lnSpc>
                <a:spcPct val="100000"/>
              </a:lnSpc>
              <a:spcBef>
                <a:spcPts val="0"/>
              </a:spcBef>
              <a:spcAft>
                <a:spcPts val="0"/>
              </a:spcAft>
              <a:buClr>
                <a:srgbClr val="000000"/>
              </a:buClr>
              <a:buSzPts val="1000"/>
              <a:buFont typeface="Palatino Linotype"/>
              <a:buNone/>
              <a:defRPr b="0" i="0" sz="1000" u="none" cap="none" strike="noStrike">
                <a:solidFill>
                  <a:schemeClr val="dk2"/>
                </a:solidFill>
                <a:latin typeface="Palatino Linotype"/>
                <a:ea typeface="Palatino Linotype"/>
                <a:cs typeface="Palatino Linotype"/>
                <a:sym typeface="Palatino Linotype"/>
              </a:defRPr>
            </a:lvl6pPr>
            <a:lvl7pPr indent="0" lvl="6" marL="0" marR="0" algn="r">
              <a:lnSpc>
                <a:spcPct val="100000"/>
              </a:lnSpc>
              <a:spcBef>
                <a:spcPts val="0"/>
              </a:spcBef>
              <a:spcAft>
                <a:spcPts val="0"/>
              </a:spcAft>
              <a:buClr>
                <a:srgbClr val="000000"/>
              </a:buClr>
              <a:buSzPts val="1000"/>
              <a:buFont typeface="Palatino Linotype"/>
              <a:buNone/>
              <a:defRPr b="0" i="0" sz="1000" u="none" cap="none" strike="noStrike">
                <a:solidFill>
                  <a:schemeClr val="dk2"/>
                </a:solidFill>
                <a:latin typeface="Palatino Linotype"/>
                <a:ea typeface="Palatino Linotype"/>
                <a:cs typeface="Palatino Linotype"/>
                <a:sym typeface="Palatino Linotype"/>
              </a:defRPr>
            </a:lvl7pPr>
            <a:lvl8pPr indent="0" lvl="7" marL="0" marR="0" algn="r">
              <a:lnSpc>
                <a:spcPct val="100000"/>
              </a:lnSpc>
              <a:spcBef>
                <a:spcPts val="0"/>
              </a:spcBef>
              <a:spcAft>
                <a:spcPts val="0"/>
              </a:spcAft>
              <a:buClr>
                <a:srgbClr val="000000"/>
              </a:buClr>
              <a:buSzPts val="1000"/>
              <a:buFont typeface="Palatino Linotype"/>
              <a:buNone/>
              <a:defRPr b="0" i="0" sz="1000" u="none" cap="none" strike="noStrike">
                <a:solidFill>
                  <a:schemeClr val="dk2"/>
                </a:solidFill>
                <a:latin typeface="Palatino Linotype"/>
                <a:ea typeface="Palatino Linotype"/>
                <a:cs typeface="Palatino Linotype"/>
                <a:sym typeface="Palatino Linotype"/>
              </a:defRPr>
            </a:lvl8pPr>
            <a:lvl9pPr indent="0" lvl="8" marL="0" marR="0" algn="r">
              <a:lnSpc>
                <a:spcPct val="100000"/>
              </a:lnSpc>
              <a:spcBef>
                <a:spcPts val="0"/>
              </a:spcBef>
              <a:spcAft>
                <a:spcPts val="0"/>
              </a:spcAft>
              <a:buClr>
                <a:srgbClr val="000000"/>
              </a:buClr>
              <a:buSzPts val="1000"/>
              <a:buFont typeface="Palatino Linotype"/>
              <a:buNone/>
              <a:defRPr b="0" i="0" sz="1000" u="none" cap="none" strike="noStrike">
                <a:solidFill>
                  <a:schemeClr val="dk2"/>
                </a:solidFill>
                <a:latin typeface="Palatino Linotype"/>
                <a:ea typeface="Palatino Linotype"/>
                <a:cs typeface="Palatino Linotype"/>
                <a:sym typeface="Palatino Linotyp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63" name="Shape 163"/>
        <p:cNvGrpSpPr/>
        <p:nvPr/>
      </p:nvGrpSpPr>
      <p:grpSpPr>
        <a:xfrm>
          <a:off x="0" y="0"/>
          <a:ext cx="0" cy="0"/>
          <a:chOff x="0" y="0"/>
          <a:chExt cx="0" cy="0"/>
        </a:xfrm>
      </p:grpSpPr>
      <p:sp>
        <p:nvSpPr>
          <p:cNvPr id="164" name="Google Shape;164;p35"/>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165" name="Google Shape;165;p3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Palatino Linotype"/>
              <a:buNone/>
              <a:defRPr b="0" i="0" sz="1000" u="none" cap="none" strike="noStrike">
                <a:solidFill>
                  <a:schemeClr val="dk2"/>
                </a:solidFill>
                <a:latin typeface="Palatino Linotype"/>
                <a:ea typeface="Palatino Linotype"/>
                <a:cs typeface="Palatino Linotype"/>
                <a:sym typeface="Palatino Linotype"/>
              </a:defRPr>
            </a:lvl1pPr>
            <a:lvl2pPr indent="0" lvl="1" marL="0" marR="0" algn="r">
              <a:lnSpc>
                <a:spcPct val="100000"/>
              </a:lnSpc>
              <a:spcBef>
                <a:spcPts val="0"/>
              </a:spcBef>
              <a:spcAft>
                <a:spcPts val="0"/>
              </a:spcAft>
              <a:buClr>
                <a:srgbClr val="000000"/>
              </a:buClr>
              <a:buSzPts val="1000"/>
              <a:buFont typeface="Palatino Linotype"/>
              <a:buNone/>
              <a:defRPr b="0" i="0" sz="1000" u="none" cap="none" strike="noStrike">
                <a:solidFill>
                  <a:schemeClr val="dk2"/>
                </a:solidFill>
                <a:latin typeface="Palatino Linotype"/>
                <a:ea typeface="Palatino Linotype"/>
                <a:cs typeface="Palatino Linotype"/>
                <a:sym typeface="Palatino Linotype"/>
              </a:defRPr>
            </a:lvl2pPr>
            <a:lvl3pPr indent="0" lvl="2" marL="0" marR="0" algn="r">
              <a:lnSpc>
                <a:spcPct val="100000"/>
              </a:lnSpc>
              <a:spcBef>
                <a:spcPts val="0"/>
              </a:spcBef>
              <a:spcAft>
                <a:spcPts val="0"/>
              </a:spcAft>
              <a:buClr>
                <a:srgbClr val="000000"/>
              </a:buClr>
              <a:buSzPts val="1000"/>
              <a:buFont typeface="Palatino Linotype"/>
              <a:buNone/>
              <a:defRPr b="0" i="0" sz="1000" u="none" cap="none" strike="noStrike">
                <a:solidFill>
                  <a:schemeClr val="dk2"/>
                </a:solidFill>
                <a:latin typeface="Palatino Linotype"/>
                <a:ea typeface="Palatino Linotype"/>
                <a:cs typeface="Palatino Linotype"/>
                <a:sym typeface="Palatino Linotype"/>
              </a:defRPr>
            </a:lvl3pPr>
            <a:lvl4pPr indent="0" lvl="3" marL="0" marR="0" algn="r">
              <a:lnSpc>
                <a:spcPct val="100000"/>
              </a:lnSpc>
              <a:spcBef>
                <a:spcPts val="0"/>
              </a:spcBef>
              <a:spcAft>
                <a:spcPts val="0"/>
              </a:spcAft>
              <a:buClr>
                <a:srgbClr val="000000"/>
              </a:buClr>
              <a:buSzPts val="1000"/>
              <a:buFont typeface="Palatino Linotype"/>
              <a:buNone/>
              <a:defRPr b="0" i="0" sz="1000" u="none" cap="none" strike="noStrike">
                <a:solidFill>
                  <a:schemeClr val="dk2"/>
                </a:solidFill>
                <a:latin typeface="Palatino Linotype"/>
                <a:ea typeface="Palatino Linotype"/>
                <a:cs typeface="Palatino Linotype"/>
                <a:sym typeface="Palatino Linotype"/>
              </a:defRPr>
            </a:lvl4pPr>
            <a:lvl5pPr indent="0" lvl="4" marL="0" marR="0" algn="r">
              <a:lnSpc>
                <a:spcPct val="100000"/>
              </a:lnSpc>
              <a:spcBef>
                <a:spcPts val="0"/>
              </a:spcBef>
              <a:spcAft>
                <a:spcPts val="0"/>
              </a:spcAft>
              <a:buClr>
                <a:srgbClr val="000000"/>
              </a:buClr>
              <a:buSzPts val="1000"/>
              <a:buFont typeface="Palatino Linotype"/>
              <a:buNone/>
              <a:defRPr b="0" i="0" sz="1000" u="none" cap="none" strike="noStrike">
                <a:solidFill>
                  <a:schemeClr val="dk2"/>
                </a:solidFill>
                <a:latin typeface="Palatino Linotype"/>
                <a:ea typeface="Palatino Linotype"/>
                <a:cs typeface="Palatino Linotype"/>
                <a:sym typeface="Palatino Linotype"/>
              </a:defRPr>
            </a:lvl5pPr>
            <a:lvl6pPr indent="0" lvl="5" marL="0" marR="0" algn="r">
              <a:lnSpc>
                <a:spcPct val="100000"/>
              </a:lnSpc>
              <a:spcBef>
                <a:spcPts val="0"/>
              </a:spcBef>
              <a:spcAft>
                <a:spcPts val="0"/>
              </a:spcAft>
              <a:buClr>
                <a:srgbClr val="000000"/>
              </a:buClr>
              <a:buSzPts val="1000"/>
              <a:buFont typeface="Palatino Linotype"/>
              <a:buNone/>
              <a:defRPr b="0" i="0" sz="1000" u="none" cap="none" strike="noStrike">
                <a:solidFill>
                  <a:schemeClr val="dk2"/>
                </a:solidFill>
                <a:latin typeface="Palatino Linotype"/>
                <a:ea typeface="Palatino Linotype"/>
                <a:cs typeface="Palatino Linotype"/>
                <a:sym typeface="Palatino Linotype"/>
              </a:defRPr>
            </a:lvl6pPr>
            <a:lvl7pPr indent="0" lvl="6" marL="0" marR="0" algn="r">
              <a:lnSpc>
                <a:spcPct val="100000"/>
              </a:lnSpc>
              <a:spcBef>
                <a:spcPts val="0"/>
              </a:spcBef>
              <a:spcAft>
                <a:spcPts val="0"/>
              </a:spcAft>
              <a:buClr>
                <a:srgbClr val="000000"/>
              </a:buClr>
              <a:buSzPts val="1000"/>
              <a:buFont typeface="Palatino Linotype"/>
              <a:buNone/>
              <a:defRPr b="0" i="0" sz="1000" u="none" cap="none" strike="noStrike">
                <a:solidFill>
                  <a:schemeClr val="dk2"/>
                </a:solidFill>
                <a:latin typeface="Palatino Linotype"/>
                <a:ea typeface="Palatino Linotype"/>
                <a:cs typeface="Palatino Linotype"/>
                <a:sym typeface="Palatino Linotype"/>
              </a:defRPr>
            </a:lvl7pPr>
            <a:lvl8pPr indent="0" lvl="7" marL="0" marR="0" algn="r">
              <a:lnSpc>
                <a:spcPct val="100000"/>
              </a:lnSpc>
              <a:spcBef>
                <a:spcPts val="0"/>
              </a:spcBef>
              <a:spcAft>
                <a:spcPts val="0"/>
              </a:spcAft>
              <a:buClr>
                <a:srgbClr val="000000"/>
              </a:buClr>
              <a:buSzPts val="1000"/>
              <a:buFont typeface="Palatino Linotype"/>
              <a:buNone/>
              <a:defRPr b="0" i="0" sz="1000" u="none" cap="none" strike="noStrike">
                <a:solidFill>
                  <a:schemeClr val="dk2"/>
                </a:solidFill>
                <a:latin typeface="Palatino Linotype"/>
                <a:ea typeface="Palatino Linotype"/>
                <a:cs typeface="Palatino Linotype"/>
                <a:sym typeface="Palatino Linotype"/>
              </a:defRPr>
            </a:lvl8pPr>
            <a:lvl9pPr indent="0" lvl="8" marL="0" marR="0" algn="r">
              <a:lnSpc>
                <a:spcPct val="100000"/>
              </a:lnSpc>
              <a:spcBef>
                <a:spcPts val="0"/>
              </a:spcBef>
              <a:spcAft>
                <a:spcPts val="0"/>
              </a:spcAft>
              <a:buClr>
                <a:srgbClr val="000000"/>
              </a:buClr>
              <a:buSzPts val="1000"/>
              <a:buFont typeface="Palatino Linotype"/>
              <a:buNone/>
              <a:defRPr b="0" i="0" sz="1000" u="none" cap="none" strike="noStrike">
                <a:solidFill>
                  <a:schemeClr val="dk2"/>
                </a:solidFill>
                <a:latin typeface="Palatino Linotype"/>
                <a:ea typeface="Palatino Linotype"/>
                <a:cs typeface="Palatino Linotype"/>
                <a:sym typeface="Palatino Linotyp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66" name="Shape 166"/>
        <p:cNvGrpSpPr/>
        <p:nvPr/>
      </p:nvGrpSpPr>
      <p:grpSpPr>
        <a:xfrm>
          <a:off x="0" y="0"/>
          <a:ext cx="0" cy="0"/>
          <a:chOff x="0" y="0"/>
          <a:chExt cx="0" cy="0"/>
        </a:xfrm>
      </p:grpSpPr>
      <p:sp>
        <p:nvSpPr>
          <p:cNvPr id="167" name="Google Shape;167;p36"/>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168" name="Google Shape;168;p36"/>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169" name="Google Shape;169;p3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Palatino Linotype"/>
              <a:buNone/>
              <a:defRPr b="0" i="0" sz="1000" u="none" cap="none" strike="noStrike">
                <a:solidFill>
                  <a:schemeClr val="dk2"/>
                </a:solidFill>
                <a:latin typeface="Palatino Linotype"/>
                <a:ea typeface="Palatino Linotype"/>
                <a:cs typeface="Palatino Linotype"/>
                <a:sym typeface="Palatino Linotype"/>
              </a:defRPr>
            </a:lvl1pPr>
            <a:lvl2pPr indent="0" lvl="1" marL="0" marR="0" algn="r">
              <a:lnSpc>
                <a:spcPct val="100000"/>
              </a:lnSpc>
              <a:spcBef>
                <a:spcPts val="0"/>
              </a:spcBef>
              <a:spcAft>
                <a:spcPts val="0"/>
              </a:spcAft>
              <a:buClr>
                <a:srgbClr val="000000"/>
              </a:buClr>
              <a:buSzPts val="1000"/>
              <a:buFont typeface="Palatino Linotype"/>
              <a:buNone/>
              <a:defRPr b="0" i="0" sz="1000" u="none" cap="none" strike="noStrike">
                <a:solidFill>
                  <a:schemeClr val="dk2"/>
                </a:solidFill>
                <a:latin typeface="Palatino Linotype"/>
                <a:ea typeface="Palatino Linotype"/>
                <a:cs typeface="Palatino Linotype"/>
                <a:sym typeface="Palatino Linotype"/>
              </a:defRPr>
            </a:lvl2pPr>
            <a:lvl3pPr indent="0" lvl="2" marL="0" marR="0" algn="r">
              <a:lnSpc>
                <a:spcPct val="100000"/>
              </a:lnSpc>
              <a:spcBef>
                <a:spcPts val="0"/>
              </a:spcBef>
              <a:spcAft>
                <a:spcPts val="0"/>
              </a:spcAft>
              <a:buClr>
                <a:srgbClr val="000000"/>
              </a:buClr>
              <a:buSzPts val="1000"/>
              <a:buFont typeface="Palatino Linotype"/>
              <a:buNone/>
              <a:defRPr b="0" i="0" sz="1000" u="none" cap="none" strike="noStrike">
                <a:solidFill>
                  <a:schemeClr val="dk2"/>
                </a:solidFill>
                <a:latin typeface="Palatino Linotype"/>
                <a:ea typeface="Palatino Linotype"/>
                <a:cs typeface="Palatino Linotype"/>
                <a:sym typeface="Palatino Linotype"/>
              </a:defRPr>
            </a:lvl3pPr>
            <a:lvl4pPr indent="0" lvl="3" marL="0" marR="0" algn="r">
              <a:lnSpc>
                <a:spcPct val="100000"/>
              </a:lnSpc>
              <a:spcBef>
                <a:spcPts val="0"/>
              </a:spcBef>
              <a:spcAft>
                <a:spcPts val="0"/>
              </a:spcAft>
              <a:buClr>
                <a:srgbClr val="000000"/>
              </a:buClr>
              <a:buSzPts val="1000"/>
              <a:buFont typeface="Palatino Linotype"/>
              <a:buNone/>
              <a:defRPr b="0" i="0" sz="1000" u="none" cap="none" strike="noStrike">
                <a:solidFill>
                  <a:schemeClr val="dk2"/>
                </a:solidFill>
                <a:latin typeface="Palatino Linotype"/>
                <a:ea typeface="Palatino Linotype"/>
                <a:cs typeface="Palatino Linotype"/>
                <a:sym typeface="Palatino Linotype"/>
              </a:defRPr>
            </a:lvl4pPr>
            <a:lvl5pPr indent="0" lvl="4" marL="0" marR="0" algn="r">
              <a:lnSpc>
                <a:spcPct val="100000"/>
              </a:lnSpc>
              <a:spcBef>
                <a:spcPts val="0"/>
              </a:spcBef>
              <a:spcAft>
                <a:spcPts val="0"/>
              </a:spcAft>
              <a:buClr>
                <a:srgbClr val="000000"/>
              </a:buClr>
              <a:buSzPts val="1000"/>
              <a:buFont typeface="Palatino Linotype"/>
              <a:buNone/>
              <a:defRPr b="0" i="0" sz="1000" u="none" cap="none" strike="noStrike">
                <a:solidFill>
                  <a:schemeClr val="dk2"/>
                </a:solidFill>
                <a:latin typeface="Palatino Linotype"/>
                <a:ea typeface="Palatino Linotype"/>
                <a:cs typeface="Palatino Linotype"/>
                <a:sym typeface="Palatino Linotype"/>
              </a:defRPr>
            </a:lvl5pPr>
            <a:lvl6pPr indent="0" lvl="5" marL="0" marR="0" algn="r">
              <a:lnSpc>
                <a:spcPct val="100000"/>
              </a:lnSpc>
              <a:spcBef>
                <a:spcPts val="0"/>
              </a:spcBef>
              <a:spcAft>
                <a:spcPts val="0"/>
              </a:spcAft>
              <a:buClr>
                <a:srgbClr val="000000"/>
              </a:buClr>
              <a:buSzPts val="1000"/>
              <a:buFont typeface="Palatino Linotype"/>
              <a:buNone/>
              <a:defRPr b="0" i="0" sz="1000" u="none" cap="none" strike="noStrike">
                <a:solidFill>
                  <a:schemeClr val="dk2"/>
                </a:solidFill>
                <a:latin typeface="Palatino Linotype"/>
                <a:ea typeface="Palatino Linotype"/>
                <a:cs typeface="Palatino Linotype"/>
                <a:sym typeface="Palatino Linotype"/>
              </a:defRPr>
            </a:lvl6pPr>
            <a:lvl7pPr indent="0" lvl="6" marL="0" marR="0" algn="r">
              <a:lnSpc>
                <a:spcPct val="100000"/>
              </a:lnSpc>
              <a:spcBef>
                <a:spcPts val="0"/>
              </a:spcBef>
              <a:spcAft>
                <a:spcPts val="0"/>
              </a:spcAft>
              <a:buClr>
                <a:srgbClr val="000000"/>
              </a:buClr>
              <a:buSzPts val="1000"/>
              <a:buFont typeface="Palatino Linotype"/>
              <a:buNone/>
              <a:defRPr b="0" i="0" sz="1000" u="none" cap="none" strike="noStrike">
                <a:solidFill>
                  <a:schemeClr val="dk2"/>
                </a:solidFill>
                <a:latin typeface="Palatino Linotype"/>
                <a:ea typeface="Palatino Linotype"/>
                <a:cs typeface="Palatino Linotype"/>
                <a:sym typeface="Palatino Linotype"/>
              </a:defRPr>
            </a:lvl7pPr>
            <a:lvl8pPr indent="0" lvl="7" marL="0" marR="0" algn="r">
              <a:lnSpc>
                <a:spcPct val="100000"/>
              </a:lnSpc>
              <a:spcBef>
                <a:spcPts val="0"/>
              </a:spcBef>
              <a:spcAft>
                <a:spcPts val="0"/>
              </a:spcAft>
              <a:buClr>
                <a:srgbClr val="000000"/>
              </a:buClr>
              <a:buSzPts val="1000"/>
              <a:buFont typeface="Palatino Linotype"/>
              <a:buNone/>
              <a:defRPr b="0" i="0" sz="1000" u="none" cap="none" strike="noStrike">
                <a:solidFill>
                  <a:schemeClr val="dk2"/>
                </a:solidFill>
                <a:latin typeface="Palatino Linotype"/>
                <a:ea typeface="Palatino Linotype"/>
                <a:cs typeface="Palatino Linotype"/>
                <a:sym typeface="Palatino Linotype"/>
              </a:defRPr>
            </a:lvl8pPr>
            <a:lvl9pPr indent="0" lvl="8" marL="0" marR="0" algn="r">
              <a:lnSpc>
                <a:spcPct val="100000"/>
              </a:lnSpc>
              <a:spcBef>
                <a:spcPts val="0"/>
              </a:spcBef>
              <a:spcAft>
                <a:spcPts val="0"/>
              </a:spcAft>
              <a:buClr>
                <a:srgbClr val="000000"/>
              </a:buClr>
              <a:buSzPts val="1000"/>
              <a:buFont typeface="Palatino Linotype"/>
              <a:buNone/>
              <a:defRPr b="0" i="0" sz="1000" u="none" cap="none" strike="noStrike">
                <a:solidFill>
                  <a:schemeClr val="dk2"/>
                </a:solidFill>
                <a:latin typeface="Palatino Linotype"/>
                <a:ea typeface="Palatino Linotype"/>
                <a:cs typeface="Palatino Linotype"/>
                <a:sym typeface="Palatino Linotyp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3.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slideLayout" Target="../slideLayouts/slideLayout26.xml"/><Relationship Id="rId11" Type="http://schemas.openxmlformats.org/officeDocument/2006/relationships/slideLayout" Target="../slideLayouts/slideLayout33.xml"/><Relationship Id="rId10" Type="http://schemas.openxmlformats.org/officeDocument/2006/relationships/slideLayout" Target="../slideLayouts/slideLayout32.xml"/><Relationship Id="rId12" Type="http://schemas.openxmlformats.org/officeDocument/2006/relationships/theme" Target="../theme/theme1.xml"/><Relationship Id="rId9" Type="http://schemas.openxmlformats.org/officeDocument/2006/relationships/slideLayout" Target="../slideLayouts/slideLayout31.xml"/><Relationship Id="rId5" Type="http://schemas.openxmlformats.org/officeDocument/2006/relationships/slideLayout" Target="../slideLayouts/slideLayout27.xml"/><Relationship Id="rId6" Type="http://schemas.openxmlformats.org/officeDocument/2006/relationships/slideLayout" Target="../slideLayouts/slideLayout28.xml"/><Relationship Id="rId7" Type="http://schemas.openxmlformats.org/officeDocument/2006/relationships/slideLayout" Target="../slideLayouts/slideLayout29.xml"/><Relationship Id="rId8"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52" name="Google Shape;52;p1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53" name="Google Shape;53;p1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4" name="Google Shape;54;p1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5" name="Google Shape;55;p1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125" name="Shape 125"/>
        <p:cNvGrpSpPr/>
        <p:nvPr/>
      </p:nvGrpSpPr>
      <p:grpSpPr>
        <a:xfrm>
          <a:off x="0" y="0"/>
          <a:ext cx="0" cy="0"/>
          <a:chOff x="0" y="0"/>
          <a:chExt cx="0" cy="0"/>
        </a:xfrm>
      </p:grpSpPr>
      <p:sp>
        <p:nvSpPr>
          <p:cNvPr id="126" name="Google Shape;126;p2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algn="l">
              <a:lnSpc>
                <a:spcPct val="100000"/>
              </a:lnSpc>
              <a:spcBef>
                <a:spcPts val="0"/>
              </a:spcBef>
              <a:spcAft>
                <a:spcPts val="0"/>
              </a:spcAft>
              <a:buClr>
                <a:schemeClr val="dk1"/>
              </a:buClr>
              <a:buSzPts val="2800"/>
              <a:buFont typeface="Palatino Linotype"/>
              <a:buNone/>
              <a:defRPr b="0" i="0" sz="2800" u="none" cap="none" strike="noStrike">
                <a:solidFill>
                  <a:schemeClr val="dk1"/>
                </a:solidFill>
                <a:latin typeface="Palatino Linotype"/>
                <a:ea typeface="Palatino Linotype"/>
                <a:cs typeface="Palatino Linotype"/>
                <a:sym typeface="Palatino Linotype"/>
              </a:defRPr>
            </a:lvl1pPr>
            <a:lvl2pPr lvl="1" marR="0" algn="l">
              <a:lnSpc>
                <a:spcPct val="100000"/>
              </a:lnSpc>
              <a:spcBef>
                <a:spcPts val="0"/>
              </a:spcBef>
              <a:spcAft>
                <a:spcPts val="0"/>
              </a:spcAft>
              <a:buClr>
                <a:schemeClr val="dk1"/>
              </a:buClr>
              <a:buSzPts val="2800"/>
              <a:buFont typeface="Palatino Linotype"/>
              <a:buNone/>
              <a:defRPr b="0" i="0" sz="2800" u="none" cap="none" strike="noStrike">
                <a:solidFill>
                  <a:schemeClr val="dk1"/>
                </a:solidFill>
                <a:latin typeface="Palatino Linotype"/>
                <a:ea typeface="Palatino Linotype"/>
                <a:cs typeface="Palatino Linotype"/>
                <a:sym typeface="Palatino Linotype"/>
              </a:defRPr>
            </a:lvl2pPr>
            <a:lvl3pPr lvl="2" marR="0" algn="l">
              <a:lnSpc>
                <a:spcPct val="100000"/>
              </a:lnSpc>
              <a:spcBef>
                <a:spcPts val="0"/>
              </a:spcBef>
              <a:spcAft>
                <a:spcPts val="0"/>
              </a:spcAft>
              <a:buClr>
                <a:schemeClr val="dk1"/>
              </a:buClr>
              <a:buSzPts val="2800"/>
              <a:buFont typeface="Palatino Linotype"/>
              <a:buNone/>
              <a:defRPr b="0" i="0" sz="2800" u="none" cap="none" strike="noStrike">
                <a:solidFill>
                  <a:schemeClr val="dk1"/>
                </a:solidFill>
                <a:latin typeface="Palatino Linotype"/>
                <a:ea typeface="Palatino Linotype"/>
                <a:cs typeface="Palatino Linotype"/>
                <a:sym typeface="Palatino Linotype"/>
              </a:defRPr>
            </a:lvl3pPr>
            <a:lvl4pPr lvl="3" marR="0" algn="l">
              <a:lnSpc>
                <a:spcPct val="100000"/>
              </a:lnSpc>
              <a:spcBef>
                <a:spcPts val="0"/>
              </a:spcBef>
              <a:spcAft>
                <a:spcPts val="0"/>
              </a:spcAft>
              <a:buClr>
                <a:schemeClr val="dk1"/>
              </a:buClr>
              <a:buSzPts val="2800"/>
              <a:buFont typeface="Palatino Linotype"/>
              <a:buNone/>
              <a:defRPr b="0" i="0" sz="2800" u="none" cap="none" strike="noStrike">
                <a:solidFill>
                  <a:schemeClr val="dk1"/>
                </a:solidFill>
                <a:latin typeface="Palatino Linotype"/>
                <a:ea typeface="Palatino Linotype"/>
                <a:cs typeface="Palatino Linotype"/>
                <a:sym typeface="Palatino Linotype"/>
              </a:defRPr>
            </a:lvl4pPr>
            <a:lvl5pPr lvl="4" marR="0" algn="l">
              <a:lnSpc>
                <a:spcPct val="100000"/>
              </a:lnSpc>
              <a:spcBef>
                <a:spcPts val="0"/>
              </a:spcBef>
              <a:spcAft>
                <a:spcPts val="0"/>
              </a:spcAft>
              <a:buClr>
                <a:schemeClr val="dk1"/>
              </a:buClr>
              <a:buSzPts val="2800"/>
              <a:buFont typeface="Palatino Linotype"/>
              <a:buNone/>
              <a:defRPr b="0" i="0" sz="2800" u="none" cap="none" strike="noStrike">
                <a:solidFill>
                  <a:schemeClr val="dk1"/>
                </a:solidFill>
                <a:latin typeface="Palatino Linotype"/>
                <a:ea typeface="Palatino Linotype"/>
                <a:cs typeface="Palatino Linotype"/>
                <a:sym typeface="Palatino Linotype"/>
              </a:defRPr>
            </a:lvl5pPr>
            <a:lvl6pPr lvl="5" marR="0" algn="l">
              <a:lnSpc>
                <a:spcPct val="100000"/>
              </a:lnSpc>
              <a:spcBef>
                <a:spcPts val="0"/>
              </a:spcBef>
              <a:spcAft>
                <a:spcPts val="0"/>
              </a:spcAft>
              <a:buClr>
                <a:schemeClr val="dk1"/>
              </a:buClr>
              <a:buSzPts val="2800"/>
              <a:buFont typeface="Palatino Linotype"/>
              <a:buNone/>
              <a:defRPr b="0" i="0" sz="2800" u="none" cap="none" strike="noStrike">
                <a:solidFill>
                  <a:schemeClr val="dk1"/>
                </a:solidFill>
                <a:latin typeface="Palatino Linotype"/>
                <a:ea typeface="Palatino Linotype"/>
                <a:cs typeface="Palatino Linotype"/>
                <a:sym typeface="Palatino Linotype"/>
              </a:defRPr>
            </a:lvl6pPr>
            <a:lvl7pPr lvl="6" marR="0" algn="l">
              <a:lnSpc>
                <a:spcPct val="100000"/>
              </a:lnSpc>
              <a:spcBef>
                <a:spcPts val="0"/>
              </a:spcBef>
              <a:spcAft>
                <a:spcPts val="0"/>
              </a:spcAft>
              <a:buClr>
                <a:schemeClr val="dk1"/>
              </a:buClr>
              <a:buSzPts val="2800"/>
              <a:buFont typeface="Palatino Linotype"/>
              <a:buNone/>
              <a:defRPr b="0" i="0" sz="2800" u="none" cap="none" strike="noStrike">
                <a:solidFill>
                  <a:schemeClr val="dk1"/>
                </a:solidFill>
                <a:latin typeface="Palatino Linotype"/>
                <a:ea typeface="Palatino Linotype"/>
                <a:cs typeface="Palatino Linotype"/>
                <a:sym typeface="Palatino Linotype"/>
              </a:defRPr>
            </a:lvl7pPr>
            <a:lvl8pPr lvl="7" marR="0" algn="l">
              <a:lnSpc>
                <a:spcPct val="100000"/>
              </a:lnSpc>
              <a:spcBef>
                <a:spcPts val="0"/>
              </a:spcBef>
              <a:spcAft>
                <a:spcPts val="0"/>
              </a:spcAft>
              <a:buClr>
                <a:schemeClr val="dk1"/>
              </a:buClr>
              <a:buSzPts val="2800"/>
              <a:buFont typeface="Palatino Linotype"/>
              <a:buNone/>
              <a:defRPr b="0" i="0" sz="2800" u="none" cap="none" strike="noStrike">
                <a:solidFill>
                  <a:schemeClr val="dk1"/>
                </a:solidFill>
                <a:latin typeface="Palatino Linotype"/>
                <a:ea typeface="Palatino Linotype"/>
                <a:cs typeface="Palatino Linotype"/>
                <a:sym typeface="Palatino Linotype"/>
              </a:defRPr>
            </a:lvl8pPr>
            <a:lvl9pPr lvl="8" marR="0" algn="l">
              <a:lnSpc>
                <a:spcPct val="100000"/>
              </a:lnSpc>
              <a:spcBef>
                <a:spcPts val="0"/>
              </a:spcBef>
              <a:spcAft>
                <a:spcPts val="0"/>
              </a:spcAft>
              <a:buClr>
                <a:schemeClr val="dk1"/>
              </a:buClr>
              <a:buSzPts val="2800"/>
              <a:buFont typeface="Palatino Linotype"/>
              <a:buNone/>
              <a:defRPr b="0" i="0" sz="2800" u="none" cap="none" strike="noStrike">
                <a:solidFill>
                  <a:schemeClr val="dk1"/>
                </a:solidFill>
                <a:latin typeface="Palatino Linotype"/>
                <a:ea typeface="Palatino Linotype"/>
                <a:cs typeface="Palatino Linotype"/>
                <a:sym typeface="Palatino Linotype"/>
              </a:defRPr>
            </a:lvl9pPr>
          </a:lstStyle>
          <a:p/>
        </p:txBody>
      </p:sp>
      <p:sp>
        <p:nvSpPr>
          <p:cNvPr id="127" name="Google Shape;127;p2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algn="l">
              <a:lnSpc>
                <a:spcPct val="115000"/>
              </a:lnSpc>
              <a:spcBef>
                <a:spcPts val="0"/>
              </a:spcBef>
              <a:spcAft>
                <a:spcPts val="0"/>
              </a:spcAft>
              <a:buClr>
                <a:schemeClr val="dk2"/>
              </a:buClr>
              <a:buSzPts val="1800"/>
              <a:buFont typeface="Palatino Linotype"/>
              <a:buChar char="●"/>
              <a:defRPr b="0" i="0" sz="1800" u="none" cap="none" strike="noStrike">
                <a:solidFill>
                  <a:schemeClr val="dk2"/>
                </a:solidFill>
                <a:latin typeface="Palatino Linotype"/>
                <a:ea typeface="Palatino Linotype"/>
                <a:cs typeface="Palatino Linotype"/>
                <a:sym typeface="Palatino Linotype"/>
              </a:defRPr>
            </a:lvl1pPr>
            <a:lvl2pPr indent="-317500" lvl="1" marL="914400" marR="0" algn="l">
              <a:lnSpc>
                <a:spcPct val="115000"/>
              </a:lnSpc>
              <a:spcBef>
                <a:spcPts val="0"/>
              </a:spcBef>
              <a:spcAft>
                <a:spcPts val="0"/>
              </a:spcAft>
              <a:buClr>
                <a:schemeClr val="dk2"/>
              </a:buClr>
              <a:buSzPts val="1400"/>
              <a:buFont typeface="Palatino Linotype"/>
              <a:buChar char="○"/>
              <a:defRPr b="0" i="0" sz="1400" u="none" cap="none" strike="noStrike">
                <a:solidFill>
                  <a:schemeClr val="dk2"/>
                </a:solidFill>
                <a:latin typeface="Palatino Linotype"/>
                <a:ea typeface="Palatino Linotype"/>
                <a:cs typeface="Palatino Linotype"/>
                <a:sym typeface="Palatino Linotype"/>
              </a:defRPr>
            </a:lvl2pPr>
            <a:lvl3pPr indent="-317500" lvl="2" marL="1371600" marR="0" algn="l">
              <a:lnSpc>
                <a:spcPct val="115000"/>
              </a:lnSpc>
              <a:spcBef>
                <a:spcPts val="0"/>
              </a:spcBef>
              <a:spcAft>
                <a:spcPts val="0"/>
              </a:spcAft>
              <a:buClr>
                <a:schemeClr val="dk2"/>
              </a:buClr>
              <a:buSzPts val="1400"/>
              <a:buFont typeface="Palatino Linotype"/>
              <a:buChar char="■"/>
              <a:defRPr b="0" i="0" sz="1400" u="none" cap="none" strike="noStrike">
                <a:solidFill>
                  <a:schemeClr val="dk2"/>
                </a:solidFill>
                <a:latin typeface="Palatino Linotype"/>
                <a:ea typeface="Palatino Linotype"/>
                <a:cs typeface="Palatino Linotype"/>
                <a:sym typeface="Palatino Linotype"/>
              </a:defRPr>
            </a:lvl3pPr>
            <a:lvl4pPr indent="-317500" lvl="3" marL="1828800" marR="0" algn="l">
              <a:lnSpc>
                <a:spcPct val="115000"/>
              </a:lnSpc>
              <a:spcBef>
                <a:spcPts val="0"/>
              </a:spcBef>
              <a:spcAft>
                <a:spcPts val="0"/>
              </a:spcAft>
              <a:buClr>
                <a:schemeClr val="dk2"/>
              </a:buClr>
              <a:buSzPts val="1400"/>
              <a:buFont typeface="Palatino Linotype"/>
              <a:buChar char="●"/>
              <a:defRPr b="0" i="0" sz="1400" u="none" cap="none" strike="noStrike">
                <a:solidFill>
                  <a:schemeClr val="dk2"/>
                </a:solidFill>
                <a:latin typeface="Palatino Linotype"/>
                <a:ea typeface="Palatino Linotype"/>
                <a:cs typeface="Palatino Linotype"/>
                <a:sym typeface="Palatino Linotype"/>
              </a:defRPr>
            </a:lvl4pPr>
            <a:lvl5pPr indent="-317500" lvl="4" marL="2286000" marR="0" algn="l">
              <a:lnSpc>
                <a:spcPct val="115000"/>
              </a:lnSpc>
              <a:spcBef>
                <a:spcPts val="0"/>
              </a:spcBef>
              <a:spcAft>
                <a:spcPts val="0"/>
              </a:spcAft>
              <a:buClr>
                <a:schemeClr val="dk2"/>
              </a:buClr>
              <a:buSzPts val="1400"/>
              <a:buFont typeface="Palatino Linotype"/>
              <a:buChar char="○"/>
              <a:defRPr b="0" i="0" sz="1400" u="none" cap="none" strike="noStrike">
                <a:solidFill>
                  <a:schemeClr val="dk2"/>
                </a:solidFill>
                <a:latin typeface="Palatino Linotype"/>
                <a:ea typeface="Palatino Linotype"/>
                <a:cs typeface="Palatino Linotype"/>
                <a:sym typeface="Palatino Linotype"/>
              </a:defRPr>
            </a:lvl5pPr>
            <a:lvl6pPr indent="-317500" lvl="5" marL="2743200" marR="0" algn="l">
              <a:lnSpc>
                <a:spcPct val="115000"/>
              </a:lnSpc>
              <a:spcBef>
                <a:spcPts val="0"/>
              </a:spcBef>
              <a:spcAft>
                <a:spcPts val="0"/>
              </a:spcAft>
              <a:buClr>
                <a:schemeClr val="dk2"/>
              </a:buClr>
              <a:buSzPts val="1400"/>
              <a:buFont typeface="Palatino Linotype"/>
              <a:buChar char="■"/>
              <a:defRPr b="0" i="0" sz="1400" u="none" cap="none" strike="noStrike">
                <a:solidFill>
                  <a:schemeClr val="dk2"/>
                </a:solidFill>
                <a:latin typeface="Palatino Linotype"/>
                <a:ea typeface="Palatino Linotype"/>
                <a:cs typeface="Palatino Linotype"/>
                <a:sym typeface="Palatino Linotype"/>
              </a:defRPr>
            </a:lvl6pPr>
            <a:lvl7pPr indent="-317500" lvl="6" marL="3200400" marR="0" algn="l">
              <a:lnSpc>
                <a:spcPct val="115000"/>
              </a:lnSpc>
              <a:spcBef>
                <a:spcPts val="0"/>
              </a:spcBef>
              <a:spcAft>
                <a:spcPts val="0"/>
              </a:spcAft>
              <a:buClr>
                <a:schemeClr val="dk2"/>
              </a:buClr>
              <a:buSzPts val="1400"/>
              <a:buFont typeface="Palatino Linotype"/>
              <a:buChar char="●"/>
              <a:defRPr b="0" i="0" sz="1400" u="none" cap="none" strike="noStrike">
                <a:solidFill>
                  <a:schemeClr val="dk2"/>
                </a:solidFill>
                <a:latin typeface="Palatino Linotype"/>
                <a:ea typeface="Palatino Linotype"/>
                <a:cs typeface="Palatino Linotype"/>
                <a:sym typeface="Palatino Linotype"/>
              </a:defRPr>
            </a:lvl7pPr>
            <a:lvl8pPr indent="-317500" lvl="7" marL="3657600" marR="0" algn="l">
              <a:lnSpc>
                <a:spcPct val="115000"/>
              </a:lnSpc>
              <a:spcBef>
                <a:spcPts val="0"/>
              </a:spcBef>
              <a:spcAft>
                <a:spcPts val="0"/>
              </a:spcAft>
              <a:buClr>
                <a:schemeClr val="dk2"/>
              </a:buClr>
              <a:buSzPts val="1400"/>
              <a:buFont typeface="Palatino Linotype"/>
              <a:buChar char="○"/>
              <a:defRPr b="0" i="0" sz="1400" u="none" cap="none" strike="noStrike">
                <a:solidFill>
                  <a:schemeClr val="dk2"/>
                </a:solidFill>
                <a:latin typeface="Palatino Linotype"/>
                <a:ea typeface="Palatino Linotype"/>
                <a:cs typeface="Palatino Linotype"/>
                <a:sym typeface="Palatino Linotype"/>
              </a:defRPr>
            </a:lvl8pPr>
            <a:lvl9pPr indent="-317500" lvl="8" marL="4114800" marR="0" algn="l">
              <a:lnSpc>
                <a:spcPct val="115000"/>
              </a:lnSpc>
              <a:spcBef>
                <a:spcPts val="0"/>
              </a:spcBef>
              <a:spcAft>
                <a:spcPts val="0"/>
              </a:spcAft>
              <a:buClr>
                <a:schemeClr val="dk2"/>
              </a:buClr>
              <a:buSzPts val="1400"/>
              <a:buFont typeface="Palatino Linotype"/>
              <a:buChar char="■"/>
              <a:defRPr b="0" i="0" sz="1400" u="none" cap="none" strike="noStrike">
                <a:solidFill>
                  <a:schemeClr val="dk2"/>
                </a:solidFill>
                <a:latin typeface="Palatino Linotype"/>
                <a:ea typeface="Palatino Linotype"/>
                <a:cs typeface="Palatino Linotype"/>
                <a:sym typeface="Palatino Linotype"/>
              </a:defRPr>
            </a:lvl9pPr>
          </a:lstStyle>
          <a:p/>
        </p:txBody>
      </p:sp>
      <p:sp>
        <p:nvSpPr>
          <p:cNvPr id="128" name="Google Shape;128;p2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Palatino Linotype"/>
              <a:buNone/>
              <a:defRPr b="0" i="0" sz="1000" u="none" cap="none" strike="noStrike">
                <a:solidFill>
                  <a:schemeClr val="dk2"/>
                </a:solidFill>
                <a:latin typeface="Palatino Linotype"/>
                <a:ea typeface="Palatino Linotype"/>
                <a:cs typeface="Palatino Linotype"/>
                <a:sym typeface="Palatino Linotype"/>
              </a:defRPr>
            </a:lvl1pPr>
            <a:lvl2pPr indent="0" lvl="1" marL="0" marR="0" algn="r">
              <a:lnSpc>
                <a:spcPct val="100000"/>
              </a:lnSpc>
              <a:spcBef>
                <a:spcPts val="0"/>
              </a:spcBef>
              <a:spcAft>
                <a:spcPts val="0"/>
              </a:spcAft>
              <a:buClr>
                <a:srgbClr val="000000"/>
              </a:buClr>
              <a:buSzPts val="1000"/>
              <a:buFont typeface="Palatino Linotype"/>
              <a:buNone/>
              <a:defRPr b="0" i="0" sz="1000" u="none" cap="none" strike="noStrike">
                <a:solidFill>
                  <a:schemeClr val="dk2"/>
                </a:solidFill>
                <a:latin typeface="Palatino Linotype"/>
                <a:ea typeface="Palatino Linotype"/>
                <a:cs typeface="Palatino Linotype"/>
                <a:sym typeface="Palatino Linotype"/>
              </a:defRPr>
            </a:lvl2pPr>
            <a:lvl3pPr indent="0" lvl="2" marL="0" marR="0" algn="r">
              <a:lnSpc>
                <a:spcPct val="100000"/>
              </a:lnSpc>
              <a:spcBef>
                <a:spcPts val="0"/>
              </a:spcBef>
              <a:spcAft>
                <a:spcPts val="0"/>
              </a:spcAft>
              <a:buClr>
                <a:srgbClr val="000000"/>
              </a:buClr>
              <a:buSzPts val="1000"/>
              <a:buFont typeface="Palatino Linotype"/>
              <a:buNone/>
              <a:defRPr b="0" i="0" sz="1000" u="none" cap="none" strike="noStrike">
                <a:solidFill>
                  <a:schemeClr val="dk2"/>
                </a:solidFill>
                <a:latin typeface="Palatino Linotype"/>
                <a:ea typeface="Palatino Linotype"/>
                <a:cs typeface="Palatino Linotype"/>
                <a:sym typeface="Palatino Linotype"/>
              </a:defRPr>
            </a:lvl3pPr>
            <a:lvl4pPr indent="0" lvl="3" marL="0" marR="0" algn="r">
              <a:lnSpc>
                <a:spcPct val="100000"/>
              </a:lnSpc>
              <a:spcBef>
                <a:spcPts val="0"/>
              </a:spcBef>
              <a:spcAft>
                <a:spcPts val="0"/>
              </a:spcAft>
              <a:buClr>
                <a:srgbClr val="000000"/>
              </a:buClr>
              <a:buSzPts val="1000"/>
              <a:buFont typeface="Palatino Linotype"/>
              <a:buNone/>
              <a:defRPr b="0" i="0" sz="1000" u="none" cap="none" strike="noStrike">
                <a:solidFill>
                  <a:schemeClr val="dk2"/>
                </a:solidFill>
                <a:latin typeface="Palatino Linotype"/>
                <a:ea typeface="Palatino Linotype"/>
                <a:cs typeface="Palatino Linotype"/>
                <a:sym typeface="Palatino Linotype"/>
              </a:defRPr>
            </a:lvl4pPr>
            <a:lvl5pPr indent="0" lvl="4" marL="0" marR="0" algn="r">
              <a:lnSpc>
                <a:spcPct val="100000"/>
              </a:lnSpc>
              <a:spcBef>
                <a:spcPts val="0"/>
              </a:spcBef>
              <a:spcAft>
                <a:spcPts val="0"/>
              </a:spcAft>
              <a:buClr>
                <a:srgbClr val="000000"/>
              </a:buClr>
              <a:buSzPts val="1000"/>
              <a:buFont typeface="Palatino Linotype"/>
              <a:buNone/>
              <a:defRPr b="0" i="0" sz="1000" u="none" cap="none" strike="noStrike">
                <a:solidFill>
                  <a:schemeClr val="dk2"/>
                </a:solidFill>
                <a:latin typeface="Palatino Linotype"/>
                <a:ea typeface="Palatino Linotype"/>
                <a:cs typeface="Palatino Linotype"/>
                <a:sym typeface="Palatino Linotype"/>
              </a:defRPr>
            </a:lvl5pPr>
            <a:lvl6pPr indent="0" lvl="5" marL="0" marR="0" algn="r">
              <a:lnSpc>
                <a:spcPct val="100000"/>
              </a:lnSpc>
              <a:spcBef>
                <a:spcPts val="0"/>
              </a:spcBef>
              <a:spcAft>
                <a:spcPts val="0"/>
              </a:spcAft>
              <a:buClr>
                <a:srgbClr val="000000"/>
              </a:buClr>
              <a:buSzPts val="1000"/>
              <a:buFont typeface="Palatino Linotype"/>
              <a:buNone/>
              <a:defRPr b="0" i="0" sz="1000" u="none" cap="none" strike="noStrike">
                <a:solidFill>
                  <a:schemeClr val="dk2"/>
                </a:solidFill>
                <a:latin typeface="Palatino Linotype"/>
                <a:ea typeface="Palatino Linotype"/>
                <a:cs typeface="Palatino Linotype"/>
                <a:sym typeface="Palatino Linotype"/>
              </a:defRPr>
            </a:lvl6pPr>
            <a:lvl7pPr indent="0" lvl="6" marL="0" marR="0" algn="r">
              <a:lnSpc>
                <a:spcPct val="100000"/>
              </a:lnSpc>
              <a:spcBef>
                <a:spcPts val="0"/>
              </a:spcBef>
              <a:spcAft>
                <a:spcPts val="0"/>
              </a:spcAft>
              <a:buClr>
                <a:srgbClr val="000000"/>
              </a:buClr>
              <a:buSzPts val="1000"/>
              <a:buFont typeface="Palatino Linotype"/>
              <a:buNone/>
              <a:defRPr b="0" i="0" sz="1000" u="none" cap="none" strike="noStrike">
                <a:solidFill>
                  <a:schemeClr val="dk2"/>
                </a:solidFill>
                <a:latin typeface="Palatino Linotype"/>
                <a:ea typeface="Palatino Linotype"/>
                <a:cs typeface="Palatino Linotype"/>
                <a:sym typeface="Palatino Linotype"/>
              </a:defRPr>
            </a:lvl7pPr>
            <a:lvl8pPr indent="0" lvl="7" marL="0" marR="0" algn="r">
              <a:lnSpc>
                <a:spcPct val="100000"/>
              </a:lnSpc>
              <a:spcBef>
                <a:spcPts val="0"/>
              </a:spcBef>
              <a:spcAft>
                <a:spcPts val="0"/>
              </a:spcAft>
              <a:buClr>
                <a:srgbClr val="000000"/>
              </a:buClr>
              <a:buSzPts val="1000"/>
              <a:buFont typeface="Palatino Linotype"/>
              <a:buNone/>
              <a:defRPr b="0" i="0" sz="1000" u="none" cap="none" strike="noStrike">
                <a:solidFill>
                  <a:schemeClr val="dk2"/>
                </a:solidFill>
                <a:latin typeface="Palatino Linotype"/>
                <a:ea typeface="Palatino Linotype"/>
                <a:cs typeface="Palatino Linotype"/>
                <a:sym typeface="Palatino Linotype"/>
              </a:defRPr>
            </a:lvl8pPr>
            <a:lvl9pPr indent="0" lvl="8" marL="0" marR="0" algn="r">
              <a:lnSpc>
                <a:spcPct val="100000"/>
              </a:lnSpc>
              <a:spcBef>
                <a:spcPts val="0"/>
              </a:spcBef>
              <a:spcAft>
                <a:spcPts val="0"/>
              </a:spcAft>
              <a:buClr>
                <a:srgbClr val="000000"/>
              </a:buClr>
              <a:buSzPts val="1000"/>
              <a:buFont typeface="Palatino Linotype"/>
              <a:buNone/>
              <a:defRPr b="0" i="0" sz="1000" u="none" cap="none" strike="noStrike">
                <a:solidFill>
                  <a:schemeClr val="dk2"/>
                </a:solidFill>
                <a:latin typeface="Palatino Linotype"/>
                <a:ea typeface="Palatino Linotype"/>
                <a:cs typeface="Palatino Linotype"/>
                <a:sym typeface="Palatino Linotype"/>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 Id="rId4" Type="http://schemas.openxmlformats.org/officeDocument/2006/relationships/image" Target="../media/image12.png"/><Relationship Id="rId5"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8.png"/><Relationship Id="rId4" Type="http://schemas.openxmlformats.org/officeDocument/2006/relationships/image" Target="../media/image7.png"/><Relationship Id="rId5" Type="http://schemas.openxmlformats.org/officeDocument/2006/relationships/image" Target="../media/image10.png"/><Relationship Id="rId6"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11.png"/><Relationship Id="rId4" Type="http://schemas.openxmlformats.org/officeDocument/2006/relationships/image" Target="../media/image1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image" Target="../media/image14.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14.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image" Target="../media/image14.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 Id="rId3" Type="http://schemas.openxmlformats.org/officeDocument/2006/relationships/image" Target="../media/image18.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 Id="rId3" Type="http://schemas.openxmlformats.org/officeDocument/2006/relationships/image" Target="../media/image20.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 Id="rId3" Type="http://schemas.openxmlformats.org/officeDocument/2006/relationships/image" Target="../media/image27.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 Id="rId3" Type="http://schemas.openxmlformats.org/officeDocument/2006/relationships/image" Target="../media/image27.png"/><Relationship Id="rId4" Type="http://schemas.openxmlformats.org/officeDocument/2006/relationships/image" Target="../media/image23.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 Id="rId3" Type="http://schemas.openxmlformats.org/officeDocument/2006/relationships/image" Target="../media/image16.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 Id="rId3" Type="http://schemas.openxmlformats.org/officeDocument/2006/relationships/image" Target="../media/image21.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 Id="rId3" Type="http://schemas.openxmlformats.org/officeDocument/2006/relationships/image" Target="../media/image29.png"/><Relationship Id="rId4" Type="http://schemas.openxmlformats.org/officeDocument/2006/relationships/image" Target="../media/image22.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 Id="rId3" Type="http://schemas.openxmlformats.org/officeDocument/2006/relationships/image" Target="../media/image48.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 Id="rId3" Type="http://schemas.openxmlformats.org/officeDocument/2006/relationships/image" Target="../media/image24.png"/><Relationship Id="rId4" Type="http://schemas.openxmlformats.org/officeDocument/2006/relationships/image" Target="../media/image25.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 Id="rId3" Type="http://schemas.openxmlformats.org/officeDocument/2006/relationships/image" Target="../media/image24.png"/><Relationship Id="rId4" Type="http://schemas.openxmlformats.org/officeDocument/2006/relationships/image" Target="../media/image25.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 Id="rId3" Type="http://schemas.openxmlformats.org/officeDocument/2006/relationships/image" Target="../media/image24.png"/><Relationship Id="rId4" Type="http://schemas.openxmlformats.org/officeDocument/2006/relationships/image" Target="../media/image26.png"/><Relationship Id="rId5" Type="http://schemas.openxmlformats.org/officeDocument/2006/relationships/image" Target="../media/image25.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 Id="rId3" Type="http://schemas.openxmlformats.org/officeDocument/2006/relationships/image" Target="../media/image24.png"/><Relationship Id="rId4" Type="http://schemas.openxmlformats.org/officeDocument/2006/relationships/image" Target="../media/image26.png"/><Relationship Id="rId5" Type="http://schemas.openxmlformats.org/officeDocument/2006/relationships/image" Target="../media/image25.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 Id="rId3" Type="http://schemas.openxmlformats.org/officeDocument/2006/relationships/image" Target="../media/image24.png"/><Relationship Id="rId4" Type="http://schemas.openxmlformats.org/officeDocument/2006/relationships/image" Target="../media/image28.png"/><Relationship Id="rId5" Type="http://schemas.openxmlformats.org/officeDocument/2006/relationships/image" Target="../media/image25.png"/><Relationship Id="rId6" Type="http://schemas.openxmlformats.org/officeDocument/2006/relationships/image" Target="../media/image26.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 Id="rId3" Type="http://schemas.openxmlformats.org/officeDocument/2006/relationships/image" Target="../media/image24.png"/><Relationship Id="rId4" Type="http://schemas.openxmlformats.org/officeDocument/2006/relationships/image" Target="../media/image28.png"/><Relationship Id="rId5" Type="http://schemas.openxmlformats.org/officeDocument/2006/relationships/image" Target="../media/image25.png"/><Relationship Id="rId6" Type="http://schemas.openxmlformats.org/officeDocument/2006/relationships/image" Target="../media/image26.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4.xml"/><Relationship Id="rId3" Type="http://schemas.openxmlformats.org/officeDocument/2006/relationships/image" Target="../media/image61.png"/><Relationship Id="rId4" Type="http://schemas.openxmlformats.org/officeDocument/2006/relationships/image" Target="../media/image31.png"/><Relationship Id="rId5" Type="http://schemas.openxmlformats.org/officeDocument/2006/relationships/image" Target="../media/image52.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6.xml"/><Relationship Id="rId3" Type="http://schemas.openxmlformats.org/officeDocument/2006/relationships/image" Target="../media/image44.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7.xml"/><Relationship Id="rId3" Type="http://schemas.openxmlformats.org/officeDocument/2006/relationships/image" Target="../media/image39.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9.xml"/><Relationship Id="rId3" Type="http://schemas.openxmlformats.org/officeDocument/2006/relationships/image" Target="../media/image34.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4.xml"/><Relationship Id="rId3" Type="http://schemas.openxmlformats.org/officeDocument/2006/relationships/image" Target="../media/image58.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5.xml"/><Relationship Id="rId3" Type="http://schemas.openxmlformats.org/officeDocument/2006/relationships/image" Target="../media/image58.png"/><Relationship Id="rId4" Type="http://schemas.openxmlformats.org/officeDocument/2006/relationships/image" Target="../media/image33.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6.xml"/><Relationship Id="rId3" Type="http://schemas.openxmlformats.org/officeDocument/2006/relationships/image" Target="../media/image37.png"/><Relationship Id="rId4" Type="http://schemas.openxmlformats.org/officeDocument/2006/relationships/image" Target="../media/image43.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7.xml"/><Relationship Id="rId3" Type="http://schemas.openxmlformats.org/officeDocument/2006/relationships/image" Target="../media/image57.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8.xml"/><Relationship Id="rId3" Type="http://schemas.openxmlformats.org/officeDocument/2006/relationships/image" Target="../media/image57.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4.xml"/><Relationship Id="rId3" Type="http://schemas.openxmlformats.org/officeDocument/2006/relationships/image" Target="../media/image38.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7.xml"/><Relationship Id="rId3" Type="http://schemas.openxmlformats.org/officeDocument/2006/relationships/image" Target="../media/image35.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9.xml"/><Relationship Id="rId3" Type="http://schemas.openxmlformats.org/officeDocument/2006/relationships/image" Target="../media/image30.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0.xml"/><Relationship Id="rId3" Type="http://schemas.openxmlformats.org/officeDocument/2006/relationships/image" Target="../media/image50.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2.xml"/><Relationship Id="rId3" Type="http://schemas.openxmlformats.org/officeDocument/2006/relationships/image" Target="../media/image32.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4.xml"/><Relationship Id="rId3" Type="http://schemas.openxmlformats.org/officeDocument/2006/relationships/image" Target="../media/image36.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7.xml"/><Relationship Id="rId3" Type="http://schemas.openxmlformats.org/officeDocument/2006/relationships/hyperlink" Target="https://dblp.org/db/conf/nesy/index.html" TargetMode="Externa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8.xml"/><Relationship Id="rId3" Type="http://schemas.openxmlformats.org/officeDocument/2006/relationships/image" Target="../media/image41.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9.xml"/><Relationship Id="rId3" Type="http://schemas.openxmlformats.org/officeDocument/2006/relationships/image" Target="../media/image47.pn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0.xml"/><Relationship Id="rId3" Type="http://schemas.openxmlformats.org/officeDocument/2006/relationships/image" Target="../media/image46.pn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2.xml"/><Relationship Id="rId3" Type="http://schemas.openxmlformats.org/officeDocument/2006/relationships/image" Target="../media/image40.pn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8.xml"/><Relationship Id="rId3" Type="http://schemas.openxmlformats.org/officeDocument/2006/relationships/image" Target="../media/image45.pn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9.xml"/><Relationship Id="rId3" Type="http://schemas.openxmlformats.org/officeDocument/2006/relationships/hyperlink" Target="https://sherlockholmes.com/blogs/news/abductive-reasoning-and-the-sherlock-holmes-solving-methodology" TargetMode="External"/><Relationship Id="rId4" Type="http://schemas.openxmlformats.org/officeDocument/2006/relationships/hyperlink" Target="https://doi.org/10.1145/383952.383986" TargetMode="Externa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1.xml"/><Relationship Id="rId3" Type="http://schemas.openxmlformats.org/officeDocument/2006/relationships/image" Target="../media/image53.pn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2.xml"/><Relationship Id="rId3" Type="http://schemas.openxmlformats.org/officeDocument/2006/relationships/image" Target="../media/image54.pn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5.xml"/><Relationship Id="rId3" Type="http://schemas.openxmlformats.org/officeDocument/2006/relationships/image" Target="../media/image42.png"/></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6.xml"/><Relationship Id="rId3" Type="http://schemas.openxmlformats.org/officeDocument/2006/relationships/hyperlink" Target="https://doi.org/10.1007/978-3-032-21289-4_7" TargetMode="Externa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7.xml"/><Relationship Id="rId3" Type="http://schemas.openxmlformats.org/officeDocument/2006/relationships/image" Target="../media/image49.png"/><Relationship Id="rId4" Type="http://schemas.openxmlformats.org/officeDocument/2006/relationships/image" Target="../media/image60.png"/></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8.xml"/><Relationship Id="rId3" Type="http://schemas.openxmlformats.org/officeDocument/2006/relationships/image" Target="../media/image55.png"/></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4.xml"/><Relationship Id="rId3" Type="http://schemas.openxmlformats.org/officeDocument/2006/relationships/image" Target="../media/image62.png"/><Relationship Id="rId4" Type="http://schemas.openxmlformats.org/officeDocument/2006/relationships/image" Target="../media/image51.png"/></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25.xml"/><Relationship Id="rId3" Type="http://schemas.openxmlformats.org/officeDocument/2006/relationships/image" Target="../media/image63.png"/></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26.xml"/><Relationship Id="rId3" Type="http://schemas.openxmlformats.org/officeDocument/2006/relationships/image" Target="../media/image59.png"/></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28.xml"/><Relationship Id="rId3" Type="http://schemas.openxmlformats.org/officeDocument/2006/relationships/image" Target="../media/image56.gif"/></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73" name="Shape 173"/>
        <p:cNvGrpSpPr/>
        <p:nvPr/>
      </p:nvGrpSpPr>
      <p:grpSpPr>
        <a:xfrm>
          <a:off x="0" y="0"/>
          <a:ext cx="0" cy="0"/>
          <a:chOff x="0" y="0"/>
          <a:chExt cx="0" cy="0"/>
        </a:xfrm>
      </p:grpSpPr>
      <p:sp>
        <p:nvSpPr>
          <p:cNvPr id="174" name="Google Shape;174;p37"/>
          <p:cNvSpPr txBox="1"/>
          <p:nvPr>
            <p:ph type="ctrTitle"/>
          </p:nvPr>
        </p:nvSpPr>
        <p:spPr>
          <a:xfrm>
            <a:off x="311700" y="1780787"/>
            <a:ext cx="8520600" cy="9633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990"/>
              <a:buNone/>
            </a:pPr>
            <a:r>
              <a:rPr b="1" lang="en-GB" sz="3780">
                <a:latin typeface="Palatino Linotype"/>
                <a:ea typeface="Palatino Linotype"/>
                <a:cs typeface="Palatino Linotype"/>
                <a:sym typeface="Palatino Linotype"/>
              </a:rPr>
              <a:t>Reasoning for IR &amp; IR for Reasoning</a:t>
            </a:r>
            <a:endParaRPr b="1" sz="3780">
              <a:latin typeface="Palatino Linotype"/>
              <a:ea typeface="Palatino Linotype"/>
              <a:cs typeface="Palatino Linotype"/>
              <a:sym typeface="Palatino Linotype"/>
            </a:endParaRPr>
          </a:p>
        </p:txBody>
      </p:sp>
      <p:sp>
        <p:nvSpPr>
          <p:cNvPr id="175" name="Google Shape;175;p37"/>
          <p:cNvSpPr txBox="1"/>
          <p:nvPr>
            <p:ph idx="1" type="subTitle"/>
          </p:nvPr>
        </p:nvSpPr>
        <p:spPr>
          <a:xfrm>
            <a:off x="311700" y="2764375"/>
            <a:ext cx="8520600" cy="434100"/>
          </a:xfrm>
          <a:prstGeom prst="rect">
            <a:avLst/>
          </a:prstGeom>
          <a:noFill/>
          <a:ln>
            <a:noFill/>
          </a:ln>
        </p:spPr>
        <p:txBody>
          <a:bodyPr anchorCtr="0" anchor="t" bIns="91425" lIns="91425" spcFirstLastPara="1" rIns="91425" wrap="square" tIns="91425">
            <a:noAutofit/>
          </a:bodyPr>
          <a:lstStyle/>
          <a:p>
            <a:pPr indent="0" lvl="0" marL="0" rtl="0" algn="ctr">
              <a:lnSpc>
                <a:spcPct val="70000"/>
              </a:lnSpc>
              <a:spcBef>
                <a:spcPts val="0"/>
              </a:spcBef>
              <a:spcAft>
                <a:spcPts val="0"/>
              </a:spcAft>
              <a:buSzPts val="770"/>
              <a:buNone/>
            </a:pPr>
            <a:r>
              <a:rPr b="1" lang="en-GB" sz="1520">
                <a:solidFill>
                  <a:srgbClr val="073763"/>
                </a:solidFill>
                <a:latin typeface="Palatino Linotype"/>
                <a:ea typeface="Palatino Linotype"/>
                <a:cs typeface="Palatino Linotype"/>
                <a:sym typeface="Palatino Linotype"/>
              </a:rPr>
              <a:t>Mohanna Hoveyda | Panagiotis Eustratiadis | Arjen P. de Vries | Maarten de Rijke</a:t>
            </a:r>
            <a:endParaRPr b="1" sz="1520">
              <a:solidFill>
                <a:srgbClr val="073763"/>
              </a:solidFill>
              <a:latin typeface="Palatino Linotype"/>
              <a:ea typeface="Palatino Linotype"/>
              <a:cs typeface="Palatino Linotype"/>
              <a:sym typeface="Palatino Linotype"/>
            </a:endParaRPr>
          </a:p>
        </p:txBody>
      </p:sp>
      <p:sp>
        <p:nvSpPr>
          <p:cNvPr id="176" name="Google Shape;176;p37"/>
          <p:cNvSpPr txBox="1"/>
          <p:nvPr/>
        </p:nvSpPr>
        <p:spPr>
          <a:xfrm>
            <a:off x="311700" y="1532425"/>
            <a:ext cx="3000000" cy="52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180"/>
              <a:buFont typeface="Palatino Linotype"/>
              <a:buNone/>
            </a:pPr>
            <a:r>
              <a:rPr b="1" i="1" lang="en-GB" sz="2180" u="none" cap="none" strike="noStrike">
                <a:solidFill>
                  <a:schemeClr val="dk1"/>
                </a:solidFill>
                <a:latin typeface="Palatino Linotype"/>
                <a:ea typeface="Palatino Linotype"/>
                <a:cs typeface="Palatino Linotype"/>
                <a:sym typeface="Palatino Linotype"/>
              </a:rPr>
              <a:t>SIGIR 2026 Tutorial </a:t>
            </a:r>
            <a:endParaRPr b="1" i="1" sz="2180" u="none" cap="none" strike="noStrike">
              <a:solidFill>
                <a:schemeClr val="dk1"/>
              </a:solidFill>
              <a:latin typeface="Palatino Linotype"/>
              <a:ea typeface="Palatino Linotype"/>
              <a:cs typeface="Palatino Linotype"/>
              <a:sym typeface="Palatino Linotype"/>
            </a:endParaRPr>
          </a:p>
        </p:txBody>
      </p:sp>
      <p:sp>
        <p:nvSpPr>
          <p:cNvPr id="177" name="Google Shape;177;p37"/>
          <p:cNvSpPr txBox="1"/>
          <p:nvPr/>
        </p:nvSpPr>
        <p:spPr>
          <a:xfrm>
            <a:off x="2960400" y="3482075"/>
            <a:ext cx="3223200" cy="5151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500"/>
              <a:buFont typeface="Palatino Linotype"/>
              <a:buNone/>
            </a:pPr>
            <a:r>
              <a:rPr b="0" i="0" lang="en-GB" sz="1500" u="none" cap="none" strike="noStrike">
                <a:solidFill>
                  <a:srgbClr val="1155CC"/>
                </a:solidFill>
                <a:latin typeface="Palatino Linotype"/>
                <a:ea typeface="Palatino Linotype"/>
                <a:cs typeface="Palatino Linotype"/>
                <a:sym typeface="Palatino Linotype"/>
              </a:rPr>
              <a:t>https://reasoning-for-ir.github.io/</a:t>
            </a:r>
            <a:endParaRPr b="0" i="0" sz="1500" u="none" cap="none" strike="noStrike">
              <a:solidFill>
                <a:srgbClr val="1155CC"/>
              </a:solidFill>
              <a:latin typeface="Palatino Linotype"/>
              <a:ea typeface="Palatino Linotype"/>
              <a:cs typeface="Palatino Linotype"/>
              <a:sym typeface="Palatino Linotype"/>
            </a:endParaRPr>
          </a:p>
        </p:txBody>
      </p:sp>
      <p:sp>
        <p:nvSpPr>
          <p:cNvPr id="178" name="Google Shape;178;p37"/>
          <p:cNvSpPr txBox="1"/>
          <p:nvPr/>
        </p:nvSpPr>
        <p:spPr>
          <a:xfrm>
            <a:off x="3630150" y="4735163"/>
            <a:ext cx="1883700" cy="3060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Palatino Linotype"/>
              <a:buNone/>
            </a:pPr>
            <a:r>
              <a:rPr b="0" i="0" lang="en-GB" sz="1100" u="none" cap="none" strike="noStrike">
                <a:solidFill>
                  <a:schemeClr val="dk2"/>
                </a:solidFill>
                <a:latin typeface="Palatino Linotype"/>
                <a:ea typeface="Palatino Linotype"/>
                <a:cs typeface="Palatino Linotype"/>
                <a:sym typeface="Palatino Linotype"/>
              </a:rPr>
              <a:t>July 20, 2026 </a:t>
            </a:r>
            <a:endParaRPr b="0" i="0" sz="1100" u="none" cap="none" strike="noStrike">
              <a:solidFill>
                <a:schemeClr val="dk2"/>
              </a:solidFill>
              <a:latin typeface="Palatino Linotype"/>
              <a:ea typeface="Palatino Linotype"/>
              <a:cs typeface="Palatino Linotype"/>
              <a:sym typeface="Palatino Linotype"/>
            </a:endParaRPr>
          </a:p>
          <a:p>
            <a:pPr indent="0" lvl="0" marL="0" marR="0" rtl="0" algn="ctr">
              <a:lnSpc>
                <a:spcPct val="100000"/>
              </a:lnSpc>
              <a:spcBef>
                <a:spcPts val="0"/>
              </a:spcBef>
              <a:spcAft>
                <a:spcPts val="0"/>
              </a:spcAft>
              <a:buClr>
                <a:srgbClr val="000000"/>
              </a:buClr>
              <a:buSzPts val="1100"/>
              <a:buFont typeface="Palatino Linotype"/>
              <a:buNone/>
            </a:pPr>
            <a:r>
              <a:t/>
            </a:r>
            <a:endParaRPr b="0" i="0" sz="1100" u="none" cap="none" strike="noStrike">
              <a:solidFill>
                <a:schemeClr val="dk2"/>
              </a:solidFill>
              <a:latin typeface="Palatino Linotype"/>
              <a:ea typeface="Palatino Linotype"/>
              <a:cs typeface="Palatino Linotype"/>
              <a:sym typeface="Palatino Linotype"/>
            </a:endParaRPr>
          </a:p>
        </p:txBody>
      </p:sp>
      <p:pic>
        <p:nvPicPr>
          <p:cNvPr id="179" name="Google Shape;179;p37" title="SIGIR_2026_date_pos_9dbd4b6dd4.png"/>
          <p:cNvPicPr preferRelativeResize="0"/>
          <p:nvPr/>
        </p:nvPicPr>
        <p:blipFill rotWithShape="1">
          <a:blip r:embed="rId3">
            <a:alphaModFix/>
          </a:blip>
          <a:srcRect b="0" l="0" r="0" t="0"/>
          <a:stretch/>
        </p:blipFill>
        <p:spPr>
          <a:xfrm>
            <a:off x="169975" y="126075"/>
            <a:ext cx="2561606" cy="1278800"/>
          </a:xfrm>
          <a:prstGeom prst="rect">
            <a:avLst/>
          </a:prstGeom>
          <a:noFill/>
          <a:ln>
            <a:noFill/>
          </a:ln>
        </p:spPr>
      </p:pic>
      <p:pic>
        <p:nvPicPr>
          <p:cNvPr id="180" name="Google Shape;180;p37"/>
          <p:cNvPicPr preferRelativeResize="0"/>
          <p:nvPr/>
        </p:nvPicPr>
        <p:blipFill rotWithShape="1">
          <a:blip r:embed="rId4">
            <a:alphaModFix/>
          </a:blip>
          <a:srcRect b="0" l="0" r="0" t="0"/>
          <a:stretch/>
        </p:blipFill>
        <p:spPr>
          <a:xfrm>
            <a:off x="6877050" y="3435188"/>
            <a:ext cx="2266950" cy="2266950"/>
          </a:xfrm>
          <a:prstGeom prst="rect">
            <a:avLst/>
          </a:prstGeom>
          <a:noFill/>
          <a:ln>
            <a:noFill/>
          </a:ln>
        </p:spPr>
      </p:pic>
      <p:pic>
        <p:nvPicPr>
          <p:cNvPr id="181" name="Google Shape;181;p37"/>
          <p:cNvPicPr preferRelativeResize="0"/>
          <p:nvPr/>
        </p:nvPicPr>
        <p:blipFill rotWithShape="1">
          <a:blip r:embed="rId5">
            <a:alphaModFix/>
          </a:blip>
          <a:srcRect b="30684" l="26815" r="25758" t="26287"/>
          <a:stretch/>
        </p:blipFill>
        <p:spPr>
          <a:xfrm>
            <a:off x="-20912" y="4162750"/>
            <a:ext cx="2943376" cy="8784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85" name="Shape 185"/>
        <p:cNvGrpSpPr/>
        <p:nvPr/>
      </p:nvGrpSpPr>
      <p:grpSpPr>
        <a:xfrm>
          <a:off x="0" y="0"/>
          <a:ext cx="0" cy="0"/>
          <a:chOff x="0" y="0"/>
          <a:chExt cx="0" cy="0"/>
        </a:xfrm>
      </p:grpSpPr>
      <p:sp>
        <p:nvSpPr>
          <p:cNvPr id="186" name="Google Shape;186;p3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n-GB"/>
              <a:t>Presenters</a:t>
            </a:r>
            <a:endParaRPr b="1"/>
          </a:p>
        </p:txBody>
      </p:sp>
      <p:pic>
        <p:nvPicPr>
          <p:cNvPr id="187" name="Google Shape;187;p38"/>
          <p:cNvPicPr preferRelativeResize="0"/>
          <p:nvPr/>
        </p:nvPicPr>
        <p:blipFill>
          <a:blip r:embed="rId3">
            <a:alphaModFix/>
          </a:blip>
          <a:stretch>
            <a:fillRect/>
          </a:stretch>
        </p:blipFill>
        <p:spPr>
          <a:xfrm>
            <a:off x="650425" y="3041968"/>
            <a:ext cx="1171375" cy="1347306"/>
          </a:xfrm>
          <a:prstGeom prst="rect">
            <a:avLst/>
          </a:prstGeom>
          <a:noFill/>
          <a:ln>
            <a:noFill/>
          </a:ln>
        </p:spPr>
      </p:pic>
      <p:pic>
        <p:nvPicPr>
          <p:cNvPr id="188" name="Google Shape;188;p38"/>
          <p:cNvPicPr preferRelativeResize="0"/>
          <p:nvPr/>
        </p:nvPicPr>
        <p:blipFill rotWithShape="1">
          <a:blip r:embed="rId4">
            <a:alphaModFix/>
          </a:blip>
          <a:srcRect b="0" l="0" r="13059" t="0"/>
          <a:stretch/>
        </p:blipFill>
        <p:spPr>
          <a:xfrm>
            <a:off x="5220013" y="3041963"/>
            <a:ext cx="1171351" cy="1347300"/>
          </a:xfrm>
          <a:prstGeom prst="rect">
            <a:avLst/>
          </a:prstGeom>
          <a:noFill/>
          <a:ln>
            <a:noFill/>
          </a:ln>
        </p:spPr>
      </p:pic>
      <p:pic>
        <p:nvPicPr>
          <p:cNvPr id="189" name="Google Shape;189;p38"/>
          <p:cNvPicPr preferRelativeResize="0"/>
          <p:nvPr/>
        </p:nvPicPr>
        <p:blipFill rotWithShape="1">
          <a:blip r:embed="rId5">
            <a:alphaModFix/>
          </a:blip>
          <a:srcRect b="0" l="7692" r="4604" t="0"/>
          <a:stretch/>
        </p:blipFill>
        <p:spPr>
          <a:xfrm>
            <a:off x="650425" y="1247838"/>
            <a:ext cx="1171376" cy="1347276"/>
          </a:xfrm>
          <a:prstGeom prst="rect">
            <a:avLst/>
          </a:prstGeom>
          <a:noFill/>
          <a:ln>
            <a:noFill/>
          </a:ln>
        </p:spPr>
      </p:pic>
      <p:pic>
        <p:nvPicPr>
          <p:cNvPr id="190" name="Google Shape;190;p38"/>
          <p:cNvPicPr preferRelativeResize="0"/>
          <p:nvPr/>
        </p:nvPicPr>
        <p:blipFill rotWithShape="1">
          <a:blip r:embed="rId6">
            <a:alphaModFix/>
          </a:blip>
          <a:srcRect b="0" l="13059" r="0" t="0"/>
          <a:stretch/>
        </p:blipFill>
        <p:spPr>
          <a:xfrm>
            <a:off x="5220012" y="1247838"/>
            <a:ext cx="1171375" cy="1347275"/>
          </a:xfrm>
          <a:prstGeom prst="rect">
            <a:avLst/>
          </a:prstGeom>
          <a:noFill/>
          <a:ln>
            <a:noFill/>
          </a:ln>
        </p:spPr>
      </p:pic>
      <p:sp>
        <p:nvSpPr>
          <p:cNvPr id="191" name="Google Shape;191;p38"/>
          <p:cNvSpPr txBox="1"/>
          <p:nvPr>
            <p:ph idx="1" type="body"/>
          </p:nvPr>
        </p:nvSpPr>
        <p:spPr>
          <a:xfrm>
            <a:off x="6438950" y="1247850"/>
            <a:ext cx="2604300" cy="426300"/>
          </a:xfrm>
          <a:prstGeom prst="rect">
            <a:avLst/>
          </a:prstGeom>
        </p:spPr>
        <p:txBody>
          <a:bodyPr anchorCtr="0" anchor="t" bIns="84000" lIns="84000" spcFirstLastPara="1" rIns="84000" wrap="square" tIns="84000">
            <a:normAutofit/>
          </a:bodyPr>
          <a:lstStyle/>
          <a:p>
            <a:pPr indent="0" lvl="0" marL="0" rtl="0" algn="l">
              <a:lnSpc>
                <a:spcPct val="70000"/>
              </a:lnSpc>
              <a:spcBef>
                <a:spcPts val="0"/>
              </a:spcBef>
              <a:spcAft>
                <a:spcPts val="1102"/>
              </a:spcAft>
              <a:buSzPts val="783"/>
              <a:buNone/>
            </a:pPr>
            <a:r>
              <a:rPr b="1" lang="en-GB" sz="1200">
                <a:solidFill>
                  <a:schemeClr val="dk1"/>
                </a:solidFill>
              </a:rPr>
              <a:t>Panagiotis Eustratiadis</a:t>
            </a:r>
            <a:endParaRPr b="1" sz="1200">
              <a:solidFill>
                <a:schemeClr val="dk1"/>
              </a:solidFill>
            </a:endParaRPr>
          </a:p>
        </p:txBody>
      </p:sp>
      <p:sp>
        <p:nvSpPr>
          <p:cNvPr id="192" name="Google Shape;192;p38"/>
          <p:cNvSpPr txBox="1"/>
          <p:nvPr>
            <p:ph idx="4294967295" type="subTitle"/>
          </p:nvPr>
        </p:nvSpPr>
        <p:spPr>
          <a:xfrm>
            <a:off x="6438942" y="3041975"/>
            <a:ext cx="2405700" cy="426300"/>
          </a:xfrm>
          <a:prstGeom prst="rect">
            <a:avLst/>
          </a:prstGeom>
        </p:spPr>
        <p:txBody>
          <a:bodyPr anchorCtr="0" anchor="t" bIns="84000" lIns="84000" spcFirstLastPara="1" rIns="84000" wrap="square" tIns="84000">
            <a:normAutofit/>
          </a:bodyPr>
          <a:lstStyle/>
          <a:p>
            <a:pPr indent="0" lvl="0" marL="0" rtl="0" algn="l">
              <a:lnSpc>
                <a:spcPct val="70000"/>
              </a:lnSpc>
              <a:spcBef>
                <a:spcPts val="0"/>
              </a:spcBef>
              <a:spcAft>
                <a:spcPts val="1102"/>
              </a:spcAft>
              <a:buSzPts val="783"/>
              <a:buNone/>
            </a:pPr>
            <a:r>
              <a:rPr b="1" lang="en-GB" sz="1200">
                <a:solidFill>
                  <a:schemeClr val="dk1"/>
                </a:solidFill>
              </a:rPr>
              <a:t>Maarten de Rijke</a:t>
            </a:r>
            <a:endParaRPr b="1" sz="1200">
              <a:solidFill>
                <a:schemeClr val="dk1"/>
              </a:solidFill>
            </a:endParaRPr>
          </a:p>
        </p:txBody>
      </p:sp>
      <p:sp>
        <p:nvSpPr>
          <p:cNvPr id="193" name="Google Shape;193;p38"/>
          <p:cNvSpPr txBox="1"/>
          <p:nvPr>
            <p:ph idx="4294967295" type="subTitle"/>
          </p:nvPr>
        </p:nvSpPr>
        <p:spPr>
          <a:xfrm>
            <a:off x="1914300" y="1247850"/>
            <a:ext cx="2604300" cy="426300"/>
          </a:xfrm>
          <a:prstGeom prst="rect">
            <a:avLst/>
          </a:prstGeom>
        </p:spPr>
        <p:txBody>
          <a:bodyPr anchorCtr="0" anchor="t" bIns="84000" lIns="84000" spcFirstLastPara="1" rIns="84000" wrap="square" tIns="84000">
            <a:normAutofit/>
          </a:bodyPr>
          <a:lstStyle/>
          <a:p>
            <a:pPr indent="0" lvl="0" marL="0" rtl="0" algn="l">
              <a:lnSpc>
                <a:spcPct val="70000"/>
              </a:lnSpc>
              <a:spcBef>
                <a:spcPts val="0"/>
              </a:spcBef>
              <a:spcAft>
                <a:spcPts val="1102"/>
              </a:spcAft>
              <a:buSzPts val="783"/>
              <a:buNone/>
            </a:pPr>
            <a:r>
              <a:rPr b="1" lang="en-GB" sz="1200">
                <a:solidFill>
                  <a:schemeClr val="dk1"/>
                </a:solidFill>
              </a:rPr>
              <a:t>Mohanna Hoveyda</a:t>
            </a:r>
            <a:endParaRPr b="1" sz="1200">
              <a:solidFill>
                <a:schemeClr val="dk1"/>
              </a:solidFill>
            </a:endParaRPr>
          </a:p>
        </p:txBody>
      </p:sp>
      <p:sp>
        <p:nvSpPr>
          <p:cNvPr id="194" name="Google Shape;194;p38"/>
          <p:cNvSpPr txBox="1"/>
          <p:nvPr>
            <p:ph idx="4294967295" type="subTitle"/>
          </p:nvPr>
        </p:nvSpPr>
        <p:spPr>
          <a:xfrm>
            <a:off x="1914300" y="3046975"/>
            <a:ext cx="2604300" cy="426300"/>
          </a:xfrm>
          <a:prstGeom prst="rect">
            <a:avLst/>
          </a:prstGeom>
        </p:spPr>
        <p:txBody>
          <a:bodyPr anchorCtr="0" anchor="t" bIns="84000" lIns="84000" spcFirstLastPara="1" rIns="84000" wrap="square" tIns="84000">
            <a:normAutofit/>
          </a:bodyPr>
          <a:lstStyle/>
          <a:p>
            <a:pPr indent="0" lvl="0" marL="0" rtl="0" algn="l">
              <a:lnSpc>
                <a:spcPct val="70000"/>
              </a:lnSpc>
              <a:spcBef>
                <a:spcPts val="0"/>
              </a:spcBef>
              <a:spcAft>
                <a:spcPts val="1102"/>
              </a:spcAft>
              <a:buSzPts val="783"/>
              <a:buNone/>
            </a:pPr>
            <a:r>
              <a:rPr b="1" lang="en-GB" sz="1200">
                <a:solidFill>
                  <a:schemeClr val="dk1"/>
                </a:solidFill>
              </a:rPr>
              <a:t>Arjen P. de Vries </a:t>
            </a:r>
            <a:endParaRPr b="1" sz="1200">
              <a:solidFill>
                <a:schemeClr val="dk1"/>
              </a:solidFill>
            </a:endParaRPr>
          </a:p>
        </p:txBody>
      </p:sp>
      <p:sp>
        <p:nvSpPr>
          <p:cNvPr id="195" name="Google Shape;195;p38"/>
          <p:cNvSpPr txBox="1"/>
          <p:nvPr/>
        </p:nvSpPr>
        <p:spPr>
          <a:xfrm>
            <a:off x="1914300" y="1559225"/>
            <a:ext cx="1645800" cy="1035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935"/>
              <a:buFont typeface="Arial"/>
              <a:buNone/>
            </a:pPr>
            <a:r>
              <a:rPr lang="en-GB" sz="1600">
                <a:solidFill>
                  <a:srgbClr val="7A4988"/>
                </a:solidFill>
              </a:rPr>
              <a:t>PhD Student </a:t>
            </a:r>
            <a:r>
              <a:rPr lang="en-GB" sz="1200">
                <a:solidFill>
                  <a:srgbClr val="7A4988"/>
                </a:solidFill>
              </a:rPr>
              <a:t>Radboud University</a:t>
            </a:r>
            <a:endParaRPr sz="1200">
              <a:solidFill>
                <a:srgbClr val="7A4988"/>
              </a:solidFill>
            </a:endParaRPr>
          </a:p>
          <a:p>
            <a:pPr indent="0" lvl="0" marL="0" rtl="0" algn="l">
              <a:spcBef>
                <a:spcPts val="0"/>
              </a:spcBef>
              <a:spcAft>
                <a:spcPts val="0"/>
              </a:spcAft>
              <a:buNone/>
            </a:pPr>
            <a:r>
              <a:t/>
            </a:r>
            <a:endParaRPr sz="1000">
              <a:solidFill>
                <a:schemeClr val="dk1"/>
              </a:solidFill>
            </a:endParaRPr>
          </a:p>
        </p:txBody>
      </p:sp>
      <p:sp>
        <p:nvSpPr>
          <p:cNvPr id="196" name="Google Shape;196;p38"/>
          <p:cNvSpPr txBox="1"/>
          <p:nvPr/>
        </p:nvSpPr>
        <p:spPr>
          <a:xfrm>
            <a:off x="1914300" y="3352125"/>
            <a:ext cx="1645800" cy="1035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sz="1600">
                <a:solidFill>
                  <a:srgbClr val="7A4988"/>
                </a:solidFill>
              </a:rPr>
              <a:t>Professor </a:t>
            </a:r>
            <a:r>
              <a:rPr lang="en-GB" sz="1200">
                <a:solidFill>
                  <a:srgbClr val="7A4988"/>
                </a:solidFill>
              </a:rPr>
              <a:t>Radboud University</a:t>
            </a:r>
            <a:endParaRPr sz="1200">
              <a:solidFill>
                <a:srgbClr val="7A4988"/>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rPr lang="en-GB" sz="1600">
                <a:solidFill>
                  <a:srgbClr val="7A4988"/>
                </a:solidFill>
              </a:rPr>
              <a:t>Co-Founder </a:t>
            </a:r>
            <a:r>
              <a:rPr lang="en-GB" sz="1200">
                <a:solidFill>
                  <a:srgbClr val="7A4988"/>
                </a:solidFill>
              </a:rPr>
              <a:t>Spinque </a:t>
            </a:r>
            <a:endParaRPr sz="800">
              <a:solidFill>
                <a:srgbClr val="7A4988"/>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Clr>
                <a:schemeClr val="dk1"/>
              </a:buClr>
              <a:buSzPts val="1100"/>
              <a:buFont typeface="Arial"/>
              <a:buNone/>
            </a:pPr>
            <a:r>
              <a:t/>
            </a:r>
            <a:endParaRPr sz="1000">
              <a:solidFill>
                <a:schemeClr val="dk1"/>
              </a:solidFill>
            </a:endParaRPr>
          </a:p>
          <a:p>
            <a:pPr indent="0" lvl="0" marL="0" rtl="0" algn="l">
              <a:spcBef>
                <a:spcPts val="0"/>
              </a:spcBef>
              <a:spcAft>
                <a:spcPts val="0"/>
              </a:spcAft>
              <a:buNone/>
            </a:pPr>
            <a:r>
              <a:t/>
            </a:r>
            <a:endParaRPr sz="1000">
              <a:solidFill>
                <a:schemeClr val="dk1"/>
              </a:solidFill>
            </a:endParaRPr>
          </a:p>
        </p:txBody>
      </p:sp>
      <p:sp>
        <p:nvSpPr>
          <p:cNvPr id="197" name="Google Shape;197;p38"/>
          <p:cNvSpPr txBox="1"/>
          <p:nvPr/>
        </p:nvSpPr>
        <p:spPr>
          <a:xfrm>
            <a:off x="6438950" y="1521950"/>
            <a:ext cx="1645800" cy="1035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solidFill>
                  <a:srgbClr val="7A4988"/>
                </a:solidFill>
              </a:rPr>
              <a:t>Postdoc</a:t>
            </a:r>
            <a:endParaRPr sz="1600">
              <a:solidFill>
                <a:srgbClr val="7A4988"/>
              </a:solidFill>
            </a:endParaRPr>
          </a:p>
          <a:p>
            <a:pPr indent="0" lvl="0" marL="0" rtl="0" algn="l">
              <a:spcBef>
                <a:spcPts val="0"/>
              </a:spcBef>
              <a:spcAft>
                <a:spcPts val="0"/>
              </a:spcAft>
              <a:buNone/>
            </a:pPr>
            <a:r>
              <a:rPr lang="en-GB" sz="1200">
                <a:solidFill>
                  <a:srgbClr val="7A4988"/>
                </a:solidFill>
              </a:rPr>
              <a:t>UvA</a:t>
            </a:r>
            <a:endParaRPr sz="1200">
              <a:solidFill>
                <a:srgbClr val="7A4988"/>
              </a:solidFill>
            </a:endParaRPr>
          </a:p>
          <a:p>
            <a:pPr indent="0" lvl="0" marL="0" rtl="0" algn="l">
              <a:spcBef>
                <a:spcPts val="0"/>
              </a:spcBef>
              <a:spcAft>
                <a:spcPts val="0"/>
              </a:spcAft>
              <a:buNone/>
            </a:pPr>
            <a:r>
              <a:t/>
            </a:r>
            <a:endParaRPr sz="1200">
              <a:solidFill>
                <a:srgbClr val="7A4988"/>
              </a:solidFill>
            </a:endParaRPr>
          </a:p>
          <a:p>
            <a:pPr indent="0" lvl="0" marL="0" rtl="0" algn="l">
              <a:spcBef>
                <a:spcPts val="0"/>
              </a:spcBef>
              <a:spcAft>
                <a:spcPts val="0"/>
              </a:spcAft>
              <a:buNone/>
            </a:pPr>
            <a:r>
              <a:t/>
            </a:r>
            <a:endParaRPr sz="1600">
              <a:solidFill>
                <a:srgbClr val="7A4988"/>
              </a:solidFill>
            </a:endParaRPr>
          </a:p>
          <a:p>
            <a:pPr indent="0" lvl="0" marL="0" rtl="0" algn="l">
              <a:spcBef>
                <a:spcPts val="0"/>
              </a:spcBef>
              <a:spcAft>
                <a:spcPts val="0"/>
              </a:spcAft>
              <a:buNone/>
            </a:pPr>
            <a:r>
              <a:rPr lang="en-GB" sz="1200">
                <a:solidFill>
                  <a:srgbClr val="7A4988"/>
                </a:solidFill>
              </a:rPr>
              <a:t>Bloomberg</a:t>
            </a:r>
            <a:endParaRPr sz="1200">
              <a:solidFill>
                <a:srgbClr val="7A4988"/>
              </a:solidFill>
            </a:endParaRPr>
          </a:p>
          <a:p>
            <a:pPr indent="0" lvl="0" marL="0" rtl="0" algn="l">
              <a:spcBef>
                <a:spcPts val="0"/>
              </a:spcBef>
              <a:spcAft>
                <a:spcPts val="0"/>
              </a:spcAft>
              <a:buNone/>
            </a:pPr>
            <a:r>
              <a:t/>
            </a:r>
            <a:endParaRPr sz="1200">
              <a:solidFill>
                <a:srgbClr val="7A4988"/>
              </a:solidFill>
            </a:endParaRPr>
          </a:p>
          <a:p>
            <a:pPr indent="0" lvl="0" marL="0" rtl="0" algn="l">
              <a:spcBef>
                <a:spcPts val="0"/>
              </a:spcBef>
              <a:spcAft>
                <a:spcPts val="0"/>
              </a:spcAft>
              <a:buClr>
                <a:schemeClr val="dk1"/>
              </a:buClr>
              <a:buSzPts val="1100"/>
              <a:buFont typeface="Arial"/>
              <a:buNone/>
            </a:pPr>
            <a:r>
              <a:t/>
            </a:r>
            <a:endParaRPr sz="1200">
              <a:solidFill>
                <a:srgbClr val="7A4988"/>
              </a:solidFill>
            </a:endParaRPr>
          </a:p>
          <a:p>
            <a:pPr indent="0" lvl="0" marL="0" rtl="0" algn="l">
              <a:spcBef>
                <a:spcPts val="0"/>
              </a:spcBef>
              <a:spcAft>
                <a:spcPts val="0"/>
              </a:spcAft>
              <a:buClr>
                <a:schemeClr val="dk1"/>
              </a:buClr>
              <a:buSzPts val="1100"/>
              <a:buFont typeface="Arial"/>
              <a:buNone/>
            </a:pPr>
            <a:r>
              <a:t/>
            </a:r>
            <a:endParaRPr sz="1000">
              <a:solidFill>
                <a:schemeClr val="dk1"/>
              </a:solidFill>
            </a:endParaRPr>
          </a:p>
          <a:p>
            <a:pPr indent="0" lvl="0" marL="0" rtl="0" algn="l">
              <a:spcBef>
                <a:spcPts val="0"/>
              </a:spcBef>
              <a:spcAft>
                <a:spcPts val="0"/>
              </a:spcAft>
              <a:buNone/>
            </a:pPr>
            <a:r>
              <a:t/>
            </a:r>
            <a:endParaRPr sz="1000">
              <a:solidFill>
                <a:schemeClr val="dk1"/>
              </a:solidFill>
            </a:endParaRPr>
          </a:p>
        </p:txBody>
      </p:sp>
      <p:sp>
        <p:nvSpPr>
          <p:cNvPr id="198" name="Google Shape;198;p38"/>
          <p:cNvSpPr txBox="1"/>
          <p:nvPr/>
        </p:nvSpPr>
        <p:spPr>
          <a:xfrm>
            <a:off x="6438950" y="3333500"/>
            <a:ext cx="2153400" cy="1035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solidFill>
                  <a:srgbClr val="7A4988"/>
                </a:solidFill>
              </a:rPr>
              <a:t>Professor </a:t>
            </a:r>
            <a:endParaRPr sz="1600">
              <a:solidFill>
                <a:srgbClr val="7A4988"/>
              </a:solidFill>
            </a:endParaRPr>
          </a:p>
          <a:p>
            <a:pPr indent="0" lvl="0" marL="0" rtl="0" algn="l">
              <a:spcBef>
                <a:spcPts val="0"/>
              </a:spcBef>
              <a:spcAft>
                <a:spcPts val="0"/>
              </a:spcAft>
              <a:buNone/>
            </a:pPr>
            <a:r>
              <a:rPr lang="en-GB" sz="1200">
                <a:solidFill>
                  <a:srgbClr val="7A4988"/>
                </a:solidFill>
              </a:rPr>
              <a:t>UvA</a:t>
            </a:r>
            <a:endParaRPr sz="1200">
              <a:solidFill>
                <a:srgbClr val="7A4988"/>
              </a:solidFill>
            </a:endParaRPr>
          </a:p>
          <a:p>
            <a:pPr indent="0" lvl="0" marL="0" rtl="0" algn="l">
              <a:spcBef>
                <a:spcPts val="0"/>
              </a:spcBef>
              <a:spcAft>
                <a:spcPts val="0"/>
              </a:spcAft>
              <a:buNone/>
            </a:pPr>
            <a:r>
              <a:t/>
            </a:r>
            <a:endParaRPr sz="1200">
              <a:solidFill>
                <a:srgbClr val="7A4988"/>
              </a:solidFill>
            </a:endParaRPr>
          </a:p>
          <a:p>
            <a:pPr indent="0" lvl="0" marL="0" rtl="0" algn="l">
              <a:spcBef>
                <a:spcPts val="0"/>
              </a:spcBef>
              <a:spcAft>
                <a:spcPts val="0"/>
              </a:spcAft>
              <a:buNone/>
            </a:pPr>
            <a:r>
              <a:rPr lang="en-GB" sz="1600">
                <a:solidFill>
                  <a:srgbClr val="7A4988"/>
                </a:solidFill>
              </a:rPr>
              <a:t>Scientific Director </a:t>
            </a:r>
            <a:endParaRPr sz="1600">
              <a:solidFill>
                <a:srgbClr val="7A4988"/>
              </a:solidFill>
            </a:endParaRPr>
          </a:p>
          <a:p>
            <a:pPr indent="0" lvl="0" marL="0" rtl="0" algn="l">
              <a:spcBef>
                <a:spcPts val="0"/>
              </a:spcBef>
              <a:spcAft>
                <a:spcPts val="0"/>
              </a:spcAft>
              <a:buNone/>
            </a:pPr>
            <a:r>
              <a:rPr lang="en-GB" sz="1200">
                <a:solidFill>
                  <a:srgbClr val="7A4988"/>
                </a:solidFill>
              </a:rPr>
              <a:t>ICAI</a:t>
            </a:r>
            <a:endParaRPr sz="1200">
              <a:solidFill>
                <a:srgbClr val="7A4988"/>
              </a:solidFill>
            </a:endParaRPr>
          </a:p>
          <a:p>
            <a:pPr indent="0" lvl="0" marL="0" rtl="0" algn="l">
              <a:spcBef>
                <a:spcPts val="0"/>
              </a:spcBef>
              <a:spcAft>
                <a:spcPts val="0"/>
              </a:spcAft>
              <a:buNone/>
            </a:pPr>
            <a:r>
              <a:t/>
            </a:r>
            <a:endParaRPr sz="1200">
              <a:solidFill>
                <a:srgbClr val="7A4988"/>
              </a:solidFill>
            </a:endParaRPr>
          </a:p>
        </p:txBody>
      </p:sp>
      <p:sp>
        <p:nvSpPr>
          <p:cNvPr id="199" name="Google Shape;199;p3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
        <p:nvSpPr>
          <p:cNvPr id="200" name="Google Shape;200;p38"/>
          <p:cNvSpPr txBox="1"/>
          <p:nvPr/>
        </p:nvSpPr>
        <p:spPr>
          <a:xfrm>
            <a:off x="-2135275" y="-882350"/>
            <a:ext cx="3626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2"/>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39"/>
          <p:cNvSpPr/>
          <p:nvPr/>
        </p:nvSpPr>
        <p:spPr>
          <a:xfrm>
            <a:off x="1926000" y="980775"/>
            <a:ext cx="6546600" cy="1077900"/>
          </a:xfrm>
          <a:prstGeom prst="roundRect">
            <a:avLst>
              <a:gd fmla="val 16667" name="adj"/>
            </a:avLst>
          </a:prstGeom>
          <a:solidFill>
            <a:srgbClr val="FBF7DB"/>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2000"/>
              <a:buFont typeface="Palatino Linotype"/>
              <a:buNone/>
            </a:pPr>
            <a:r>
              <a:rPr b="1" lang="en-GB" sz="2000">
                <a:solidFill>
                  <a:schemeClr val="dk2"/>
                </a:solidFill>
                <a:latin typeface="Palatino Linotype"/>
                <a:ea typeface="Palatino Linotype"/>
                <a:cs typeface="Palatino Linotype"/>
                <a:sym typeface="Palatino Linotype"/>
              </a:rPr>
              <a:t>Goal for today </a:t>
            </a:r>
            <a:endParaRPr b="1" sz="2000">
              <a:solidFill>
                <a:schemeClr val="dk2"/>
              </a:solidFill>
              <a:latin typeface="Palatino Linotype"/>
              <a:ea typeface="Palatino Linotype"/>
              <a:cs typeface="Palatino Linotype"/>
              <a:sym typeface="Palatino Linotype"/>
            </a:endParaRPr>
          </a:p>
          <a:p>
            <a:pPr indent="0" lvl="0" marL="0" rtl="0" algn="ctr">
              <a:spcBef>
                <a:spcPts val="0"/>
              </a:spcBef>
              <a:spcAft>
                <a:spcPts val="0"/>
              </a:spcAft>
              <a:buClr>
                <a:schemeClr val="dk1"/>
              </a:buClr>
              <a:buSzPts val="1800"/>
              <a:buFont typeface="Palatino Linotype"/>
              <a:buNone/>
            </a:pPr>
            <a:r>
              <a:rPr lang="en-GB" sz="1800">
                <a:solidFill>
                  <a:schemeClr val="dk2"/>
                </a:solidFill>
                <a:latin typeface="Palatino Linotype"/>
                <a:ea typeface="Palatino Linotype"/>
                <a:cs typeface="Palatino Linotype"/>
                <a:sym typeface="Palatino Linotype"/>
              </a:rPr>
              <a:t>Reasoning &amp; IR; </a:t>
            </a:r>
            <a:endParaRPr sz="1800">
              <a:solidFill>
                <a:schemeClr val="dk2"/>
              </a:solidFill>
              <a:latin typeface="Palatino Linotype"/>
              <a:ea typeface="Palatino Linotype"/>
              <a:cs typeface="Palatino Linotype"/>
              <a:sym typeface="Palatino Linotype"/>
            </a:endParaRPr>
          </a:p>
          <a:p>
            <a:pPr indent="0" lvl="0" marL="0" rtl="0" algn="ctr">
              <a:spcBef>
                <a:spcPts val="0"/>
              </a:spcBef>
              <a:spcAft>
                <a:spcPts val="0"/>
              </a:spcAft>
              <a:buNone/>
            </a:pPr>
            <a:r>
              <a:rPr lang="en-GB" sz="1800">
                <a:solidFill>
                  <a:schemeClr val="dk2"/>
                </a:solidFill>
                <a:latin typeface="Palatino Linotype"/>
                <a:ea typeface="Palatino Linotype"/>
                <a:cs typeface="Palatino Linotype"/>
                <a:sym typeface="Palatino Linotype"/>
              </a:rPr>
              <a:t>Challenges, the methods landscape, and open research areas</a:t>
            </a:r>
            <a:endParaRPr b="1" sz="2000">
              <a:solidFill>
                <a:schemeClr val="dk2"/>
              </a:solidFill>
            </a:endParaRPr>
          </a:p>
        </p:txBody>
      </p:sp>
      <p:sp>
        <p:nvSpPr>
          <p:cNvPr id="206" name="Google Shape;206;p3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cxnSp>
        <p:nvCxnSpPr>
          <p:cNvPr id="207" name="Google Shape;207;p39"/>
          <p:cNvCxnSpPr/>
          <p:nvPr/>
        </p:nvCxnSpPr>
        <p:spPr>
          <a:xfrm>
            <a:off x="223425" y="3445850"/>
            <a:ext cx="8678400" cy="0"/>
          </a:xfrm>
          <a:prstGeom prst="straightConnector1">
            <a:avLst/>
          </a:prstGeom>
          <a:noFill/>
          <a:ln cap="flat" cmpd="sng" w="76200">
            <a:solidFill>
              <a:srgbClr val="660066"/>
            </a:solidFill>
            <a:prstDash val="solid"/>
            <a:round/>
            <a:headEnd len="med" w="med" type="none"/>
            <a:tailEnd len="med" w="med" type="triangle"/>
          </a:ln>
        </p:spPr>
      </p:cxnSp>
      <p:sp>
        <p:nvSpPr>
          <p:cNvPr id="208" name="Google Shape;208;p39"/>
          <p:cNvSpPr txBox="1"/>
          <p:nvPr/>
        </p:nvSpPr>
        <p:spPr>
          <a:xfrm>
            <a:off x="0" y="2734075"/>
            <a:ext cx="18015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800">
                <a:solidFill>
                  <a:schemeClr val="dk2"/>
                </a:solidFill>
                <a:latin typeface="Palatino Linotype"/>
                <a:ea typeface="Palatino Linotype"/>
                <a:cs typeface="Palatino Linotype"/>
                <a:sym typeface="Palatino Linotype"/>
              </a:rPr>
              <a:t>Introduction</a:t>
            </a:r>
            <a:endParaRPr sz="1800">
              <a:solidFill>
                <a:schemeClr val="dk2"/>
              </a:solidFill>
              <a:latin typeface="Palatino Linotype"/>
              <a:ea typeface="Palatino Linotype"/>
              <a:cs typeface="Palatino Linotype"/>
              <a:sym typeface="Palatino Linotype"/>
            </a:endParaRPr>
          </a:p>
        </p:txBody>
      </p:sp>
      <p:sp>
        <p:nvSpPr>
          <p:cNvPr id="209" name="Google Shape;209;p39"/>
          <p:cNvSpPr txBox="1"/>
          <p:nvPr/>
        </p:nvSpPr>
        <p:spPr>
          <a:xfrm>
            <a:off x="709330" y="3509225"/>
            <a:ext cx="2281500" cy="969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GB" sz="1800">
                <a:solidFill>
                  <a:schemeClr val="dk2"/>
                </a:solidFill>
                <a:latin typeface="Palatino Linotype"/>
                <a:ea typeface="Palatino Linotype"/>
                <a:cs typeface="Palatino Linotype"/>
                <a:sym typeface="Palatino Linotype"/>
              </a:rPr>
              <a:t>Part I</a:t>
            </a:r>
            <a:r>
              <a:rPr lang="en-GB" sz="1800">
                <a:solidFill>
                  <a:schemeClr val="dk2"/>
                </a:solidFill>
                <a:latin typeface="Palatino Linotype"/>
                <a:ea typeface="Palatino Linotype"/>
                <a:cs typeface="Palatino Linotype"/>
                <a:sym typeface="Palatino Linotype"/>
              </a:rPr>
              <a:t>: </a:t>
            </a:r>
            <a:endParaRPr sz="1800">
              <a:solidFill>
                <a:schemeClr val="dk2"/>
              </a:solidFill>
              <a:latin typeface="Palatino Linotype"/>
              <a:ea typeface="Palatino Linotype"/>
              <a:cs typeface="Palatino Linotype"/>
              <a:sym typeface="Palatino Linotype"/>
            </a:endParaRPr>
          </a:p>
          <a:p>
            <a:pPr indent="0" lvl="0" marL="0" rtl="0" algn="ctr">
              <a:spcBef>
                <a:spcPts val="0"/>
              </a:spcBef>
              <a:spcAft>
                <a:spcPts val="0"/>
              </a:spcAft>
              <a:buNone/>
            </a:pPr>
            <a:r>
              <a:rPr lang="en-GB" sz="1800">
                <a:solidFill>
                  <a:schemeClr val="dk2"/>
                </a:solidFill>
                <a:latin typeface="Palatino Linotype"/>
                <a:ea typeface="Palatino Linotype"/>
                <a:cs typeface="Palatino Linotype"/>
                <a:sym typeface="Palatino Linotype"/>
              </a:rPr>
              <a:t>Reasoning in IR; </a:t>
            </a:r>
            <a:r>
              <a:rPr lang="en-GB" sz="1500">
                <a:solidFill>
                  <a:schemeClr val="dk2"/>
                </a:solidFill>
                <a:latin typeface="Palatino Linotype"/>
                <a:ea typeface="Palatino Linotype"/>
                <a:cs typeface="Palatino Linotype"/>
                <a:sym typeface="Palatino Linotype"/>
              </a:rPr>
              <a:t>Definition &amp; Challenges</a:t>
            </a:r>
            <a:endParaRPr sz="1500">
              <a:solidFill>
                <a:schemeClr val="dk2"/>
              </a:solidFill>
              <a:latin typeface="Palatino Linotype"/>
              <a:ea typeface="Palatino Linotype"/>
              <a:cs typeface="Palatino Linotype"/>
              <a:sym typeface="Palatino Linotype"/>
            </a:endParaRPr>
          </a:p>
        </p:txBody>
      </p:sp>
      <p:sp>
        <p:nvSpPr>
          <p:cNvPr id="210" name="Google Shape;210;p39"/>
          <p:cNvSpPr txBox="1"/>
          <p:nvPr/>
        </p:nvSpPr>
        <p:spPr>
          <a:xfrm>
            <a:off x="1926010" y="2397263"/>
            <a:ext cx="2487900" cy="985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GB" sz="1800">
                <a:solidFill>
                  <a:schemeClr val="dk2"/>
                </a:solidFill>
                <a:latin typeface="Palatino Linotype"/>
                <a:ea typeface="Palatino Linotype"/>
                <a:cs typeface="Palatino Linotype"/>
                <a:sym typeface="Palatino Linotype"/>
              </a:rPr>
              <a:t>Part II</a:t>
            </a:r>
            <a:r>
              <a:rPr lang="en-GB" sz="1800">
                <a:solidFill>
                  <a:schemeClr val="dk2"/>
                </a:solidFill>
                <a:latin typeface="Palatino Linotype"/>
                <a:ea typeface="Palatino Linotype"/>
                <a:cs typeface="Palatino Linotype"/>
                <a:sym typeface="Palatino Linotype"/>
              </a:rPr>
              <a:t>: </a:t>
            </a:r>
            <a:endParaRPr sz="1800">
              <a:solidFill>
                <a:schemeClr val="dk2"/>
              </a:solidFill>
              <a:latin typeface="Palatino Linotype"/>
              <a:ea typeface="Palatino Linotype"/>
              <a:cs typeface="Palatino Linotype"/>
              <a:sym typeface="Palatino Linotype"/>
            </a:endParaRPr>
          </a:p>
          <a:p>
            <a:pPr indent="0" lvl="0" marL="0" rtl="0" algn="ctr">
              <a:spcBef>
                <a:spcPts val="0"/>
              </a:spcBef>
              <a:spcAft>
                <a:spcPts val="0"/>
              </a:spcAft>
              <a:buNone/>
            </a:pPr>
            <a:r>
              <a:rPr lang="en-GB" sz="1700">
                <a:solidFill>
                  <a:schemeClr val="dk2"/>
                </a:solidFill>
                <a:latin typeface="Palatino Linotype"/>
                <a:ea typeface="Palatino Linotype"/>
                <a:cs typeface="Palatino Linotype"/>
                <a:sym typeface="Palatino Linotype"/>
              </a:rPr>
              <a:t>Generative </a:t>
            </a:r>
            <a:endParaRPr sz="1700">
              <a:solidFill>
                <a:schemeClr val="dk2"/>
              </a:solidFill>
              <a:latin typeface="Palatino Linotype"/>
              <a:ea typeface="Palatino Linotype"/>
              <a:cs typeface="Palatino Linotype"/>
              <a:sym typeface="Palatino Linotype"/>
            </a:endParaRPr>
          </a:p>
          <a:p>
            <a:pPr indent="0" lvl="0" marL="0" rtl="0" algn="ctr">
              <a:spcBef>
                <a:spcPts val="0"/>
              </a:spcBef>
              <a:spcAft>
                <a:spcPts val="0"/>
              </a:spcAft>
              <a:buNone/>
            </a:pPr>
            <a:r>
              <a:rPr lang="en-GB" sz="1700">
                <a:solidFill>
                  <a:schemeClr val="dk2"/>
                </a:solidFill>
                <a:latin typeface="Palatino Linotype"/>
                <a:ea typeface="Palatino Linotype"/>
                <a:cs typeface="Palatino Linotype"/>
                <a:sym typeface="Palatino Linotype"/>
              </a:rPr>
              <a:t>Reasoning</a:t>
            </a:r>
            <a:endParaRPr sz="1700">
              <a:solidFill>
                <a:schemeClr val="dk2"/>
              </a:solidFill>
              <a:latin typeface="Palatino Linotype"/>
              <a:ea typeface="Palatino Linotype"/>
              <a:cs typeface="Palatino Linotype"/>
              <a:sym typeface="Palatino Linotype"/>
            </a:endParaRPr>
          </a:p>
        </p:txBody>
      </p:sp>
      <p:sp>
        <p:nvSpPr>
          <p:cNvPr id="211" name="Google Shape;211;p39"/>
          <p:cNvSpPr txBox="1"/>
          <p:nvPr/>
        </p:nvSpPr>
        <p:spPr>
          <a:xfrm>
            <a:off x="3815175" y="3509225"/>
            <a:ext cx="1884900" cy="1200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GB" sz="1800">
                <a:solidFill>
                  <a:schemeClr val="dk2"/>
                </a:solidFill>
                <a:latin typeface="Palatino Linotype"/>
                <a:ea typeface="Palatino Linotype"/>
                <a:cs typeface="Palatino Linotype"/>
                <a:sym typeface="Palatino Linotype"/>
              </a:rPr>
              <a:t>Part III</a:t>
            </a:r>
            <a:r>
              <a:rPr lang="en-GB" sz="1800">
                <a:solidFill>
                  <a:schemeClr val="dk2"/>
                </a:solidFill>
                <a:latin typeface="Palatino Linotype"/>
                <a:ea typeface="Palatino Linotype"/>
                <a:cs typeface="Palatino Linotype"/>
                <a:sym typeface="Palatino Linotype"/>
              </a:rPr>
              <a:t>: </a:t>
            </a:r>
            <a:endParaRPr sz="1800">
              <a:solidFill>
                <a:schemeClr val="dk2"/>
              </a:solidFill>
              <a:latin typeface="Palatino Linotype"/>
              <a:ea typeface="Palatino Linotype"/>
              <a:cs typeface="Palatino Linotype"/>
              <a:sym typeface="Palatino Linotype"/>
            </a:endParaRPr>
          </a:p>
          <a:p>
            <a:pPr indent="0" lvl="0" marL="0" rtl="0" algn="ctr">
              <a:spcBef>
                <a:spcPts val="0"/>
              </a:spcBef>
              <a:spcAft>
                <a:spcPts val="0"/>
              </a:spcAft>
              <a:buNone/>
            </a:pPr>
            <a:r>
              <a:rPr lang="en-GB" sz="1600">
                <a:solidFill>
                  <a:schemeClr val="dk2"/>
                </a:solidFill>
                <a:latin typeface="Palatino Linotype"/>
                <a:ea typeface="Palatino Linotype"/>
                <a:cs typeface="Palatino Linotype"/>
                <a:sym typeface="Palatino Linotype"/>
              </a:rPr>
              <a:t>Teaching Retrievers to Reason</a:t>
            </a:r>
            <a:endParaRPr sz="1500">
              <a:solidFill>
                <a:schemeClr val="dk2"/>
              </a:solidFill>
              <a:latin typeface="Palatino Linotype"/>
              <a:ea typeface="Palatino Linotype"/>
              <a:cs typeface="Palatino Linotype"/>
              <a:sym typeface="Palatino Linotype"/>
            </a:endParaRPr>
          </a:p>
        </p:txBody>
      </p:sp>
      <p:sp>
        <p:nvSpPr>
          <p:cNvPr id="212" name="Google Shape;212;p39"/>
          <p:cNvSpPr txBox="1"/>
          <p:nvPr/>
        </p:nvSpPr>
        <p:spPr>
          <a:xfrm>
            <a:off x="7559700" y="2549274"/>
            <a:ext cx="1584300" cy="646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500">
                <a:solidFill>
                  <a:schemeClr val="dk2"/>
                </a:solidFill>
                <a:latin typeface="Palatino Linotype"/>
                <a:ea typeface="Palatino Linotype"/>
                <a:cs typeface="Palatino Linotype"/>
                <a:sym typeface="Palatino Linotype"/>
              </a:rPr>
              <a:t>Research Gaps &amp; Opportunities</a:t>
            </a:r>
            <a:endParaRPr sz="1500">
              <a:solidFill>
                <a:schemeClr val="dk2"/>
              </a:solidFill>
              <a:latin typeface="Palatino Linotype"/>
              <a:ea typeface="Palatino Linotype"/>
              <a:cs typeface="Palatino Linotype"/>
              <a:sym typeface="Palatino Linotype"/>
            </a:endParaRPr>
          </a:p>
        </p:txBody>
      </p:sp>
      <p:sp>
        <p:nvSpPr>
          <p:cNvPr id="213" name="Google Shape;213;p39"/>
          <p:cNvSpPr txBox="1"/>
          <p:nvPr/>
        </p:nvSpPr>
        <p:spPr>
          <a:xfrm>
            <a:off x="4960150" y="2334725"/>
            <a:ext cx="1801500" cy="1400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GB" sz="1800">
                <a:solidFill>
                  <a:schemeClr val="dk2"/>
                </a:solidFill>
                <a:latin typeface="Palatino Linotype"/>
                <a:ea typeface="Palatino Linotype"/>
                <a:cs typeface="Palatino Linotype"/>
                <a:sym typeface="Palatino Linotype"/>
              </a:rPr>
              <a:t>Part IV</a:t>
            </a:r>
            <a:r>
              <a:rPr lang="en-GB" sz="1800">
                <a:solidFill>
                  <a:schemeClr val="dk2"/>
                </a:solidFill>
                <a:latin typeface="Palatino Linotype"/>
                <a:ea typeface="Palatino Linotype"/>
                <a:cs typeface="Palatino Linotype"/>
                <a:sym typeface="Palatino Linotype"/>
              </a:rPr>
              <a:t>: </a:t>
            </a:r>
            <a:endParaRPr sz="1800">
              <a:solidFill>
                <a:schemeClr val="dk2"/>
              </a:solidFill>
              <a:latin typeface="Palatino Linotype"/>
              <a:ea typeface="Palatino Linotype"/>
              <a:cs typeface="Palatino Linotype"/>
              <a:sym typeface="Palatino Linotype"/>
            </a:endParaRPr>
          </a:p>
          <a:p>
            <a:pPr indent="0" lvl="0" marL="0" rtl="0" algn="ctr">
              <a:spcBef>
                <a:spcPts val="0"/>
              </a:spcBef>
              <a:spcAft>
                <a:spcPts val="0"/>
              </a:spcAft>
              <a:buNone/>
            </a:pPr>
            <a:r>
              <a:rPr lang="en-GB" sz="1500">
                <a:solidFill>
                  <a:schemeClr val="dk2"/>
                </a:solidFill>
                <a:latin typeface="Palatino Linotype"/>
                <a:ea typeface="Palatino Linotype"/>
                <a:cs typeface="Palatino Linotype"/>
                <a:sym typeface="Palatino Linotype"/>
              </a:rPr>
              <a:t>Neuro-</a:t>
            </a:r>
            <a:r>
              <a:rPr lang="en-GB" sz="1500">
                <a:solidFill>
                  <a:schemeClr val="dk2"/>
                </a:solidFill>
                <a:latin typeface="Palatino Linotype"/>
                <a:ea typeface="Palatino Linotype"/>
                <a:cs typeface="Palatino Linotype"/>
                <a:sym typeface="Palatino Linotype"/>
              </a:rPr>
              <a:t>Symbolic &amp; Structured Reasoning</a:t>
            </a:r>
            <a:endParaRPr sz="1500">
              <a:solidFill>
                <a:schemeClr val="dk2"/>
              </a:solidFill>
              <a:latin typeface="Palatino Linotype"/>
              <a:ea typeface="Palatino Linotype"/>
              <a:cs typeface="Palatino Linotype"/>
              <a:sym typeface="Palatino Linotype"/>
            </a:endParaRPr>
          </a:p>
          <a:p>
            <a:pPr indent="0" lvl="0" marL="0" rtl="0" algn="ctr">
              <a:spcBef>
                <a:spcPts val="0"/>
              </a:spcBef>
              <a:spcAft>
                <a:spcPts val="0"/>
              </a:spcAft>
              <a:buNone/>
            </a:pPr>
            <a:r>
              <a:t/>
            </a:r>
            <a:endParaRPr sz="1600">
              <a:solidFill>
                <a:schemeClr val="dk2"/>
              </a:solidFill>
              <a:latin typeface="Palatino Linotype"/>
              <a:ea typeface="Palatino Linotype"/>
              <a:cs typeface="Palatino Linotype"/>
              <a:sym typeface="Palatino Linotype"/>
            </a:endParaRPr>
          </a:p>
        </p:txBody>
      </p:sp>
      <p:grpSp>
        <p:nvGrpSpPr>
          <p:cNvPr id="214" name="Google Shape;214;p39"/>
          <p:cNvGrpSpPr/>
          <p:nvPr/>
        </p:nvGrpSpPr>
        <p:grpSpPr>
          <a:xfrm>
            <a:off x="3518269" y="3509225"/>
            <a:ext cx="3485294" cy="1592107"/>
            <a:chOff x="5287181" y="-160900"/>
            <a:chExt cx="3485294" cy="1592107"/>
          </a:xfrm>
        </p:grpSpPr>
        <p:pic>
          <p:nvPicPr>
            <p:cNvPr id="215" name="Google Shape;215;p39"/>
            <p:cNvPicPr preferRelativeResize="0"/>
            <p:nvPr/>
          </p:nvPicPr>
          <p:blipFill>
            <a:blip r:embed="rId3">
              <a:alphaModFix/>
            </a:blip>
            <a:stretch>
              <a:fillRect/>
            </a:stretch>
          </p:blipFill>
          <p:spPr>
            <a:xfrm rot="5616593">
              <a:off x="5023997" y="163685"/>
              <a:ext cx="1310733" cy="703232"/>
            </a:xfrm>
            <a:prstGeom prst="rect">
              <a:avLst/>
            </a:prstGeom>
            <a:noFill/>
            <a:ln>
              <a:noFill/>
            </a:ln>
          </p:spPr>
        </p:pic>
        <p:sp>
          <p:nvSpPr>
            <p:cNvPr id="216" name="Google Shape;216;p39"/>
            <p:cNvSpPr txBox="1"/>
            <p:nvPr/>
          </p:nvSpPr>
          <p:spPr>
            <a:xfrm>
              <a:off x="5664775" y="1000106"/>
              <a:ext cx="31077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600">
                  <a:solidFill>
                    <a:srgbClr val="FF63FF"/>
                  </a:solidFill>
                </a:rPr>
                <a:t>30 min break at 15:00</a:t>
              </a:r>
              <a:endParaRPr sz="1600">
                <a:solidFill>
                  <a:srgbClr val="FF63FF"/>
                </a:solidFill>
              </a:endParaRPr>
            </a:p>
          </p:txBody>
        </p:sp>
      </p:grpSp>
      <p:sp>
        <p:nvSpPr>
          <p:cNvPr id="217" name="Google Shape;217;p39"/>
          <p:cNvSpPr txBox="1"/>
          <p:nvPr/>
        </p:nvSpPr>
        <p:spPr>
          <a:xfrm>
            <a:off x="6224513" y="3445850"/>
            <a:ext cx="1723500" cy="1246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GB" sz="1800">
                <a:solidFill>
                  <a:schemeClr val="dk2"/>
                </a:solidFill>
                <a:latin typeface="Palatino Linotype"/>
                <a:ea typeface="Palatino Linotype"/>
                <a:cs typeface="Palatino Linotype"/>
                <a:sym typeface="Palatino Linotype"/>
              </a:rPr>
              <a:t>Part V</a:t>
            </a:r>
            <a:r>
              <a:rPr lang="en-GB" sz="1800">
                <a:solidFill>
                  <a:schemeClr val="dk2"/>
                </a:solidFill>
                <a:latin typeface="Palatino Linotype"/>
                <a:ea typeface="Palatino Linotype"/>
                <a:cs typeface="Palatino Linotype"/>
                <a:sym typeface="Palatino Linotype"/>
              </a:rPr>
              <a:t>: </a:t>
            </a:r>
            <a:endParaRPr sz="1800">
              <a:solidFill>
                <a:schemeClr val="dk2"/>
              </a:solidFill>
              <a:latin typeface="Palatino Linotype"/>
              <a:ea typeface="Palatino Linotype"/>
              <a:cs typeface="Palatino Linotype"/>
              <a:sym typeface="Palatino Linotype"/>
            </a:endParaRPr>
          </a:p>
          <a:p>
            <a:pPr indent="0" lvl="0" marL="0" rtl="0" algn="ctr">
              <a:spcBef>
                <a:spcPts val="0"/>
              </a:spcBef>
              <a:spcAft>
                <a:spcPts val="0"/>
              </a:spcAft>
              <a:buNone/>
            </a:pPr>
            <a:r>
              <a:rPr lang="en-GB" sz="1700">
                <a:solidFill>
                  <a:schemeClr val="dk2"/>
                </a:solidFill>
                <a:latin typeface="Palatino Linotype"/>
                <a:ea typeface="Palatino Linotype"/>
                <a:cs typeface="Palatino Linotype"/>
                <a:sym typeface="Palatino Linotype"/>
              </a:rPr>
              <a:t>Reasoning Under Uncertainty</a:t>
            </a:r>
            <a:endParaRPr sz="1700">
              <a:solidFill>
                <a:schemeClr val="dk2"/>
              </a:solidFill>
              <a:latin typeface="Palatino Linotype"/>
              <a:ea typeface="Palatino Linotype"/>
              <a:cs typeface="Palatino Linotype"/>
              <a:sym typeface="Palatino Linotype"/>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0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4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cxnSp>
        <p:nvCxnSpPr>
          <p:cNvPr id="223" name="Google Shape;223;p40"/>
          <p:cNvCxnSpPr/>
          <p:nvPr/>
        </p:nvCxnSpPr>
        <p:spPr>
          <a:xfrm>
            <a:off x="223425" y="3445850"/>
            <a:ext cx="8678400" cy="0"/>
          </a:xfrm>
          <a:prstGeom prst="straightConnector1">
            <a:avLst/>
          </a:prstGeom>
          <a:noFill/>
          <a:ln cap="flat" cmpd="sng" w="76200">
            <a:solidFill>
              <a:srgbClr val="660066"/>
            </a:solidFill>
            <a:prstDash val="solid"/>
            <a:round/>
            <a:headEnd len="med" w="med" type="none"/>
            <a:tailEnd len="med" w="med" type="triangle"/>
          </a:ln>
        </p:spPr>
      </p:cxnSp>
      <p:sp>
        <p:nvSpPr>
          <p:cNvPr id="224" name="Google Shape;224;p40"/>
          <p:cNvSpPr txBox="1"/>
          <p:nvPr/>
        </p:nvSpPr>
        <p:spPr>
          <a:xfrm>
            <a:off x="223425" y="2632675"/>
            <a:ext cx="18015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800">
                <a:solidFill>
                  <a:schemeClr val="dk2"/>
                </a:solidFill>
                <a:latin typeface="Palatino Linotype"/>
                <a:ea typeface="Palatino Linotype"/>
                <a:cs typeface="Palatino Linotype"/>
                <a:sym typeface="Palatino Linotype"/>
              </a:rPr>
              <a:t>Introduction</a:t>
            </a:r>
            <a:endParaRPr sz="1800">
              <a:solidFill>
                <a:schemeClr val="dk2"/>
              </a:solidFill>
              <a:latin typeface="Palatino Linotype"/>
              <a:ea typeface="Palatino Linotype"/>
              <a:cs typeface="Palatino Linotype"/>
              <a:sym typeface="Palatino Linotype"/>
            </a:endParaRPr>
          </a:p>
        </p:txBody>
      </p:sp>
      <p:sp>
        <p:nvSpPr>
          <p:cNvPr id="225" name="Google Shape;225;p40"/>
          <p:cNvSpPr/>
          <p:nvPr/>
        </p:nvSpPr>
        <p:spPr>
          <a:xfrm>
            <a:off x="294349" y="3705750"/>
            <a:ext cx="2749200" cy="833700"/>
          </a:xfrm>
          <a:prstGeom prst="roundRect">
            <a:avLst>
              <a:gd fmla="val 16667" name="adj"/>
            </a:avLst>
          </a:prstGeom>
          <a:solidFill>
            <a:srgbClr val="FBF7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GB" sz="1900">
                <a:solidFill>
                  <a:schemeClr val="dk2"/>
                </a:solidFill>
                <a:latin typeface="Palatino Linotype"/>
                <a:ea typeface="Palatino Linotype"/>
                <a:cs typeface="Palatino Linotype"/>
                <a:sym typeface="Palatino Linotype"/>
              </a:rPr>
              <a:t>Why is reasoning is central to IR?</a:t>
            </a:r>
            <a:endParaRPr sz="1900">
              <a:latin typeface="Palatino Linotype"/>
              <a:ea typeface="Palatino Linotype"/>
              <a:cs typeface="Palatino Linotype"/>
              <a:sym typeface="Palatino Linotype"/>
            </a:endParaRPr>
          </a:p>
        </p:txBody>
      </p:sp>
      <p:sp>
        <p:nvSpPr>
          <p:cNvPr id="226" name="Google Shape;226;p40"/>
          <p:cNvSpPr/>
          <p:nvPr/>
        </p:nvSpPr>
        <p:spPr>
          <a:xfrm>
            <a:off x="6100449" y="3705747"/>
            <a:ext cx="2749200" cy="833700"/>
          </a:xfrm>
          <a:prstGeom prst="roundRect">
            <a:avLst>
              <a:gd fmla="val 16667" name="adj"/>
            </a:avLst>
          </a:prstGeom>
          <a:solidFill>
            <a:srgbClr val="FBF7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GB" sz="1800">
                <a:solidFill>
                  <a:schemeClr val="dk2"/>
                </a:solidFill>
                <a:latin typeface="Palatino Linotype"/>
                <a:ea typeface="Palatino Linotype"/>
                <a:cs typeface="Palatino Linotype"/>
                <a:sym typeface="Palatino Linotype"/>
              </a:rPr>
              <a:t>The large landscape of methodologies</a:t>
            </a:r>
            <a:endParaRPr sz="1800">
              <a:solidFill>
                <a:schemeClr val="dk2"/>
              </a:solidFill>
              <a:latin typeface="Palatino Linotype"/>
              <a:ea typeface="Palatino Linotype"/>
              <a:cs typeface="Palatino Linotype"/>
              <a:sym typeface="Palatino Linotype"/>
            </a:endParaRPr>
          </a:p>
        </p:txBody>
      </p:sp>
      <p:sp>
        <p:nvSpPr>
          <p:cNvPr id="227" name="Google Shape;227;p40"/>
          <p:cNvSpPr/>
          <p:nvPr/>
        </p:nvSpPr>
        <p:spPr>
          <a:xfrm>
            <a:off x="3220775" y="3705750"/>
            <a:ext cx="2749200" cy="833700"/>
          </a:xfrm>
          <a:prstGeom prst="roundRect">
            <a:avLst>
              <a:gd fmla="val 16667" name="adj"/>
            </a:avLst>
          </a:prstGeom>
          <a:solidFill>
            <a:srgbClr val="FBF7DB"/>
          </a:solid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sz="1900">
                <a:solidFill>
                  <a:schemeClr val="dk2"/>
                </a:solidFill>
                <a:latin typeface="Palatino Linotype"/>
                <a:ea typeface="Palatino Linotype"/>
                <a:cs typeface="Palatino Linotype"/>
                <a:sym typeface="Palatino Linotype"/>
              </a:rPr>
              <a:t>Complex information needs</a:t>
            </a:r>
            <a:endParaRPr sz="1500">
              <a:solidFill>
                <a:schemeClr val="dk2"/>
              </a:solidFill>
              <a:latin typeface="Palatino Linotype"/>
              <a:ea typeface="Palatino Linotype"/>
              <a:cs typeface="Palatino Linotype"/>
              <a:sym typeface="Palatino Linotype"/>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41"/>
          <p:cNvSpPr txBox="1"/>
          <p:nvPr/>
        </p:nvSpPr>
        <p:spPr>
          <a:xfrm>
            <a:off x="10434918" y="6723529"/>
            <a:ext cx="1848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33" name="Google Shape;233;p4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00000"/>
              </a:lnSpc>
              <a:spcBef>
                <a:spcPts val="0"/>
              </a:spcBef>
              <a:spcAft>
                <a:spcPts val="0"/>
              </a:spcAft>
              <a:buSzPct val="111111"/>
              <a:buNone/>
            </a:pPr>
            <a:r>
              <a:rPr b="1" lang="en-GB">
                <a:solidFill>
                  <a:schemeClr val="dk1"/>
                </a:solidFill>
                <a:latin typeface="Palatino Linotype"/>
                <a:ea typeface="Palatino Linotype"/>
                <a:cs typeface="Palatino Linotype"/>
                <a:sym typeface="Palatino Linotype"/>
              </a:rPr>
              <a:t>Why is reasoning central to information retrieval?</a:t>
            </a:r>
            <a:endParaRPr b="1">
              <a:solidFill>
                <a:schemeClr val="dk1"/>
              </a:solidFill>
              <a:latin typeface="Palatino Linotype"/>
              <a:ea typeface="Palatino Linotype"/>
              <a:cs typeface="Palatino Linotype"/>
              <a:sym typeface="Palatino Linotype"/>
            </a:endParaRPr>
          </a:p>
        </p:txBody>
      </p:sp>
      <p:sp>
        <p:nvSpPr>
          <p:cNvPr id="234" name="Google Shape;234;p41"/>
          <p:cNvSpPr/>
          <p:nvPr/>
        </p:nvSpPr>
        <p:spPr>
          <a:xfrm>
            <a:off x="311700" y="2067675"/>
            <a:ext cx="2536500" cy="1935600"/>
          </a:xfrm>
          <a:prstGeom prst="roundRect">
            <a:avLst>
              <a:gd fmla="val 16667" name="adj"/>
            </a:avLst>
          </a:prstGeom>
          <a:solidFill>
            <a:srgbClr val="FBF7DB"/>
          </a:solidFill>
          <a:ln>
            <a:noFill/>
          </a:ln>
        </p:spPr>
        <p:txBody>
          <a:bodyPr anchorCtr="0" anchor="ctr" bIns="91425" lIns="91425" spcFirstLastPara="1" rIns="91425" wrap="square" tIns="91425">
            <a:noAutofit/>
          </a:bodyPr>
          <a:lstStyle/>
          <a:p>
            <a:pPr indent="-317500" lvl="0" marL="457200" rtl="0" algn="l">
              <a:lnSpc>
                <a:spcPct val="115000"/>
              </a:lnSpc>
              <a:spcBef>
                <a:spcPts val="0"/>
              </a:spcBef>
              <a:spcAft>
                <a:spcPts val="0"/>
              </a:spcAft>
              <a:buSzPts val="1400"/>
              <a:buFont typeface="Palatino Linotype"/>
              <a:buChar char="●"/>
            </a:pPr>
            <a:r>
              <a:rPr lang="en-GB">
                <a:latin typeface="Palatino Linotype"/>
                <a:ea typeface="Palatino Linotype"/>
                <a:cs typeface="Palatino Linotype"/>
                <a:sym typeface="Palatino Linotype"/>
              </a:rPr>
              <a:t>Compositional, multi-step, temporal, causal, … </a:t>
            </a:r>
            <a:endParaRPr>
              <a:latin typeface="Palatino Linotype"/>
              <a:ea typeface="Palatino Linotype"/>
              <a:cs typeface="Palatino Linotype"/>
              <a:sym typeface="Palatino Linotype"/>
            </a:endParaRPr>
          </a:p>
          <a:p>
            <a:pPr indent="-317500" lvl="0" marL="457200" rtl="0" algn="l">
              <a:lnSpc>
                <a:spcPct val="115000"/>
              </a:lnSpc>
              <a:spcBef>
                <a:spcPts val="0"/>
              </a:spcBef>
              <a:spcAft>
                <a:spcPts val="0"/>
              </a:spcAft>
              <a:buSzPts val="1400"/>
              <a:buFont typeface="Palatino Linotype"/>
              <a:buChar char="●"/>
            </a:pPr>
            <a:r>
              <a:rPr lang="en-GB">
                <a:latin typeface="Palatino Linotype"/>
                <a:ea typeface="Palatino Linotype"/>
                <a:cs typeface="Palatino Linotype"/>
                <a:sym typeface="Palatino Linotype"/>
              </a:rPr>
              <a:t>Issued by both humans and </a:t>
            </a:r>
            <a:endParaRPr>
              <a:latin typeface="Palatino Linotype"/>
              <a:ea typeface="Palatino Linotype"/>
              <a:cs typeface="Palatino Linotype"/>
              <a:sym typeface="Palatino Linotype"/>
            </a:endParaRPr>
          </a:p>
          <a:p>
            <a:pPr indent="0" lvl="0" marL="457200" rtl="0" algn="l">
              <a:lnSpc>
                <a:spcPct val="115000"/>
              </a:lnSpc>
              <a:spcBef>
                <a:spcPts val="0"/>
              </a:spcBef>
              <a:spcAft>
                <a:spcPts val="0"/>
              </a:spcAft>
              <a:buNone/>
            </a:pPr>
            <a:r>
              <a:rPr lang="en-GB">
                <a:latin typeface="Palatino Linotype"/>
                <a:ea typeface="Palatino Linotype"/>
                <a:cs typeface="Palatino Linotype"/>
                <a:sym typeface="Palatino Linotype"/>
              </a:rPr>
              <a:t>search  agents</a:t>
            </a:r>
            <a:endParaRPr>
              <a:latin typeface="Palatino Linotype"/>
              <a:ea typeface="Palatino Linotype"/>
              <a:cs typeface="Palatino Linotype"/>
              <a:sym typeface="Palatino Linotype"/>
            </a:endParaRPr>
          </a:p>
        </p:txBody>
      </p:sp>
      <p:sp>
        <p:nvSpPr>
          <p:cNvPr id="235" name="Google Shape;235;p4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
        <p:nvSpPr>
          <p:cNvPr id="236" name="Google Shape;236;p41"/>
          <p:cNvSpPr txBox="1"/>
          <p:nvPr/>
        </p:nvSpPr>
        <p:spPr>
          <a:xfrm>
            <a:off x="143625" y="1295225"/>
            <a:ext cx="2769900" cy="8778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Clr>
                <a:schemeClr val="dk1"/>
              </a:buClr>
              <a:buSzPts val="1100"/>
              <a:buFont typeface="Arial"/>
              <a:buNone/>
            </a:pPr>
            <a:r>
              <a:rPr b="1" lang="en-GB" sz="1800">
                <a:solidFill>
                  <a:schemeClr val="dk2"/>
                </a:solidFill>
                <a:latin typeface="Palatino Linotype"/>
                <a:ea typeface="Palatino Linotype"/>
                <a:cs typeface="Palatino Linotype"/>
                <a:sym typeface="Palatino Linotype"/>
              </a:rPr>
              <a:t>I</a:t>
            </a:r>
            <a:r>
              <a:rPr b="1" lang="en-GB" sz="1800">
                <a:solidFill>
                  <a:schemeClr val="dk2"/>
                </a:solidFill>
                <a:latin typeface="Palatino Linotype"/>
                <a:ea typeface="Palatino Linotype"/>
                <a:cs typeface="Palatino Linotype"/>
                <a:sym typeface="Palatino Linotype"/>
              </a:rPr>
              <a:t>ncreasingly complex queries</a:t>
            </a:r>
            <a:endParaRPr sz="2200">
              <a:solidFill>
                <a:schemeClr val="dk2"/>
              </a:solidFill>
              <a:latin typeface="Palatino Linotype"/>
              <a:ea typeface="Palatino Linotype"/>
              <a:cs typeface="Palatino Linotype"/>
              <a:sym typeface="Palatino Linotype"/>
            </a:endParaRPr>
          </a:p>
        </p:txBody>
      </p:sp>
      <p:sp>
        <p:nvSpPr>
          <p:cNvPr id="237" name="Google Shape;237;p41"/>
          <p:cNvSpPr/>
          <p:nvPr/>
        </p:nvSpPr>
        <p:spPr>
          <a:xfrm>
            <a:off x="3355125" y="2067675"/>
            <a:ext cx="2536500" cy="1935600"/>
          </a:xfrm>
          <a:prstGeom prst="roundRect">
            <a:avLst>
              <a:gd fmla="val 16667" name="adj"/>
            </a:avLst>
          </a:prstGeom>
          <a:solidFill>
            <a:srgbClr val="FBF7DB"/>
          </a:solidFill>
          <a:ln>
            <a:noFill/>
          </a:ln>
        </p:spPr>
        <p:txBody>
          <a:bodyPr anchorCtr="0" anchor="ctr" bIns="91425" lIns="91425" spcFirstLastPara="1" rIns="91425" wrap="square" tIns="91425">
            <a:noAutofit/>
          </a:bodyPr>
          <a:lstStyle/>
          <a:p>
            <a:pPr indent="-304800" lvl="0" marL="457200" rtl="0" algn="l">
              <a:lnSpc>
                <a:spcPct val="115000"/>
              </a:lnSpc>
              <a:spcBef>
                <a:spcPts val="0"/>
              </a:spcBef>
              <a:spcAft>
                <a:spcPts val="0"/>
              </a:spcAft>
              <a:buClr>
                <a:schemeClr val="dk1"/>
              </a:buClr>
              <a:buSzPts val="1200"/>
              <a:buFont typeface="Palatino Linotype"/>
              <a:buChar char="●"/>
            </a:pPr>
            <a:r>
              <a:rPr lang="en-GB" sz="1200">
                <a:solidFill>
                  <a:schemeClr val="dk1"/>
                </a:solidFill>
                <a:latin typeface="Palatino Linotype"/>
                <a:ea typeface="Palatino Linotype"/>
                <a:cs typeface="Palatino Linotype"/>
                <a:sym typeface="Palatino Linotype"/>
              </a:rPr>
              <a:t>Relevance often depends on several documents</a:t>
            </a:r>
            <a:endParaRPr sz="1200">
              <a:solidFill>
                <a:schemeClr val="dk1"/>
              </a:solidFill>
              <a:latin typeface="Palatino Linotype"/>
              <a:ea typeface="Palatino Linotype"/>
              <a:cs typeface="Palatino Linotype"/>
              <a:sym typeface="Palatino Linotype"/>
            </a:endParaRPr>
          </a:p>
          <a:p>
            <a:pPr indent="-304800" lvl="0" marL="457200" rtl="0" algn="l">
              <a:lnSpc>
                <a:spcPct val="115000"/>
              </a:lnSpc>
              <a:spcBef>
                <a:spcPts val="0"/>
              </a:spcBef>
              <a:spcAft>
                <a:spcPts val="0"/>
              </a:spcAft>
              <a:buClr>
                <a:schemeClr val="dk1"/>
              </a:buClr>
              <a:buSzPts val="1200"/>
              <a:buFont typeface="Palatino Linotype"/>
              <a:buChar char="●"/>
            </a:pPr>
            <a:r>
              <a:rPr lang="en-GB" sz="1200">
                <a:solidFill>
                  <a:schemeClr val="dk1"/>
                </a:solidFill>
                <a:latin typeface="Palatino Linotype"/>
                <a:ea typeface="Palatino Linotype"/>
                <a:cs typeface="Palatino Linotype"/>
                <a:sym typeface="Palatino Linotype"/>
              </a:rPr>
              <a:t>Incomplete information at hand while answering user questions</a:t>
            </a:r>
            <a:endParaRPr sz="1200">
              <a:solidFill>
                <a:schemeClr val="dk1"/>
              </a:solidFill>
              <a:latin typeface="Palatino Linotype"/>
              <a:ea typeface="Palatino Linotype"/>
              <a:cs typeface="Palatino Linotype"/>
              <a:sym typeface="Palatino Linotype"/>
            </a:endParaRPr>
          </a:p>
          <a:p>
            <a:pPr indent="-304800" lvl="0" marL="457200" rtl="0" algn="l">
              <a:lnSpc>
                <a:spcPct val="115000"/>
              </a:lnSpc>
              <a:spcBef>
                <a:spcPts val="0"/>
              </a:spcBef>
              <a:spcAft>
                <a:spcPts val="0"/>
              </a:spcAft>
              <a:buClr>
                <a:schemeClr val="dk1"/>
              </a:buClr>
              <a:buSzPts val="1200"/>
              <a:buFont typeface="Palatino Linotype"/>
              <a:buChar char="●"/>
            </a:pPr>
            <a:r>
              <a:rPr lang="en-GB" sz="1200">
                <a:solidFill>
                  <a:schemeClr val="dk1"/>
                </a:solidFill>
                <a:latin typeface="Palatino Linotype"/>
                <a:ea typeface="Palatino Linotype"/>
                <a:cs typeface="Palatino Linotype"/>
                <a:sym typeface="Palatino Linotype"/>
              </a:rPr>
              <a:t>Evidence might change over time</a:t>
            </a:r>
            <a:endParaRPr sz="1200">
              <a:solidFill>
                <a:schemeClr val="dk1"/>
              </a:solidFill>
              <a:latin typeface="Palatino Linotype"/>
              <a:ea typeface="Palatino Linotype"/>
              <a:cs typeface="Palatino Linotype"/>
              <a:sym typeface="Palatino Linotype"/>
            </a:endParaRPr>
          </a:p>
        </p:txBody>
      </p:sp>
      <p:sp>
        <p:nvSpPr>
          <p:cNvPr id="238" name="Google Shape;238;p41"/>
          <p:cNvSpPr/>
          <p:nvPr/>
        </p:nvSpPr>
        <p:spPr>
          <a:xfrm>
            <a:off x="6501300" y="2067675"/>
            <a:ext cx="2536500" cy="1935600"/>
          </a:xfrm>
          <a:prstGeom prst="roundRect">
            <a:avLst>
              <a:gd fmla="val 16667" name="adj"/>
            </a:avLst>
          </a:prstGeom>
          <a:solidFill>
            <a:srgbClr val="FBF7DB"/>
          </a:solidFill>
          <a:ln>
            <a:noFill/>
          </a:ln>
        </p:spPr>
        <p:txBody>
          <a:bodyPr anchorCtr="0" anchor="ctr" bIns="91425" lIns="91425" spcFirstLastPara="1" rIns="91425" wrap="square" tIns="91425">
            <a:noAutofit/>
          </a:bodyPr>
          <a:lstStyle/>
          <a:p>
            <a:pPr indent="-292100" lvl="0" marL="457200" rtl="0" algn="l">
              <a:lnSpc>
                <a:spcPct val="115000"/>
              </a:lnSpc>
              <a:spcBef>
                <a:spcPts val="0"/>
              </a:spcBef>
              <a:spcAft>
                <a:spcPts val="0"/>
              </a:spcAft>
              <a:buClr>
                <a:schemeClr val="dk1"/>
              </a:buClr>
              <a:buSzPts val="1000"/>
              <a:buFont typeface="Palatino Linotype"/>
              <a:buChar char="●"/>
            </a:pPr>
            <a:r>
              <a:rPr lang="en-GB" sz="1000">
                <a:solidFill>
                  <a:schemeClr val="dk1"/>
                </a:solidFill>
                <a:latin typeface="Palatino Linotype"/>
                <a:ea typeface="Palatino Linotype"/>
                <a:cs typeface="Palatino Linotype"/>
                <a:sym typeface="Palatino Linotype"/>
              </a:rPr>
              <a:t>Embeddings  limited in representing constraints &amp; dependencies</a:t>
            </a:r>
            <a:endParaRPr sz="1000">
              <a:solidFill>
                <a:schemeClr val="dk1"/>
              </a:solidFill>
              <a:latin typeface="Palatino Linotype"/>
              <a:ea typeface="Palatino Linotype"/>
              <a:cs typeface="Palatino Linotype"/>
              <a:sym typeface="Palatino Linotype"/>
            </a:endParaRPr>
          </a:p>
          <a:p>
            <a:pPr indent="-292100" lvl="0" marL="457200" rtl="0" algn="l">
              <a:lnSpc>
                <a:spcPct val="115000"/>
              </a:lnSpc>
              <a:spcBef>
                <a:spcPts val="0"/>
              </a:spcBef>
              <a:spcAft>
                <a:spcPts val="0"/>
              </a:spcAft>
              <a:buClr>
                <a:schemeClr val="dk1"/>
              </a:buClr>
              <a:buSzPts val="1000"/>
              <a:buFont typeface="Palatino Linotype"/>
              <a:buChar char="●"/>
            </a:pPr>
            <a:r>
              <a:rPr lang="en-GB" sz="1000">
                <a:solidFill>
                  <a:schemeClr val="dk1"/>
                </a:solidFill>
                <a:latin typeface="Palatino Linotype"/>
                <a:ea typeface="Palatino Linotype"/>
                <a:cs typeface="Palatino Linotype"/>
                <a:sym typeface="Palatino Linotype"/>
              </a:rPr>
              <a:t>LLMs can produce plausible yet wrong traces and references</a:t>
            </a:r>
            <a:endParaRPr sz="1000">
              <a:solidFill>
                <a:schemeClr val="dk1"/>
              </a:solidFill>
              <a:latin typeface="Palatino Linotype"/>
              <a:ea typeface="Palatino Linotype"/>
              <a:cs typeface="Palatino Linotype"/>
              <a:sym typeface="Palatino Linotype"/>
            </a:endParaRPr>
          </a:p>
          <a:p>
            <a:pPr indent="-292100" lvl="0" marL="457200" rtl="0" algn="l">
              <a:lnSpc>
                <a:spcPct val="115000"/>
              </a:lnSpc>
              <a:spcBef>
                <a:spcPts val="0"/>
              </a:spcBef>
              <a:spcAft>
                <a:spcPts val="0"/>
              </a:spcAft>
              <a:buClr>
                <a:schemeClr val="dk1"/>
              </a:buClr>
              <a:buSzPts val="1000"/>
              <a:buFont typeface="Palatino Linotype"/>
              <a:buChar char="●"/>
            </a:pPr>
            <a:r>
              <a:rPr lang="en-GB" sz="1000">
                <a:solidFill>
                  <a:schemeClr val="dk1"/>
                </a:solidFill>
                <a:latin typeface="Palatino Linotype"/>
                <a:ea typeface="Palatino Linotype"/>
                <a:cs typeface="Palatino Linotype"/>
                <a:sym typeface="Palatino Linotype"/>
              </a:rPr>
              <a:t>Scaling reasoning-capable solutions to millions of documents is expensive and inefficient</a:t>
            </a:r>
            <a:endParaRPr sz="1000">
              <a:solidFill>
                <a:schemeClr val="dk1"/>
              </a:solidFill>
              <a:latin typeface="Palatino Linotype"/>
              <a:ea typeface="Palatino Linotype"/>
              <a:cs typeface="Palatino Linotype"/>
              <a:sym typeface="Palatino Linotype"/>
            </a:endParaRPr>
          </a:p>
        </p:txBody>
      </p:sp>
      <p:sp>
        <p:nvSpPr>
          <p:cNvPr id="239" name="Google Shape;239;p41"/>
          <p:cNvSpPr txBox="1"/>
          <p:nvPr/>
        </p:nvSpPr>
        <p:spPr>
          <a:xfrm>
            <a:off x="3187050" y="1295225"/>
            <a:ext cx="2769900" cy="8778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n-GB" sz="1800">
                <a:solidFill>
                  <a:schemeClr val="dk2"/>
                </a:solidFill>
                <a:latin typeface="Palatino Linotype"/>
                <a:ea typeface="Palatino Linotype"/>
                <a:cs typeface="Palatino Linotype"/>
                <a:sym typeface="Palatino Linotype"/>
              </a:rPr>
              <a:t>Scattered &amp; incomplete information</a:t>
            </a:r>
            <a:endParaRPr b="1" sz="1800">
              <a:solidFill>
                <a:schemeClr val="dk2"/>
              </a:solidFill>
              <a:latin typeface="Palatino Linotype"/>
              <a:ea typeface="Palatino Linotype"/>
              <a:cs typeface="Palatino Linotype"/>
              <a:sym typeface="Palatino Linotype"/>
            </a:endParaRPr>
          </a:p>
          <a:p>
            <a:pPr indent="0" lvl="0" marL="0" rtl="0" algn="ctr">
              <a:lnSpc>
                <a:spcPct val="115000"/>
              </a:lnSpc>
              <a:spcBef>
                <a:spcPts val="0"/>
              </a:spcBef>
              <a:spcAft>
                <a:spcPts val="0"/>
              </a:spcAft>
              <a:buNone/>
            </a:pPr>
            <a:r>
              <a:t/>
            </a:r>
            <a:endParaRPr b="1">
              <a:solidFill>
                <a:schemeClr val="dk2"/>
              </a:solidFill>
              <a:latin typeface="Palatino Linotype"/>
              <a:ea typeface="Palatino Linotype"/>
              <a:cs typeface="Palatino Linotype"/>
              <a:sym typeface="Palatino Linotype"/>
            </a:endParaRPr>
          </a:p>
          <a:p>
            <a:pPr indent="0" lvl="0" marL="0" rtl="0" algn="ctr">
              <a:spcBef>
                <a:spcPts val="0"/>
              </a:spcBef>
              <a:spcAft>
                <a:spcPts val="0"/>
              </a:spcAft>
              <a:buNone/>
            </a:pPr>
            <a:r>
              <a:t/>
            </a:r>
            <a:endParaRPr sz="1800">
              <a:solidFill>
                <a:schemeClr val="dk2"/>
              </a:solidFill>
              <a:latin typeface="Palatino Linotype"/>
              <a:ea typeface="Palatino Linotype"/>
              <a:cs typeface="Palatino Linotype"/>
              <a:sym typeface="Palatino Linotype"/>
            </a:endParaRPr>
          </a:p>
        </p:txBody>
      </p:sp>
      <p:sp>
        <p:nvSpPr>
          <p:cNvPr id="240" name="Google Shape;240;p41"/>
          <p:cNvSpPr txBox="1"/>
          <p:nvPr/>
        </p:nvSpPr>
        <p:spPr>
          <a:xfrm>
            <a:off x="6333225" y="1295225"/>
            <a:ext cx="2769900" cy="877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GB" sz="1800">
                <a:solidFill>
                  <a:schemeClr val="dk2"/>
                </a:solidFill>
                <a:latin typeface="Palatino Linotype"/>
                <a:ea typeface="Palatino Linotype"/>
                <a:cs typeface="Palatino Linotype"/>
                <a:sym typeface="Palatino Linotype"/>
              </a:rPr>
              <a:t>Limitations of existing solutions</a:t>
            </a:r>
            <a:endParaRPr sz="1800">
              <a:solidFill>
                <a:schemeClr val="dk2"/>
              </a:solidFill>
              <a:latin typeface="Palatino Linotype"/>
              <a:ea typeface="Palatino Linotype"/>
              <a:cs typeface="Palatino Linotype"/>
              <a:sym typeface="Palatino Linotype"/>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4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00000"/>
              </a:lnSpc>
              <a:spcBef>
                <a:spcPts val="0"/>
              </a:spcBef>
              <a:spcAft>
                <a:spcPts val="0"/>
              </a:spcAft>
              <a:buSzPct val="100000"/>
              <a:buNone/>
            </a:pPr>
            <a:r>
              <a:rPr b="1" lang="en-GB"/>
              <a:t>Complex Queries issued by user/agent</a:t>
            </a:r>
            <a:endParaRPr/>
          </a:p>
        </p:txBody>
      </p:sp>
      <p:sp>
        <p:nvSpPr>
          <p:cNvPr id="246" name="Google Shape;246;p42"/>
          <p:cNvSpPr/>
          <p:nvPr/>
        </p:nvSpPr>
        <p:spPr>
          <a:xfrm>
            <a:off x="274320" y="1188720"/>
            <a:ext cx="2066400" cy="2697600"/>
          </a:xfrm>
          <a:prstGeom prst="roundRect">
            <a:avLst>
              <a:gd fmla="val 8000" name="adj"/>
            </a:avLst>
          </a:prstGeom>
          <a:solidFill>
            <a:srgbClr val="FAFAF7"/>
          </a:solidFill>
          <a:ln cap="flat" cmpd="sng" w="13950">
            <a:solidFill>
              <a:srgbClr val="3B6FC9"/>
            </a:solidFill>
            <a:prstDash val="solid"/>
            <a:round/>
            <a:headEnd len="sm" w="sm" type="none"/>
            <a:tailEnd len="sm" w="sm" type="none"/>
          </a:ln>
        </p:spPr>
        <p:txBody>
          <a:bodyPr anchorCtr="0" anchor="t" bIns="36575" lIns="82275" spcFirstLastPara="1" rIns="82275" wrap="square" tIns="54850">
            <a:noAutofit/>
          </a:bodyPr>
          <a:lstStyle/>
          <a:p>
            <a:pPr indent="0" lvl="0" marL="0" marR="0" rtl="0" algn="ctr">
              <a:lnSpc>
                <a:spcPct val="100000"/>
              </a:lnSpc>
              <a:spcBef>
                <a:spcPts val="0"/>
              </a:spcBef>
              <a:spcAft>
                <a:spcPts val="0"/>
              </a:spcAft>
              <a:buNone/>
            </a:pPr>
            <a:r>
              <a:rPr i="1" lang="en-GB" sz="1050" u="none" cap="none" strike="noStrike">
                <a:solidFill>
                  <a:srgbClr val="666666"/>
                </a:solidFill>
              </a:rPr>
              <a:t>Round 1</a:t>
            </a:r>
            <a:endParaRPr/>
          </a:p>
          <a:p>
            <a:pPr indent="0" lvl="0" marL="0" marR="0" rtl="0" algn="l">
              <a:lnSpc>
                <a:spcPct val="100000"/>
              </a:lnSpc>
              <a:spcBef>
                <a:spcPts val="300"/>
              </a:spcBef>
              <a:spcAft>
                <a:spcPts val="0"/>
              </a:spcAft>
              <a:buNone/>
            </a:pPr>
            <a:r>
              <a:rPr b="1" lang="en-GB" sz="1250">
                <a:solidFill>
                  <a:srgbClr val="3B6FC9"/>
                </a:solidFill>
              </a:rPr>
              <a:t>Query:</a:t>
            </a:r>
            <a:endParaRPr b="1" sz="1250">
              <a:solidFill>
                <a:srgbClr val="3B6FC9"/>
              </a:solidFill>
            </a:endParaRPr>
          </a:p>
          <a:p>
            <a:pPr indent="0" lvl="0" marL="0" marR="0" rtl="0" algn="l">
              <a:lnSpc>
                <a:spcPct val="100000"/>
              </a:lnSpc>
              <a:spcBef>
                <a:spcPts val="300"/>
              </a:spcBef>
              <a:spcAft>
                <a:spcPts val="0"/>
              </a:spcAft>
              <a:buNone/>
            </a:pPr>
            <a:r>
              <a:rPr b="1" i="0" lang="en-GB" sz="1250" u="none" cap="none" strike="noStrike">
                <a:solidFill>
                  <a:srgbClr val="3B6FC9"/>
                </a:solidFill>
              </a:rPr>
              <a:t>“efficient transformers”</a:t>
            </a:r>
            <a:endParaRPr/>
          </a:p>
          <a:p>
            <a:pPr indent="0" lvl="0" marL="0" marR="0" rtl="0" algn="l">
              <a:lnSpc>
                <a:spcPct val="100000"/>
              </a:lnSpc>
              <a:spcBef>
                <a:spcPts val="300"/>
              </a:spcBef>
              <a:spcAft>
                <a:spcPts val="0"/>
              </a:spcAft>
              <a:buNone/>
            </a:pPr>
            <a:r>
              <a:t/>
            </a:r>
            <a:endParaRPr sz="1050">
              <a:solidFill>
                <a:srgbClr val="333333"/>
              </a:solidFill>
            </a:endParaRPr>
          </a:p>
          <a:p>
            <a:pPr indent="0" lvl="0" marL="0" marR="0" rtl="0" algn="l">
              <a:lnSpc>
                <a:spcPct val="100000"/>
              </a:lnSpc>
              <a:spcBef>
                <a:spcPts val="300"/>
              </a:spcBef>
              <a:spcAft>
                <a:spcPts val="0"/>
              </a:spcAft>
              <a:buNone/>
            </a:pPr>
            <a:r>
              <a:rPr lang="en-GB" sz="1050">
                <a:solidFill>
                  <a:srgbClr val="333333"/>
                </a:solidFill>
              </a:rPr>
              <a:t>Many results  </a:t>
            </a:r>
            <a:r>
              <a:rPr i="0" lang="en-GB" sz="1050" u="none" cap="none" strike="noStrike">
                <a:solidFill>
                  <a:srgbClr val="333333"/>
                </a:solidFill>
              </a:rPr>
              <a:t>hits: surveys, blogs, </a:t>
            </a:r>
            <a:r>
              <a:rPr lang="en-GB" sz="1050">
                <a:solidFill>
                  <a:srgbClr val="333333"/>
                </a:solidFill>
              </a:rPr>
              <a:t>many transformer architectures</a:t>
            </a:r>
            <a:r>
              <a:rPr i="0" lang="en-GB" sz="1050" u="none" cap="none" strike="noStrike">
                <a:solidFill>
                  <a:srgbClr val="333333"/>
                </a:solidFill>
              </a:rPr>
              <a:t>.</a:t>
            </a:r>
            <a:endParaRPr/>
          </a:p>
          <a:p>
            <a:pPr indent="0" lvl="0" marL="0" marR="0" rtl="0" algn="l">
              <a:lnSpc>
                <a:spcPct val="100000"/>
              </a:lnSpc>
              <a:spcBef>
                <a:spcPts val="300"/>
              </a:spcBef>
              <a:spcAft>
                <a:spcPts val="0"/>
              </a:spcAft>
              <a:buNone/>
            </a:pPr>
            <a:r>
              <a:t/>
            </a:r>
            <a:endParaRPr i="1" sz="1000">
              <a:solidFill>
                <a:srgbClr val="666666"/>
              </a:solidFill>
            </a:endParaRPr>
          </a:p>
          <a:p>
            <a:pPr indent="0" lvl="0" marL="0" marR="0" rtl="0" algn="l">
              <a:lnSpc>
                <a:spcPct val="100000"/>
              </a:lnSpc>
              <a:spcBef>
                <a:spcPts val="300"/>
              </a:spcBef>
              <a:spcAft>
                <a:spcPts val="0"/>
              </a:spcAft>
              <a:buNone/>
            </a:pPr>
            <a:r>
              <a:rPr i="1" lang="en-GB" sz="1000" u="none" cap="none" strike="noStrike">
                <a:solidFill>
                  <a:srgbClr val="666666"/>
                </a:solidFill>
              </a:rPr>
              <a:t>Too broad — topic alone doesn't define the need.</a:t>
            </a:r>
            <a:endParaRPr/>
          </a:p>
        </p:txBody>
      </p:sp>
      <p:sp>
        <p:nvSpPr>
          <p:cNvPr id="247" name="Google Shape;247;p42"/>
          <p:cNvSpPr/>
          <p:nvPr/>
        </p:nvSpPr>
        <p:spPr>
          <a:xfrm>
            <a:off x="2459735" y="1188720"/>
            <a:ext cx="2066400" cy="2697600"/>
          </a:xfrm>
          <a:prstGeom prst="roundRect">
            <a:avLst>
              <a:gd fmla="val 8000" name="adj"/>
            </a:avLst>
          </a:prstGeom>
          <a:solidFill>
            <a:srgbClr val="FAFAF7"/>
          </a:solidFill>
          <a:ln cap="flat" cmpd="sng" w="13950">
            <a:solidFill>
              <a:srgbClr val="D98E2B"/>
            </a:solidFill>
            <a:prstDash val="solid"/>
            <a:round/>
            <a:headEnd len="sm" w="sm" type="none"/>
            <a:tailEnd len="sm" w="sm" type="none"/>
          </a:ln>
        </p:spPr>
        <p:txBody>
          <a:bodyPr anchorCtr="0" anchor="t" bIns="36575" lIns="82275" spcFirstLastPara="1" rIns="82275" wrap="square" tIns="54850">
            <a:noAutofit/>
          </a:bodyPr>
          <a:lstStyle/>
          <a:p>
            <a:pPr indent="0" lvl="0" marL="0" marR="0" rtl="0" algn="ctr">
              <a:lnSpc>
                <a:spcPct val="100000"/>
              </a:lnSpc>
              <a:spcBef>
                <a:spcPts val="0"/>
              </a:spcBef>
              <a:spcAft>
                <a:spcPts val="0"/>
              </a:spcAft>
              <a:buNone/>
            </a:pPr>
            <a:r>
              <a:rPr i="1" lang="en-GB" sz="1050" u="none" cap="none" strike="noStrike">
                <a:solidFill>
                  <a:srgbClr val="666666"/>
                </a:solidFill>
              </a:rPr>
              <a:t>Round 2</a:t>
            </a:r>
            <a:endParaRPr/>
          </a:p>
          <a:p>
            <a:pPr indent="0" lvl="0" marL="0" marR="0" rtl="0" algn="l">
              <a:lnSpc>
                <a:spcPct val="100000"/>
              </a:lnSpc>
              <a:spcBef>
                <a:spcPts val="300"/>
              </a:spcBef>
              <a:spcAft>
                <a:spcPts val="0"/>
              </a:spcAft>
              <a:buClr>
                <a:srgbClr val="000000"/>
              </a:buClr>
              <a:buFont typeface="Arial"/>
              <a:buNone/>
            </a:pPr>
            <a:r>
              <a:rPr b="1" lang="en-GB" sz="1250">
                <a:solidFill>
                  <a:srgbClr val="D98E2B"/>
                </a:solidFill>
              </a:rPr>
              <a:t>Query:</a:t>
            </a:r>
            <a:endParaRPr b="1" sz="1250">
              <a:solidFill>
                <a:srgbClr val="D98E2B"/>
              </a:solidFill>
            </a:endParaRPr>
          </a:p>
          <a:p>
            <a:pPr indent="0" lvl="0" marL="0" marR="0" rtl="0" algn="l">
              <a:lnSpc>
                <a:spcPct val="100000"/>
              </a:lnSpc>
              <a:spcBef>
                <a:spcPts val="300"/>
              </a:spcBef>
              <a:spcAft>
                <a:spcPts val="0"/>
              </a:spcAft>
              <a:buNone/>
            </a:pPr>
            <a:r>
              <a:rPr b="1" i="0" lang="en-GB" sz="1250" u="none" cap="none" strike="noStrike">
                <a:solidFill>
                  <a:srgbClr val="D98E2B"/>
                </a:solidFill>
              </a:rPr>
              <a:t>+ “for long documents”</a:t>
            </a:r>
            <a:endParaRPr/>
          </a:p>
          <a:p>
            <a:pPr indent="0" lvl="0" marL="0" marR="0" rtl="0" algn="l">
              <a:lnSpc>
                <a:spcPct val="100000"/>
              </a:lnSpc>
              <a:spcBef>
                <a:spcPts val="300"/>
              </a:spcBef>
              <a:spcAft>
                <a:spcPts val="0"/>
              </a:spcAft>
              <a:buNone/>
            </a:pPr>
            <a:r>
              <a:t/>
            </a:r>
            <a:endParaRPr sz="1050">
              <a:solidFill>
                <a:srgbClr val="333333"/>
              </a:solidFill>
            </a:endParaRPr>
          </a:p>
          <a:p>
            <a:pPr indent="0" lvl="0" marL="0" marR="0" rtl="0" algn="l">
              <a:lnSpc>
                <a:spcPct val="100000"/>
              </a:lnSpc>
              <a:spcBef>
                <a:spcPts val="300"/>
              </a:spcBef>
              <a:spcAft>
                <a:spcPts val="0"/>
              </a:spcAft>
              <a:buNone/>
            </a:pPr>
            <a:r>
              <a:rPr i="0" lang="en-GB" sz="1050" u="none" cap="none" strike="noStrike">
                <a:solidFill>
                  <a:srgbClr val="333333"/>
                </a:solidFill>
              </a:rPr>
              <a:t>Better but results are dominated by sparse-attention models the user can't deploy.</a:t>
            </a:r>
            <a:endParaRPr/>
          </a:p>
          <a:p>
            <a:pPr indent="0" lvl="0" marL="0" marR="0" rtl="0" algn="l">
              <a:lnSpc>
                <a:spcPct val="100000"/>
              </a:lnSpc>
              <a:spcBef>
                <a:spcPts val="300"/>
              </a:spcBef>
              <a:spcAft>
                <a:spcPts val="0"/>
              </a:spcAft>
              <a:buNone/>
            </a:pPr>
            <a:r>
              <a:t/>
            </a:r>
            <a:endParaRPr i="1" sz="1000">
              <a:solidFill>
                <a:srgbClr val="666666"/>
              </a:solidFill>
            </a:endParaRPr>
          </a:p>
          <a:p>
            <a:pPr indent="0" lvl="0" marL="0" marR="0" rtl="0" algn="l">
              <a:lnSpc>
                <a:spcPct val="100000"/>
              </a:lnSpc>
              <a:spcBef>
                <a:spcPts val="300"/>
              </a:spcBef>
              <a:spcAft>
                <a:spcPts val="0"/>
              </a:spcAft>
              <a:buNone/>
            </a:pPr>
            <a:r>
              <a:rPr i="1" lang="en-GB" sz="1000" u="none" cap="none" strike="noStrike">
                <a:solidFill>
                  <a:srgbClr val="666666"/>
                </a:solidFill>
              </a:rPr>
              <a:t>A hidden constraint surfaces only AFTER seeing results.</a:t>
            </a:r>
            <a:endParaRPr/>
          </a:p>
        </p:txBody>
      </p:sp>
      <p:sp>
        <p:nvSpPr>
          <p:cNvPr id="248" name="Google Shape;248;p42"/>
          <p:cNvSpPr/>
          <p:nvPr/>
        </p:nvSpPr>
        <p:spPr>
          <a:xfrm>
            <a:off x="2322575" y="2409444"/>
            <a:ext cx="173700" cy="255900"/>
          </a:xfrm>
          <a:prstGeom prst="rightArrow">
            <a:avLst>
              <a:gd fmla="val 50000" name="adj1"/>
              <a:gd fmla="val 50000" name="adj2"/>
            </a:avLst>
          </a:prstGeom>
          <a:solidFill>
            <a:srgbClr val="66666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Palatino Linotype"/>
              <a:ea typeface="Palatino Linotype"/>
              <a:cs typeface="Palatino Linotype"/>
              <a:sym typeface="Palatino Linotype"/>
            </a:endParaRPr>
          </a:p>
        </p:txBody>
      </p:sp>
      <p:sp>
        <p:nvSpPr>
          <p:cNvPr id="249" name="Google Shape;249;p42"/>
          <p:cNvSpPr/>
          <p:nvPr/>
        </p:nvSpPr>
        <p:spPr>
          <a:xfrm>
            <a:off x="4507992" y="2409444"/>
            <a:ext cx="173700" cy="255900"/>
          </a:xfrm>
          <a:prstGeom prst="rightArrow">
            <a:avLst>
              <a:gd fmla="val 50000" name="adj1"/>
              <a:gd fmla="val 50000" name="adj2"/>
            </a:avLst>
          </a:prstGeom>
          <a:solidFill>
            <a:srgbClr val="66666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Palatino Linotype"/>
              <a:ea typeface="Palatino Linotype"/>
              <a:cs typeface="Palatino Linotype"/>
              <a:sym typeface="Palatino Linotype"/>
            </a:endParaRPr>
          </a:p>
        </p:txBody>
      </p:sp>
      <p:sp>
        <p:nvSpPr>
          <p:cNvPr id="250" name="Google Shape;250;p42"/>
          <p:cNvSpPr/>
          <p:nvPr/>
        </p:nvSpPr>
        <p:spPr>
          <a:xfrm>
            <a:off x="4645151" y="1188720"/>
            <a:ext cx="2066400" cy="2697600"/>
          </a:xfrm>
          <a:prstGeom prst="roundRect">
            <a:avLst>
              <a:gd fmla="val 8000" name="adj"/>
            </a:avLst>
          </a:prstGeom>
          <a:solidFill>
            <a:srgbClr val="FAFAF7"/>
          </a:solidFill>
          <a:ln cap="flat" cmpd="sng" w="13950">
            <a:solidFill>
              <a:srgbClr val="B03A2E"/>
            </a:solidFill>
            <a:prstDash val="solid"/>
            <a:round/>
            <a:headEnd len="sm" w="sm" type="none"/>
            <a:tailEnd len="sm" w="sm" type="none"/>
          </a:ln>
        </p:spPr>
        <p:txBody>
          <a:bodyPr anchorCtr="0" anchor="t" bIns="36575" lIns="82275" spcFirstLastPara="1" rIns="82275" wrap="square" tIns="54850">
            <a:noAutofit/>
          </a:bodyPr>
          <a:lstStyle/>
          <a:p>
            <a:pPr indent="0" lvl="0" marL="0" marR="0" rtl="0" algn="ctr">
              <a:lnSpc>
                <a:spcPct val="100000"/>
              </a:lnSpc>
              <a:spcBef>
                <a:spcPts val="0"/>
              </a:spcBef>
              <a:spcAft>
                <a:spcPts val="0"/>
              </a:spcAft>
              <a:buNone/>
            </a:pPr>
            <a:r>
              <a:rPr i="1" lang="en-GB" sz="1050" u="none" cap="none" strike="noStrike">
                <a:solidFill>
                  <a:srgbClr val="666666"/>
                </a:solidFill>
              </a:rPr>
              <a:t>Round 3</a:t>
            </a:r>
            <a:endParaRPr/>
          </a:p>
          <a:p>
            <a:pPr indent="0" lvl="0" marL="0" marR="0" rtl="0" algn="l">
              <a:lnSpc>
                <a:spcPct val="100000"/>
              </a:lnSpc>
              <a:spcBef>
                <a:spcPts val="300"/>
              </a:spcBef>
              <a:spcAft>
                <a:spcPts val="0"/>
              </a:spcAft>
              <a:buNone/>
            </a:pPr>
            <a:r>
              <a:rPr b="1" lang="en-GB" sz="1250">
                <a:solidFill>
                  <a:srgbClr val="B03A2E"/>
                </a:solidFill>
              </a:rPr>
              <a:t>Query:</a:t>
            </a:r>
            <a:endParaRPr b="1" sz="1250">
              <a:solidFill>
                <a:srgbClr val="B03A2E"/>
              </a:solidFill>
            </a:endParaRPr>
          </a:p>
          <a:p>
            <a:pPr indent="0" lvl="0" marL="0" marR="0" rtl="0" algn="l">
              <a:lnSpc>
                <a:spcPct val="100000"/>
              </a:lnSpc>
              <a:spcBef>
                <a:spcPts val="300"/>
              </a:spcBef>
              <a:spcAft>
                <a:spcPts val="0"/>
              </a:spcAft>
              <a:buNone/>
            </a:pPr>
            <a:r>
              <a:rPr b="1" i="0" lang="en-GB" sz="1250" u="none" cap="none" strike="noStrike">
                <a:solidFill>
                  <a:srgbClr val="B03A2E"/>
                </a:solidFill>
              </a:rPr>
              <a:t>+ “don't use sparse attention”</a:t>
            </a:r>
            <a:endParaRPr/>
          </a:p>
          <a:p>
            <a:pPr indent="0" lvl="0" marL="0" marR="0" rtl="0" algn="l">
              <a:lnSpc>
                <a:spcPct val="100000"/>
              </a:lnSpc>
              <a:spcBef>
                <a:spcPts val="300"/>
              </a:spcBef>
              <a:spcAft>
                <a:spcPts val="0"/>
              </a:spcAft>
              <a:buNone/>
            </a:pPr>
            <a:r>
              <a:t/>
            </a:r>
            <a:endParaRPr sz="1050">
              <a:solidFill>
                <a:srgbClr val="333333"/>
              </a:solidFill>
            </a:endParaRPr>
          </a:p>
          <a:p>
            <a:pPr indent="0" lvl="0" marL="0" marR="0" rtl="0" algn="l">
              <a:lnSpc>
                <a:spcPct val="100000"/>
              </a:lnSpc>
              <a:spcBef>
                <a:spcPts val="300"/>
              </a:spcBef>
              <a:spcAft>
                <a:spcPts val="0"/>
              </a:spcAft>
              <a:buNone/>
            </a:pPr>
            <a:r>
              <a:rPr i="0" lang="en-GB" sz="1050" u="none" cap="none" strike="noStrike">
                <a:solidFill>
                  <a:srgbClr val="333333"/>
                </a:solidFill>
              </a:rPr>
              <a:t>Worse! Matching now retrieves MORE sparse-attention papers.</a:t>
            </a:r>
            <a:endParaRPr/>
          </a:p>
          <a:p>
            <a:pPr indent="0" lvl="0" marL="0" marR="0" rtl="0" algn="l">
              <a:lnSpc>
                <a:spcPct val="100000"/>
              </a:lnSpc>
              <a:spcBef>
                <a:spcPts val="300"/>
              </a:spcBef>
              <a:spcAft>
                <a:spcPts val="0"/>
              </a:spcAft>
              <a:buNone/>
            </a:pPr>
            <a:r>
              <a:t/>
            </a:r>
            <a:endParaRPr i="1" sz="1000">
              <a:solidFill>
                <a:srgbClr val="666666"/>
              </a:solidFill>
            </a:endParaRPr>
          </a:p>
          <a:p>
            <a:pPr indent="0" lvl="0" marL="0" marR="0" rtl="0" algn="l">
              <a:lnSpc>
                <a:spcPct val="100000"/>
              </a:lnSpc>
              <a:spcBef>
                <a:spcPts val="300"/>
              </a:spcBef>
              <a:spcAft>
                <a:spcPts val="0"/>
              </a:spcAft>
              <a:buNone/>
            </a:pPr>
            <a:r>
              <a:rPr i="1" lang="en-GB" sz="1000">
                <a:solidFill>
                  <a:srgbClr val="666666"/>
                </a:solidFill>
              </a:rPr>
              <a:t>Out of the box r</a:t>
            </a:r>
            <a:r>
              <a:rPr i="1" lang="en-GB" sz="1000" u="none" cap="none" strike="noStrike">
                <a:solidFill>
                  <a:srgbClr val="666666"/>
                </a:solidFill>
              </a:rPr>
              <a:t>etrievers m</a:t>
            </a:r>
            <a:r>
              <a:rPr i="1" lang="en-GB" sz="1000">
                <a:solidFill>
                  <a:srgbClr val="666666"/>
                </a:solidFill>
              </a:rPr>
              <a:t>atch semantic similarity, not constraints</a:t>
            </a:r>
            <a:endParaRPr/>
          </a:p>
        </p:txBody>
      </p:sp>
      <p:sp>
        <p:nvSpPr>
          <p:cNvPr id="251" name="Google Shape;251;p42"/>
          <p:cNvSpPr/>
          <p:nvPr/>
        </p:nvSpPr>
        <p:spPr>
          <a:xfrm>
            <a:off x="6693407" y="2409444"/>
            <a:ext cx="173700" cy="255900"/>
          </a:xfrm>
          <a:prstGeom prst="rightArrow">
            <a:avLst>
              <a:gd fmla="val 50000" name="adj1"/>
              <a:gd fmla="val 50000" name="adj2"/>
            </a:avLst>
          </a:prstGeom>
          <a:solidFill>
            <a:srgbClr val="66666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Palatino Linotype"/>
              <a:ea typeface="Palatino Linotype"/>
              <a:cs typeface="Palatino Linotype"/>
              <a:sym typeface="Palatino Linotype"/>
            </a:endParaRPr>
          </a:p>
        </p:txBody>
      </p:sp>
      <p:sp>
        <p:nvSpPr>
          <p:cNvPr id="252" name="Google Shape;252;p42"/>
          <p:cNvSpPr/>
          <p:nvPr/>
        </p:nvSpPr>
        <p:spPr>
          <a:xfrm>
            <a:off x="6830567" y="1188720"/>
            <a:ext cx="2066400" cy="2697600"/>
          </a:xfrm>
          <a:prstGeom prst="roundRect">
            <a:avLst>
              <a:gd fmla="val 8000" name="adj"/>
            </a:avLst>
          </a:prstGeom>
          <a:solidFill>
            <a:srgbClr val="FAFAF7"/>
          </a:solidFill>
          <a:ln cap="flat" cmpd="sng" w="13950">
            <a:solidFill>
              <a:srgbClr val="6AA84F"/>
            </a:solidFill>
            <a:prstDash val="solid"/>
            <a:round/>
            <a:headEnd len="sm" w="sm" type="none"/>
            <a:tailEnd len="sm" w="sm" type="none"/>
          </a:ln>
        </p:spPr>
        <p:txBody>
          <a:bodyPr anchorCtr="0" anchor="t" bIns="36575" lIns="82275" spcFirstLastPara="1" rIns="82275" wrap="square" tIns="54850">
            <a:noAutofit/>
          </a:bodyPr>
          <a:lstStyle/>
          <a:p>
            <a:pPr indent="0" lvl="0" marL="0" marR="0" rtl="0" algn="ctr">
              <a:lnSpc>
                <a:spcPct val="100000"/>
              </a:lnSpc>
              <a:spcBef>
                <a:spcPts val="0"/>
              </a:spcBef>
              <a:spcAft>
                <a:spcPts val="0"/>
              </a:spcAft>
              <a:buNone/>
            </a:pPr>
            <a:r>
              <a:rPr i="1" lang="en-GB" sz="1050" u="none" cap="none" strike="noStrike">
                <a:solidFill>
                  <a:srgbClr val="666666"/>
                </a:solidFill>
              </a:rPr>
              <a:t>Round 4</a:t>
            </a:r>
            <a:endParaRPr/>
          </a:p>
          <a:p>
            <a:pPr indent="0" lvl="0" marL="0" marR="0" rtl="0" algn="l">
              <a:lnSpc>
                <a:spcPct val="100000"/>
              </a:lnSpc>
              <a:spcBef>
                <a:spcPts val="300"/>
              </a:spcBef>
              <a:spcAft>
                <a:spcPts val="0"/>
              </a:spcAft>
              <a:buNone/>
            </a:pPr>
            <a:r>
              <a:rPr b="1" lang="en-GB" sz="1250">
                <a:solidFill>
                  <a:srgbClr val="6AA84F"/>
                </a:solidFill>
              </a:rPr>
              <a:t>Query:</a:t>
            </a:r>
            <a:endParaRPr b="1" sz="1250">
              <a:solidFill>
                <a:srgbClr val="6AA84F"/>
              </a:solidFill>
            </a:endParaRPr>
          </a:p>
          <a:p>
            <a:pPr indent="0" lvl="0" marL="0" marR="0" rtl="0" algn="l">
              <a:lnSpc>
                <a:spcPct val="100000"/>
              </a:lnSpc>
              <a:spcBef>
                <a:spcPts val="300"/>
              </a:spcBef>
              <a:spcAft>
                <a:spcPts val="0"/>
              </a:spcAft>
              <a:buNone/>
            </a:pPr>
            <a:r>
              <a:rPr b="1" i="0" lang="en-GB" sz="1250" u="none" cap="none" strike="noStrike">
                <a:solidFill>
                  <a:srgbClr val="6AA84F"/>
                </a:solidFill>
              </a:rPr>
              <a:t>+ “validated across multiple domains”</a:t>
            </a:r>
            <a:endParaRPr/>
          </a:p>
          <a:p>
            <a:pPr indent="0" lvl="0" marL="0" marR="0" rtl="0" algn="l">
              <a:lnSpc>
                <a:spcPct val="100000"/>
              </a:lnSpc>
              <a:spcBef>
                <a:spcPts val="300"/>
              </a:spcBef>
              <a:spcAft>
                <a:spcPts val="0"/>
              </a:spcAft>
              <a:buNone/>
            </a:pPr>
            <a:r>
              <a:t/>
            </a:r>
            <a:endParaRPr sz="1050">
              <a:solidFill>
                <a:srgbClr val="333333"/>
              </a:solidFill>
            </a:endParaRPr>
          </a:p>
          <a:p>
            <a:pPr indent="0" lvl="0" marL="0" marR="0" rtl="0" algn="l">
              <a:lnSpc>
                <a:spcPct val="100000"/>
              </a:lnSpc>
              <a:spcBef>
                <a:spcPts val="300"/>
              </a:spcBef>
              <a:spcAft>
                <a:spcPts val="0"/>
              </a:spcAft>
              <a:buNone/>
            </a:pPr>
            <a:r>
              <a:rPr i="0" lang="en-GB" sz="1050" u="none" cap="none" strike="noStrike">
                <a:solidFill>
                  <a:srgbClr val="333333"/>
                </a:solidFill>
              </a:rPr>
              <a:t>A search agent compiles the whole session into one query…</a:t>
            </a:r>
            <a:endParaRPr/>
          </a:p>
          <a:p>
            <a:pPr indent="0" lvl="0" marL="0" marR="0" rtl="0" algn="l">
              <a:lnSpc>
                <a:spcPct val="100000"/>
              </a:lnSpc>
              <a:spcBef>
                <a:spcPts val="300"/>
              </a:spcBef>
              <a:spcAft>
                <a:spcPts val="0"/>
              </a:spcAft>
              <a:buNone/>
            </a:pPr>
            <a:r>
              <a:t/>
            </a:r>
            <a:endParaRPr i="1" sz="1000">
              <a:solidFill>
                <a:srgbClr val="666666"/>
              </a:solidFill>
            </a:endParaRPr>
          </a:p>
          <a:p>
            <a:pPr indent="0" lvl="0" marL="0" marR="0" rtl="0" algn="l">
              <a:lnSpc>
                <a:spcPct val="100000"/>
              </a:lnSpc>
              <a:spcBef>
                <a:spcPts val="300"/>
              </a:spcBef>
              <a:spcAft>
                <a:spcPts val="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43"/>
          <p:cNvSpPr txBox="1"/>
          <p:nvPr/>
        </p:nvSpPr>
        <p:spPr>
          <a:xfrm>
            <a:off x="640080" y="1417320"/>
            <a:ext cx="7863900" cy="354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GB" sz="1700">
                <a:solidFill>
                  <a:srgbClr val="777777"/>
                </a:solidFill>
              </a:rPr>
              <a:t>Final issued</a:t>
            </a:r>
            <a:r>
              <a:rPr i="1" lang="en-GB" sz="1700" u="none" cap="none" strike="noStrike">
                <a:solidFill>
                  <a:srgbClr val="777777"/>
                </a:solidFill>
              </a:rPr>
              <a:t> query:</a:t>
            </a:r>
            <a:endParaRPr sz="1500"/>
          </a:p>
        </p:txBody>
      </p:sp>
      <p:sp>
        <p:nvSpPr>
          <p:cNvPr id="258" name="Google Shape;258;p43"/>
          <p:cNvSpPr txBox="1"/>
          <p:nvPr/>
        </p:nvSpPr>
        <p:spPr>
          <a:xfrm>
            <a:off x="640080" y="1965960"/>
            <a:ext cx="7863900" cy="1293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2600">
                <a:solidFill>
                  <a:srgbClr val="3B6FC9"/>
                </a:solidFill>
              </a:rPr>
              <a:t>Efficient transformers</a:t>
            </a:r>
            <a:r>
              <a:rPr b="1" lang="en-GB" sz="2600">
                <a:solidFill>
                  <a:srgbClr val="2E9E5B"/>
                </a:solidFill>
              </a:rPr>
              <a:t> for long documents</a:t>
            </a:r>
            <a:r>
              <a:rPr b="1" lang="en-GB" sz="2600">
                <a:solidFill>
                  <a:srgbClr val="D64541"/>
                </a:solidFill>
              </a:rPr>
              <a:t> that don’t use sparse attention,</a:t>
            </a:r>
            <a:r>
              <a:rPr b="1" lang="en-GB" sz="2600">
                <a:solidFill>
                  <a:srgbClr val="E0821A"/>
                </a:solidFill>
              </a:rPr>
              <a:t> that are validated across multiple domains</a:t>
            </a:r>
            <a:endParaRPr/>
          </a:p>
        </p:txBody>
      </p:sp>
      <p:pic>
        <p:nvPicPr>
          <p:cNvPr id="259" name="Google Shape;259;p43"/>
          <p:cNvPicPr preferRelativeResize="0"/>
          <p:nvPr/>
        </p:nvPicPr>
        <p:blipFill>
          <a:blip r:embed="rId3">
            <a:alphaModFix/>
          </a:blip>
          <a:stretch>
            <a:fillRect/>
          </a:stretch>
        </p:blipFill>
        <p:spPr>
          <a:xfrm>
            <a:off x="6549550" y="1064900"/>
            <a:ext cx="1043550" cy="1043550"/>
          </a:xfrm>
          <a:prstGeom prst="rect">
            <a:avLst/>
          </a:prstGeom>
          <a:noFill/>
          <a:ln>
            <a:noFill/>
          </a:ln>
        </p:spPr>
      </p:pic>
      <p:pic>
        <p:nvPicPr>
          <p:cNvPr id="260" name="Google Shape;260;p43"/>
          <p:cNvPicPr preferRelativeResize="0"/>
          <p:nvPr/>
        </p:nvPicPr>
        <p:blipFill>
          <a:blip r:embed="rId4">
            <a:alphaModFix/>
          </a:blip>
          <a:stretch>
            <a:fillRect/>
          </a:stretch>
        </p:blipFill>
        <p:spPr>
          <a:xfrm>
            <a:off x="7877425" y="1139600"/>
            <a:ext cx="894150" cy="894150"/>
          </a:xfrm>
          <a:prstGeom prst="rect">
            <a:avLst/>
          </a:prstGeom>
          <a:noFill/>
          <a:ln>
            <a:noFill/>
          </a:ln>
        </p:spPr>
      </p:pic>
      <p:sp>
        <p:nvSpPr>
          <p:cNvPr id="261" name="Google Shape;261;p43"/>
          <p:cNvSpPr/>
          <p:nvPr/>
        </p:nvSpPr>
        <p:spPr>
          <a:xfrm>
            <a:off x="7378375" y="1521325"/>
            <a:ext cx="440700" cy="384000"/>
          </a:xfrm>
          <a:prstGeom prst="mathPlus">
            <a:avLst>
              <a:gd fmla="val 23520" name="adj1"/>
            </a:avLst>
          </a:prstGeom>
          <a:solidFill>
            <a:schemeClr val="lt2"/>
          </a:solidFill>
          <a:ln>
            <a:noFill/>
          </a:ln>
          <a:effectLst>
            <a:outerShdw blurRad="57150" rotWithShape="0" algn="bl" dir="5400000" dist="19050">
              <a:srgbClr val="000000">
                <a:alpha val="89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44"/>
          <p:cNvSpPr txBox="1"/>
          <p:nvPr/>
        </p:nvSpPr>
        <p:spPr>
          <a:xfrm>
            <a:off x="411480" y="201168"/>
            <a:ext cx="8321100" cy="323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500">
                <a:solidFill>
                  <a:srgbClr val="3B6FC9"/>
                </a:solidFill>
              </a:rPr>
              <a:t>Efficient transformers</a:t>
            </a:r>
            <a:endParaRPr/>
          </a:p>
        </p:txBody>
      </p:sp>
      <p:pic>
        <p:nvPicPr>
          <p:cNvPr descr="stage1.png" id="267" name="Google Shape;267;p44"/>
          <p:cNvPicPr preferRelativeResize="0"/>
          <p:nvPr/>
        </p:nvPicPr>
        <p:blipFill rotWithShape="1">
          <a:blip r:embed="rId3">
            <a:alphaModFix/>
          </a:blip>
          <a:srcRect b="0" l="0" r="0" t="0"/>
          <a:stretch/>
        </p:blipFill>
        <p:spPr>
          <a:xfrm>
            <a:off x="0" y="914400"/>
            <a:ext cx="9144000" cy="416052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45"/>
          <p:cNvSpPr txBox="1"/>
          <p:nvPr/>
        </p:nvSpPr>
        <p:spPr>
          <a:xfrm>
            <a:off x="411480" y="201168"/>
            <a:ext cx="8321100" cy="323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500">
                <a:solidFill>
                  <a:srgbClr val="3B6FC9"/>
                </a:solidFill>
              </a:rPr>
              <a:t>Efficient transformers</a:t>
            </a:r>
            <a:r>
              <a:rPr b="1" lang="en-GB" sz="1500">
                <a:solidFill>
                  <a:srgbClr val="2E9E5B"/>
                </a:solidFill>
              </a:rPr>
              <a:t> for long documents</a:t>
            </a:r>
            <a:endParaRPr/>
          </a:p>
        </p:txBody>
      </p:sp>
      <p:pic>
        <p:nvPicPr>
          <p:cNvPr descr="stage2.png" id="273" name="Google Shape;273;p45"/>
          <p:cNvPicPr preferRelativeResize="0"/>
          <p:nvPr/>
        </p:nvPicPr>
        <p:blipFill rotWithShape="1">
          <a:blip r:embed="rId3">
            <a:alphaModFix/>
          </a:blip>
          <a:srcRect b="0" l="0" r="0" t="0"/>
          <a:stretch/>
        </p:blipFill>
        <p:spPr>
          <a:xfrm>
            <a:off x="0" y="914400"/>
            <a:ext cx="9144000" cy="416052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46"/>
          <p:cNvSpPr txBox="1"/>
          <p:nvPr/>
        </p:nvSpPr>
        <p:spPr>
          <a:xfrm>
            <a:off x="411480" y="201168"/>
            <a:ext cx="8321100" cy="323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500">
                <a:solidFill>
                  <a:srgbClr val="3B6FC9"/>
                </a:solidFill>
              </a:rPr>
              <a:t>Efficient transformers</a:t>
            </a:r>
            <a:r>
              <a:rPr b="1" lang="en-GB" sz="1500">
                <a:solidFill>
                  <a:srgbClr val="2E9E5B"/>
                </a:solidFill>
              </a:rPr>
              <a:t> for long documents</a:t>
            </a:r>
            <a:r>
              <a:rPr b="1" lang="en-GB" sz="1500">
                <a:solidFill>
                  <a:srgbClr val="D64541"/>
                </a:solidFill>
              </a:rPr>
              <a:t> that don’t use sparse attention,</a:t>
            </a:r>
            <a:endParaRPr/>
          </a:p>
        </p:txBody>
      </p:sp>
      <p:pic>
        <p:nvPicPr>
          <p:cNvPr descr="stage3.png" id="279" name="Google Shape;279;p46"/>
          <p:cNvPicPr preferRelativeResize="0"/>
          <p:nvPr/>
        </p:nvPicPr>
        <p:blipFill rotWithShape="1">
          <a:blip r:embed="rId3">
            <a:alphaModFix/>
          </a:blip>
          <a:srcRect b="0" l="0" r="0" t="0"/>
          <a:stretch/>
        </p:blipFill>
        <p:spPr>
          <a:xfrm>
            <a:off x="0" y="914400"/>
            <a:ext cx="9144000" cy="4160520"/>
          </a:xfrm>
          <a:prstGeom prst="rect">
            <a:avLst/>
          </a:prstGeom>
          <a:noFill/>
          <a:ln>
            <a:noFill/>
          </a:ln>
        </p:spPr>
      </p:pic>
      <p:sp>
        <p:nvSpPr>
          <p:cNvPr id="280" name="Google Shape;280;p46"/>
          <p:cNvSpPr txBox="1"/>
          <p:nvPr/>
        </p:nvSpPr>
        <p:spPr>
          <a:xfrm>
            <a:off x="60350" y="4844225"/>
            <a:ext cx="4841700" cy="230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900"/>
              <a:t>Complex query </a:t>
            </a:r>
            <a:endParaRPr sz="9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47"/>
          <p:cNvSpPr txBox="1"/>
          <p:nvPr/>
        </p:nvSpPr>
        <p:spPr>
          <a:xfrm>
            <a:off x="411480" y="201168"/>
            <a:ext cx="8321100" cy="554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500">
                <a:solidFill>
                  <a:srgbClr val="3B6FC9"/>
                </a:solidFill>
              </a:rPr>
              <a:t>Efficient transformers</a:t>
            </a:r>
            <a:r>
              <a:rPr b="1" lang="en-GB" sz="1500">
                <a:solidFill>
                  <a:srgbClr val="2E9E5B"/>
                </a:solidFill>
              </a:rPr>
              <a:t> for long documents</a:t>
            </a:r>
            <a:r>
              <a:rPr b="1" lang="en-GB" sz="1500">
                <a:solidFill>
                  <a:srgbClr val="D64541"/>
                </a:solidFill>
              </a:rPr>
              <a:t> that don’t use sparse attention,</a:t>
            </a:r>
            <a:r>
              <a:rPr b="1" lang="en-GB" sz="1500">
                <a:solidFill>
                  <a:srgbClr val="E0821A"/>
                </a:solidFill>
              </a:rPr>
              <a:t> that are validated across multiple domains</a:t>
            </a:r>
            <a:endParaRPr/>
          </a:p>
        </p:txBody>
      </p:sp>
      <p:pic>
        <p:nvPicPr>
          <p:cNvPr descr="stage4.png" id="286" name="Google Shape;286;p47"/>
          <p:cNvPicPr preferRelativeResize="0"/>
          <p:nvPr/>
        </p:nvPicPr>
        <p:blipFill rotWithShape="1">
          <a:blip r:embed="rId3">
            <a:alphaModFix/>
          </a:blip>
          <a:srcRect b="0" l="0" r="0" t="0"/>
          <a:stretch/>
        </p:blipFill>
        <p:spPr>
          <a:xfrm>
            <a:off x="0" y="914400"/>
            <a:ext cx="9144000" cy="4160520"/>
          </a:xfrm>
          <a:prstGeom prst="rect">
            <a:avLst/>
          </a:prstGeom>
          <a:noFill/>
          <a:ln>
            <a:noFill/>
          </a:ln>
        </p:spPr>
      </p:pic>
      <p:sp>
        <p:nvSpPr>
          <p:cNvPr id="287" name="Google Shape;287;p47"/>
          <p:cNvSpPr txBox="1"/>
          <p:nvPr/>
        </p:nvSpPr>
        <p:spPr>
          <a:xfrm>
            <a:off x="77002" y="772427"/>
            <a:ext cx="1965900" cy="785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GB" sz="1500">
                <a:solidFill>
                  <a:srgbClr val="333333"/>
                </a:solidFill>
              </a:rPr>
              <a:t>Inference goes beyond similarity matching…</a:t>
            </a:r>
            <a:endParaRPr/>
          </a:p>
        </p:txBody>
      </p:sp>
      <p:sp>
        <p:nvSpPr>
          <p:cNvPr id="288" name="Google Shape;288;p47"/>
          <p:cNvSpPr txBox="1"/>
          <p:nvPr/>
        </p:nvSpPr>
        <p:spPr>
          <a:xfrm>
            <a:off x="5852160" y="4773168"/>
            <a:ext cx="3108900" cy="276900"/>
          </a:xfrm>
          <a:prstGeom prst="rect">
            <a:avLst/>
          </a:prstGeom>
          <a:solidFill>
            <a:srgbClr val="FFFFFF"/>
          </a:solid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i="1" lang="en-GB" sz="1200">
                <a:solidFill>
                  <a:schemeClr val="dk1"/>
                </a:solidFill>
              </a:rPr>
              <a:t>The evidence is not in A, but in B and C.</a:t>
            </a:r>
            <a:endParaRPr b="1">
              <a:solidFill>
                <a:schemeClr val="dk1"/>
              </a:solidFill>
            </a:endParaRPr>
          </a:p>
        </p:txBody>
      </p:sp>
      <p:sp>
        <p:nvSpPr>
          <p:cNvPr id="289" name="Google Shape;289;p47"/>
          <p:cNvSpPr txBox="1"/>
          <p:nvPr/>
        </p:nvSpPr>
        <p:spPr>
          <a:xfrm>
            <a:off x="77000" y="4844225"/>
            <a:ext cx="4841700" cy="230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900"/>
              <a:t>Complex query | Scattered &amp; incomplete information | Limitations of existing solutions</a:t>
            </a:r>
            <a:endParaRPr sz="9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48"/>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
        <p:nvSpPr>
          <p:cNvPr id="295" name="Google Shape;295;p48"/>
          <p:cNvSpPr txBox="1"/>
          <p:nvPr/>
        </p:nvSpPr>
        <p:spPr>
          <a:xfrm>
            <a:off x="311700" y="445025"/>
            <a:ext cx="8520600" cy="572700"/>
          </a:xfrm>
          <a:prstGeom prst="rect">
            <a:avLst/>
          </a:prstGeom>
          <a:noFill/>
          <a:ln>
            <a:noFill/>
          </a:ln>
        </p:spPr>
        <p:txBody>
          <a:bodyPr anchorCtr="0" anchor="t" bIns="91425" lIns="91425" spcFirstLastPara="1" rIns="91425" wrap="square" tIns="91425">
            <a:normAutofit lnSpcReduction="10000"/>
          </a:bodyPr>
          <a:lstStyle/>
          <a:p>
            <a:pPr indent="0" lvl="0" marL="0" rtl="0" algn="ctr">
              <a:spcBef>
                <a:spcPts val="0"/>
              </a:spcBef>
              <a:spcAft>
                <a:spcPts val="0"/>
              </a:spcAft>
              <a:buNone/>
            </a:pPr>
            <a:r>
              <a:rPr b="1" lang="en-GB" sz="2800">
                <a:solidFill>
                  <a:srgbClr val="000000"/>
                </a:solidFill>
                <a:latin typeface="Palatino Linotype"/>
                <a:ea typeface="Palatino Linotype"/>
                <a:cs typeface="Palatino Linotype"/>
                <a:sym typeface="Palatino Linotype"/>
              </a:rPr>
              <a:t>The methods landscape</a:t>
            </a:r>
            <a:endParaRPr sz="2800">
              <a:solidFill>
                <a:srgbClr val="000000"/>
              </a:solidFill>
              <a:latin typeface="Palatino Linotype"/>
              <a:ea typeface="Palatino Linotype"/>
              <a:cs typeface="Palatino Linotype"/>
              <a:sym typeface="Palatino Linotype"/>
            </a:endParaRPr>
          </a:p>
        </p:txBody>
      </p:sp>
      <p:sp>
        <p:nvSpPr>
          <p:cNvPr id="296" name="Google Shape;296;p48"/>
          <p:cNvSpPr/>
          <p:nvPr/>
        </p:nvSpPr>
        <p:spPr>
          <a:xfrm>
            <a:off x="0" y="1206925"/>
            <a:ext cx="3113700" cy="3341700"/>
          </a:xfrm>
          <a:prstGeom prst="rect">
            <a:avLst/>
          </a:prstGeom>
          <a:solidFill>
            <a:srgbClr val="B6D7A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97" name="Google Shape;297;p48"/>
          <p:cNvSpPr txBox="1"/>
          <p:nvPr/>
        </p:nvSpPr>
        <p:spPr>
          <a:xfrm>
            <a:off x="0" y="1206925"/>
            <a:ext cx="835500" cy="36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400">
                <a:solidFill>
                  <a:schemeClr val="dk1"/>
                </a:solidFill>
                <a:latin typeface="Calibri"/>
                <a:ea typeface="Calibri"/>
                <a:cs typeface="Calibri"/>
                <a:sym typeface="Calibri"/>
              </a:rPr>
              <a:t>LLMs</a:t>
            </a:r>
            <a:endParaRPr sz="2400">
              <a:solidFill>
                <a:schemeClr val="dk1"/>
              </a:solidFill>
              <a:latin typeface="Calibri"/>
              <a:ea typeface="Calibri"/>
              <a:cs typeface="Calibri"/>
              <a:sym typeface="Calibri"/>
            </a:endParaRPr>
          </a:p>
        </p:txBody>
      </p:sp>
      <p:sp>
        <p:nvSpPr>
          <p:cNvPr id="298" name="Google Shape;298;p48"/>
          <p:cNvSpPr/>
          <p:nvPr/>
        </p:nvSpPr>
        <p:spPr>
          <a:xfrm>
            <a:off x="60800" y="1936475"/>
            <a:ext cx="1245600" cy="1048200"/>
          </a:xfrm>
          <a:prstGeom prst="rect">
            <a:avLst/>
          </a:prstGeom>
          <a:no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Calibri"/>
                <a:ea typeface="Calibri"/>
                <a:cs typeface="Calibri"/>
                <a:sym typeface="Calibri"/>
              </a:rPr>
              <a:t>Test-Time Reasoning</a:t>
            </a:r>
            <a:endParaRPr>
              <a:latin typeface="Calibri"/>
              <a:ea typeface="Calibri"/>
              <a:cs typeface="Calibri"/>
              <a:sym typeface="Calibri"/>
            </a:endParaRPr>
          </a:p>
        </p:txBody>
      </p:sp>
      <p:sp>
        <p:nvSpPr>
          <p:cNvPr id="299" name="Google Shape;299;p48"/>
          <p:cNvSpPr/>
          <p:nvPr/>
        </p:nvSpPr>
        <p:spPr>
          <a:xfrm>
            <a:off x="1503775" y="1936475"/>
            <a:ext cx="1382400" cy="1048200"/>
          </a:xfrm>
          <a:prstGeom prst="rect">
            <a:avLst/>
          </a:prstGeom>
          <a:noFill/>
          <a:ln cap="flat" cmpd="sng" w="9525">
            <a:solidFill>
              <a:srgbClr val="188038"/>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Calibri"/>
                <a:ea typeface="Calibri"/>
                <a:cs typeface="Calibri"/>
                <a:sym typeface="Calibri"/>
              </a:rPr>
              <a:t>RL-training for better LRMs and Deep Research Agents</a:t>
            </a:r>
            <a:endParaRPr>
              <a:latin typeface="Calibri"/>
              <a:ea typeface="Calibri"/>
              <a:cs typeface="Calibri"/>
              <a:sym typeface="Calibri"/>
            </a:endParaRPr>
          </a:p>
        </p:txBody>
      </p:sp>
      <p:sp>
        <p:nvSpPr>
          <p:cNvPr id="300" name="Google Shape;300;p48"/>
          <p:cNvSpPr/>
          <p:nvPr/>
        </p:nvSpPr>
        <p:spPr>
          <a:xfrm>
            <a:off x="326450" y="3349125"/>
            <a:ext cx="2430000" cy="1048200"/>
          </a:xfrm>
          <a:prstGeom prst="rect">
            <a:avLst/>
          </a:prstGeom>
          <a:noFill/>
          <a:ln cap="flat" cmpd="sng" w="9525">
            <a:solidFill>
              <a:srgbClr val="C00000"/>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Calibri"/>
                <a:ea typeface="Calibri"/>
                <a:cs typeface="Calibri"/>
                <a:sym typeface="Calibri"/>
              </a:rPr>
              <a:t>Multi-agent/component collaboration</a:t>
            </a:r>
            <a:endParaRPr>
              <a:latin typeface="Calibri"/>
              <a:ea typeface="Calibri"/>
              <a:cs typeface="Calibri"/>
              <a:sym typeface="Calibri"/>
            </a:endParaRPr>
          </a:p>
        </p:txBody>
      </p:sp>
      <p:sp>
        <p:nvSpPr>
          <p:cNvPr id="301" name="Google Shape;301;p48"/>
          <p:cNvSpPr/>
          <p:nvPr/>
        </p:nvSpPr>
        <p:spPr>
          <a:xfrm>
            <a:off x="6030300" y="1206925"/>
            <a:ext cx="3113700" cy="3341700"/>
          </a:xfrm>
          <a:prstGeom prst="rect">
            <a:avLst/>
          </a:prstGeom>
          <a:solidFill>
            <a:srgbClr val="FDF0E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302" name="Google Shape;302;p48"/>
          <p:cNvSpPr txBox="1"/>
          <p:nvPr/>
        </p:nvSpPr>
        <p:spPr>
          <a:xfrm>
            <a:off x="6030300" y="1206925"/>
            <a:ext cx="1534200" cy="36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400">
                <a:solidFill>
                  <a:schemeClr val="dk1"/>
                </a:solidFill>
                <a:latin typeface="Calibri"/>
                <a:ea typeface="Calibri"/>
                <a:cs typeface="Calibri"/>
                <a:sym typeface="Calibri"/>
              </a:rPr>
              <a:t>Retrievers</a:t>
            </a:r>
            <a:endParaRPr sz="2400">
              <a:solidFill>
                <a:schemeClr val="dk1"/>
              </a:solidFill>
              <a:latin typeface="Calibri"/>
              <a:ea typeface="Calibri"/>
              <a:cs typeface="Calibri"/>
              <a:sym typeface="Calibri"/>
            </a:endParaRPr>
          </a:p>
        </p:txBody>
      </p:sp>
      <p:sp>
        <p:nvSpPr>
          <p:cNvPr id="303" name="Google Shape;303;p48"/>
          <p:cNvSpPr/>
          <p:nvPr/>
        </p:nvSpPr>
        <p:spPr>
          <a:xfrm>
            <a:off x="6106675" y="1936475"/>
            <a:ext cx="1245600" cy="1048200"/>
          </a:xfrm>
          <a:prstGeom prst="rect">
            <a:avLst/>
          </a:prstGeom>
          <a:no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Calibri"/>
                <a:ea typeface="Calibri"/>
                <a:cs typeface="Calibri"/>
                <a:sym typeface="Calibri"/>
              </a:rPr>
              <a:t>Lexical/Semantic Similarity</a:t>
            </a:r>
            <a:endParaRPr>
              <a:latin typeface="Calibri"/>
              <a:ea typeface="Calibri"/>
              <a:cs typeface="Calibri"/>
              <a:sym typeface="Calibri"/>
            </a:endParaRPr>
          </a:p>
        </p:txBody>
      </p:sp>
      <p:sp>
        <p:nvSpPr>
          <p:cNvPr id="304" name="Google Shape;304;p48"/>
          <p:cNvSpPr/>
          <p:nvPr/>
        </p:nvSpPr>
        <p:spPr>
          <a:xfrm>
            <a:off x="7641200" y="1936475"/>
            <a:ext cx="1382400" cy="1048200"/>
          </a:xfrm>
          <a:prstGeom prst="rect">
            <a:avLst/>
          </a:prstGeom>
          <a:noFill/>
          <a:ln cap="flat" cmpd="sng" w="9525">
            <a:solidFill>
              <a:srgbClr val="188038"/>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Calibri"/>
                <a:ea typeface="Calibri"/>
                <a:cs typeface="Calibri"/>
                <a:sym typeface="Calibri"/>
              </a:rPr>
              <a:t>Reasoning Enhanced training data</a:t>
            </a:r>
            <a:endParaRPr>
              <a:latin typeface="Calibri"/>
              <a:ea typeface="Calibri"/>
              <a:cs typeface="Calibri"/>
              <a:sym typeface="Calibri"/>
            </a:endParaRPr>
          </a:p>
        </p:txBody>
      </p:sp>
      <p:sp>
        <p:nvSpPr>
          <p:cNvPr id="305" name="Google Shape;305;p48"/>
          <p:cNvSpPr/>
          <p:nvPr/>
        </p:nvSpPr>
        <p:spPr>
          <a:xfrm>
            <a:off x="6402275" y="3349125"/>
            <a:ext cx="2430000" cy="1048200"/>
          </a:xfrm>
          <a:prstGeom prst="rect">
            <a:avLst/>
          </a:prstGeom>
          <a:noFill/>
          <a:ln cap="flat" cmpd="sng" w="9525">
            <a:solidFill>
              <a:srgbClr val="C00000"/>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Calibri"/>
                <a:ea typeface="Calibri"/>
                <a:cs typeface="Calibri"/>
                <a:sym typeface="Calibri"/>
              </a:rPr>
              <a:t>Enhanced Representation/Embedding Space</a:t>
            </a:r>
            <a:endParaRPr>
              <a:latin typeface="Calibri"/>
              <a:ea typeface="Calibri"/>
              <a:cs typeface="Calibri"/>
              <a:sym typeface="Calibri"/>
            </a:endParaRPr>
          </a:p>
        </p:txBody>
      </p:sp>
      <p:sp>
        <p:nvSpPr>
          <p:cNvPr id="306" name="Google Shape;306;p48"/>
          <p:cNvSpPr/>
          <p:nvPr/>
        </p:nvSpPr>
        <p:spPr>
          <a:xfrm>
            <a:off x="3022725" y="1358850"/>
            <a:ext cx="1822800" cy="1762500"/>
          </a:xfrm>
          <a:prstGeom prst="rect">
            <a:avLst/>
          </a:prstGeom>
          <a:solidFill>
            <a:schemeClr val="lt2"/>
          </a:solidFill>
          <a:ln cap="flat" cmpd="sng" w="9525">
            <a:solidFill>
              <a:srgbClr val="000000"/>
            </a:solidFill>
            <a:prstDash val="lg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307" name="Google Shape;307;p48"/>
          <p:cNvSpPr txBox="1"/>
          <p:nvPr/>
        </p:nvSpPr>
        <p:spPr>
          <a:xfrm>
            <a:off x="3113700" y="1495550"/>
            <a:ext cx="1534200" cy="365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900">
                <a:solidFill>
                  <a:schemeClr val="dk1"/>
                </a:solidFill>
                <a:latin typeface="Calibri"/>
                <a:ea typeface="Calibri"/>
                <a:cs typeface="Calibri"/>
                <a:sym typeface="Calibri"/>
              </a:rPr>
              <a:t>Neuro-</a:t>
            </a:r>
            <a:endParaRPr sz="1900">
              <a:solidFill>
                <a:schemeClr val="dk1"/>
              </a:solidFill>
              <a:latin typeface="Calibri"/>
              <a:ea typeface="Calibri"/>
              <a:cs typeface="Calibri"/>
              <a:sym typeface="Calibri"/>
            </a:endParaRPr>
          </a:p>
          <a:p>
            <a:pPr indent="0" lvl="0" marL="0" rtl="0" algn="ctr">
              <a:spcBef>
                <a:spcPts val="0"/>
              </a:spcBef>
              <a:spcAft>
                <a:spcPts val="0"/>
              </a:spcAft>
              <a:buNone/>
            </a:pPr>
            <a:r>
              <a:rPr lang="en-GB" sz="1900">
                <a:solidFill>
                  <a:schemeClr val="dk1"/>
                </a:solidFill>
                <a:latin typeface="Calibri"/>
                <a:ea typeface="Calibri"/>
                <a:cs typeface="Calibri"/>
                <a:sym typeface="Calibri"/>
              </a:rPr>
              <a:t>Symbolic and Structured Reasoning</a:t>
            </a:r>
            <a:endParaRPr sz="1900">
              <a:solidFill>
                <a:schemeClr val="dk1"/>
              </a:solidFill>
              <a:latin typeface="Calibri"/>
              <a:ea typeface="Calibri"/>
              <a:cs typeface="Calibri"/>
              <a:sym typeface="Calibri"/>
            </a:endParaRPr>
          </a:p>
        </p:txBody>
      </p:sp>
      <p:sp>
        <p:nvSpPr>
          <p:cNvPr id="308" name="Google Shape;308;p48"/>
          <p:cNvSpPr/>
          <p:nvPr/>
        </p:nvSpPr>
        <p:spPr>
          <a:xfrm>
            <a:off x="4446800" y="3060375"/>
            <a:ext cx="1686000" cy="1625700"/>
          </a:xfrm>
          <a:prstGeom prst="rect">
            <a:avLst/>
          </a:prstGeom>
          <a:solidFill>
            <a:schemeClr val="lt2"/>
          </a:solidFill>
          <a:ln cap="flat" cmpd="sng" w="9525">
            <a:solidFill>
              <a:srgbClr val="000000"/>
            </a:solidFill>
            <a:prstDash val="lgDashDot"/>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309" name="Google Shape;309;p48"/>
          <p:cNvSpPr txBox="1"/>
          <p:nvPr/>
        </p:nvSpPr>
        <p:spPr>
          <a:xfrm>
            <a:off x="4446800" y="3121250"/>
            <a:ext cx="1534200" cy="365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800">
                <a:solidFill>
                  <a:schemeClr val="dk1"/>
                </a:solidFill>
                <a:latin typeface="Calibri"/>
                <a:ea typeface="Calibri"/>
                <a:cs typeface="Calibri"/>
                <a:sym typeface="Calibri"/>
              </a:rPr>
              <a:t>Probabilistic Reasoning and Modelling Uncertainty</a:t>
            </a:r>
            <a:endParaRPr sz="18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9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0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0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0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4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00000"/>
              </a:lnSpc>
              <a:spcBef>
                <a:spcPts val="0"/>
              </a:spcBef>
              <a:spcAft>
                <a:spcPts val="0"/>
              </a:spcAft>
              <a:buSzPct val="111111"/>
              <a:buNone/>
            </a:pPr>
            <a:r>
              <a:rPr b="1" lang="en-GB">
                <a:latin typeface="Palatino Linotype"/>
                <a:ea typeface="Palatino Linotype"/>
                <a:cs typeface="Palatino Linotype"/>
                <a:sym typeface="Palatino Linotype"/>
              </a:rPr>
              <a:t>In this tutorial, we will cover…</a:t>
            </a:r>
            <a:endParaRPr b="1">
              <a:latin typeface="Palatino Linotype"/>
              <a:ea typeface="Palatino Linotype"/>
              <a:cs typeface="Palatino Linotype"/>
              <a:sym typeface="Palatino Linotype"/>
            </a:endParaRPr>
          </a:p>
        </p:txBody>
      </p:sp>
      <p:sp>
        <p:nvSpPr>
          <p:cNvPr id="315" name="Google Shape;315;p49"/>
          <p:cNvSpPr txBox="1"/>
          <p:nvPr/>
        </p:nvSpPr>
        <p:spPr>
          <a:xfrm>
            <a:off x="404215" y="918822"/>
            <a:ext cx="8609100" cy="3894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i="0" lang="en-GB" sz="1800" u="none" cap="none" strike="noStrike">
                <a:solidFill>
                  <a:srgbClr val="C00000"/>
                </a:solidFill>
                <a:latin typeface="Palatino Linotype"/>
                <a:ea typeface="Palatino Linotype"/>
                <a:cs typeface="Palatino Linotype"/>
                <a:sym typeface="Palatino Linotype"/>
              </a:rPr>
              <a:t>A working definition of reasoning in the context of IR</a:t>
            </a:r>
            <a:endParaRPr>
              <a:latin typeface="Palatino Linotype"/>
              <a:ea typeface="Palatino Linotype"/>
              <a:cs typeface="Palatino Linotype"/>
              <a:sym typeface="Palatino Linotype"/>
            </a:endParaRPr>
          </a:p>
          <a:p>
            <a:pPr indent="0" lvl="0" marL="0" marR="0" rtl="0" algn="l">
              <a:lnSpc>
                <a:spcPct val="100000"/>
              </a:lnSpc>
              <a:spcBef>
                <a:spcPts val="0"/>
              </a:spcBef>
              <a:spcAft>
                <a:spcPts val="0"/>
              </a:spcAft>
              <a:buNone/>
            </a:pPr>
            <a:r>
              <a:rPr i="0" lang="en-GB" sz="1800" u="none" cap="none" strike="noStrike">
                <a:solidFill>
                  <a:srgbClr val="C00000"/>
                </a:solidFill>
                <a:latin typeface="Palatino Linotype"/>
                <a:ea typeface="Palatino Linotype"/>
                <a:cs typeface="Palatino Linotype"/>
                <a:sym typeface="Palatino Linotype"/>
              </a:rPr>
              <a:t> </a:t>
            </a:r>
            <a:endParaRPr>
              <a:latin typeface="Palatino Linotype"/>
              <a:ea typeface="Palatino Linotype"/>
              <a:cs typeface="Palatino Linotype"/>
              <a:sym typeface="Palatino Linotype"/>
            </a:endParaRPr>
          </a:p>
          <a:p>
            <a:pPr indent="0" lvl="0" marL="0" marR="0" rtl="0" algn="l">
              <a:lnSpc>
                <a:spcPct val="100000"/>
              </a:lnSpc>
              <a:spcBef>
                <a:spcPts val="0"/>
              </a:spcBef>
              <a:spcAft>
                <a:spcPts val="0"/>
              </a:spcAft>
              <a:buNone/>
            </a:pPr>
            <a:r>
              <a:rPr i="0" lang="en-GB" sz="1800" u="none" cap="none" strike="noStrike">
                <a:solidFill>
                  <a:srgbClr val="C00000"/>
                </a:solidFill>
                <a:latin typeface="Palatino Linotype"/>
                <a:ea typeface="Palatino Linotype"/>
                <a:cs typeface="Palatino Linotype"/>
                <a:sym typeface="Palatino Linotype"/>
              </a:rPr>
              <a:t>An analytical framework built on three axes</a:t>
            </a:r>
            <a:endParaRPr>
              <a:latin typeface="Palatino Linotype"/>
              <a:ea typeface="Palatino Linotype"/>
              <a:cs typeface="Palatino Linotype"/>
              <a:sym typeface="Palatino Linotype"/>
            </a:endParaRPr>
          </a:p>
          <a:p>
            <a:pPr indent="-341313" lvl="1" marL="669925" marR="0" rtl="0" algn="l">
              <a:lnSpc>
                <a:spcPct val="100000"/>
              </a:lnSpc>
              <a:spcBef>
                <a:spcPts val="0"/>
              </a:spcBef>
              <a:spcAft>
                <a:spcPts val="0"/>
              </a:spcAft>
              <a:buClr>
                <a:srgbClr val="000000"/>
              </a:buClr>
              <a:buSzPts val="1200"/>
              <a:buFont typeface="Calibri"/>
              <a:buAutoNum type="arabicPeriod"/>
            </a:pPr>
            <a:r>
              <a:rPr b="1" i="0" lang="en-GB" sz="1200" u="none" cap="none" strike="noStrike">
                <a:solidFill>
                  <a:schemeClr val="dk2"/>
                </a:solidFill>
                <a:latin typeface="Palatino Linotype"/>
                <a:ea typeface="Palatino Linotype"/>
                <a:cs typeface="Palatino Linotype"/>
                <a:sym typeface="Palatino Linotype"/>
              </a:rPr>
              <a:t>Representational </a:t>
            </a:r>
            <a:r>
              <a:rPr b="1" lang="en-GB" sz="1200">
                <a:solidFill>
                  <a:schemeClr val="dk2"/>
                </a:solidFill>
                <a:latin typeface="Palatino Linotype"/>
                <a:ea typeface="Palatino Linotype"/>
                <a:cs typeface="Palatino Linotype"/>
                <a:sym typeface="Palatino Linotype"/>
              </a:rPr>
              <a:t>Capability:</a:t>
            </a:r>
            <a:r>
              <a:rPr b="1" i="0" lang="en-GB" sz="1200" u="none" cap="none" strike="noStrike">
                <a:solidFill>
                  <a:schemeClr val="dk2"/>
                </a:solidFill>
                <a:latin typeface="Palatino Linotype"/>
                <a:ea typeface="Palatino Linotype"/>
                <a:cs typeface="Palatino Linotype"/>
                <a:sym typeface="Palatino Linotype"/>
              </a:rPr>
              <a:t> </a:t>
            </a:r>
            <a:r>
              <a:rPr i="0" lang="en-GB" sz="1200" u="none" cap="none" strike="noStrike">
                <a:solidFill>
                  <a:schemeClr val="dk2"/>
                </a:solidFill>
                <a:latin typeface="Palatino Linotype"/>
                <a:ea typeface="Palatino Linotype"/>
                <a:cs typeface="Palatino Linotype"/>
                <a:sym typeface="Palatino Linotype"/>
              </a:rPr>
              <a:t>Can the representation encode the required information for reasoning, i.e., uncertainty, causality, logical constraints?</a:t>
            </a:r>
            <a:endParaRPr>
              <a:latin typeface="Palatino Linotype"/>
              <a:ea typeface="Palatino Linotype"/>
              <a:cs typeface="Palatino Linotype"/>
              <a:sym typeface="Palatino Linotype"/>
            </a:endParaRPr>
          </a:p>
          <a:p>
            <a:pPr indent="-341313" lvl="1" marL="669925" marR="0" rtl="0" algn="l">
              <a:lnSpc>
                <a:spcPct val="100000"/>
              </a:lnSpc>
              <a:spcBef>
                <a:spcPts val="0"/>
              </a:spcBef>
              <a:spcAft>
                <a:spcPts val="0"/>
              </a:spcAft>
              <a:buClr>
                <a:srgbClr val="000000"/>
              </a:buClr>
              <a:buSzPts val="1200"/>
              <a:buFont typeface="Calibri"/>
              <a:buAutoNum type="arabicPeriod"/>
            </a:pPr>
            <a:r>
              <a:rPr b="1" i="0" lang="en-GB" sz="1200" u="none" cap="none" strike="noStrike">
                <a:solidFill>
                  <a:schemeClr val="dk2"/>
                </a:solidFill>
                <a:latin typeface="Palatino Linotype"/>
                <a:ea typeface="Palatino Linotype"/>
                <a:cs typeface="Palatino Linotype"/>
                <a:sym typeface="Palatino Linotype"/>
              </a:rPr>
              <a:t>Inference </a:t>
            </a:r>
            <a:r>
              <a:rPr b="1" lang="en-GB" sz="1200">
                <a:solidFill>
                  <a:schemeClr val="dk2"/>
                </a:solidFill>
                <a:latin typeface="Palatino Linotype"/>
                <a:ea typeface="Palatino Linotype"/>
                <a:cs typeface="Palatino Linotype"/>
                <a:sym typeface="Palatino Linotype"/>
              </a:rPr>
              <a:t>Faithfulness:</a:t>
            </a:r>
            <a:r>
              <a:rPr b="1" i="0" lang="en-GB" sz="1200" u="none" cap="none" strike="noStrike">
                <a:solidFill>
                  <a:schemeClr val="dk2"/>
                </a:solidFill>
                <a:latin typeface="Palatino Linotype"/>
                <a:ea typeface="Palatino Linotype"/>
                <a:cs typeface="Palatino Linotype"/>
                <a:sym typeface="Palatino Linotype"/>
              </a:rPr>
              <a:t> </a:t>
            </a:r>
            <a:r>
              <a:rPr i="0" lang="en-GB" sz="1200" u="none" cap="none" strike="noStrike">
                <a:solidFill>
                  <a:schemeClr val="dk2"/>
                </a:solidFill>
                <a:latin typeface="Palatino Linotype"/>
                <a:ea typeface="Palatino Linotype"/>
                <a:cs typeface="Palatino Linotype"/>
                <a:sym typeface="Palatino Linotype"/>
              </a:rPr>
              <a:t>Can we verify that the reasoning process is faithful?</a:t>
            </a:r>
            <a:endParaRPr>
              <a:latin typeface="Palatino Linotype"/>
              <a:ea typeface="Palatino Linotype"/>
              <a:cs typeface="Palatino Linotype"/>
              <a:sym typeface="Palatino Linotype"/>
            </a:endParaRPr>
          </a:p>
          <a:p>
            <a:pPr indent="-341313" lvl="1" marL="669925" marR="0" rtl="0" algn="l">
              <a:lnSpc>
                <a:spcPct val="100000"/>
              </a:lnSpc>
              <a:spcBef>
                <a:spcPts val="0"/>
              </a:spcBef>
              <a:spcAft>
                <a:spcPts val="0"/>
              </a:spcAft>
              <a:buClr>
                <a:srgbClr val="000000"/>
              </a:buClr>
              <a:buSzPts val="1200"/>
              <a:buFont typeface="Calibri"/>
              <a:buAutoNum type="arabicPeriod"/>
            </a:pPr>
            <a:r>
              <a:rPr b="1" i="0" lang="en-GB" sz="1200" u="none" cap="none" strike="noStrike">
                <a:solidFill>
                  <a:schemeClr val="dk2"/>
                </a:solidFill>
                <a:latin typeface="Palatino Linotype"/>
                <a:ea typeface="Palatino Linotype"/>
                <a:cs typeface="Palatino Linotype"/>
                <a:sym typeface="Palatino Linotype"/>
              </a:rPr>
              <a:t>Computational </a:t>
            </a:r>
            <a:r>
              <a:rPr b="1" lang="en-GB" sz="1200">
                <a:solidFill>
                  <a:schemeClr val="dk2"/>
                </a:solidFill>
                <a:latin typeface="Palatino Linotype"/>
                <a:ea typeface="Palatino Linotype"/>
                <a:cs typeface="Palatino Linotype"/>
                <a:sym typeface="Palatino Linotype"/>
              </a:rPr>
              <a:t>Feasibility for IR:</a:t>
            </a:r>
            <a:r>
              <a:rPr b="1" i="0" lang="en-GB" sz="1200" u="none" cap="none" strike="noStrike">
                <a:solidFill>
                  <a:schemeClr val="dk2"/>
                </a:solidFill>
                <a:latin typeface="Palatino Linotype"/>
                <a:ea typeface="Palatino Linotype"/>
                <a:cs typeface="Palatino Linotype"/>
                <a:sym typeface="Palatino Linotype"/>
              </a:rPr>
              <a:t> </a:t>
            </a:r>
            <a:r>
              <a:rPr i="0" lang="en-GB" sz="1200" u="none" cap="none" strike="noStrike">
                <a:solidFill>
                  <a:schemeClr val="dk2"/>
                </a:solidFill>
                <a:latin typeface="Palatino Linotype"/>
                <a:ea typeface="Palatino Linotype"/>
                <a:cs typeface="Palatino Linotype"/>
                <a:sym typeface="Palatino Linotype"/>
              </a:rPr>
              <a:t>Is it feasible at retrieval scale?</a:t>
            </a:r>
            <a:endParaRPr>
              <a:latin typeface="Palatino Linotype"/>
              <a:ea typeface="Palatino Linotype"/>
              <a:cs typeface="Palatino Linotype"/>
              <a:sym typeface="Palatino Linotype"/>
            </a:endParaRPr>
          </a:p>
          <a:p>
            <a:pPr indent="0" lvl="1" marL="328613" marR="0" rtl="0" algn="l">
              <a:lnSpc>
                <a:spcPct val="100000"/>
              </a:lnSpc>
              <a:spcBef>
                <a:spcPts val="0"/>
              </a:spcBef>
              <a:spcAft>
                <a:spcPts val="0"/>
              </a:spcAft>
              <a:buNone/>
            </a:pPr>
            <a:r>
              <a:t/>
            </a:r>
            <a:endParaRPr i="0" sz="1800" u="none" cap="none" strike="noStrike">
              <a:solidFill>
                <a:schemeClr val="dk2"/>
              </a:solidFill>
              <a:latin typeface="Palatino Linotype"/>
              <a:ea typeface="Palatino Linotype"/>
              <a:cs typeface="Palatino Linotype"/>
              <a:sym typeface="Palatino Linotype"/>
            </a:endParaRPr>
          </a:p>
          <a:p>
            <a:pPr indent="0" lvl="0" marL="0" marR="0" rtl="0" algn="l">
              <a:lnSpc>
                <a:spcPct val="100000"/>
              </a:lnSpc>
              <a:spcBef>
                <a:spcPts val="0"/>
              </a:spcBef>
              <a:spcAft>
                <a:spcPts val="0"/>
              </a:spcAft>
              <a:buNone/>
            </a:pPr>
            <a:r>
              <a:rPr i="0" lang="en-GB" sz="1800" u="none" cap="none" strike="noStrike">
                <a:solidFill>
                  <a:srgbClr val="C00000"/>
                </a:solidFill>
                <a:latin typeface="Palatino Linotype"/>
                <a:ea typeface="Palatino Linotype"/>
                <a:cs typeface="Palatino Linotype"/>
                <a:sym typeface="Palatino Linotype"/>
              </a:rPr>
              <a:t>Current </a:t>
            </a:r>
            <a:r>
              <a:rPr lang="en-GB" sz="1800">
                <a:solidFill>
                  <a:srgbClr val="C00000"/>
                </a:solidFill>
                <a:latin typeface="Palatino Linotype"/>
                <a:ea typeface="Palatino Linotype"/>
                <a:cs typeface="Palatino Linotype"/>
                <a:sym typeface="Palatino Linotype"/>
              </a:rPr>
              <a:t>m</a:t>
            </a:r>
            <a:r>
              <a:rPr i="0" lang="en-GB" sz="1800" u="none" cap="none" strike="noStrike">
                <a:solidFill>
                  <a:srgbClr val="C00000"/>
                </a:solidFill>
                <a:latin typeface="Palatino Linotype"/>
                <a:ea typeface="Palatino Linotype"/>
                <a:cs typeface="Palatino Linotype"/>
                <a:sym typeface="Palatino Linotype"/>
              </a:rPr>
              <a:t>ethodologies</a:t>
            </a:r>
            <a:endParaRPr>
              <a:latin typeface="Palatino Linotype"/>
              <a:ea typeface="Palatino Linotype"/>
              <a:cs typeface="Palatino Linotype"/>
              <a:sym typeface="Palatino Linotype"/>
            </a:endParaRPr>
          </a:p>
          <a:p>
            <a:pPr indent="-327025" lvl="1" marL="669925" marR="0" rtl="0" algn="l">
              <a:lnSpc>
                <a:spcPct val="100000"/>
              </a:lnSpc>
              <a:spcBef>
                <a:spcPts val="0"/>
              </a:spcBef>
              <a:spcAft>
                <a:spcPts val="0"/>
              </a:spcAft>
              <a:buClr>
                <a:srgbClr val="000000"/>
              </a:buClr>
              <a:buSzPts val="1200"/>
              <a:buFont typeface="Calibri"/>
              <a:buAutoNum type="arabicPeriod"/>
            </a:pPr>
            <a:r>
              <a:rPr b="1" i="0" lang="en-GB" sz="1200" u="none" cap="none" strike="noStrike">
                <a:solidFill>
                  <a:schemeClr val="dk2"/>
                </a:solidFill>
                <a:latin typeface="Palatino Linotype"/>
                <a:ea typeface="Palatino Linotype"/>
                <a:cs typeface="Palatino Linotype"/>
                <a:sym typeface="Palatino Linotype"/>
              </a:rPr>
              <a:t>LLM-based: </a:t>
            </a:r>
            <a:r>
              <a:rPr i="0" lang="en-GB" sz="1200" u="none" cap="none" strike="noStrike">
                <a:solidFill>
                  <a:schemeClr val="dk2"/>
                </a:solidFill>
                <a:latin typeface="Palatino Linotype"/>
                <a:ea typeface="Palatino Linotype"/>
                <a:cs typeface="Palatino Linotype"/>
                <a:sym typeface="Palatino Linotype"/>
              </a:rPr>
              <a:t>inference time reasoning, and RL-enhanced LRMs </a:t>
            </a:r>
            <a:endParaRPr>
              <a:latin typeface="Palatino Linotype"/>
              <a:ea typeface="Palatino Linotype"/>
              <a:cs typeface="Palatino Linotype"/>
              <a:sym typeface="Palatino Linotype"/>
            </a:endParaRPr>
          </a:p>
          <a:p>
            <a:pPr indent="-327025" lvl="1" marL="669925" marR="0" rtl="0" algn="l">
              <a:lnSpc>
                <a:spcPct val="100000"/>
              </a:lnSpc>
              <a:spcBef>
                <a:spcPts val="0"/>
              </a:spcBef>
              <a:spcAft>
                <a:spcPts val="0"/>
              </a:spcAft>
              <a:buClr>
                <a:srgbClr val="000000"/>
              </a:buClr>
              <a:buSzPts val="1200"/>
              <a:buFont typeface="Calibri"/>
              <a:buAutoNum type="arabicPeriod"/>
            </a:pPr>
            <a:r>
              <a:rPr b="1" i="0" lang="en-GB" sz="1200" u="none" cap="none" strike="noStrike">
                <a:solidFill>
                  <a:schemeClr val="dk2"/>
                </a:solidFill>
                <a:latin typeface="Palatino Linotype"/>
                <a:ea typeface="Palatino Linotype"/>
                <a:cs typeface="Palatino Linotype"/>
                <a:sym typeface="Palatino Linotype"/>
              </a:rPr>
              <a:t>Beyond LLMs: </a:t>
            </a:r>
            <a:r>
              <a:rPr i="0" lang="en-GB" sz="1200" u="none" cap="none" strike="noStrike">
                <a:solidFill>
                  <a:schemeClr val="dk2"/>
                </a:solidFill>
                <a:latin typeface="Palatino Linotype"/>
                <a:ea typeface="Palatino Linotype"/>
                <a:cs typeface="Palatino Linotype"/>
                <a:sym typeface="Palatino Linotype"/>
              </a:rPr>
              <a:t>Neuro-symbolic, probabilistic/Bayesian frameworks,</a:t>
            </a:r>
            <a:r>
              <a:rPr lang="en-GB" sz="1200">
                <a:solidFill>
                  <a:schemeClr val="dk2"/>
                </a:solidFill>
                <a:latin typeface="Palatino Linotype"/>
                <a:ea typeface="Palatino Linotype"/>
                <a:cs typeface="Palatino Linotype"/>
                <a:sym typeface="Palatino Linotype"/>
              </a:rPr>
              <a:t> enhanced representation</a:t>
            </a:r>
            <a:endParaRPr>
              <a:latin typeface="Palatino Linotype"/>
              <a:ea typeface="Palatino Linotype"/>
              <a:cs typeface="Palatino Linotype"/>
              <a:sym typeface="Palatino Linotype"/>
            </a:endParaRPr>
          </a:p>
          <a:p>
            <a:pPr indent="0" lvl="1" marL="342900" marR="0" rtl="0" algn="l">
              <a:lnSpc>
                <a:spcPct val="100000"/>
              </a:lnSpc>
              <a:spcBef>
                <a:spcPts val="0"/>
              </a:spcBef>
              <a:spcAft>
                <a:spcPts val="0"/>
              </a:spcAft>
              <a:buNone/>
            </a:pPr>
            <a:r>
              <a:t/>
            </a:r>
            <a:endParaRPr i="0" sz="1800" u="none" cap="none" strike="noStrike">
              <a:solidFill>
                <a:schemeClr val="dk2"/>
              </a:solidFill>
              <a:latin typeface="Palatino Linotype"/>
              <a:ea typeface="Palatino Linotype"/>
              <a:cs typeface="Palatino Linotype"/>
              <a:sym typeface="Palatino Linotype"/>
            </a:endParaRPr>
          </a:p>
          <a:p>
            <a:pPr indent="0" lvl="0" marL="0" marR="0" rtl="0" algn="l">
              <a:lnSpc>
                <a:spcPct val="100000"/>
              </a:lnSpc>
              <a:spcBef>
                <a:spcPts val="0"/>
              </a:spcBef>
              <a:spcAft>
                <a:spcPts val="0"/>
              </a:spcAft>
              <a:buNone/>
            </a:pPr>
            <a:r>
              <a:rPr i="0" lang="en-GB" sz="1800" u="none" cap="none" strike="noStrike">
                <a:solidFill>
                  <a:srgbClr val="C00000"/>
                </a:solidFill>
                <a:latin typeface="Palatino Linotype"/>
                <a:ea typeface="Palatino Linotype"/>
                <a:cs typeface="Palatino Linotype"/>
                <a:sym typeface="Palatino Linotype"/>
              </a:rPr>
              <a:t>Bridging &amp; future directions</a:t>
            </a:r>
            <a:endParaRPr>
              <a:latin typeface="Palatino Linotype"/>
              <a:ea typeface="Palatino Linotype"/>
              <a:cs typeface="Palatino Linotype"/>
              <a:sym typeface="Palatino Linotype"/>
            </a:endParaRPr>
          </a:p>
          <a:p>
            <a:pPr indent="0" lvl="0" marL="0" marR="0" rtl="0" algn="l">
              <a:lnSpc>
                <a:spcPct val="100000"/>
              </a:lnSpc>
              <a:spcBef>
                <a:spcPts val="0"/>
              </a:spcBef>
              <a:spcAft>
                <a:spcPts val="0"/>
              </a:spcAft>
              <a:buNone/>
            </a:pPr>
            <a:r>
              <a:rPr i="0" lang="en-GB" sz="1200" u="none" cap="none" strike="noStrike">
                <a:solidFill>
                  <a:schemeClr val="dk2"/>
                </a:solidFill>
                <a:latin typeface="Palatino Linotype"/>
                <a:ea typeface="Palatino Linotype"/>
                <a:cs typeface="Palatino Linotype"/>
                <a:sym typeface="Palatino Linotype"/>
              </a:rPr>
              <a:t>Comparative analysis of paradigms along the three axes, open challenges, and research opportunities</a:t>
            </a:r>
            <a:endParaRPr i="0" sz="1800" u="none" cap="none" strike="noStrike">
              <a:solidFill>
                <a:schemeClr val="dk2"/>
              </a:solidFill>
              <a:latin typeface="Palatino Linotype"/>
              <a:ea typeface="Palatino Linotype"/>
              <a:cs typeface="Palatino Linotype"/>
              <a:sym typeface="Palatino Linotype"/>
            </a:endParaRPr>
          </a:p>
          <a:p>
            <a:pPr indent="0" lvl="0" marL="0" marR="0" rtl="0" algn="l">
              <a:lnSpc>
                <a:spcPct val="100000"/>
              </a:lnSpc>
              <a:spcBef>
                <a:spcPts val="0"/>
              </a:spcBef>
              <a:spcAft>
                <a:spcPts val="0"/>
              </a:spcAft>
              <a:buClr>
                <a:srgbClr val="000000"/>
              </a:buClr>
              <a:buSzPts val="1800"/>
              <a:buFont typeface="Arial"/>
              <a:buNone/>
            </a:pPr>
            <a:r>
              <a:rPr i="0" lang="en-GB" sz="1800" u="none" cap="none" strike="noStrike">
                <a:solidFill>
                  <a:schemeClr val="dk2"/>
                </a:solidFill>
                <a:latin typeface="Palatino Linotype"/>
                <a:ea typeface="Palatino Linotype"/>
                <a:cs typeface="Palatino Linotype"/>
                <a:sym typeface="Palatino Linotype"/>
              </a:rPr>
              <a:t> </a:t>
            </a:r>
            <a:endParaRPr i="0" sz="1800" u="none" cap="none" strike="noStrike">
              <a:solidFill>
                <a:schemeClr val="dk2"/>
              </a:solidFill>
              <a:latin typeface="Palatino Linotype"/>
              <a:ea typeface="Palatino Linotype"/>
              <a:cs typeface="Palatino Linotype"/>
              <a:sym typeface="Palatino Linotype"/>
            </a:endParaRPr>
          </a:p>
        </p:txBody>
      </p:sp>
      <p:sp>
        <p:nvSpPr>
          <p:cNvPr id="316" name="Google Shape;316;p4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latin typeface="Palatino Linotype"/>
                <a:ea typeface="Palatino Linotype"/>
                <a:cs typeface="Palatino Linotype"/>
                <a:sym typeface="Palatino Linotype"/>
              </a:rPr>
              <a:t>‹#›</a:t>
            </a:fld>
            <a:endParaRPr>
              <a:latin typeface="Palatino Linotype"/>
              <a:ea typeface="Palatino Linotype"/>
              <a:cs typeface="Palatino Linotype"/>
              <a:sym typeface="Palatino Linotype"/>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5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00000"/>
              </a:lnSpc>
              <a:spcBef>
                <a:spcPts val="0"/>
              </a:spcBef>
              <a:spcAft>
                <a:spcPts val="0"/>
              </a:spcAft>
              <a:buSzPct val="111111"/>
              <a:buNone/>
            </a:pPr>
            <a:r>
              <a:rPr b="1" lang="en-GB"/>
              <a:t>Key takeaways for the audience</a:t>
            </a:r>
            <a:endParaRPr b="1"/>
          </a:p>
        </p:txBody>
      </p:sp>
      <p:sp>
        <p:nvSpPr>
          <p:cNvPr id="322" name="Google Shape;322;p50"/>
          <p:cNvSpPr txBox="1"/>
          <p:nvPr/>
        </p:nvSpPr>
        <p:spPr>
          <a:xfrm>
            <a:off x="404215" y="918822"/>
            <a:ext cx="8609100" cy="3894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t/>
            </a:r>
            <a:endParaRPr sz="2200">
              <a:solidFill>
                <a:schemeClr val="dk2"/>
              </a:solidFill>
            </a:endParaRPr>
          </a:p>
          <a:p>
            <a:pPr indent="0" lvl="0" marL="0" marR="0" rtl="0" algn="l">
              <a:lnSpc>
                <a:spcPct val="100000"/>
              </a:lnSpc>
              <a:spcBef>
                <a:spcPts val="0"/>
              </a:spcBef>
              <a:spcAft>
                <a:spcPts val="0"/>
              </a:spcAft>
              <a:buNone/>
            </a:pPr>
            <a:r>
              <a:rPr lang="en-GB" sz="2200">
                <a:solidFill>
                  <a:schemeClr val="dk2"/>
                </a:solidFill>
              </a:rPr>
              <a:t>→ </a:t>
            </a:r>
            <a:r>
              <a:rPr lang="en-GB" sz="2200">
                <a:solidFill>
                  <a:schemeClr val="dk2"/>
                </a:solidFill>
              </a:rPr>
              <a:t>Familiarity with the key methods and their trade-offs</a:t>
            </a:r>
            <a:endParaRPr b="0" i="0" sz="22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None/>
            </a:pPr>
            <a:r>
              <a:rPr lang="en-GB" sz="2200">
                <a:solidFill>
                  <a:schemeClr val="dk2"/>
                </a:solidFill>
              </a:rPr>
              <a:t>→ </a:t>
            </a:r>
            <a:r>
              <a:rPr lang="en-GB" sz="2200">
                <a:solidFill>
                  <a:schemeClr val="dk2"/>
                </a:solidFill>
              </a:rPr>
              <a:t>A structured lens for reasoning for IR approaches</a:t>
            </a:r>
            <a:endParaRPr sz="2200">
              <a:solidFill>
                <a:schemeClr val="dk2"/>
              </a:solidFill>
            </a:endParaRPr>
          </a:p>
          <a:p>
            <a:pPr indent="0" lvl="0" marL="0" marR="0" rtl="0" algn="l">
              <a:lnSpc>
                <a:spcPct val="100000"/>
              </a:lnSpc>
              <a:spcBef>
                <a:spcPts val="0"/>
              </a:spcBef>
              <a:spcAft>
                <a:spcPts val="0"/>
              </a:spcAft>
              <a:buNone/>
            </a:pPr>
            <a:r>
              <a:rPr lang="en-GB" sz="2200">
                <a:solidFill>
                  <a:schemeClr val="dk2"/>
                </a:solidFill>
              </a:rPr>
              <a:t>→ Open</a:t>
            </a:r>
            <a:r>
              <a:rPr b="0" i="0" lang="en-GB" sz="2200" u="none" cap="none" strike="noStrike">
                <a:solidFill>
                  <a:schemeClr val="dk2"/>
                </a:solidFill>
                <a:latin typeface="Arial"/>
                <a:ea typeface="Arial"/>
                <a:cs typeface="Arial"/>
                <a:sym typeface="Arial"/>
              </a:rPr>
              <a:t> research questions</a:t>
            </a:r>
            <a:endParaRPr sz="1800"/>
          </a:p>
          <a:p>
            <a:pPr indent="0" lvl="0" marL="0" marR="0" rtl="0" algn="l">
              <a:lnSpc>
                <a:spcPct val="100000"/>
              </a:lnSpc>
              <a:spcBef>
                <a:spcPts val="0"/>
              </a:spcBef>
              <a:spcAft>
                <a:spcPts val="0"/>
              </a:spcAft>
              <a:buNone/>
            </a:pPr>
            <a:r>
              <a:t/>
            </a:r>
            <a:endParaRPr b="0" i="0" sz="1800" u="none" cap="none" strike="noStrike">
              <a:solidFill>
                <a:schemeClr val="dk2"/>
              </a:solidFill>
              <a:latin typeface="Arial"/>
              <a:ea typeface="Arial"/>
              <a:cs typeface="Arial"/>
              <a:sym typeface="Arial"/>
            </a:endParaRPr>
          </a:p>
        </p:txBody>
      </p:sp>
      <p:sp>
        <p:nvSpPr>
          <p:cNvPr id="323" name="Google Shape;323;p5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
        <p:nvSpPr>
          <p:cNvPr id="324" name="Google Shape;324;p50"/>
          <p:cNvSpPr txBox="1"/>
          <p:nvPr>
            <p:ph idx="1" type="body"/>
          </p:nvPr>
        </p:nvSpPr>
        <p:spPr>
          <a:xfrm>
            <a:off x="311700" y="278302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None/>
            </a:pPr>
            <a:r>
              <a:rPr lang="en-GB" sz="2000">
                <a:solidFill>
                  <a:schemeClr val="dk2"/>
                </a:solidFill>
              </a:rPr>
              <a:t>All tutorial slides and reading list are/will be available at: </a:t>
            </a:r>
            <a:r>
              <a:rPr lang="en-GB" sz="2000">
                <a:solidFill>
                  <a:srgbClr val="083C92"/>
                </a:solidFill>
              </a:rPr>
              <a:t>https://reasoning-for-ir.github.io/</a:t>
            </a:r>
            <a:endParaRPr sz="2000">
              <a:solidFill>
                <a:schemeClr val="dk2"/>
              </a:solidFill>
            </a:endParaRPr>
          </a:p>
          <a:p>
            <a:pPr indent="0" lvl="0" marL="0" rtl="0" algn="l">
              <a:lnSpc>
                <a:spcPct val="115000"/>
              </a:lnSpc>
              <a:spcBef>
                <a:spcPts val="0"/>
              </a:spcBef>
              <a:spcAft>
                <a:spcPts val="0"/>
              </a:spcAft>
              <a:buClr>
                <a:schemeClr val="dk2"/>
              </a:buClr>
              <a:buSzPts val="1800"/>
              <a:buNone/>
            </a:pPr>
            <a:r>
              <a:t/>
            </a:r>
            <a:endParaRPr sz="1800">
              <a:solidFill>
                <a:schemeClr val="dk2"/>
              </a:solidFill>
            </a:endParaRPr>
          </a:p>
          <a:p>
            <a:pPr indent="0" lvl="0" marL="0" rtl="0" algn="l">
              <a:lnSpc>
                <a:spcPct val="115000"/>
              </a:lnSpc>
              <a:spcBef>
                <a:spcPts val="0"/>
              </a:spcBef>
              <a:spcAft>
                <a:spcPts val="0"/>
              </a:spcAft>
              <a:buNone/>
            </a:pPr>
            <a:r>
              <a:rPr lang="en-GB" sz="2000">
                <a:solidFill>
                  <a:schemeClr val="dk2"/>
                </a:solidFill>
              </a:rPr>
              <a:t>Throughout the tutorial:</a:t>
            </a:r>
            <a:endParaRPr sz="2000"/>
          </a:p>
          <a:p>
            <a:pPr indent="0" lvl="0" marL="0" rtl="0" algn="l">
              <a:lnSpc>
                <a:spcPct val="100000"/>
              </a:lnSpc>
              <a:spcBef>
                <a:spcPts val="0"/>
              </a:spcBef>
              <a:spcAft>
                <a:spcPts val="0"/>
              </a:spcAft>
              <a:buClr>
                <a:srgbClr val="000000"/>
              </a:buClr>
              <a:buNone/>
            </a:pPr>
            <a:r>
              <a:rPr lang="en-GB" sz="2000">
                <a:solidFill>
                  <a:srgbClr val="FF0000"/>
                </a:solidFill>
              </a:rPr>
              <a:t>Ask questions anytime! </a:t>
            </a:r>
            <a:endParaRPr sz="2000">
              <a:solidFill>
                <a:srgbClr val="000000"/>
              </a:solidFill>
            </a:endParaRPr>
          </a:p>
          <a:p>
            <a:pPr indent="0" lvl="0" marL="0" rtl="0" algn="l">
              <a:lnSpc>
                <a:spcPct val="100000"/>
              </a:lnSpc>
              <a:spcBef>
                <a:spcPts val="0"/>
              </a:spcBef>
              <a:spcAft>
                <a:spcPts val="0"/>
              </a:spcAft>
              <a:buClr>
                <a:srgbClr val="000000"/>
              </a:buClr>
              <a:buFont typeface="Arial"/>
              <a:buNone/>
            </a:pPr>
            <a:r>
              <a:rPr lang="en-GB" sz="2000">
                <a:solidFill>
                  <a:srgbClr val="000000"/>
                </a:solidFill>
              </a:rPr>
              <a:t>(+5 minutes Q&amp;A in 1st and 2nd half)</a:t>
            </a:r>
            <a:endParaRPr sz="2000">
              <a:solidFill>
                <a:srgbClr val="C00000"/>
              </a:solidFill>
            </a:endParaRPr>
          </a:p>
          <a:p>
            <a:pPr indent="0" lvl="0" marL="114300" rtl="0" algn="l">
              <a:lnSpc>
                <a:spcPct val="115000"/>
              </a:lnSpc>
              <a:spcBef>
                <a:spcPts val="0"/>
              </a:spcBef>
              <a:spcAft>
                <a:spcPts val="0"/>
              </a:spcAft>
              <a:buClr>
                <a:schemeClr val="dk2"/>
              </a:buClr>
              <a:buSzPts val="1800"/>
              <a:buNone/>
            </a:pPr>
            <a:r>
              <a:t/>
            </a:r>
            <a:endParaRPr/>
          </a:p>
          <a:p>
            <a:pPr indent="0" lvl="0" marL="114300" rtl="0" algn="l">
              <a:lnSpc>
                <a:spcPct val="115000"/>
              </a:lnSpc>
              <a:spcBef>
                <a:spcPts val="0"/>
              </a:spcBef>
              <a:spcAft>
                <a:spcPts val="0"/>
              </a:spcAft>
              <a:buClr>
                <a:schemeClr val="dk2"/>
              </a:buClr>
              <a:buSzPts val="1800"/>
              <a:buNone/>
            </a:pPr>
            <a:r>
              <a:t/>
            </a:r>
            <a:endParaRPr sz="1800">
              <a:solidFill>
                <a:schemeClr val="dk2"/>
              </a:solidFill>
            </a:endParaRPr>
          </a:p>
          <a:p>
            <a:pPr indent="-228600" lvl="0" marL="457200" rtl="0" algn="l">
              <a:lnSpc>
                <a:spcPct val="115000"/>
              </a:lnSpc>
              <a:spcBef>
                <a:spcPts val="0"/>
              </a:spcBef>
              <a:spcAft>
                <a:spcPts val="0"/>
              </a:spcAft>
              <a:buSzPts val="1800"/>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83C92"/>
        </a:solidFill>
      </p:bgPr>
    </p:bg>
    <p:spTree>
      <p:nvGrpSpPr>
        <p:cNvPr id="328" name="Shape 328"/>
        <p:cNvGrpSpPr/>
        <p:nvPr/>
      </p:nvGrpSpPr>
      <p:grpSpPr>
        <a:xfrm>
          <a:off x="0" y="0"/>
          <a:ext cx="0" cy="0"/>
          <a:chOff x="0" y="0"/>
          <a:chExt cx="0" cy="0"/>
        </a:xfrm>
      </p:grpSpPr>
      <p:sp>
        <p:nvSpPr>
          <p:cNvPr id="329" name="Google Shape;329;p51"/>
          <p:cNvSpPr txBox="1"/>
          <p:nvPr>
            <p:ph type="title"/>
          </p:nvPr>
        </p:nvSpPr>
        <p:spPr>
          <a:xfrm>
            <a:off x="311700" y="2150850"/>
            <a:ext cx="8832300" cy="841800"/>
          </a:xfrm>
          <a:prstGeom prst="rect">
            <a:avLst/>
          </a:prstGeom>
        </p:spPr>
        <p:txBody>
          <a:bodyPr anchorCtr="0" anchor="ctr" bIns="91425" lIns="91425" spcFirstLastPara="1" rIns="91425" wrap="square" tIns="91425">
            <a:normAutofit fontScale="90000"/>
          </a:bodyPr>
          <a:lstStyle/>
          <a:p>
            <a:pPr indent="-434340" lvl="0" marL="457200" rtl="0" algn="l">
              <a:spcBef>
                <a:spcPts val="0"/>
              </a:spcBef>
              <a:spcAft>
                <a:spcPts val="0"/>
              </a:spcAft>
              <a:buClr>
                <a:schemeClr val="lt1"/>
              </a:buClr>
              <a:buSzPct val="100000"/>
              <a:buFont typeface="Palatino Linotype"/>
              <a:buAutoNum type="romanUcPeriod"/>
            </a:pPr>
            <a:r>
              <a:rPr b="1" lang="en-GB">
                <a:solidFill>
                  <a:schemeClr val="lt1"/>
                </a:solidFill>
                <a:latin typeface="Palatino Linotype"/>
                <a:ea typeface="Palatino Linotype"/>
                <a:cs typeface="Palatino Linotype"/>
                <a:sym typeface="Palatino Linotype"/>
              </a:rPr>
              <a:t>Reasoning</a:t>
            </a:r>
            <a:r>
              <a:rPr b="1" lang="en-GB">
                <a:solidFill>
                  <a:schemeClr val="lt1"/>
                </a:solidFill>
                <a:latin typeface="Palatino Linotype"/>
                <a:ea typeface="Palatino Linotype"/>
                <a:cs typeface="Palatino Linotype"/>
                <a:sym typeface="Palatino Linotype"/>
              </a:rPr>
              <a:t>: </a:t>
            </a:r>
            <a:endParaRPr b="1">
              <a:solidFill>
                <a:schemeClr val="lt1"/>
              </a:solidFill>
              <a:latin typeface="Palatino Linotype"/>
              <a:ea typeface="Palatino Linotype"/>
              <a:cs typeface="Palatino Linotype"/>
              <a:sym typeface="Palatino Linotype"/>
            </a:endParaRPr>
          </a:p>
          <a:p>
            <a:pPr indent="0" lvl="0" marL="457200" rtl="0" algn="l">
              <a:spcBef>
                <a:spcPts val="0"/>
              </a:spcBef>
              <a:spcAft>
                <a:spcPts val="0"/>
              </a:spcAft>
              <a:buNone/>
            </a:pPr>
            <a:r>
              <a:rPr b="1" lang="en-GB">
                <a:solidFill>
                  <a:schemeClr val="lt1"/>
                </a:solidFill>
                <a:latin typeface="Palatino Linotype"/>
                <a:ea typeface="Palatino Linotype"/>
                <a:cs typeface="Palatino Linotype"/>
                <a:sym typeface="Palatino Linotype"/>
              </a:rPr>
              <a:t>Definition &amp; challenges in IR </a:t>
            </a:r>
            <a:endParaRPr b="1">
              <a:solidFill>
                <a:srgbClr val="93C47D"/>
              </a:solidFill>
              <a:latin typeface="Palatino Linotype"/>
              <a:ea typeface="Palatino Linotype"/>
              <a:cs typeface="Palatino Linotype"/>
              <a:sym typeface="Palatino Linotype"/>
            </a:endParaRPr>
          </a:p>
        </p:txBody>
      </p:sp>
      <p:sp>
        <p:nvSpPr>
          <p:cNvPr id="330" name="Google Shape;330;p5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5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n-GB"/>
              <a:t>Roadmap for Part 2</a:t>
            </a:r>
            <a:endParaRPr b="1"/>
          </a:p>
        </p:txBody>
      </p:sp>
      <p:sp>
        <p:nvSpPr>
          <p:cNvPr id="336" name="Google Shape;336;p52"/>
          <p:cNvSpPr txBox="1"/>
          <p:nvPr/>
        </p:nvSpPr>
        <p:spPr>
          <a:xfrm>
            <a:off x="311725" y="1227475"/>
            <a:ext cx="8520600" cy="738000"/>
          </a:xfrm>
          <a:prstGeom prst="rect">
            <a:avLst/>
          </a:prstGeom>
          <a:solidFill>
            <a:srgbClr val="D9EA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GB" sz="1800">
                <a:solidFill>
                  <a:schemeClr val="dk2"/>
                </a:solidFill>
              </a:rPr>
              <a:t>2.1 The reasoning demands of IR</a:t>
            </a:r>
            <a:endParaRPr b="1" sz="1800">
              <a:solidFill>
                <a:schemeClr val="dk2"/>
              </a:solidFill>
              <a:highlight>
                <a:srgbClr val="C9DAF8"/>
              </a:highlight>
            </a:endParaRPr>
          </a:p>
          <a:p>
            <a:pPr indent="0" lvl="0" marL="0" rtl="0" algn="l">
              <a:spcBef>
                <a:spcPts val="1000"/>
              </a:spcBef>
              <a:spcAft>
                <a:spcPts val="0"/>
              </a:spcAft>
              <a:buNone/>
            </a:pPr>
            <a:r>
              <a:rPr lang="en-GB" sz="1200">
                <a:solidFill>
                  <a:schemeClr val="dk2"/>
                </a:solidFill>
              </a:rPr>
              <a:t>What complex tasks actually require • The multi-step argument • Open questions</a:t>
            </a:r>
            <a:endParaRPr sz="1200">
              <a:solidFill>
                <a:schemeClr val="dk2"/>
              </a:solidFill>
            </a:endParaRPr>
          </a:p>
        </p:txBody>
      </p:sp>
      <p:sp>
        <p:nvSpPr>
          <p:cNvPr id="337" name="Google Shape;337;p52"/>
          <p:cNvSpPr txBox="1"/>
          <p:nvPr/>
        </p:nvSpPr>
        <p:spPr>
          <a:xfrm>
            <a:off x="311725" y="2131550"/>
            <a:ext cx="8520600" cy="738000"/>
          </a:xfrm>
          <a:prstGeom prst="rect">
            <a:avLst/>
          </a:prstGeom>
          <a:solidFill>
            <a:srgbClr val="FFF2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GB" sz="1800">
                <a:solidFill>
                  <a:schemeClr val="dk2"/>
                </a:solidFill>
              </a:rPr>
              <a:t>2.2 What LLMs have been shown to do</a:t>
            </a:r>
            <a:endParaRPr b="1" sz="1800">
              <a:solidFill>
                <a:schemeClr val="dk2"/>
              </a:solidFill>
            </a:endParaRPr>
          </a:p>
          <a:p>
            <a:pPr indent="0" lvl="0" marL="0" rtl="0" algn="l">
              <a:spcBef>
                <a:spcPts val="1000"/>
              </a:spcBef>
              <a:spcAft>
                <a:spcPts val="0"/>
              </a:spcAft>
              <a:buNone/>
            </a:pPr>
            <a:r>
              <a:rPr lang="en-GB" sz="1200">
                <a:solidFill>
                  <a:schemeClr val="dk2"/>
                </a:solidFill>
              </a:rPr>
              <a:t>Algorithmic approaches • Critical findings paired • BRIGHT as diagnostic • Additional resources</a:t>
            </a:r>
            <a:endParaRPr sz="1200">
              <a:solidFill>
                <a:schemeClr val="dk2"/>
              </a:solidFill>
            </a:endParaRPr>
          </a:p>
        </p:txBody>
      </p:sp>
      <p:sp>
        <p:nvSpPr>
          <p:cNvPr id="338" name="Google Shape;338;p52"/>
          <p:cNvSpPr txBox="1"/>
          <p:nvPr/>
        </p:nvSpPr>
        <p:spPr>
          <a:xfrm>
            <a:off x="311725" y="3035625"/>
            <a:ext cx="8520600" cy="738000"/>
          </a:xfrm>
          <a:prstGeom prst="rect">
            <a:avLst/>
          </a:prstGeom>
          <a:solidFill>
            <a:srgbClr val="C9DA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GB" sz="1800">
                <a:solidFill>
                  <a:schemeClr val="dk2"/>
                </a:solidFill>
              </a:rPr>
              <a:t>2.3 What reasoning actually is</a:t>
            </a:r>
            <a:endParaRPr b="1" sz="1800">
              <a:solidFill>
                <a:schemeClr val="dk2"/>
              </a:solidFill>
            </a:endParaRPr>
          </a:p>
          <a:p>
            <a:pPr indent="0" lvl="0" marL="0" rtl="0" algn="l">
              <a:spcBef>
                <a:spcPts val="1000"/>
              </a:spcBef>
              <a:spcAft>
                <a:spcPts val="0"/>
              </a:spcAft>
              <a:buNone/>
            </a:pPr>
            <a:r>
              <a:rPr lang="en-GB" sz="1200">
                <a:solidFill>
                  <a:schemeClr val="dk2"/>
                </a:solidFill>
              </a:rPr>
              <a:t>Definitional problem</a:t>
            </a:r>
            <a:r>
              <a:rPr lang="en-GB" sz="1200">
                <a:solidFill>
                  <a:schemeClr val="dk2"/>
                </a:solidFill>
              </a:rPr>
              <a:t> • Philosophical traditions • 12-type taxonomy</a:t>
            </a:r>
            <a:endParaRPr sz="1200">
              <a:solidFill>
                <a:schemeClr val="dk2"/>
              </a:solidFill>
            </a:endParaRPr>
          </a:p>
        </p:txBody>
      </p:sp>
      <p:sp>
        <p:nvSpPr>
          <p:cNvPr id="339" name="Google Shape;339;p52"/>
          <p:cNvSpPr txBox="1"/>
          <p:nvPr/>
        </p:nvSpPr>
        <p:spPr>
          <a:xfrm>
            <a:off x="311725" y="3939700"/>
            <a:ext cx="8520600" cy="738000"/>
          </a:xfrm>
          <a:prstGeom prst="rect">
            <a:avLst/>
          </a:prstGeom>
          <a:solidFill>
            <a:srgbClr val="F4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GB" sz="1800">
                <a:solidFill>
                  <a:schemeClr val="dk2"/>
                </a:solidFill>
              </a:rPr>
              <a:t>2.4 I</a:t>
            </a:r>
            <a:r>
              <a:rPr b="1" lang="en-GB" sz="1800">
                <a:solidFill>
                  <a:schemeClr val="dk2"/>
                </a:solidFill>
              </a:rPr>
              <a:t>mplications, open problems, takeaways</a:t>
            </a:r>
            <a:endParaRPr b="1" sz="1800">
              <a:solidFill>
                <a:schemeClr val="dk2"/>
              </a:solidFill>
            </a:endParaRPr>
          </a:p>
          <a:p>
            <a:pPr indent="0" lvl="0" marL="0" rtl="0" algn="l">
              <a:spcBef>
                <a:spcPts val="1000"/>
              </a:spcBef>
              <a:spcAft>
                <a:spcPts val="0"/>
              </a:spcAft>
              <a:buNone/>
            </a:pPr>
            <a:r>
              <a:rPr lang="en-GB" sz="1200">
                <a:solidFill>
                  <a:schemeClr val="dk2"/>
                </a:solidFill>
              </a:rPr>
              <a:t>Evaluation design</a:t>
            </a:r>
            <a:r>
              <a:rPr lang="en-GB" sz="1200">
                <a:solidFill>
                  <a:schemeClr val="dk2"/>
                </a:solidFill>
              </a:rPr>
              <a:t> • System design • The normative gap • Reasoning axes</a:t>
            </a:r>
            <a:endParaRPr sz="1200">
              <a:solidFill>
                <a:schemeClr val="dk2"/>
              </a:solidFill>
            </a:endParaRPr>
          </a:p>
        </p:txBody>
      </p:sp>
      <p:sp>
        <p:nvSpPr>
          <p:cNvPr id="340" name="Google Shape;340;p5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D9EEB"/>
        </a:solidFill>
      </p:bgPr>
    </p:bg>
    <p:spTree>
      <p:nvGrpSpPr>
        <p:cNvPr id="344" name="Shape 344"/>
        <p:cNvGrpSpPr/>
        <p:nvPr/>
      </p:nvGrpSpPr>
      <p:grpSpPr>
        <a:xfrm>
          <a:off x="0" y="0"/>
          <a:ext cx="0" cy="0"/>
          <a:chOff x="0" y="0"/>
          <a:chExt cx="0" cy="0"/>
        </a:xfrm>
      </p:grpSpPr>
      <p:sp>
        <p:nvSpPr>
          <p:cNvPr id="345" name="Google Shape;345;p5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b="1" lang="en-GB">
                <a:solidFill>
                  <a:schemeClr val="lt1"/>
                </a:solidFill>
                <a:latin typeface="Palatino Linotype"/>
                <a:ea typeface="Palatino Linotype"/>
                <a:cs typeface="Palatino Linotype"/>
                <a:sym typeface="Palatino Linotype"/>
              </a:rPr>
              <a:t>1. The r</a:t>
            </a:r>
            <a:r>
              <a:rPr b="1" lang="en-GB">
                <a:solidFill>
                  <a:schemeClr val="lt1"/>
                </a:solidFill>
                <a:latin typeface="Palatino Linotype"/>
                <a:ea typeface="Palatino Linotype"/>
                <a:cs typeface="Palatino Linotype"/>
                <a:sym typeface="Palatino Linotype"/>
              </a:rPr>
              <a:t>easoning demands of IR</a:t>
            </a:r>
            <a:endParaRPr b="1">
              <a:solidFill>
                <a:srgbClr val="93C47D"/>
              </a:solidFill>
              <a:latin typeface="Palatino Linotype"/>
              <a:ea typeface="Palatino Linotype"/>
              <a:cs typeface="Palatino Linotype"/>
              <a:sym typeface="Palatino Linotype"/>
            </a:endParaRPr>
          </a:p>
        </p:txBody>
      </p:sp>
      <p:sp>
        <p:nvSpPr>
          <p:cNvPr id="346" name="Google Shape;346;p5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5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n-GB"/>
              <a:t>What IR tasks actually require</a:t>
            </a:r>
            <a:endParaRPr b="1"/>
          </a:p>
        </p:txBody>
      </p:sp>
      <p:sp>
        <p:nvSpPr>
          <p:cNvPr id="352" name="Google Shape;352;p54"/>
          <p:cNvSpPr txBox="1"/>
          <p:nvPr>
            <p:ph idx="1" type="body"/>
          </p:nvPr>
        </p:nvSpPr>
        <p:spPr>
          <a:xfrm>
            <a:off x="311700" y="1152475"/>
            <a:ext cx="2103000" cy="3416400"/>
          </a:xfrm>
          <a:prstGeom prst="rect">
            <a:avLst/>
          </a:prstGeom>
          <a:solidFill>
            <a:srgbClr val="D9EAD3"/>
          </a:solidFill>
          <a:ln>
            <a:noFill/>
          </a:ln>
        </p:spPr>
        <p:txBody>
          <a:bodyPr anchorCtr="0" anchor="t" bIns="91425" lIns="91425" spcFirstLastPara="1" rIns="91425" wrap="square" tIns="91425">
            <a:normAutofit lnSpcReduction="20000"/>
          </a:bodyPr>
          <a:lstStyle/>
          <a:p>
            <a:pPr indent="0" lvl="0" marL="0" rtl="0" algn="l">
              <a:spcBef>
                <a:spcPts val="0"/>
              </a:spcBef>
              <a:spcAft>
                <a:spcPts val="0"/>
              </a:spcAft>
              <a:buNone/>
            </a:pPr>
            <a:r>
              <a:rPr b="1" lang="en-GB"/>
              <a:t>Navigational</a:t>
            </a:r>
            <a:br>
              <a:rPr b="1" lang="en-GB">
                <a:highlight>
                  <a:srgbClr val="C9DAF8"/>
                </a:highlight>
              </a:rPr>
            </a:br>
            <a:endParaRPr/>
          </a:p>
          <a:p>
            <a:pPr indent="0" lvl="0" marL="0" rtl="0" algn="l">
              <a:spcBef>
                <a:spcPts val="1200"/>
              </a:spcBef>
              <a:spcAft>
                <a:spcPts val="0"/>
              </a:spcAft>
              <a:buNone/>
            </a:pPr>
            <a:r>
              <a:t/>
            </a:r>
            <a:endParaRPr/>
          </a:p>
          <a:p>
            <a:pPr indent="0" lvl="0" marL="0" rtl="0" algn="l">
              <a:spcBef>
                <a:spcPts val="1200"/>
              </a:spcBef>
              <a:spcAft>
                <a:spcPts val="0"/>
              </a:spcAft>
              <a:buNone/>
            </a:pPr>
            <a:r>
              <a:rPr lang="en-GB" sz="1600"/>
              <a:t>“Find this specific paper”</a:t>
            </a:r>
            <a:br>
              <a:rPr lang="en-GB" sz="1600"/>
            </a:b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GB"/>
              <a:t>Retrieval suffices</a:t>
            </a:r>
            <a:br>
              <a:rPr lang="en-GB"/>
            </a:br>
            <a:br>
              <a:rPr lang="en-GB"/>
            </a:br>
            <a:endParaRPr/>
          </a:p>
        </p:txBody>
      </p:sp>
      <p:sp>
        <p:nvSpPr>
          <p:cNvPr id="353" name="Google Shape;353;p54"/>
          <p:cNvSpPr txBox="1"/>
          <p:nvPr>
            <p:ph idx="1" type="body"/>
          </p:nvPr>
        </p:nvSpPr>
        <p:spPr>
          <a:xfrm>
            <a:off x="2498387" y="1152475"/>
            <a:ext cx="2103000" cy="3416400"/>
          </a:xfrm>
          <a:prstGeom prst="rect">
            <a:avLst/>
          </a:prstGeom>
          <a:solidFill>
            <a:srgbClr val="C9DAF8"/>
          </a:solidFill>
          <a:ln>
            <a:noFill/>
          </a:ln>
        </p:spPr>
        <p:txBody>
          <a:bodyPr anchorCtr="0" anchor="t" bIns="91425" lIns="91425" spcFirstLastPara="1" rIns="91425" wrap="square" tIns="91425">
            <a:normAutofit lnSpcReduction="20000"/>
          </a:bodyPr>
          <a:lstStyle/>
          <a:p>
            <a:pPr indent="0" lvl="0" marL="0" rtl="0" algn="l">
              <a:spcBef>
                <a:spcPts val="0"/>
              </a:spcBef>
              <a:spcAft>
                <a:spcPts val="0"/>
              </a:spcAft>
              <a:buNone/>
            </a:pPr>
            <a:r>
              <a:rPr b="1" lang="en-GB"/>
              <a:t>Comparative synthesis</a:t>
            </a:r>
            <a:endParaRPr b="1"/>
          </a:p>
          <a:p>
            <a:pPr indent="0" lvl="0" marL="0" rtl="0" algn="l">
              <a:spcBef>
                <a:spcPts val="1200"/>
              </a:spcBef>
              <a:spcAft>
                <a:spcPts val="0"/>
              </a:spcAft>
              <a:buNone/>
            </a:pPr>
            <a:r>
              <a:t/>
            </a:r>
            <a:endParaRPr b="1">
              <a:highlight>
                <a:srgbClr val="C9DAF8"/>
              </a:highlight>
            </a:endParaRPr>
          </a:p>
          <a:p>
            <a:pPr indent="0" lvl="0" marL="0" rtl="0" algn="l">
              <a:spcBef>
                <a:spcPts val="1200"/>
              </a:spcBef>
              <a:spcAft>
                <a:spcPts val="0"/>
              </a:spcAft>
              <a:buNone/>
            </a:pPr>
            <a:r>
              <a:rPr lang="en-GB" sz="1600"/>
              <a:t>“How do methods A &amp; B compare in low-data regimes?”</a:t>
            </a:r>
            <a:endParaRPr sz="1600"/>
          </a:p>
          <a:p>
            <a:pPr indent="0" lvl="0" marL="0" rtl="0" algn="l">
              <a:spcBef>
                <a:spcPts val="1200"/>
              </a:spcBef>
              <a:spcAft>
                <a:spcPts val="0"/>
              </a:spcAft>
              <a:buNone/>
            </a:pPr>
            <a:r>
              <a:t/>
            </a:r>
            <a:endParaRPr/>
          </a:p>
          <a:p>
            <a:pPr indent="0" lvl="0" marL="0" rtl="0" algn="l">
              <a:spcBef>
                <a:spcPts val="1200"/>
              </a:spcBef>
              <a:spcAft>
                <a:spcPts val="1200"/>
              </a:spcAft>
              <a:buNone/>
            </a:pPr>
            <a:r>
              <a:rPr lang="en-GB"/>
              <a:t>Answer must be constructed</a:t>
            </a:r>
            <a:br>
              <a:rPr lang="en-GB"/>
            </a:br>
            <a:endParaRPr/>
          </a:p>
        </p:txBody>
      </p:sp>
      <p:sp>
        <p:nvSpPr>
          <p:cNvPr id="354" name="Google Shape;354;p54"/>
          <p:cNvSpPr txBox="1"/>
          <p:nvPr>
            <p:ph idx="1" type="body"/>
          </p:nvPr>
        </p:nvSpPr>
        <p:spPr>
          <a:xfrm>
            <a:off x="4685074" y="1152475"/>
            <a:ext cx="2103000" cy="3416400"/>
          </a:xfrm>
          <a:prstGeom prst="rect">
            <a:avLst/>
          </a:prstGeom>
          <a:solidFill>
            <a:srgbClr val="FFF2CC"/>
          </a:solidFill>
          <a:ln>
            <a:noFill/>
          </a:ln>
        </p:spPr>
        <p:txBody>
          <a:bodyPr anchorCtr="0" anchor="t" bIns="91425" lIns="91425" spcFirstLastPara="1" rIns="91425" wrap="square" tIns="91425">
            <a:normAutofit lnSpcReduction="20000"/>
          </a:bodyPr>
          <a:lstStyle/>
          <a:p>
            <a:pPr indent="0" lvl="0" marL="0" rtl="0" algn="l">
              <a:spcBef>
                <a:spcPts val="0"/>
              </a:spcBef>
              <a:spcAft>
                <a:spcPts val="0"/>
              </a:spcAft>
              <a:buNone/>
            </a:pPr>
            <a:r>
              <a:rPr b="1" lang="en-GB"/>
              <a:t>Evidence quality</a:t>
            </a:r>
            <a:br>
              <a:rPr b="1" lang="en-GB"/>
            </a:br>
            <a:endParaRPr/>
          </a:p>
          <a:p>
            <a:pPr indent="0" lvl="0" marL="0" rtl="0" algn="l">
              <a:spcBef>
                <a:spcPts val="1200"/>
              </a:spcBef>
              <a:spcAft>
                <a:spcPts val="0"/>
              </a:spcAft>
              <a:buNone/>
            </a:pPr>
            <a:r>
              <a:t/>
            </a:r>
            <a:endParaRPr/>
          </a:p>
          <a:p>
            <a:pPr indent="0" lvl="0" marL="0" rtl="0" algn="l">
              <a:spcBef>
                <a:spcPts val="1200"/>
              </a:spcBef>
              <a:spcAft>
                <a:spcPts val="0"/>
              </a:spcAft>
              <a:buNone/>
            </a:pPr>
            <a:r>
              <a:rPr lang="en-GB" sz="1600"/>
              <a:t>“What is the state of </a:t>
            </a:r>
            <a:r>
              <a:rPr lang="en-GB" sz="1600"/>
              <a:t>evidence</a:t>
            </a:r>
            <a:r>
              <a:rPr lang="en-GB" sz="1600"/>
              <a:t> on X?”</a:t>
            </a:r>
            <a:br>
              <a:rPr lang="en-GB" sz="1600"/>
            </a:br>
            <a:endParaRPr sz="1600"/>
          </a:p>
          <a:p>
            <a:pPr indent="0" lvl="0" marL="0" rtl="0" algn="l">
              <a:spcBef>
                <a:spcPts val="1200"/>
              </a:spcBef>
              <a:spcAft>
                <a:spcPts val="0"/>
              </a:spcAft>
              <a:buNone/>
            </a:pPr>
            <a:r>
              <a:t/>
            </a:r>
            <a:endParaRPr/>
          </a:p>
          <a:p>
            <a:pPr indent="0" lvl="0" marL="0" rtl="0" algn="l">
              <a:spcBef>
                <a:spcPts val="1200"/>
              </a:spcBef>
              <a:spcAft>
                <a:spcPts val="1200"/>
              </a:spcAft>
              <a:buNone/>
            </a:pPr>
            <a:r>
              <a:rPr lang="en-GB"/>
              <a:t>Evaluate, weight, conflict-resolve</a:t>
            </a:r>
            <a:br>
              <a:rPr lang="en-GB"/>
            </a:br>
            <a:endParaRPr/>
          </a:p>
        </p:txBody>
      </p:sp>
      <p:sp>
        <p:nvSpPr>
          <p:cNvPr id="355" name="Google Shape;355;p54"/>
          <p:cNvSpPr txBox="1"/>
          <p:nvPr>
            <p:ph idx="1" type="body"/>
          </p:nvPr>
        </p:nvSpPr>
        <p:spPr>
          <a:xfrm>
            <a:off x="6871762" y="1152475"/>
            <a:ext cx="2103000" cy="3416400"/>
          </a:xfrm>
          <a:prstGeom prst="rect">
            <a:avLst/>
          </a:prstGeom>
          <a:solidFill>
            <a:srgbClr val="F4CCCC"/>
          </a:solidFill>
          <a:ln>
            <a:noFill/>
          </a:ln>
        </p:spPr>
        <p:txBody>
          <a:bodyPr anchorCtr="0" anchor="t" bIns="91425" lIns="91425" spcFirstLastPara="1" rIns="91425" wrap="square" tIns="91425">
            <a:normAutofit lnSpcReduction="20000"/>
          </a:bodyPr>
          <a:lstStyle/>
          <a:p>
            <a:pPr indent="0" lvl="0" marL="0" rtl="0" algn="l">
              <a:spcBef>
                <a:spcPts val="0"/>
              </a:spcBef>
              <a:spcAft>
                <a:spcPts val="0"/>
              </a:spcAft>
              <a:buNone/>
            </a:pPr>
            <a:r>
              <a:rPr b="1" lang="en-GB"/>
              <a:t>Gap identification</a:t>
            </a:r>
            <a:endParaRPr b="1"/>
          </a:p>
          <a:p>
            <a:pPr indent="0" lvl="0" marL="0" rtl="0" algn="l">
              <a:spcBef>
                <a:spcPts val="1200"/>
              </a:spcBef>
              <a:spcAft>
                <a:spcPts val="0"/>
              </a:spcAft>
              <a:buNone/>
            </a:pPr>
            <a:r>
              <a:t/>
            </a:r>
            <a:endParaRPr/>
          </a:p>
          <a:p>
            <a:pPr indent="0" lvl="0" marL="0" rtl="0" algn="l">
              <a:spcBef>
                <a:spcPts val="1200"/>
              </a:spcBef>
              <a:spcAft>
                <a:spcPts val="0"/>
              </a:spcAft>
              <a:buNone/>
            </a:pPr>
            <a:r>
              <a:rPr lang="en-GB" sz="1600"/>
              <a:t>“What aspects of X are understudied?”</a:t>
            </a:r>
            <a:br>
              <a:rPr lang="en-GB" sz="1600"/>
            </a:br>
            <a:endParaRPr sz="1600"/>
          </a:p>
          <a:p>
            <a:pPr indent="0" lvl="0" marL="0" rtl="0" algn="l">
              <a:spcBef>
                <a:spcPts val="1200"/>
              </a:spcBef>
              <a:spcAft>
                <a:spcPts val="0"/>
              </a:spcAft>
              <a:buNone/>
            </a:pPr>
            <a:r>
              <a:t/>
            </a:r>
            <a:endParaRPr/>
          </a:p>
          <a:p>
            <a:pPr indent="0" lvl="0" marL="0" rtl="0" algn="l">
              <a:spcBef>
                <a:spcPts val="1200"/>
              </a:spcBef>
              <a:spcAft>
                <a:spcPts val="1200"/>
              </a:spcAft>
              <a:buNone/>
            </a:pPr>
            <a:r>
              <a:rPr lang="en-GB"/>
              <a:t>Reason about absence, not retrievable</a:t>
            </a:r>
            <a:endParaRPr/>
          </a:p>
        </p:txBody>
      </p:sp>
      <p:grpSp>
        <p:nvGrpSpPr>
          <p:cNvPr id="356" name="Google Shape;356;p54"/>
          <p:cNvGrpSpPr/>
          <p:nvPr/>
        </p:nvGrpSpPr>
        <p:grpSpPr>
          <a:xfrm>
            <a:off x="1744665" y="4737500"/>
            <a:ext cx="5476110" cy="282600"/>
            <a:chOff x="1744665" y="4737500"/>
            <a:chExt cx="5476110" cy="282600"/>
          </a:xfrm>
        </p:grpSpPr>
        <p:sp>
          <p:nvSpPr>
            <p:cNvPr id="357" name="Google Shape;357;p54"/>
            <p:cNvSpPr txBox="1"/>
            <p:nvPr/>
          </p:nvSpPr>
          <p:spPr>
            <a:xfrm>
              <a:off x="1744665" y="4737500"/>
              <a:ext cx="1606800" cy="282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GB" sz="1200">
                  <a:solidFill>
                    <a:srgbClr val="0C5ADB"/>
                  </a:solidFill>
                </a:rPr>
                <a:t>r</a:t>
              </a:r>
              <a:r>
                <a:rPr lang="en-GB" sz="1200">
                  <a:solidFill>
                    <a:srgbClr val="0C5ADB"/>
                  </a:solidFill>
                </a:rPr>
                <a:t>etrieval-sufficient</a:t>
              </a:r>
              <a:endParaRPr sz="1200">
                <a:solidFill>
                  <a:srgbClr val="0C5ADB"/>
                </a:solidFill>
              </a:endParaRPr>
            </a:p>
          </p:txBody>
        </p:sp>
        <p:sp>
          <p:nvSpPr>
            <p:cNvPr id="358" name="Google Shape;358;p54"/>
            <p:cNvSpPr txBox="1"/>
            <p:nvPr/>
          </p:nvSpPr>
          <p:spPr>
            <a:xfrm>
              <a:off x="5475375" y="4737500"/>
              <a:ext cx="1745400" cy="2826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GB" sz="1200">
                  <a:solidFill>
                    <a:srgbClr val="0C5ADB"/>
                  </a:solidFill>
                </a:rPr>
                <a:t>reasoning</a:t>
              </a:r>
              <a:r>
                <a:rPr lang="en-GB" sz="1200">
                  <a:solidFill>
                    <a:srgbClr val="0C5ADB"/>
                  </a:solidFill>
                </a:rPr>
                <a:t>-constitutive</a:t>
              </a:r>
              <a:endParaRPr sz="1200">
                <a:solidFill>
                  <a:srgbClr val="0C5ADB"/>
                </a:solidFill>
              </a:endParaRPr>
            </a:p>
          </p:txBody>
        </p:sp>
        <p:cxnSp>
          <p:nvCxnSpPr>
            <p:cNvPr id="359" name="Google Shape;359;p54"/>
            <p:cNvCxnSpPr/>
            <p:nvPr/>
          </p:nvCxnSpPr>
          <p:spPr>
            <a:xfrm>
              <a:off x="3041100" y="4878800"/>
              <a:ext cx="2579100" cy="0"/>
            </a:xfrm>
            <a:prstGeom prst="straightConnector1">
              <a:avLst/>
            </a:prstGeom>
            <a:noFill/>
            <a:ln cap="flat" cmpd="sng" w="19050">
              <a:solidFill>
                <a:srgbClr val="0C5ADB"/>
              </a:solidFill>
              <a:prstDash val="solid"/>
              <a:round/>
              <a:headEnd len="med" w="med" type="triangle"/>
              <a:tailEnd len="med" w="med" type="triangle"/>
            </a:ln>
          </p:spPr>
        </p:cxnSp>
      </p:grpSp>
      <p:sp>
        <p:nvSpPr>
          <p:cNvPr id="360" name="Google Shape;360;p5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55"/>
          <p:cNvSpPr txBox="1"/>
          <p:nvPr>
            <p:ph idx="1" type="body"/>
          </p:nvPr>
        </p:nvSpPr>
        <p:spPr>
          <a:xfrm>
            <a:off x="311700" y="3806375"/>
            <a:ext cx="8520600" cy="1192200"/>
          </a:xfrm>
          <a:prstGeom prst="rect">
            <a:avLst/>
          </a:prstGeom>
          <a:solidFill>
            <a:srgbClr val="C9DAF8"/>
          </a:solid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None/>
            </a:pPr>
            <a:r>
              <a:rPr b="1" lang="en-GB"/>
              <a:t>The knowledge network argument</a:t>
            </a:r>
            <a:endParaRPr/>
          </a:p>
          <a:p>
            <a:pPr indent="0" lvl="0" marL="0" rtl="0" algn="l">
              <a:lnSpc>
                <a:spcPct val="100000"/>
              </a:lnSpc>
              <a:spcBef>
                <a:spcPts val="0"/>
              </a:spcBef>
              <a:spcAft>
                <a:spcPts val="0"/>
              </a:spcAft>
              <a:buNone/>
            </a:pPr>
            <a:r>
              <a:rPr lang="en-GB" sz="1400"/>
              <a:t>Research knowledge is a network of inferential, evidential, and conceptual dependencies, not a flat collection. Retrieval samples nodes near the query; reasoning traverses inferential edges. Multi-step reasoning is the endpoint of a trajectory the field has followed since pseudo-relevance feedback.</a:t>
            </a:r>
            <a:endParaRPr sz="1600"/>
          </a:p>
        </p:txBody>
      </p:sp>
      <p:sp>
        <p:nvSpPr>
          <p:cNvPr id="366" name="Google Shape;366;p5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n-GB"/>
              <a:t>The structural argument for multi-step reasoning</a:t>
            </a:r>
            <a:endParaRPr b="1"/>
          </a:p>
        </p:txBody>
      </p:sp>
      <p:sp>
        <p:nvSpPr>
          <p:cNvPr id="367" name="Google Shape;367;p55"/>
          <p:cNvSpPr txBox="1"/>
          <p:nvPr>
            <p:ph idx="1" type="body"/>
          </p:nvPr>
        </p:nvSpPr>
        <p:spPr>
          <a:xfrm>
            <a:off x="311700" y="1152475"/>
            <a:ext cx="8520600" cy="1192200"/>
          </a:xfrm>
          <a:prstGeom prst="rect">
            <a:avLst/>
          </a:prstGeom>
          <a:solidFill>
            <a:srgbClr val="D9EAD3"/>
          </a:solid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None/>
            </a:pPr>
            <a:r>
              <a:rPr b="1" lang="en-GB"/>
              <a:t>The basic argument</a:t>
            </a:r>
            <a:endParaRPr/>
          </a:p>
          <a:p>
            <a:pPr indent="0" lvl="0" marL="0" rtl="0" algn="l">
              <a:lnSpc>
                <a:spcPct val="100000"/>
              </a:lnSpc>
              <a:spcBef>
                <a:spcPts val="0"/>
              </a:spcBef>
              <a:spcAft>
                <a:spcPts val="0"/>
              </a:spcAft>
              <a:buNone/>
            </a:pPr>
            <a:r>
              <a:rPr lang="en-GB" sz="1400"/>
              <a:t>Some information needs cannot be satisfied by any single document. When retrieval steps are sequentially dependent, each conditioned on prior results, multi-step reasoning is the necessary mechanism.</a:t>
            </a:r>
            <a:endParaRPr sz="1600"/>
          </a:p>
        </p:txBody>
      </p:sp>
      <p:sp>
        <p:nvSpPr>
          <p:cNvPr id="368" name="Google Shape;368;p5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
        <p:nvSpPr>
          <p:cNvPr id="369" name="Google Shape;369;p55"/>
          <p:cNvSpPr txBox="1"/>
          <p:nvPr>
            <p:ph idx="1" type="body"/>
          </p:nvPr>
        </p:nvSpPr>
        <p:spPr>
          <a:xfrm>
            <a:off x="311700" y="2479425"/>
            <a:ext cx="8520600" cy="1192200"/>
          </a:xfrm>
          <a:prstGeom prst="rect">
            <a:avLst/>
          </a:prstGeom>
          <a:solidFill>
            <a:srgbClr val="FFF2CC"/>
          </a:solid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None/>
            </a:pPr>
            <a:r>
              <a:rPr b="1" lang="en-GB"/>
              <a:t>The relevance structure argument</a:t>
            </a:r>
            <a:endParaRPr/>
          </a:p>
          <a:p>
            <a:pPr indent="0" lvl="0" marL="0" rtl="0" algn="l">
              <a:lnSpc>
                <a:spcPct val="100000"/>
              </a:lnSpc>
              <a:spcBef>
                <a:spcPts val="0"/>
              </a:spcBef>
              <a:spcAft>
                <a:spcPts val="0"/>
              </a:spcAft>
              <a:buNone/>
            </a:pPr>
            <a:r>
              <a:rPr lang="en-GB" sz="1400"/>
              <a:t>Relevance for reasoning-intensive queries is not a two-place relation (document, query) but a relational structure across a document set. A document can become relevant in context of established premises. Standard retrieval, computing relevance document-by-document, structurally cannot handle this.</a:t>
            </a:r>
            <a:endParaRPr sz="16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sp>
        <p:nvSpPr>
          <p:cNvPr id="374" name="Google Shape;374;p56"/>
          <p:cNvSpPr txBox="1"/>
          <p:nvPr>
            <p:ph idx="1" type="body"/>
          </p:nvPr>
        </p:nvSpPr>
        <p:spPr>
          <a:xfrm>
            <a:off x="311300" y="2571750"/>
            <a:ext cx="4191300" cy="1941000"/>
          </a:xfrm>
          <a:prstGeom prst="rect">
            <a:avLst/>
          </a:prstGeom>
          <a:solidFill>
            <a:srgbClr val="D9EAD3"/>
          </a:solid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None/>
            </a:pPr>
            <a:r>
              <a:rPr b="1" lang="en-GB"/>
              <a:t>Complication 1</a:t>
            </a:r>
            <a:endParaRPr/>
          </a:p>
          <a:p>
            <a:pPr indent="0" lvl="0" marL="0" rtl="0" algn="l">
              <a:lnSpc>
                <a:spcPct val="100000"/>
              </a:lnSpc>
              <a:spcBef>
                <a:spcPts val="0"/>
              </a:spcBef>
              <a:spcAft>
                <a:spcPts val="0"/>
              </a:spcAft>
              <a:buNone/>
            </a:pPr>
            <a:r>
              <a:t/>
            </a:r>
            <a:endParaRPr sz="1400"/>
          </a:p>
          <a:p>
            <a:pPr indent="0" lvl="0" marL="0" rtl="0" algn="l">
              <a:lnSpc>
                <a:spcPct val="100000"/>
              </a:lnSpc>
              <a:spcBef>
                <a:spcPts val="0"/>
              </a:spcBef>
              <a:spcAft>
                <a:spcPts val="0"/>
              </a:spcAft>
              <a:buNone/>
            </a:pPr>
            <a:r>
              <a:rPr lang="en-GB" sz="1400"/>
              <a:t>Multi-step reasoning is not always warranted. For navigational and simple factoid queries, it adds cost and failure modes without benefit. Detecting when it is needed is itself a non-trivial reasoning problem.</a:t>
            </a:r>
            <a:endParaRPr sz="1600"/>
          </a:p>
        </p:txBody>
      </p:sp>
      <p:sp>
        <p:nvSpPr>
          <p:cNvPr id="375" name="Google Shape;375;p5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n-GB"/>
              <a:t>The governing question</a:t>
            </a:r>
            <a:endParaRPr b="1"/>
          </a:p>
        </p:txBody>
      </p:sp>
      <p:sp>
        <p:nvSpPr>
          <p:cNvPr id="376" name="Google Shape;376;p56"/>
          <p:cNvSpPr txBox="1"/>
          <p:nvPr>
            <p:ph idx="1" type="body"/>
          </p:nvPr>
        </p:nvSpPr>
        <p:spPr>
          <a:xfrm>
            <a:off x="311700" y="1152475"/>
            <a:ext cx="8520600" cy="509400"/>
          </a:xfrm>
          <a:prstGeom prst="rect">
            <a:avLst/>
          </a:prstGeom>
        </p:spPr>
        <p:txBody>
          <a:bodyPr anchorCtr="0" anchor="ctr" bIns="91425" lIns="91425" spcFirstLastPara="1" rIns="91425" wrap="square" tIns="91425">
            <a:normAutofit/>
          </a:bodyPr>
          <a:lstStyle/>
          <a:p>
            <a:pPr indent="0" lvl="0" marL="0" rtl="0" algn="l">
              <a:spcBef>
                <a:spcPts val="0"/>
              </a:spcBef>
              <a:spcAft>
                <a:spcPts val="1200"/>
              </a:spcAft>
              <a:buNone/>
            </a:pPr>
            <a:r>
              <a:rPr lang="en-GB"/>
              <a:t>Multi-step reasoning is what complex IR requires</a:t>
            </a:r>
            <a:endParaRPr/>
          </a:p>
        </p:txBody>
      </p:sp>
      <p:sp>
        <p:nvSpPr>
          <p:cNvPr id="377" name="Google Shape;377;p5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
        <p:nvSpPr>
          <p:cNvPr id="378" name="Google Shape;378;p56"/>
          <p:cNvSpPr txBox="1"/>
          <p:nvPr>
            <p:ph idx="1" type="body"/>
          </p:nvPr>
        </p:nvSpPr>
        <p:spPr>
          <a:xfrm>
            <a:off x="310896" y="1760000"/>
            <a:ext cx="8520600" cy="509400"/>
          </a:xfrm>
          <a:prstGeom prst="rect">
            <a:avLst/>
          </a:prstGeom>
        </p:spPr>
        <p:txBody>
          <a:bodyPr anchorCtr="0" anchor="ctr" bIns="91425" lIns="91425" spcFirstLastPara="1" rIns="91425" wrap="square" tIns="91425">
            <a:normAutofit/>
          </a:bodyPr>
          <a:lstStyle/>
          <a:p>
            <a:pPr indent="0" lvl="0" marL="0" rtl="0" algn="l">
              <a:spcBef>
                <a:spcPts val="0"/>
              </a:spcBef>
              <a:spcAft>
                <a:spcPts val="1200"/>
              </a:spcAft>
              <a:buNone/>
            </a:pPr>
            <a:r>
              <a:rPr i="1" lang="en-GB">
                <a:solidFill>
                  <a:srgbClr val="0C5ADB"/>
                </a:solidFill>
              </a:rPr>
              <a:t>Do current LLM-based systems actually provide it? And how would we know?</a:t>
            </a:r>
            <a:endParaRPr i="1">
              <a:solidFill>
                <a:srgbClr val="0C5ADB"/>
              </a:solidFill>
            </a:endParaRPr>
          </a:p>
        </p:txBody>
      </p:sp>
      <p:sp>
        <p:nvSpPr>
          <p:cNvPr id="379" name="Google Shape;379;p56"/>
          <p:cNvSpPr txBox="1"/>
          <p:nvPr>
            <p:ph idx="1" type="body"/>
          </p:nvPr>
        </p:nvSpPr>
        <p:spPr>
          <a:xfrm>
            <a:off x="4639800" y="2571750"/>
            <a:ext cx="4191300" cy="1941000"/>
          </a:xfrm>
          <a:prstGeom prst="rect">
            <a:avLst/>
          </a:prstGeom>
          <a:solidFill>
            <a:srgbClr val="FFF2CC"/>
          </a:solid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None/>
            </a:pPr>
            <a:r>
              <a:rPr b="1" lang="en-GB"/>
              <a:t>Complication 2</a:t>
            </a:r>
            <a:endParaRPr/>
          </a:p>
          <a:p>
            <a:pPr indent="0" lvl="0" marL="0" rtl="0" algn="l">
              <a:lnSpc>
                <a:spcPct val="100000"/>
              </a:lnSpc>
              <a:spcBef>
                <a:spcPts val="0"/>
              </a:spcBef>
              <a:spcAft>
                <a:spcPts val="0"/>
              </a:spcAft>
              <a:buNone/>
            </a:pPr>
            <a:r>
              <a:t/>
            </a:r>
            <a:endParaRPr sz="1400"/>
          </a:p>
          <a:p>
            <a:pPr indent="0" lvl="0" marL="0" rtl="0" algn="l">
              <a:lnSpc>
                <a:spcPct val="100000"/>
              </a:lnSpc>
              <a:spcBef>
                <a:spcPts val="0"/>
              </a:spcBef>
              <a:spcAft>
                <a:spcPts val="0"/>
              </a:spcAft>
              <a:buNone/>
            </a:pPr>
            <a:r>
              <a:rPr lang="en-GB" sz="1400"/>
              <a:t>Whether LLMs actually perform multi-step reasoning, rather than simulating its surface form through pattern completion, is empirically open. BRIGHT and GSM-Symbolic give early evidence the gap is substantial.</a:t>
            </a:r>
            <a:endParaRPr sz="16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D9EEB"/>
        </a:solidFill>
      </p:bgPr>
    </p:bg>
    <p:spTree>
      <p:nvGrpSpPr>
        <p:cNvPr id="383" name="Shape 383"/>
        <p:cNvGrpSpPr/>
        <p:nvPr/>
      </p:nvGrpSpPr>
      <p:grpSpPr>
        <a:xfrm>
          <a:off x="0" y="0"/>
          <a:ext cx="0" cy="0"/>
          <a:chOff x="0" y="0"/>
          <a:chExt cx="0" cy="0"/>
        </a:xfrm>
      </p:grpSpPr>
      <p:sp>
        <p:nvSpPr>
          <p:cNvPr id="384" name="Google Shape;384;p57"/>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b="1" lang="en-GB">
                <a:solidFill>
                  <a:schemeClr val="lt1"/>
                </a:solidFill>
                <a:latin typeface="Palatino Linotype"/>
                <a:ea typeface="Palatino Linotype"/>
                <a:cs typeface="Palatino Linotype"/>
                <a:sym typeface="Palatino Linotype"/>
              </a:rPr>
              <a:t>2. What LLMs have been shown to do</a:t>
            </a:r>
            <a:endParaRPr b="1">
              <a:solidFill>
                <a:srgbClr val="93C47D"/>
              </a:solidFill>
              <a:latin typeface="Palatino Linotype"/>
              <a:ea typeface="Palatino Linotype"/>
              <a:cs typeface="Palatino Linotype"/>
              <a:sym typeface="Palatino Linotype"/>
            </a:endParaRPr>
          </a:p>
        </p:txBody>
      </p:sp>
      <p:sp>
        <p:nvSpPr>
          <p:cNvPr id="385" name="Google Shape;385;p5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p5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n-GB"/>
              <a:t>Algorithmic approaches to LLM reasoning</a:t>
            </a:r>
            <a:endParaRPr b="1"/>
          </a:p>
        </p:txBody>
      </p:sp>
      <p:sp>
        <p:nvSpPr>
          <p:cNvPr id="391" name="Google Shape;391;p5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
        <p:nvSpPr>
          <p:cNvPr id="392" name="Google Shape;392;p58"/>
          <p:cNvSpPr txBox="1"/>
          <p:nvPr>
            <p:ph idx="1" type="body"/>
          </p:nvPr>
        </p:nvSpPr>
        <p:spPr>
          <a:xfrm>
            <a:off x="311700" y="1169200"/>
            <a:ext cx="8520600" cy="700500"/>
          </a:xfrm>
          <a:prstGeom prst="rect">
            <a:avLst/>
          </a:prstGeom>
          <a:solidFill>
            <a:srgbClr val="D9EAD3"/>
          </a:solid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None/>
            </a:pPr>
            <a:r>
              <a:rPr b="1" lang="en-GB"/>
              <a:t>Chain-of-thought</a:t>
            </a:r>
            <a:r>
              <a:rPr lang="en-GB"/>
              <a:t> </a:t>
            </a:r>
            <a:r>
              <a:rPr i="1" lang="en-GB" sz="1400"/>
              <a:t>Wei et al., 2022</a:t>
            </a:r>
            <a:endParaRPr sz="1400"/>
          </a:p>
          <a:p>
            <a:pPr indent="0" lvl="0" marL="0" rtl="0" algn="l">
              <a:lnSpc>
                <a:spcPct val="100000"/>
              </a:lnSpc>
              <a:spcBef>
                <a:spcPts val="0"/>
              </a:spcBef>
              <a:spcAft>
                <a:spcPts val="0"/>
              </a:spcAft>
              <a:buNone/>
            </a:pPr>
            <a:r>
              <a:rPr lang="en-GB" sz="1400"/>
              <a:t>Addresses: Step-chaining in deductive &amp; arithmetic tasks</a:t>
            </a:r>
            <a:endParaRPr sz="1400"/>
          </a:p>
        </p:txBody>
      </p:sp>
      <p:sp>
        <p:nvSpPr>
          <p:cNvPr id="393" name="Google Shape;393;p58"/>
          <p:cNvSpPr txBox="1"/>
          <p:nvPr>
            <p:ph idx="1" type="body"/>
          </p:nvPr>
        </p:nvSpPr>
        <p:spPr>
          <a:xfrm>
            <a:off x="311700" y="1976725"/>
            <a:ext cx="8520600" cy="700500"/>
          </a:xfrm>
          <a:prstGeom prst="rect">
            <a:avLst/>
          </a:prstGeom>
          <a:solidFill>
            <a:srgbClr val="D9EAD3"/>
          </a:solid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None/>
            </a:pPr>
            <a:r>
              <a:rPr b="1" lang="en-GB"/>
              <a:t>Self-consistency</a:t>
            </a:r>
            <a:r>
              <a:rPr lang="en-GB"/>
              <a:t> </a:t>
            </a:r>
            <a:r>
              <a:rPr i="1" lang="en-GB" sz="1400"/>
              <a:t>Wang et al., 2023</a:t>
            </a:r>
            <a:endParaRPr sz="1400"/>
          </a:p>
          <a:p>
            <a:pPr indent="0" lvl="0" marL="0" rtl="0" algn="l">
              <a:lnSpc>
                <a:spcPct val="100000"/>
              </a:lnSpc>
              <a:spcBef>
                <a:spcPts val="0"/>
              </a:spcBef>
              <a:spcAft>
                <a:spcPts val="0"/>
              </a:spcAft>
              <a:buNone/>
            </a:pPr>
            <a:r>
              <a:rPr lang="en-GB" sz="1400"/>
              <a:t>Addresses: Sampling multiple path; majority-vote aggregation</a:t>
            </a:r>
            <a:endParaRPr sz="1400"/>
          </a:p>
        </p:txBody>
      </p:sp>
      <p:sp>
        <p:nvSpPr>
          <p:cNvPr id="394" name="Google Shape;394;p58"/>
          <p:cNvSpPr txBox="1"/>
          <p:nvPr>
            <p:ph idx="1" type="body"/>
          </p:nvPr>
        </p:nvSpPr>
        <p:spPr>
          <a:xfrm>
            <a:off x="311700" y="2784250"/>
            <a:ext cx="8520600" cy="700500"/>
          </a:xfrm>
          <a:prstGeom prst="rect">
            <a:avLst/>
          </a:prstGeom>
          <a:solidFill>
            <a:srgbClr val="FFF2CC"/>
          </a:solid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None/>
            </a:pPr>
            <a:r>
              <a:rPr b="1" lang="en-GB"/>
              <a:t>Least-to-most/Tree of thoughts</a:t>
            </a:r>
            <a:r>
              <a:rPr lang="en-GB"/>
              <a:t> </a:t>
            </a:r>
            <a:r>
              <a:rPr i="1" lang="en-GB" sz="1400"/>
              <a:t>Zhou et al., 2023; Yao et al., 2023</a:t>
            </a:r>
            <a:endParaRPr sz="1400"/>
          </a:p>
          <a:p>
            <a:pPr indent="0" lvl="0" marL="0" rtl="0" algn="l">
              <a:lnSpc>
                <a:spcPct val="100000"/>
              </a:lnSpc>
              <a:spcBef>
                <a:spcPts val="0"/>
              </a:spcBef>
              <a:spcAft>
                <a:spcPts val="0"/>
              </a:spcAft>
              <a:buNone/>
            </a:pPr>
            <a:r>
              <a:rPr lang="en-GB" sz="1400"/>
              <a:t>Addresses: Compositional decomposition; search over reasoning</a:t>
            </a:r>
            <a:endParaRPr sz="1400"/>
          </a:p>
        </p:txBody>
      </p:sp>
      <p:sp>
        <p:nvSpPr>
          <p:cNvPr id="395" name="Google Shape;395;p58"/>
          <p:cNvSpPr txBox="1"/>
          <p:nvPr>
            <p:ph idx="1" type="body"/>
          </p:nvPr>
        </p:nvSpPr>
        <p:spPr>
          <a:xfrm>
            <a:off x="311700" y="3591775"/>
            <a:ext cx="8520600" cy="700500"/>
          </a:xfrm>
          <a:prstGeom prst="rect">
            <a:avLst/>
          </a:prstGeom>
          <a:solidFill>
            <a:srgbClr val="FFF2CC"/>
          </a:solid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None/>
            </a:pPr>
            <a:r>
              <a:rPr b="1" lang="en-GB"/>
              <a:t>Process reward models</a:t>
            </a:r>
            <a:r>
              <a:rPr lang="en-GB"/>
              <a:t> </a:t>
            </a:r>
            <a:r>
              <a:rPr i="1" lang="en-GB" sz="1400"/>
              <a:t>Lightman et al., 2023</a:t>
            </a:r>
            <a:endParaRPr sz="1400"/>
          </a:p>
          <a:p>
            <a:pPr indent="0" lvl="0" marL="0" rtl="0" algn="l">
              <a:lnSpc>
                <a:spcPct val="100000"/>
              </a:lnSpc>
              <a:spcBef>
                <a:spcPts val="0"/>
              </a:spcBef>
              <a:spcAft>
                <a:spcPts val="0"/>
              </a:spcAft>
              <a:buNone/>
            </a:pPr>
            <a:r>
              <a:rPr lang="en-GB" sz="1400"/>
              <a:t>Addresses: Step-level evaluation, not outcome-only</a:t>
            </a:r>
            <a:endParaRPr sz="1400"/>
          </a:p>
        </p:txBody>
      </p:sp>
      <p:sp>
        <p:nvSpPr>
          <p:cNvPr id="396" name="Google Shape;396;p58"/>
          <p:cNvSpPr txBox="1"/>
          <p:nvPr>
            <p:ph idx="1" type="body"/>
          </p:nvPr>
        </p:nvSpPr>
        <p:spPr>
          <a:xfrm>
            <a:off x="311700" y="4399300"/>
            <a:ext cx="8520600" cy="700500"/>
          </a:xfrm>
          <a:prstGeom prst="rect">
            <a:avLst/>
          </a:prstGeom>
          <a:solidFill>
            <a:srgbClr val="C9DAF8"/>
          </a:solid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None/>
            </a:pPr>
            <a:r>
              <a:rPr b="1" lang="en-GB"/>
              <a:t>Inference scaling (o1/R1) </a:t>
            </a:r>
            <a:r>
              <a:rPr i="1" lang="en-GB" sz="1400"/>
              <a:t>OpenAI 2024; DeepSeek 2025</a:t>
            </a:r>
            <a:endParaRPr sz="1400"/>
          </a:p>
          <a:p>
            <a:pPr indent="0" lvl="0" marL="0" rtl="0" algn="l">
              <a:lnSpc>
                <a:spcPct val="100000"/>
              </a:lnSpc>
              <a:spcBef>
                <a:spcPts val="0"/>
              </a:spcBef>
              <a:spcAft>
                <a:spcPts val="0"/>
              </a:spcAft>
              <a:buNone/>
            </a:pPr>
            <a:r>
              <a:rPr lang="en-GB" sz="1400"/>
              <a:t>Addresses: Test-time compute trading for reasoning quality</a:t>
            </a:r>
            <a:endParaRPr sz="14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 name="Shape 400"/>
        <p:cNvGrpSpPr/>
        <p:nvPr/>
      </p:nvGrpSpPr>
      <p:grpSpPr>
        <a:xfrm>
          <a:off x="0" y="0"/>
          <a:ext cx="0" cy="0"/>
          <a:chOff x="0" y="0"/>
          <a:chExt cx="0" cy="0"/>
        </a:xfrm>
      </p:grpSpPr>
      <p:sp>
        <p:nvSpPr>
          <p:cNvPr id="401" name="Google Shape;401;p5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n-GB"/>
              <a:t>Critical findings paired with capability claims (1/2)</a:t>
            </a:r>
            <a:endParaRPr b="1"/>
          </a:p>
        </p:txBody>
      </p:sp>
      <p:sp>
        <p:nvSpPr>
          <p:cNvPr id="402" name="Google Shape;402;p5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
        <p:nvSpPr>
          <p:cNvPr id="403" name="Google Shape;403;p59"/>
          <p:cNvSpPr txBox="1"/>
          <p:nvPr>
            <p:ph idx="1" type="body"/>
          </p:nvPr>
        </p:nvSpPr>
        <p:spPr>
          <a:xfrm>
            <a:off x="311300" y="1659203"/>
            <a:ext cx="4191300" cy="1097400"/>
          </a:xfrm>
          <a:prstGeom prst="rect">
            <a:avLst/>
          </a:prstGeom>
          <a:solidFill>
            <a:schemeClr val="lt1"/>
          </a:solidFill>
          <a:ln cap="flat" cmpd="sng" w="19050">
            <a:solidFill>
              <a:srgbClr val="D9EAD3"/>
            </a:solidFill>
            <a:prstDash val="solid"/>
            <a:round/>
            <a:headEnd len="sm" w="sm" type="none"/>
            <a:tailEnd len="sm" w="sm" type="none"/>
          </a:ln>
        </p:spPr>
        <p:txBody>
          <a:bodyPr anchorCtr="0" anchor="ctr" bIns="91425" lIns="91425" spcFirstLastPara="1" rIns="91425" wrap="square" tIns="91425">
            <a:normAutofit/>
          </a:bodyPr>
          <a:lstStyle/>
          <a:p>
            <a:pPr indent="0" lvl="0" marL="0" rtl="0" algn="l">
              <a:lnSpc>
                <a:spcPct val="100000"/>
              </a:lnSpc>
              <a:spcBef>
                <a:spcPts val="0"/>
              </a:spcBef>
              <a:spcAft>
                <a:spcPts val="0"/>
              </a:spcAft>
              <a:buNone/>
            </a:pPr>
            <a:r>
              <a:rPr lang="en-GB" sz="1200"/>
              <a:t>CoT improves performance on GSM8K multi-step arithmetic substantially (Wei et al. 2022)</a:t>
            </a:r>
            <a:endParaRPr sz="1200"/>
          </a:p>
        </p:txBody>
      </p:sp>
      <p:sp>
        <p:nvSpPr>
          <p:cNvPr id="404" name="Google Shape;404;p59"/>
          <p:cNvSpPr txBox="1"/>
          <p:nvPr>
            <p:ph idx="1" type="body"/>
          </p:nvPr>
        </p:nvSpPr>
        <p:spPr>
          <a:xfrm>
            <a:off x="4641000" y="1076025"/>
            <a:ext cx="4191300" cy="510000"/>
          </a:xfrm>
          <a:prstGeom prst="rect">
            <a:avLst/>
          </a:prstGeom>
          <a:solidFill>
            <a:srgbClr val="F4CCCC"/>
          </a:solid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None/>
            </a:pPr>
            <a:r>
              <a:rPr b="1" lang="en-GB"/>
              <a:t>Critical finding</a:t>
            </a:r>
            <a:endParaRPr sz="1600"/>
          </a:p>
        </p:txBody>
      </p:sp>
      <p:sp>
        <p:nvSpPr>
          <p:cNvPr id="405" name="Google Shape;405;p59"/>
          <p:cNvSpPr txBox="1"/>
          <p:nvPr>
            <p:ph idx="1" type="body"/>
          </p:nvPr>
        </p:nvSpPr>
        <p:spPr>
          <a:xfrm>
            <a:off x="311300" y="1076025"/>
            <a:ext cx="4191300" cy="510000"/>
          </a:xfrm>
          <a:prstGeom prst="rect">
            <a:avLst/>
          </a:prstGeom>
          <a:solidFill>
            <a:srgbClr val="D9EAD3"/>
          </a:solid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None/>
            </a:pPr>
            <a:r>
              <a:rPr b="1" lang="en-GB"/>
              <a:t>Capability claim</a:t>
            </a:r>
            <a:endParaRPr sz="1600"/>
          </a:p>
        </p:txBody>
      </p:sp>
      <p:sp>
        <p:nvSpPr>
          <p:cNvPr id="406" name="Google Shape;406;p59"/>
          <p:cNvSpPr txBox="1"/>
          <p:nvPr>
            <p:ph idx="1" type="body"/>
          </p:nvPr>
        </p:nvSpPr>
        <p:spPr>
          <a:xfrm>
            <a:off x="4641000" y="1659203"/>
            <a:ext cx="4191300" cy="1097400"/>
          </a:xfrm>
          <a:prstGeom prst="rect">
            <a:avLst/>
          </a:prstGeom>
          <a:solidFill>
            <a:schemeClr val="lt1"/>
          </a:solidFill>
          <a:ln cap="flat" cmpd="sng" w="19050">
            <a:solidFill>
              <a:srgbClr val="F4CCCC"/>
            </a:solidFill>
            <a:prstDash val="solid"/>
            <a:round/>
            <a:headEnd len="sm" w="sm" type="none"/>
            <a:tailEnd len="sm" w="sm" type="none"/>
          </a:ln>
        </p:spPr>
        <p:txBody>
          <a:bodyPr anchorCtr="0" anchor="ctr" bIns="91425" lIns="91425" spcFirstLastPara="1" rIns="91425" wrap="square" tIns="91425">
            <a:normAutofit lnSpcReduction="20000"/>
          </a:bodyPr>
          <a:lstStyle/>
          <a:p>
            <a:pPr indent="0" lvl="0" marL="0" rtl="0" algn="l">
              <a:lnSpc>
                <a:spcPct val="100000"/>
              </a:lnSpc>
              <a:spcBef>
                <a:spcPts val="0"/>
              </a:spcBef>
              <a:spcAft>
                <a:spcPts val="0"/>
              </a:spcAft>
              <a:buNone/>
            </a:pPr>
            <a:r>
              <a:rPr lang="en-GB" sz="1200"/>
              <a:t>GSM-Symbolic (Mirzadeh et al. 2025): performance is token-sensitive and surface-fragile. Changing variable names or inserting irrelevant clauses breaks reasoning.</a:t>
            </a:r>
            <a:endParaRPr sz="1200"/>
          </a:p>
          <a:p>
            <a:pPr indent="0" lvl="0" marL="0" rtl="0" algn="l">
              <a:lnSpc>
                <a:spcPct val="100000"/>
              </a:lnSpc>
              <a:spcBef>
                <a:spcPts val="0"/>
              </a:spcBef>
              <a:spcAft>
                <a:spcPts val="0"/>
              </a:spcAft>
              <a:buNone/>
            </a:pPr>
            <a:r>
              <a:rPr b="1" lang="en-GB" sz="1200">
                <a:solidFill>
                  <a:srgbClr val="FF0000"/>
                </a:solidFill>
              </a:rPr>
              <a:t>IR</a:t>
            </a:r>
            <a:r>
              <a:rPr lang="en-GB" sz="1200">
                <a:solidFill>
                  <a:srgbClr val="FF0000"/>
                </a:solidFill>
              </a:rPr>
              <a:t>: Retrieval on semantically matched but lexically distant queries fails for the same reason, surface pattern matching instead of structural reasoning.</a:t>
            </a:r>
            <a:endParaRPr sz="1200">
              <a:solidFill>
                <a:srgbClr val="FF0000"/>
              </a:solidFill>
            </a:endParaRPr>
          </a:p>
        </p:txBody>
      </p:sp>
      <p:sp>
        <p:nvSpPr>
          <p:cNvPr id="407" name="Google Shape;407;p59"/>
          <p:cNvSpPr txBox="1"/>
          <p:nvPr>
            <p:ph idx="1" type="body"/>
          </p:nvPr>
        </p:nvSpPr>
        <p:spPr>
          <a:xfrm>
            <a:off x="311500" y="2825296"/>
            <a:ext cx="4191300" cy="1097400"/>
          </a:xfrm>
          <a:prstGeom prst="rect">
            <a:avLst/>
          </a:prstGeom>
          <a:solidFill>
            <a:schemeClr val="lt1"/>
          </a:solidFill>
          <a:ln cap="flat" cmpd="sng" w="19050">
            <a:solidFill>
              <a:srgbClr val="D9EAD3"/>
            </a:solidFill>
            <a:prstDash val="solid"/>
            <a:round/>
            <a:headEnd len="sm" w="sm" type="none"/>
            <a:tailEnd len="sm" w="sm" type="none"/>
          </a:ln>
        </p:spPr>
        <p:txBody>
          <a:bodyPr anchorCtr="0" anchor="ctr" bIns="91425" lIns="91425" spcFirstLastPara="1" rIns="91425" wrap="square" tIns="91425">
            <a:normAutofit/>
          </a:bodyPr>
          <a:lstStyle/>
          <a:p>
            <a:pPr indent="0" lvl="0" marL="0" rtl="0" algn="l">
              <a:lnSpc>
                <a:spcPct val="100000"/>
              </a:lnSpc>
              <a:spcBef>
                <a:spcPts val="0"/>
              </a:spcBef>
              <a:spcAft>
                <a:spcPts val="0"/>
              </a:spcAft>
              <a:buNone/>
            </a:pPr>
            <a:r>
              <a:rPr lang="en-GB" sz="1200"/>
              <a:t>Self-consistency sampling improves accuracy by aggregating diverse reasoning paths (Wang et al. 2023)</a:t>
            </a:r>
            <a:endParaRPr sz="1200"/>
          </a:p>
        </p:txBody>
      </p:sp>
      <p:sp>
        <p:nvSpPr>
          <p:cNvPr id="408" name="Google Shape;408;p59"/>
          <p:cNvSpPr txBox="1"/>
          <p:nvPr>
            <p:ph idx="1" type="body"/>
          </p:nvPr>
        </p:nvSpPr>
        <p:spPr>
          <a:xfrm>
            <a:off x="4641200" y="2825296"/>
            <a:ext cx="4191300" cy="1097400"/>
          </a:xfrm>
          <a:prstGeom prst="rect">
            <a:avLst/>
          </a:prstGeom>
          <a:solidFill>
            <a:schemeClr val="lt1"/>
          </a:solidFill>
          <a:ln cap="flat" cmpd="sng" w="19050">
            <a:solidFill>
              <a:srgbClr val="F4CCCC"/>
            </a:solidFill>
            <a:prstDash val="solid"/>
            <a:round/>
            <a:headEnd len="sm" w="sm" type="none"/>
            <a:tailEnd len="sm" w="sm" type="none"/>
          </a:ln>
        </p:spPr>
        <p:txBody>
          <a:bodyPr anchorCtr="0" anchor="ctr" bIns="91425" lIns="91425" spcFirstLastPara="1" rIns="91425" wrap="square" tIns="91425">
            <a:normAutofit lnSpcReduction="20000"/>
          </a:bodyPr>
          <a:lstStyle/>
          <a:p>
            <a:pPr indent="0" lvl="0" marL="0" rtl="0" algn="l">
              <a:lnSpc>
                <a:spcPct val="100000"/>
              </a:lnSpc>
              <a:spcBef>
                <a:spcPts val="0"/>
              </a:spcBef>
              <a:spcAft>
                <a:spcPts val="0"/>
              </a:spcAft>
              <a:buNone/>
            </a:pPr>
            <a:r>
              <a:rPr lang="en-GB" sz="1200"/>
              <a:t>Faith &amp; Fate (Dziri et al. 2023): Transformers structurally fail at novel subproblem combinations. Performance reflects training subgraph statistics.</a:t>
            </a:r>
            <a:endParaRPr sz="1200"/>
          </a:p>
          <a:p>
            <a:pPr indent="0" lvl="0" marL="0" rtl="0" algn="l">
              <a:lnSpc>
                <a:spcPct val="100000"/>
              </a:lnSpc>
              <a:spcBef>
                <a:spcPts val="0"/>
              </a:spcBef>
              <a:spcAft>
                <a:spcPts val="0"/>
              </a:spcAft>
              <a:buNone/>
            </a:pPr>
            <a:r>
              <a:rPr b="1" lang="en-GB" sz="1200">
                <a:solidFill>
                  <a:srgbClr val="FF0000"/>
                </a:solidFill>
              </a:rPr>
              <a:t>IR</a:t>
            </a:r>
            <a:r>
              <a:rPr lang="en-GB" sz="1200">
                <a:solidFill>
                  <a:srgbClr val="FF0000"/>
                </a:solidFill>
              </a:rPr>
              <a:t>: </a:t>
            </a:r>
            <a:r>
              <a:rPr lang="en-GB" sz="1200">
                <a:solidFill>
                  <a:srgbClr val="FF0000"/>
                </a:solidFill>
              </a:rPr>
              <a:t>Multi-hop chains degrade rapidly because each hop introduces a compositional failure point beyond training distribution.</a:t>
            </a:r>
            <a:endParaRPr sz="1200">
              <a:solidFill>
                <a:srgbClr val="FF0000"/>
              </a:solidFill>
            </a:endParaRPr>
          </a:p>
        </p:txBody>
      </p:sp>
      <p:sp>
        <p:nvSpPr>
          <p:cNvPr id="409" name="Google Shape;409;p59"/>
          <p:cNvSpPr txBox="1"/>
          <p:nvPr>
            <p:ph idx="1" type="body"/>
          </p:nvPr>
        </p:nvSpPr>
        <p:spPr>
          <a:xfrm>
            <a:off x="311500" y="4005170"/>
            <a:ext cx="4191300" cy="1097400"/>
          </a:xfrm>
          <a:prstGeom prst="rect">
            <a:avLst/>
          </a:prstGeom>
          <a:solidFill>
            <a:schemeClr val="lt1"/>
          </a:solidFill>
          <a:ln cap="flat" cmpd="sng" w="19050">
            <a:solidFill>
              <a:srgbClr val="D9EAD3"/>
            </a:solidFill>
            <a:prstDash val="solid"/>
            <a:round/>
            <a:headEnd len="sm" w="sm" type="none"/>
            <a:tailEnd len="sm" w="sm" type="none"/>
          </a:ln>
        </p:spPr>
        <p:txBody>
          <a:bodyPr anchorCtr="0" anchor="ctr" bIns="91425" lIns="91425" spcFirstLastPara="1" rIns="91425" wrap="square" tIns="91425">
            <a:normAutofit/>
          </a:bodyPr>
          <a:lstStyle/>
          <a:p>
            <a:pPr indent="0" lvl="0" marL="0" rtl="0" algn="l">
              <a:lnSpc>
                <a:spcPct val="100000"/>
              </a:lnSpc>
              <a:spcBef>
                <a:spcPts val="0"/>
              </a:spcBef>
              <a:spcAft>
                <a:spcPts val="0"/>
              </a:spcAft>
              <a:buNone/>
            </a:pPr>
            <a:r>
              <a:rPr lang="en-GB" sz="1200"/>
              <a:t>Least-to-most prompting enables harder compositional generalization (Zhou et al. 2023)</a:t>
            </a:r>
            <a:endParaRPr sz="1200"/>
          </a:p>
        </p:txBody>
      </p:sp>
      <p:sp>
        <p:nvSpPr>
          <p:cNvPr id="410" name="Google Shape;410;p59"/>
          <p:cNvSpPr txBox="1"/>
          <p:nvPr>
            <p:ph idx="1" type="body"/>
          </p:nvPr>
        </p:nvSpPr>
        <p:spPr>
          <a:xfrm>
            <a:off x="4641200" y="4005170"/>
            <a:ext cx="4191300" cy="1097400"/>
          </a:xfrm>
          <a:prstGeom prst="rect">
            <a:avLst/>
          </a:prstGeom>
          <a:solidFill>
            <a:schemeClr val="lt1"/>
          </a:solidFill>
          <a:ln cap="flat" cmpd="sng" w="19050">
            <a:solidFill>
              <a:srgbClr val="F4CCCC"/>
            </a:solidFill>
            <a:prstDash val="solid"/>
            <a:round/>
            <a:headEnd len="sm" w="sm" type="none"/>
            <a:tailEnd len="sm" w="sm" type="none"/>
          </a:ln>
        </p:spPr>
        <p:txBody>
          <a:bodyPr anchorCtr="0" anchor="ctr" bIns="91425" lIns="91425" spcFirstLastPara="1" rIns="91425" wrap="square" tIns="91425">
            <a:normAutofit lnSpcReduction="20000"/>
          </a:bodyPr>
          <a:lstStyle/>
          <a:p>
            <a:pPr indent="0" lvl="0" marL="0" rtl="0" algn="l">
              <a:lnSpc>
                <a:spcPct val="100000"/>
              </a:lnSpc>
              <a:spcBef>
                <a:spcPts val="0"/>
              </a:spcBef>
              <a:spcAft>
                <a:spcPts val="0"/>
              </a:spcAft>
              <a:buNone/>
            </a:pPr>
            <a:r>
              <a:rPr lang="en-GB" sz="1200"/>
              <a:t>Compositionality failures persist even with explicit decomposition when composed subproblems are out-of-distribution (Dziri et al.).</a:t>
            </a:r>
            <a:endParaRPr sz="1200"/>
          </a:p>
          <a:p>
            <a:pPr indent="0" lvl="0" marL="0" rtl="0" algn="l">
              <a:lnSpc>
                <a:spcPct val="100000"/>
              </a:lnSpc>
              <a:spcBef>
                <a:spcPts val="0"/>
              </a:spcBef>
              <a:spcAft>
                <a:spcPts val="0"/>
              </a:spcAft>
              <a:buNone/>
            </a:pPr>
            <a:r>
              <a:rPr b="1" lang="en-GB" sz="1200">
                <a:solidFill>
                  <a:srgbClr val="FF0000"/>
                </a:solidFill>
              </a:rPr>
              <a:t>IR</a:t>
            </a:r>
            <a:r>
              <a:rPr lang="en-GB" sz="1200">
                <a:solidFill>
                  <a:srgbClr val="FF0000"/>
                </a:solidFill>
              </a:rPr>
              <a:t>: </a:t>
            </a:r>
            <a:r>
              <a:rPr lang="en-GB" sz="1200">
                <a:solidFill>
                  <a:srgbClr val="FF0000"/>
                </a:solidFill>
              </a:rPr>
              <a:t>Structured decomposition of research sub-questions does not guarantee correct synthesis, each step can independently fail</a:t>
            </a:r>
            <a:r>
              <a:rPr lang="en-GB" sz="1200">
                <a:solidFill>
                  <a:srgbClr val="FF0000"/>
                </a:solidFill>
              </a:rPr>
              <a:t>.</a:t>
            </a:r>
            <a:endParaRPr sz="1200">
              <a:solidFill>
                <a:srgbClr val="FF0000"/>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 name="Shape 414"/>
        <p:cNvGrpSpPr/>
        <p:nvPr/>
      </p:nvGrpSpPr>
      <p:grpSpPr>
        <a:xfrm>
          <a:off x="0" y="0"/>
          <a:ext cx="0" cy="0"/>
          <a:chOff x="0" y="0"/>
          <a:chExt cx="0" cy="0"/>
        </a:xfrm>
      </p:grpSpPr>
      <p:sp>
        <p:nvSpPr>
          <p:cNvPr id="415" name="Google Shape;415;p6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n-GB"/>
              <a:t>Critical findings paired with capability claims (2/2)</a:t>
            </a:r>
            <a:endParaRPr b="1"/>
          </a:p>
        </p:txBody>
      </p:sp>
      <p:sp>
        <p:nvSpPr>
          <p:cNvPr id="416" name="Google Shape;416;p6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
        <p:nvSpPr>
          <p:cNvPr id="417" name="Google Shape;417;p60"/>
          <p:cNvSpPr txBox="1"/>
          <p:nvPr>
            <p:ph idx="1" type="body"/>
          </p:nvPr>
        </p:nvSpPr>
        <p:spPr>
          <a:xfrm>
            <a:off x="311300" y="1659203"/>
            <a:ext cx="4191300" cy="1097400"/>
          </a:xfrm>
          <a:prstGeom prst="rect">
            <a:avLst/>
          </a:prstGeom>
          <a:solidFill>
            <a:schemeClr val="lt1"/>
          </a:solidFill>
          <a:ln cap="flat" cmpd="sng" w="19050">
            <a:solidFill>
              <a:srgbClr val="D9EAD3"/>
            </a:solidFill>
            <a:prstDash val="solid"/>
            <a:round/>
            <a:headEnd len="sm" w="sm" type="none"/>
            <a:tailEnd len="sm" w="sm" type="none"/>
          </a:ln>
        </p:spPr>
        <p:txBody>
          <a:bodyPr anchorCtr="0" anchor="ctr" bIns="91425" lIns="91425" spcFirstLastPara="1" rIns="91425" wrap="square" tIns="91425">
            <a:normAutofit/>
          </a:bodyPr>
          <a:lstStyle/>
          <a:p>
            <a:pPr indent="0" lvl="0" marL="0" rtl="0" algn="l">
              <a:lnSpc>
                <a:spcPct val="100000"/>
              </a:lnSpc>
              <a:spcBef>
                <a:spcPts val="0"/>
              </a:spcBef>
              <a:spcAft>
                <a:spcPts val="0"/>
              </a:spcAft>
              <a:buNone/>
            </a:pPr>
            <a:r>
              <a:rPr lang="en-GB" sz="1200"/>
              <a:t>RAG improves factual grounding by injecting retrieved documents into the generation context</a:t>
            </a:r>
            <a:endParaRPr sz="1200"/>
          </a:p>
        </p:txBody>
      </p:sp>
      <p:sp>
        <p:nvSpPr>
          <p:cNvPr id="418" name="Google Shape;418;p60"/>
          <p:cNvSpPr txBox="1"/>
          <p:nvPr>
            <p:ph idx="1" type="body"/>
          </p:nvPr>
        </p:nvSpPr>
        <p:spPr>
          <a:xfrm>
            <a:off x="4641000" y="1076025"/>
            <a:ext cx="4191300" cy="510000"/>
          </a:xfrm>
          <a:prstGeom prst="rect">
            <a:avLst/>
          </a:prstGeom>
          <a:solidFill>
            <a:srgbClr val="F4CCCC"/>
          </a:solid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None/>
            </a:pPr>
            <a:r>
              <a:rPr b="1" lang="en-GB"/>
              <a:t>Critical finding</a:t>
            </a:r>
            <a:endParaRPr sz="1600"/>
          </a:p>
        </p:txBody>
      </p:sp>
      <p:sp>
        <p:nvSpPr>
          <p:cNvPr id="419" name="Google Shape;419;p60"/>
          <p:cNvSpPr txBox="1"/>
          <p:nvPr>
            <p:ph idx="1" type="body"/>
          </p:nvPr>
        </p:nvSpPr>
        <p:spPr>
          <a:xfrm>
            <a:off x="311300" y="1076025"/>
            <a:ext cx="4191300" cy="510000"/>
          </a:xfrm>
          <a:prstGeom prst="rect">
            <a:avLst/>
          </a:prstGeom>
          <a:solidFill>
            <a:srgbClr val="D9EAD3"/>
          </a:solid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None/>
            </a:pPr>
            <a:r>
              <a:rPr b="1" lang="en-GB"/>
              <a:t>Capability claim</a:t>
            </a:r>
            <a:endParaRPr sz="1600"/>
          </a:p>
        </p:txBody>
      </p:sp>
      <p:sp>
        <p:nvSpPr>
          <p:cNvPr id="420" name="Google Shape;420;p60"/>
          <p:cNvSpPr txBox="1"/>
          <p:nvPr>
            <p:ph idx="1" type="body"/>
          </p:nvPr>
        </p:nvSpPr>
        <p:spPr>
          <a:xfrm>
            <a:off x="4641000" y="1659203"/>
            <a:ext cx="4191300" cy="1097400"/>
          </a:xfrm>
          <a:prstGeom prst="rect">
            <a:avLst/>
          </a:prstGeom>
          <a:solidFill>
            <a:schemeClr val="lt1"/>
          </a:solidFill>
          <a:ln cap="flat" cmpd="sng" w="19050">
            <a:solidFill>
              <a:srgbClr val="F4CCCC"/>
            </a:solidFill>
            <a:prstDash val="solid"/>
            <a:round/>
            <a:headEnd len="sm" w="sm" type="none"/>
            <a:tailEnd len="sm" w="sm" type="none"/>
          </a:ln>
        </p:spPr>
        <p:txBody>
          <a:bodyPr anchorCtr="0" anchor="ctr" bIns="91425" lIns="91425" spcFirstLastPara="1" rIns="91425" wrap="square" tIns="91425">
            <a:normAutofit fontScale="92500" lnSpcReduction="10000"/>
          </a:bodyPr>
          <a:lstStyle/>
          <a:p>
            <a:pPr indent="0" lvl="0" marL="0" rtl="0" algn="l">
              <a:lnSpc>
                <a:spcPct val="100000"/>
              </a:lnSpc>
              <a:spcBef>
                <a:spcPts val="0"/>
              </a:spcBef>
              <a:spcAft>
                <a:spcPts val="0"/>
              </a:spcAft>
              <a:buNone/>
            </a:pPr>
            <a:r>
              <a:rPr lang="en-GB" sz="1200"/>
              <a:t>GSM-IC (Shi et al. 2023) and Lost in the Middle (Liu et al. 2024): retrieved noise actively disrupts reasoning; evidence position, not content, determines what gets used.</a:t>
            </a:r>
            <a:endParaRPr sz="1200"/>
          </a:p>
          <a:p>
            <a:pPr indent="0" lvl="0" marL="0" rtl="0" algn="l">
              <a:lnSpc>
                <a:spcPct val="100000"/>
              </a:lnSpc>
              <a:spcBef>
                <a:spcPts val="0"/>
              </a:spcBef>
              <a:spcAft>
                <a:spcPts val="0"/>
              </a:spcAft>
              <a:buNone/>
            </a:pPr>
            <a:r>
              <a:rPr b="1" lang="en-GB" sz="1200">
                <a:solidFill>
                  <a:srgbClr val="FF0000"/>
                </a:solidFill>
              </a:rPr>
              <a:t>IR</a:t>
            </a:r>
            <a:r>
              <a:rPr lang="en-GB" sz="1200">
                <a:solidFill>
                  <a:srgbClr val="FF0000"/>
                </a:solidFill>
              </a:rPr>
              <a:t>: </a:t>
            </a:r>
            <a:r>
              <a:rPr lang="en-GB" sz="1200">
                <a:solidFill>
                  <a:srgbClr val="FF0000"/>
                </a:solidFill>
              </a:rPr>
              <a:t>Imperfect retrieval doesn't just add irrelevant content, it actively degrades reasoning over the relevant content. Position bias means document ordering affects conclusions.</a:t>
            </a:r>
            <a:endParaRPr sz="1200">
              <a:solidFill>
                <a:srgbClr val="FF0000"/>
              </a:solidFill>
            </a:endParaRPr>
          </a:p>
        </p:txBody>
      </p:sp>
      <p:sp>
        <p:nvSpPr>
          <p:cNvPr id="421" name="Google Shape;421;p60"/>
          <p:cNvSpPr txBox="1"/>
          <p:nvPr>
            <p:ph idx="1" type="body"/>
          </p:nvPr>
        </p:nvSpPr>
        <p:spPr>
          <a:xfrm>
            <a:off x="311500" y="2825296"/>
            <a:ext cx="4191300" cy="1097400"/>
          </a:xfrm>
          <a:prstGeom prst="rect">
            <a:avLst/>
          </a:prstGeom>
          <a:solidFill>
            <a:schemeClr val="lt1"/>
          </a:solidFill>
          <a:ln cap="flat" cmpd="sng" w="19050">
            <a:solidFill>
              <a:srgbClr val="D9EAD3"/>
            </a:solidFill>
            <a:prstDash val="solid"/>
            <a:round/>
            <a:headEnd len="sm" w="sm" type="none"/>
            <a:tailEnd len="sm" w="sm" type="none"/>
          </a:ln>
        </p:spPr>
        <p:txBody>
          <a:bodyPr anchorCtr="0" anchor="ctr" bIns="91425" lIns="91425" spcFirstLastPara="1" rIns="91425" wrap="square" tIns="91425">
            <a:normAutofit/>
          </a:bodyPr>
          <a:lstStyle/>
          <a:p>
            <a:pPr indent="0" lvl="0" marL="0" rtl="0" algn="l">
              <a:lnSpc>
                <a:spcPct val="100000"/>
              </a:lnSpc>
              <a:spcBef>
                <a:spcPts val="0"/>
              </a:spcBef>
              <a:spcAft>
                <a:spcPts val="0"/>
              </a:spcAft>
              <a:buNone/>
            </a:pPr>
            <a:r>
              <a:rPr lang="en-GB" sz="1200"/>
              <a:t>Process reward models improve reasoning quality by rewarding correct intermediate steps (Lightman et al. 2023)</a:t>
            </a:r>
            <a:endParaRPr sz="1200"/>
          </a:p>
        </p:txBody>
      </p:sp>
      <p:sp>
        <p:nvSpPr>
          <p:cNvPr id="422" name="Google Shape;422;p60"/>
          <p:cNvSpPr txBox="1"/>
          <p:nvPr>
            <p:ph idx="1" type="body"/>
          </p:nvPr>
        </p:nvSpPr>
        <p:spPr>
          <a:xfrm>
            <a:off x="4641200" y="2825296"/>
            <a:ext cx="4191300" cy="1097400"/>
          </a:xfrm>
          <a:prstGeom prst="rect">
            <a:avLst/>
          </a:prstGeom>
          <a:solidFill>
            <a:schemeClr val="lt1"/>
          </a:solidFill>
          <a:ln cap="flat" cmpd="sng" w="19050">
            <a:solidFill>
              <a:srgbClr val="F4CCCC"/>
            </a:solidFill>
            <a:prstDash val="solid"/>
            <a:round/>
            <a:headEnd len="sm" w="sm" type="none"/>
            <a:tailEnd len="sm" w="sm" type="none"/>
          </a:ln>
        </p:spPr>
        <p:txBody>
          <a:bodyPr anchorCtr="0" anchor="ctr" bIns="91425" lIns="91425" spcFirstLastPara="1" rIns="91425" wrap="square" tIns="91425">
            <a:normAutofit fontScale="92500" lnSpcReduction="10000"/>
          </a:bodyPr>
          <a:lstStyle/>
          <a:p>
            <a:pPr indent="0" lvl="0" marL="0" rtl="0" algn="l">
              <a:lnSpc>
                <a:spcPct val="100000"/>
              </a:lnSpc>
              <a:spcBef>
                <a:spcPts val="0"/>
              </a:spcBef>
              <a:spcAft>
                <a:spcPts val="0"/>
              </a:spcAft>
              <a:buNone/>
            </a:pPr>
            <a:r>
              <a:rPr lang="en-GB" sz="1200"/>
              <a:t>Chen et al., (2025)’s faithfulness study: reasoning traces are not faithful to internal computation. The visible CoT and the actual causal process are partially decoupled.</a:t>
            </a:r>
            <a:endParaRPr sz="1200"/>
          </a:p>
          <a:p>
            <a:pPr indent="0" lvl="0" marL="0" rtl="0" algn="l">
              <a:lnSpc>
                <a:spcPct val="100000"/>
              </a:lnSpc>
              <a:spcBef>
                <a:spcPts val="0"/>
              </a:spcBef>
              <a:spcAft>
                <a:spcPts val="0"/>
              </a:spcAft>
              <a:buNone/>
            </a:pPr>
            <a:r>
              <a:rPr b="1" lang="en-GB" sz="1200">
                <a:solidFill>
                  <a:srgbClr val="FF0000"/>
                </a:solidFill>
              </a:rPr>
              <a:t>IR</a:t>
            </a:r>
            <a:r>
              <a:rPr lang="en-GB" sz="1200">
                <a:solidFill>
                  <a:srgbClr val="FF0000"/>
                </a:solidFill>
              </a:rPr>
              <a:t>: </a:t>
            </a:r>
            <a:r>
              <a:rPr lang="en-GB" sz="1200">
                <a:solidFill>
                  <a:srgbClr val="FF0000"/>
                </a:solidFill>
              </a:rPr>
              <a:t>Agentic research pipelines controlled by CoT traces cannot be trusted to reflect actual evidence integration. The logged trace may be misleading about what drove the conclusion.</a:t>
            </a:r>
            <a:endParaRPr sz="1200">
              <a:solidFill>
                <a:srgbClr val="FF0000"/>
              </a:solidFill>
            </a:endParaRPr>
          </a:p>
        </p:txBody>
      </p:sp>
      <p:sp>
        <p:nvSpPr>
          <p:cNvPr id="423" name="Google Shape;423;p60"/>
          <p:cNvSpPr txBox="1"/>
          <p:nvPr>
            <p:ph idx="1" type="body"/>
          </p:nvPr>
        </p:nvSpPr>
        <p:spPr>
          <a:xfrm>
            <a:off x="311500" y="4005170"/>
            <a:ext cx="4191300" cy="1097400"/>
          </a:xfrm>
          <a:prstGeom prst="rect">
            <a:avLst/>
          </a:prstGeom>
          <a:solidFill>
            <a:schemeClr val="lt1"/>
          </a:solidFill>
          <a:ln cap="flat" cmpd="sng" w="19050">
            <a:solidFill>
              <a:srgbClr val="D9EAD3"/>
            </a:solidFill>
            <a:prstDash val="solid"/>
            <a:round/>
            <a:headEnd len="sm" w="sm" type="none"/>
            <a:tailEnd len="sm" w="sm" type="none"/>
          </a:ln>
        </p:spPr>
        <p:txBody>
          <a:bodyPr anchorCtr="0" anchor="ctr" bIns="91425" lIns="91425" spcFirstLastPara="1" rIns="91425" wrap="square" tIns="91425">
            <a:normAutofit/>
          </a:bodyPr>
          <a:lstStyle/>
          <a:p>
            <a:pPr indent="0" lvl="0" marL="0" rtl="0" algn="l">
              <a:lnSpc>
                <a:spcPct val="100000"/>
              </a:lnSpc>
              <a:spcBef>
                <a:spcPts val="0"/>
              </a:spcBef>
              <a:spcAft>
                <a:spcPts val="0"/>
              </a:spcAft>
              <a:buNone/>
            </a:pPr>
            <a:r>
              <a:rPr lang="en-GB" sz="1200"/>
              <a:t>Inference scaling (o1/R1) produces strong performance on math, coding, and science benchmarks</a:t>
            </a:r>
            <a:endParaRPr sz="1200"/>
          </a:p>
        </p:txBody>
      </p:sp>
      <p:sp>
        <p:nvSpPr>
          <p:cNvPr id="424" name="Google Shape;424;p60"/>
          <p:cNvSpPr txBox="1"/>
          <p:nvPr>
            <p:ph idx="1" type="body"/>
          </p:nvPr>
        </p:nvSpPr>
        <p:spPr>
          <a:xfrm>
            <a:off x="4641200" y="4005170"/>
            <a:ext cx="4191300" cy="1097400"/>
          </a:xfrm>
          <a:prstGeom prst="rect">
            <a:avLst/>
          </a:prstGeom>
          <a:solidFill>
            <a:schemeClr val="lt1"/>
          </a:solidFill>
          <a:ln cap="flat" cmpd="sng" w="19050">
            <a:solidFill>
              <a:srgbClr val="F4CCCC"/>
            </a:solidFill>
            <a:prstDash val="solid"/>
            <a:round/>
            <a:headEnd len="sm" w="sm" type="none"/>
            <a:tailEnd len="sm" w="sm" type="none"/>
          </a:ln>
        </p:spPr>
        <p:txBody>
          <a:bodyPr anchorCtr="0" anchor="ctr" bIns="91425" lIns="91425" spcFirstLastPara="1" rIns="91425" wrap="square" tIns="91425">
            <a:normAutofit lnSpcReduction="20000"/>
          </a:bodyPr>
          <a:lstStyle/>
          <a:p>
            <a:pPr indent="0" lvl="0" marL="0" rtl="0" algn="l">
              <a:lnSpc>
                <a:spcPct val="100000"/>
              </a:lnSpc>
              <a:spcBef>
                <a:spcPts val="0"/>
              </a:spcBef>
              <a:spcAft>
                <a:spcPts val="0"/>
              </a:spcAft>
              <a:buNone/>
            </a:pPr>
            <a:r>
              <a:rPr lang="en-GB" sz="1200"/>
              <a:t>Schaeffer et al. 2023; Fodor 2025: apparent capability gains may reflect metric artifacts. GSM1K (Zhang et al.) shows leakage causing several-point drops.</a:t>
            </a:r>
            <a:endParaRPr sz="1200"/>
          </a:p>
          <a:p>
            <a:pPr indent="0" lvl="0" marL="0" rtl="0" algn="l">
              <a:lnSpc>
                <a:spcPct val="100000"/>
              </a:lnSpc>
              <a:spcBef>
                <a:spcPts val="0"/>
              </a:spcBef>
              <a:spcAft>
                <a:spcPts val="0"/>
              </a:spcAft>
              <a:buNone/>
            </a:pPr>
            <a:r>
              <a:rPr b="1" lang="en-GB" sz="1200">
                <a:solidFill>
                  <a:srgbClr val="FF0000"/>
                </a:solidFill>
              </a:rPr>
              <a:t>IR</a:t>
            </a:r>
            <a:r>
              <a:rPr lang="en-GB" sz="1200">
                <a:solidFill>
                  <a:srgbClr val="FF0000"/>
                </a:solidFill>
              </a:rPr>
              <a:t>: </a:t>
            </a:r>
            <a:r>
              <a:rPr lang="en-GB" sz="1200">
                <a:solidFill>
                  <a:srgbClr val="FF0000"/>
                </a:solidFill>
              </a:rPr>
              <a:t>IR benchmarks built on web data systematically overestimate genuine retrieval-reasoning competence. Benchmark saturation ≠ task competence.</a:t>
            </a:r>
            <a:endParaRPr sz="1200">
              <a:solidFill>
                <a:srgbClr val="FF0000"/>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8" name="Shape 428"/>
        <p:cNvGrpSpPr/>
        <p:nvPr/>
      </p:nvGrpSpPr>
      <p:grpSpPr>
        <a:xfrm>
          <a:off x="0" y="0"/>
          <a:ext cx="0" cy="0"/>
          <a:chOff x="0" y="0"/>
          <a:chExt cx="0" cy="0"/>
        </a:xfrm>
      </p:grpSpPr>
      <p:sp>
        <p:nvSpPr>
          <p:cNvPr id="429" name="Google Shape;429;p6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
        <p:nvSpPr>
          <p:cNvPr id="430" name="Google Shape;430;p61"/>
          <p:cNvSpPr txBox="1"/>
          <p:nvPr>
            <p:ph idx="1" type="body"/>
          </p:nvPr>
        </p:nvSpPr>
        <p:spPr>
          <a:xfrm>
            <a:off x="6729300" y="1132275"/>
            <a:ext cx="2103000" cy="3866400"/>
          </a:xfrm>
          <a:prstGeom prst="rect">
            <a:avLst/>
          </a:prstGeom>
          <a:solidFill>
            <a:srgbClr val="F4CCCC"/>
          </a:solidFill>
          <a:ln>
            <a:noFill/>
          </a:ln>
        </p:spPr>
        <p:txBody>
          <a:bodyPr anchorCtr="0" anchor="t" bIns="91425" lIns="91425" spcFirstLastPara="1" rIns="91425" wrap="square" tIns="91425">
            <a:normAutofit fontScale="77500"/>
          </a:bodyPr>
          <a:lstStyle/>
          <a:p>
            <a:pPr indent="0" lvl="0" marL="0" rtl="0" algn="l">
              <a:spcBef>
                <a:spcPts val="0"/>
              </a:spcBef>
              <a:spcAft>
                <a:spcPts val="0"/>
              </a:spcAft>
              <a:buNone/>
            </a:pPr>
            <a:r>
              <a:rPr lang="en-GB"/>
              <a:t>“</a:t>
            </a:r>
            <a:r>
              <a:rPr i="1" lang="en-GB"/>
              <a:t>The leading model on the MTEB leaderboard SFR-Embedding-Mistra, which achieves a score of 59.0 nDCG@10,1 produces a score of nDCG@10 of 18.3 on BRIGHT. We show that incorporating explicit reasoning about the query improves retrieval performance by up to 12.2 points.</a:t>
            </a:r>
            <a:r>
              <a:rPr lang="en-GB"/>
              <a:t>”</a:t>
            </a:r>
            <a:endParaRPr/>
          </a:p>
          <a:p>
            <a:pPr indent="0" lvl="0" marL="0" rtl="0" algn="l">
              <a:spcBef>
                <a:spcPts val="1200"/>
              </a:spcBef>
              <a:spcAft>
                <a:spcPts val="1200"/>
              </a:spcAft>
              <a:buNone/>
            </a:pPr>
            <a:r>
              <a:rPr lang="en-GB"/>
              <a:t>(Su et al., 2025)</a:t>
            </a:r>
            <a:endParaRPr/>
          </a:p>
        </p:txBody>
      </p:sp>
      <p:sp>
        <p:nvSpPr>
          <p:cNvPr id="431" name="Google Shape;431;p61"/>
          <p:cNvSpPr txBox="1"/>
          <p:nvPr>
            <p:ph idx="1" type="body"/>
          </p:nvPr>
        </p:nvSpPr>
        <p:spPr>
          <a:xfrm>
            <a:off x="311700" y="3806375"/>
            <a:ext cx="6279600" cy="1192200"/>
          </a:xfrm>
          <a:prstGeom prst="rect">
            <a:avLst/>
          </a:prstGeom>
          <a:solidFill>
            <a:srgbClr val="C9DAF8"/>
          </a:solid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None/>
            </a:pPr>
            <a:r>
              <a:rPr b="1" lang="en-GB"/>
              <a:t>The evaluation philosophy</a:t>
            </a:r>
            <a:endParaRPr/>
          </a:p>
          <a:p>
            <a:pPr indent="0" lvl="0" marL="0" rtl="0" algn="l">
              <a:lnSpc>
                <a:spcPct val="100000"/>
              </a:lnSpc>
              <a:spcBef>
                <a:spcPts val="0"/>
              </a:spcBef>
              <a:spcAft>
                <a:spcPts val="0"/>
              </a:spcAft>
              <a:buNone/>
            </a:pPr>
            <a:r>
              <a:rPr lang="en-GB" sz="1400"/>
              <a:t>Leakage-resistant, reasoning-intensive, out-of-distribution. This is the evaluation model the tutorial advocates. BRIGHT is a proof-of-concept, not a final solution.</a:t>
            </a:r>
            <a:endParaRPr sz="1600"/>
          </a:p>
        </p:txBody>
      </p:sp>
      <p:sp>
        <p:nvSpPr>
          <p:cNvPr id="432" name="Google Shape;432;p6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n-GB"/>
              <a:t>BRIGHT: The IR-specific diagnostic</a:t>
            </a:r>
            <a:endParaRPr b="1"/>
          </a:p>
        </p:txBody>
      </p:sp>
      <p:sp>
        <p:nvSpPr>
          <p:cNvPr id="433" name="Google Shape;433;p61"/>
          <p:cNvSpPr txBox="1"/>
          <p:nvPr>
            <p:ph idx="1" type="body"/>
          </p:nvPr>
        </p:nvSpPr>
        <p:spPr>
          <a:xfrm>
            <a:off x="311700" y="1152475"/>
            <a:ext cx="6279600" cy="1192200"/>
          </a:xfrm>
          <a:prstGeom prst="rect">
            <a:avLst/>
          </a:prstGeom>
          <a:solidFill>
            <a:srgbClr val="D9EAD3"/>
          </a:solid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None/>
            </a:pPr>
            <a:r>
              <a:rPr b="1" lang="en-GB"/>
              <a:t>What BRIGHT brings</a:t>
            </a:r>
            <a:endParaRPr/>
          </a:p>
          <a:p>
            <a:pPr indent="0" lvl="0" marL="0" rtl="0" algn="l">
              <a:lnSpc>
                <a:spcPct val="100000"/>
              </a:lnSpc>
              <a:spcBef>
                <a:spcPts val="0"/>
              </a:spcBef>
              <a:spcAft>
                <a:spcPts val="0"/>
              </a:spcAft>
              <a:buNone/>
            </a:pPr>
            <a:r>
              <a:rPr lang="en-GB" sz="1400"/>
              <a:t>Real-world queries from diverse domains requiring in-depth reasoning to identify relevant documents beyond surface form matching. Not keyword retrieval, but inferential retrieval.</a:t>
            </a:r>
            <a:endParaRPr sz="1600"/>
          </a:p>
        </p:txBody>
      </p:sp>
      <p:sp>
        <p:nvSpPr>
          <p:cNvPr id="434" name="Google Shape;434;p61"/>
          <p:cNvSpPr txBox="1"/>
          <p:nvPr>
            <p:ph idx="1" type="body"/>
          </p:nvPr>
        </p:nvSpPr>
        <p:spPr>
          <a:xfrm>
            <a:off x="311700" y="2479425"/>
            <a:ext cx="6279600" cy="1192200"/>
          </a:xfrm>
          <a:prstGeom prst="rect">
            <a:avLst/>
          </a:prstGeom>
          <a:solidFill>
            <a:srgbClr val="FFF2CC"/>
          </a:solid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None/>
            </a:pPr>
            <a:r>
              <a:rPr b="1" lang="en-GB"/>
              <a:t>The interpretation</a:t>
            </a:r>
            <a:endParaRPr/>
          </a:p>
          <a:p>
            <a:pPr indent="0" lvl="0" marL="0" rtl="0" algn="l">
              <a:lnSpc>
                <a:spcPct val="100000"/>
              </a:lnSpc>
              <a:spcBef>
                <a:spcPts val="0"/>
              </a:spcBef>
              <a:spcAft>
                <a:spcPts val="0"/>
              </a:spcAft>
              <a:buNone/>
            </a:pPr>
            <a:r>
              <a:rPr lang="en-GB" sz="1400"/>
              <a:t>The performance collapse is not retrieval failure, it is reasoning failure. Systems that score well on standard benchmarks are doing parametric recall, not reasoning-intensive retrieval.</a:t>
            </a:r>
            <a:endParaRPr sz="16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8" name="Shape 438"/>
        <p:cNvGrpSpPr/>
        <p:nvPr/>
      </p:nvGrpSpPr>
      <p:grpSpPr>
        <a:xfrm>
          <a:off x="0" y="0"/>
          <a:ext cx="0" cy="0"/>
          <a:chOff x="0" y="0"/>
          <a:chExt cx="0" cy="0"/>
        </a:xfrm>
      </p:grpSpPr>
      <p:sp>
        <p:nvSpPr>
          <p:cNvPr id="439" name="Google Shape;439;p62"/>
          <p:cNvSpPr txBox="1"/>
          <p:nvPr>
            <p:ph type="title"/>
          </p:nvPr>
        </p:nvSpPr>
        <p:spPr>
          <a:xfrm>
            <a:off x="311700" y="25883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Clr>
                <a:schemeClr val="dk1"/>
              </a:buClr>
              <a:buSzPct val="39286"/>
              <a:buFont typeface="Arial"/>
              <a:buNone/>
            </a:pPr>
            <a:r>
              <a:rPr b="1" lang="en-GB"/>
              <a:t>Diagnostic resources besides BRIGHT</a:t>
            </a:r>
            <a:endParaRPr b="1"/>
          </a:p>
          <a:p>
            <a:pPr indent="0" lvl="0" marL="0" rtl="0" algn="ctr">
              <a:spcBef>
                <a:spcPts val="0"/>
              </a:spcBef>
              <a:spcAft>
                <a:spcPts val="0"/>
              </a:spcAft>
              <a:buNone/>
            </a:pPr>
            <a:r>
              <a:t/>
            </a:r>
            <a:endParaRPr b="1"/>
          </a:p>
        </p:txBody>
      </p:sp>
      <p:sp>
        <p:nvSpPr>
          <p:cNvPr id="440" name="Google Shape;440;p6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graphicFrame>
        <p:nvGraphicFramePr>
          <p:cNvPr id="441" name="Google Shape;441;p62"/>
          <p:cNvGraphicFramePr/>
          <p:nvPr/>
        </p:nvGraphicFramePr>
        <p:xfrm>
          <a:off x="359613" y="1194115"/>
          <a:ext cx="3000000" cy="3000000"/>
        </p:xfrm>
        <a:graphic>
          <a:graphicData uri="http://schemas.openxmlformats.org/drawingml/2006/table">
            <a:tbl>
              <a:tblPr>
                <a:noFill/>
                <a:tableStyleId>{690008F1-FBFA-4D70-A9C7-EF09C6EBDACE}</a:tableStyleId>
              </a:tblPr>
              <a:tblGrid>
                <a:gridCol w="1010550"/>
                <a:gridCol w="1491050"/>
                <a:gridCol w="1326900"/>
                <a:gridCol w="1460800"/>
                <a:gridCol w="1785325"/>
                <a:gridCol w="1350150"/>
              </a:tblGrid>
              <a:tr h="253925">
                <a:tc>
                  <a:txBody>
                    <a:bodyPr/>
                    <a:lstStyle/>
                    <a:p>
                      <a:pPr indent="0" lvl="0" marL="0" rtl="0" algn="l">
                        <a:spcBef>
                          <a:spcPts val="0"/>
                        </a:spcBef>
                        <a:spcAft>
                          <a:spcPts val="0"/>
                        </a:spcAft>
                        <a:buNone/>
                      </a:pPr>
                      <a:r>
                        <a:rPr b="1" lang="en-GB" sz="1100"/>
                        <a:t>Benchmark</a:t>
                      </a:r>
                      <a:endParaRPr b="1" sz="1100"/>
                    </a:p>
                  </a:txBody>
                  <a:tcPr marT="91425" marB="91425" marR="91425" marL="91425">
                    <a:lnL cap="flat" cmpd="sng" w="9525">
                      <a:solidFill>
                        <a:srgbClr val="9E9E9E">
                          <a:alpha val="0"/>
                        </a:srgbClr>
                      </a:solidFill>
                      <a:prstDash val="solid"/>
                      <a:round/>
                      <a:headEnd len="sm" w="sm" type="none"/>
                      <a:tailEnd len="sm" w="sm" type="none"/>
                    </a:lnL>
                    <a:lnR cap="flat" cmpd="sng" w="9525">
                      <a:solidFill>
                        <a:schemeClr val="lt1">
                          <a:alpha val="0"/>
                        </a:scheme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C9DAF8"/>
                    </a:solidFill>
                  </a:tcPr>
                </a:tc>
                <a:tc>
                  <a:txBody>
                    <a:bodyPr/>
                    <a:lstStyle/>
                    <a:p>
                      <a:pPr indent="0" lvl="0" marL="0" rtl="0" algn="l">
                        <a:spcBef>
                          <a:spcPts val="0"/>
                        </a:spcBef>
                        <a:spcAft>
                          <a:spcPts val="0"/>
                        </a:spcAft>
                        <a:buNone/>
                      </a:pPr>
                      <a:r>
                        <a:rPr b="1" lang="en-GB" sz="1100"/>
                        <a:t>Constraint type</a:t>
                      </a:r>
                      <a:endParaRPr b="1" sz="1100"/>
                    </a:p>
                  </a:txBody>
                  <a:tcPr marT="91425" marB="91425" marR="91425" marL="91425">
                    <a:lnL cap="flat" cmpd="sng" w="9525">
                      <a:solidFill>
                        <a:schemeClr val="lt1">
                          <a:alpha val="0"/>
                        </a:schemeClr>
                      </a:solidFill>
                      <a:prstDash val="solid"/>
                      <a:round/>
                      <a:headEnd len="sm" w="sm" type="none"/>
                      <a:tailEnd len="sm" w="sm" type="none"/>
                    </a:lnL>
                    <a:lnR cap="flat" cmpd="sng" w="9525">
                      <a:solidFill>
                        <a:schemeClr val="lt1">
                          <a:alpha val="0"/>
                        </a:schemeClr>
                      </a:solidFill>
                      <a:prstDash val="solid"/>
                      <a:round/>
                      <a:headEnd len="sm" w="sm" type="none"/>
                      <a:tailEnd len="sm" w="sm" type="none"/>
                    </a:lnR>
                    <a:lnT cap="flat" cmpd="sng" w="9525">
                      <a:solidFill>
                        <a:schemeClr val="lt1">
                          <a:alpha val="0"/>
                        </a:schemeClr>
                      </a:solidFill>
                      <a:prstDash val="solid"/>
                      <a:round/>
                      <a:headEnd len="sm" w="sm" type="none"/>
                      <a:tailEnd len="sm" w="sm" type="none"/>
                    </a:lnT>
                    <a:lnB cap="flat" cmpd="sng" w="9525">
                      <a:solidFill>
                        <a:schemeClr val="lt1">
                          <a:alpha val="0"/>
                        </a:schemeClr>
                      </a:solidFill>
                      <a:prstDash val="solid"/>
                      <a:round/>
                      <a:headEnd len="sm" w="sm" type="none"/>
                      <a:tailEnd len="sm" w="sm" type="none"/>
                    </a:lnB>
                    <a:solidFill>
                      <a:srgbClr val="C9DAF8"/>
                    </a:solidFill>
                  </a:tcPr>
                </a:tc>
                <a:tc>
                  <a:txBody>
                    <a:bodyPr/>
                    <a:lstStyle/>
                    <a:p>
                      <a:pPr indent="0" lvl="0" marL="0" rtl="0" algn="l">
                        <a:spcBef>
                          <a:spcPts val="0"/>
                        </a:spcBef>
                        <a:spcAft>
                          <a:spcPts val="0"/>
                        </a:spcAft>
                        <a:buNone/>
                      </a:pPr>
                      <a:r>
                        <a:rPr b="1" lang="en-GB" sz="1100"/>
                        <a:t>Explicitness</a:t>
                      </a:r>
                      <a:endParaRPr b="1" sz="1100"/>
                    </a:p>
                  </a:txBody>
                  <a:tcPr marT="91425" marB="91425" marR="91425" marL="91425">
                    <a:lnL cap="flat" cmpd="sng" w="9525">
                      <a:solidFill>
                        <a:schemeClr val="lt1">
                          <a:alpha val="0"/>
                        </a:schemeClr>
                      </a:solidFill>
                      <a:prstDash val="solid"/>
                      <a:round/>
                      <a:headEnd len="sm" w="sm" type="none"/>
                      <a:tailEnd len="sm" w="sm" type="none"/>
                    </a:lnL>
                    <a:lnR cap="flat" cmpd="sng" w="9525">
                      <a:solidFill>
                        <a:schemeClr val="lt1">
                          <a:alpha val="0"/>
                        </a:schemeClr>
                      </a:solidFill>
                      <a:prstDash val="solid"/>
                      <a:round/>
                      <a:headEnd len="sm" w="sm" type="none"/>
                      <a:tailEnd len="sm" w="sm" type="none"/>
                    </a:lnR>
                    <a:lnT cap="flat" cmpd="sng" w="9525">
                      <a:solidFill>
                        <a:schemeClr val="lt1">
                          <a:alpha val="0"/>
                        </a:schemeClr>
                      </a:solidFill>
                      <a:prstDash val="solid"/>
                      <a:round/>
                      <a:headEnd len="sm" w="sm" type="none"/>
                      <a:tailEnd len="sm" w="sm" type="none"/>
                    </a:lnT>
                    <a:lnB cap="flat" cmpd="sng" w="9525">
                      <a:solidFill>
                        <a:schemeClr val="lt1">
                          <a:alpha val="0"/>
                        </a:schemeClr>
                      </a:solidFill>
                      <a:prstDash val="solid"/>
                      <a:round/>
                      <a:headEnd len="sm" w="sm" type="none"/>
                      <a:tailEnd len="sm" w="sm" type="none"/>
                    </a:lnB>
                    <a:solidFill>
                      <a:srgbClr val="C9DAF8"/>
                    </a:solidFill>
                  </a:tcPr>
                </a:tc>
                <a:tc>
                  <a:txBody>
                    <a:bodyPr/>
                    <a:lstStyle/>
                    <a:p>
                      <a:pPr indent="0" lvl="0" marL="0" rtl="0" algn="l">
                        <a:spcBef>
                          <a:spcPts val="0"/>
                        </a:spcBef>
                        <a:spcAft>
                          <a:spcPts val="0"/>
                        </a:spcAft>
                        <a:buNone/>
                      </a:pPr>
                      <a:r>
                        <a:rPr b="1" lang="en-GB" sz="1100"/>
                        <a:t>Corpus</a:t>
                      </a:r>
                      <a:endParaRPr b="1" sz="1100"/>
                    </a:p>
                  </a:txBody>
                  <a:tcPr marT="91425" marB="91425" marR="91425" marL="91425">
                    <a:lnL cap="flat" cmpd="sng" w="9525">
                      <a:solidFill>
                        <a:schemeClr val="lt1">
                          <a:alpha val="0"/>
                        </a:schemeClr>
                      </a:solidFill>
                      <a:prstDash val="solid"/>
                      <a:round/>
                      <a:headEnd len="sm" w="sm" type="none"/>
                      <a:tailEnd len="sm" w="sm" type="none"/>
                    </a:lnL>
                    <a:lnR cap="flat" cmpd="sng" w="9525">
                      <a:solidFill>
                        <a:schemeClr val="lt1">
                          <a:alpha val="0"/>
                        </a:schemeClr>
                      </a:solidFill>
                      <a:prstDash val="solid"/>
                      <a:round/>
                      <a:headEnd len="sm" w="sm" type="none"/>
                      <a:tailEnd len="sm" w="sm" type="none"/>
                    </a:lnR>
                    <a:lnT cap="flat" cmpd="sng" w="9525">
                      <a:solidFill>
                        <a:schemeClr val="lt1">
                          <a:alpha val="0"/>
                        </a:schemeClr>
                      </a:solidFill>
                      <a:prstDash val="solid"/>
                      <a:round/>
                      <a:headEnd len="sm" w="sm" type="none"/>
                      <a:tailEnd len="sm" w="sm" type="none"/>
                    </a:lnT>
                    <a:lnB cap="flat" cmpd="sng" w="9525">
                      <a:solidFill>
                        <a:schemeClr val="lt1">
                          <a:alpha val="0"/>
                        </a:schemeClr>
                      </a:solidFill>
                      <a:prstDash val="solid"/>
                      <a:round/>
                      <a:headEnd len="sm" w="sm" type="none"/>
                      <a:tailEnd len="sm" w="sm" type="none"/>
                    </a:lnB>
                    <a:solidFill>
                      <a:srgbClr val="C9DAF8"/>
                    </a:solidFill>
                  </a:tcPr>
                </a:tc>
                <a:tc>
                  <a:txBody>
                    <a:bodyPr/>
                    <a:lstStyle/>
                    <a:p>
                      <a:pPr indent="0" lvl="0" marL="0" rtl="0" algn="l">
                        <a:spcBef>
                          <a:spcPts val="0"/>
                        </a:spcBef>
                        <a:spcAft>
                          <a:spcPts val="0"/>
                        </a:spcAft>
                        <a:buNone/>
                      </a:pPr>
                      <a:r>
                        <a:rPr b="1" lang="en-GB" sz="1100"/>
                        <a:t>Evaluation unit</a:t>
                      </a:r>
                      <a:endParaRPr b="1" sz="1100"/>
                    </a:p>
                  </a:txBody>
                  <a:tcPr marT="91425" marB="91425" marR="91425" marL="91425">
                    <a:lnL cap="flat" cmpd="sng" w="9525">
                      <a:solidFill>
                        <a:schemeClr val="lt1">
                          <a:alpha val="0"/>
                        </a:schemeClr>
                      </a:solidFill>
                      <a:prstDash val="solid"/>
                      <a:round/>
                      <a:headEnd len="sm" w="sm" type="none"/>
                      <a:tailEnd len="sm" w="sm" type="none"/>
                    </a:lnL>
                    <a:lnR cap="flat" cmpd="sng" w="9525">
                      <a:solidFill>
                        <a:schemeClr val="lt1">
                          <a:alpha val="0"/>
                        </a:scheme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C9DAF8"/>
                    </a:solidFill>
                  </a:tcPr>
                </a:tc>
                <a:tc>
                  <a:txBody>
                    <a:bodyPr/>
                    <a:lstStyle/>
                    <a:p>
                      <a:pPr indent="0" lvl="0" marL="0" rtl="0" algn="l">
                        <a:spcBef>
                          <a:spcPts val="0"/>
                        </a:spcBef>
                        <a:spcAft>
                          <a:spcPts val="0"/>
                        </a:spcAft>
                        <a:buNone/>
                      </a:pPr>
                      <a:r>
                        <a:rPr b="1" lang="en-GB" sz="1100"/>
                        <a:t>Reference</a:t>
                      </a:r>
                      <a:endParaRPr b="1" sz="1100"/>
                    </a:p>
                  </a:txBody>
                  <a:tcPr marT="91425" marB="91425" marR="91425" marL="91425">
                    <a:lnL cap="flat" cmpd="sng" w="9525">
                      <a:solidFill>
                        <a:schemeClr val="lt1">
                          <a:alpha val="0"/>
                        </a:scheme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C9DAF8"/>
                    </a:solidFill>
                  </a:tcPr>
                </a:tc>
              </a:tr>
              <a:tr h="328800">
                <a:tc>
                  <a:txBody>
                    <a:bodyPr/>
                    <a:lstStyle/>
                    <a:p>
                      <a:pPr indent="0" lvl="0" marL="0" rtl="0" algn="l">
                        <a:spcBef>
                          <a:spcPts val="0"/>
                        </a:spcBef>
                        <a:spcAft>
                          <a:spcPts val="0"/>
                        </a:spcAft>
                        <a:buNone/>
                      </a:pPr>
                      <a:r>
                        <a:rPr lang="en-GB" sz="900"/>
                        <a:t>NevIR</a:t>
                      </a:r>
                      <a:endParaRPr sz="9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D9EAD3"/>
                    </a:solidFill>
                  </a:tcPr>
                </a:tc>
                <a:tc>
                  <a:txBody>
                    <a:bodyPr/>
                    <a:lstStyle/>
                    <a:p>
                      <a:pPr indent="0" lvl="0" marL="0" rtl="0" algn="l">
                        <a:spcBef>
                          <a:spcPts val="0"/>
                        </a:spcBef>
                        <a:spcAft>
                          <a:spcPts val="0"/>
                        </a:spcAft>
                        <a:buNone/>
                      </a:pPr>
                      <a:r>
                        <a:rPr lang="en-GB" sz="900"/>
                        <a:t>Negation</a:t>
                      </a:r>
                      <a:endParaRPr sz="9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chemeClr val="lt1">
                          <a:alpha val="0"/>
                        </a:scheme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D9EAD3"/>
                    </a:solidFill>
                  </a:tcPr>
                </a:tc>
                <a:tc>
                  <a:txBody>
                    <a:bodyPr/>
                    <a:lstStyle/>
                    <a:p>
                      <a:pPr indent="0" lvl="0" marL="0" rtl="0" algn="l">
                        <a:spcBef>
                          <a:spcPts val="0"/>
                        </a:spcBef>
                        <a:spcAft>
                          <a:spcPts val="0"/>
                        </a:spcAft>
                        <a:buNone/>
                      </a:pPr>
                      <a:r>
                        <a:rPr lang="en-GB" sz="900"/>
                        <a:t>Implicit in documents</a:t>
                      </a:r>
                      <a:endParaRPr sz="9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chemeClr val="lt1">
                          <a:alpha val="0"/>
                        </a:scheme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D9EAD3"/>
                    </a:solidFill>
                  </a:tcPr>
                </a:tc>
                <a:tc>
                  <a:txBody>
                    <a:bodyPr/>
                    <a:lstStyle/>
                    <a:p>
                      <a:pPr indent="0" lvl="0" marL="0" rtl="0" algn="l">
                        <a:spcBef>
                          <a:spcPts val="0"/>
                        </a:spcBef>
                        <a:spcAft>
                          <a:spcPts val="0"/>
                        </a:spcAft>
                        <a:buNone/>
                      </a:pPr>
                      <a:r>
                        <a:rPr lang="en-GB" sz="900"/>
                        <a:t>Derived from CondaQA</a:t>
                      </a:r>
                      <a:endParaRPr sz="9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chemeClr val="lt1">
                          <a:alpha val="0"/>
                        </a:scheme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D9EAD3"/>
                    </a:solidFill>
                  </a:tcPr>
                </a:tc>
                <a:tc>
                  <a:txBody>
                    <a:bodyPr/>
                    <a:lstStyle/>
                    <a:p>
                      <a:pPr indent="0" lvl="0" marL="0" rtl="0" algn="l">
                        <a:spcBef>
                          <a:spcPts val="0"/>
                        </a:spcBef>
                        <a:spcAft>
                          <a:spcPts val="0"/>
                        </a:spcAft>
                        <a:buNone/>
                      </a:pPr>
                      <a:r>
                        <a:rPr lang="en-GB" sz="900"/>
                        <a:t>Pairwise ranking flip</a:t>
                      </a:r>
                      <a:endParaRPr sz="9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D9EAD3"/>
                    </a:solidFill>
                  </a:tcPr>
                </a:tc>
                <a:tc>
                  <a:txBody>
                    <a:bodyPr/>
                    <a:lstStyle/>
                    <a:p>
                      <a:pPr indent="0" lvl="0" marL="0" rtl="0" algn="l">
                        <a:spcBef>
                          <a:spcPts val="0"/>
                        </a:spcBef>
                        <a:spcAft>
                          <a:spcPts val="0"/>
                        </a:spcAft>
                        <a:buNone/>
                      </a:pPr>
                      <a:r>
                        <a:rPr lang="en-GB" sz="900"/>
                        <a:t>Weller et al., 2024</a:t>
                      </a:r>
                      <a:endParaRPr sz="9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D9EAD3"/>
                    </a:solidFill>
                  </a:tcPr>
                </a:tc>
              </a:tr>
              <a:tr h="328700">
                <a:tc>
                  <a:txBody>
                    <a:bodyPr/>
                    <a:lstStyle/>
                    <a:p>
                      <a:pPr indent="0" lvl="0" marL="0" rtl="0" algn="l">
                        <a:spcBef>
                          <a:spcPts val="0"/>
                        </a:spcBef>
                        <a:spcAft>
                          <a:spcPts val="0"/>
                        </a:spcAft>
                        <a:buNone/>
                      </a:pPr>
                      <a:r>
                        <a:rPr lang="en-GB" sz="900"/>
                        <a:t>ExcluIR</a:t>
                      </a:r>
                      <a:endParaRPr sz="9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D9EAD3"/>
                    </a:solidFill>
                  </a:tcPr>
                </a:tc>
                <a:tc>
                  <a:txBody>
                    <a:bodyPr/>
                    <a:lstStyle/>
                    <a:p>
                      <a:pPr indent="0" lvl="0" marL="0" rtl="0" algn="l">
                        <a:spcBef>
                          <a:spcPts val="0"/>
                        </a:spcBef>
                        <a:spcAft>
                          <a:spcPts val="0"/>
                        </a:spcAft>
                        <a:buNone/>
                      </a:pPr>
                      <a:r>
                        <a:rPr lang="en-GB" sz="900"/>
                        <a:t>Exclusion (“not X”)</a:t>
                      </a:r>
                      <a:endParaRPr sz="9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D9EAD3"/>
                    </a:solidFill>
                  </a:tcPr>
                </a:tc>
                <a:tc>
                  <a:txBody>
                    <a:bodyPr/>
                    <a:lstStyle/>
                    <a:p>
                      <a:pPr indent="0" lvl="0" marL="0" rtl="0" algn="l">
                        <a:spcBef>
                          <a:spcPts val="0"/>
                        </a:spcBef>
                        <a:spcAft>
                          <a:spcPts val="0"/>
                        </a:spcAft>
                        <a:buNone/>
                      </a:pPr>
                      <a:r>
                        <a:rPr lang="en-GB" sz="900"/>
                        <a:t>Explicit in query</a:t>
                      </a:r>
                      <a:endParaRPr sz="9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D9EAD3"/>
                    </a:solidFill>
                  </a:tcPr>
                </a:tc>
                <a:tc>
                  <a:txBody>
                    <a:bodyPr/>
                    <a:lstStyle/>
                    <a:p>
                      <a:pPr indent="0" lvl="0" marL="0" rtl="0" algn="l">
                        <a:spcBef>
                          <a:spcPts val="0"/>
                        </a:spcBef>
                        <a:spcAft>
                          <a:spcPts val="0"/>
                        </a:spcAft>
                        <a:buNone/>
                      </a:pPr>
                      <a:r>
                        <a:rPr lang="en-GB" sz="900"/>
                        <a:t>MS MARCO-Style</a:t>
                      </a:r>
                      <a:endParaRPr sz="9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D9EAD3"/>
                    </a:solidFill>
                  </a:tcPr>
                </a:tc>
                <a:tc>
                  <a:txBody>
                    <a:bodyPr/>
                    <a:lstStyle/>
                    <a:p>
                      <a:pPr indent="0" lvl="0" marL="0" rtl="0" algn="l">
                        <a:spcBef>
                          <a:spcPts val="0"/>
                        </a:spcBef>
                        <a:spcAft>
                          <a:spcPts val="0"/>
                        </a:spcAft>
                        <a:buNone/>
                      </a:pPr>
                      <a:r>
                        <a:rPr lang="en-GB" sz="900"/>
                        <a:t>nDCG@10</a:t>
                      </a:r>
                      <a:endParaRPr sz="9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D9EAD3"/>
                    </a:solidFill>
                  </a:tcPr>
                </a:tc>
                <a:tc>
                  <a:txBody>
                    <a:bodyPr/>
                    <a:lstStyle/>
                    <a:p>
                      <a:pPr indent="0" lvl="0" marL="0" rtl="0" algn="l">
                        <a:spcBef>
                          <a:spcPts val="0"/>
                        </a:spcBef>
                        <a:spcAft>
                          <a:spcPts val="0"/>
                        </a:spcAft>
                        <a:buNone/>
                      </a:pPr>
                      <a:r>
                        <a:rPr lang="en-GB" sz="900"/>
                        <a:t>Zhang et al., 2024</a:t>
                      </a:r>
                      <a:endParaRPr sz="9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D9EAD3"/>
                    </a:solidFill>
                  </a:tcPr>
                </a:tc>
              </a:tr>
              <a:tr h="328700">
                <a:tc>
                  <a:txBody>
                    <a:bodyPr/>
                    <a:lstStyle/>
                    <a:p>
                      <a:pPr indent="0" lvl="0" marL="0" rtl="0" algn="l">
                        <a:spcBef>
                          <a:spcPts val="0"/>
                        </a:spcBef>
                        <a:spcAft>
                          <a:spcPts val="0"/>
                        </a:spcAft>
                        <a:buNone/>
                      </a:pPr>
                      <a:r>
                        <a:rPr lang="en-GB" sz="900"/>
                        <a:t>QUEST</a:t>
                      </a:r>
                      <a:endParaRPr sz="9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D9EAD3"/>
                    </a:solidFill>
                  </a:tcPr>
                </a:tc>
                <a:tc>
                  <a:txBody>
                    <a:bodyPr/>
                    <a:lstStyle/>
                    <a:p>
                      <a:pPr indent="0" lvl="0" marL="0" rtl="0" algn="l">
                        <a:spcBef>
                          <a:spcPts val="0"/>
                        </a:spcBef>
                        <a:spcAft>
                          <a:spcPts val="0"/>
                        </a:spcAft>
                        <a:buNone/>
                      </a:pPr>
                      <a:r>
                        <a:rPr lang="en-GB" sz="900"/>
                        <a:t>Set operations</a:t>
                      </a:r>
                      <a:endParaRPr sz="9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D9EAD3"/>
                    </a:solidFill>
                  </a:tcPr>
                </a:tc>
                <a:tc>
                  <a:txBody>
                    <a:bodyPr/>
                    <a:lstStyle/>
                    <a:p>
                      <a:pPr indent="0" lvl="0" marL="0" rtl="0" algn="l">
                        <a:spcBef>
                          <a:spcPts val="0"/>
                        </a:spcBef>
                        <a:spcAft>
                          <a:spcPts val="0"/>
                        </a:spcAft>
                        <a:buNone/>
                      </a:pPr>
                      <a:r>
                        <a:rPr lang="en-GB" sz="900"/>
                        <a:t>Implicit in query</a:t>
                      </a:r>
                      <a:endParaRPr sz="9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D9EAD3"/>
                    </a:solidFill>
                  </a:tcPr>
                </a:tc>
                <a:tc>
                  <a:txBody>
                    <a:bodyPr/>
                    <a:lstStyle/>
                    <a:p>
                      <a:pPr indent="0" lvl="0" marL="0" rtl="0" algn="l">
                        <a:spcBef>
                          <a:spcPts val="0"/>
                        </a:spcBef>
                        <a:spcAft>
                          <a:spcPts val="0"/>
                        </a:spcAft>
                        <a:buNone/>
                      </a:pPr>
                      <a:r>
                        <a:rPr lang="en-GB" sz="900"/>
                        <a:t>Wikipedia entities</a:t>
                      </a:r>
                      <a:endParaRPr sz="9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D9EAD3"/>
                    </a:solidFill>
                  </a:tcPr>
                </a:tc>
                <a:tc>
                  <a:txBody>
                    <a:bodyPr/>
                    <a:lstStyle/>
                    <a:p>
                      <a:pPr indent="0" lvl="0" marL="0" rtl="0" algn="l">
                        <a:spcBef>
                          <a:spcPts val="0"/>
                        </a:spcBef>
                        <a:spcAft>
                          <a:spcPts val="0"/>
                        </a:spcAft>
                        <a:buNone/>
                      </a:pPr>
                      <a:r>
                        <a:rPr lang="en-GB" sz="900"/>
                        <a:t>Recall@k, F1</a:t>
                      </a:r>
                      <a:endParaRPr sz="9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D9EAD3"/>
                    </a:solidFill>
                  </a:tcPr>
                </a:tc>
                <a:tc>
                  <a:txBody>
                    <a:bodyPr/>
                    <a:lstStyle/>
                    <a:p>
                      <a:pPr indent="0" lvl="0" marL="0" rtl="0" algn="l">
                        <a:spcBef>
                          <a:spcPts val="0"/>
                        </a:spcBef>
                        <a:spcAft>
                          <a:spcPts val="0"/>
                        </a:spcAft>
                        <a:buNone/>
                      </a:pPr>
                      <a:r>
                        <a:rPr lang="en-GB" sz="900"/>
                        <a:t>Malaviya et al., 2023</a:t>
                      </a:r>
                      <a:endParaRPr sz="9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D9EAD3"/>
                    </a:solidFill>
                  </a:tcPr>
                </a:tc>
              </a:tr>
              <a:tr h="328700">
                <a:tc>
                  <a:txBody>
                    <a:bodyPr/>
                    <a:lstStyle/>
                    <a:p>
                      <a:pPr indent="0" lvl="0" marL="0" rtl="0" algn="l">
                        <a:spcBef>
                          <a:spcPts val="0"/>
                        </a:spcBef>
                        <a:spcAft>
                          <a:spcPts val="0"/>
                        </a:spcAft>
                        <a:buNone/>
                      </a:pPr>
                      <a:r>
                        <a:rPr lang="en-GB" sz="900"/>
                        <a:t>CondaQA</a:t>
                      </a:r>
                      <a:endParaRPr sz="9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rPr lang="en-GB" sz="900"/>
                        <a:t>Negation implications</a:t>
                      </a:r>
                      <a:endParaRPr sz="9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rPr lang="en-GB" sz="900"/>
                        <a:t>Passage-level</a:t>
                      </a:r>
                      <a:endParaRPr sz="9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rPr lang="en-GB" sz="900"/>
                        <a:t>Wikipedia</a:t>
                      </a:r>
                      <a:endParaRPr sz="9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FFF2CC"/>
                    </a:solidFill>
                  </a:tcPr>
                </a:tc>
                <a:tc>
                  <a:txBody>
                    <a:bodyPr/>
                    <a:lstStyle/>
                    <a:p>
                      <a:pPr indent="0" lvl="0" marL="0" rtl="0" algn="l">
                        <a:spcBef>
                          <a:spcPts val="0"/>
                        </a:spcBef>
                        <a:spcAft>
                          <a:spcPts val="0"/>
                        </a:spcAft>
                        <a:buClr>
                          <a:schemeClr val="dk1"/>
                        </a:buClr>
                        <a:buSzPts val="1100"/>
                        <a:buFont typeface="Arial"/>
                        <a:buNone/>
                      </a:pPr>
                      <a:r>
                        <a:rPr lang="en-GB" sz="900">
                          <a:solidFill>
                            <a:schemeClr val="dk1"/>
                          </a:solidFill>
                        </a:rPr>
                        <a:t>Reading comprehension</a:t>
                      </a:r>
                      <a:endParaRPr sz="9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rPr lang="en-GB" sz="900">
                          <a:solidFill>
                            <a:schemeClr val="dk1"/>
                          </a:solidFill>
                        </a:rPr>
                        <a:t>Ravichandat et., 2022</a:t>
                      </a:r>
                      <a:endParaRPr sz="900">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FFF2CC"/>
                    </a:solidFill>
                  </a:tcPr>
                </a:tc>
              </a:tr>
              <a:tr h="328700">
                <a:tc>
                  <a:txBody>
                    <a:bodyPr/>
                    <a:lstStyle/>
                    <a:p>
                      <a:pPr indent="0" lvl="0" marL="0" rtl="0" algn="l">
                        <a:spcBef>
                          <a:spcPts val="0"/>
                        </a:spcBef>
                        <a:spcAft>
                          <a:spcPts val="0"/>
                        </a:spcAft>
                        <a:buNone/>
                      </a:pPr>
                      <a:r>
                        <a:rPr lang="en-GB" sz="900"/>
                        <a:t>NegBench</a:t>
                      </a:r>
                      <a:endParaRPr sz="9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rPr lang="en-GB" sz="900"/>
                        <a:t>Negation understanding</a:t>
                      </a:r>
                      <a:endParaRPr sz="9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rPr lang="en-GB" sz="900"/>
                        <a:t>Explicit</a:t>
                      </a:r>
                      <a:endParaRPr sz="9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rPr lang="en-GB" sz="900"/>
                        <a:t>Multi-modal</a:t>
                      </a:r>
                      <a:endParaRPr sz="9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rPr lang="en-GB" sz="900">
                          <a:solidFill>
                            <a:schemeClr val="dk1"/>
                          </a:solidFill>
                        </a:rPr>
                        <a:t>Accuracy, recall</a:t>
                      </a:r>
                      <a:endParaRPr sz="900">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rPr lang="en-GB" sz="900">
                          <a:solidFill>
                            <a:schemeClr val="dk1"/>
                          </a:solidFill>
                        </a:rPr>
                        <a:t>Alhamoud et al., 2025</a:t>
                      </a:r>
                      <a:endParaRPr sz="900">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FFF2CC"/>
                    </a:solidFill>
                  </a:tcPr>
                </a:tc>
              </a:tr>
              <a:tr h="328700">
                <a:tc>
                  <a:txBody>
                    <a:bodyPr/>
                    <a:lstStyle/>
                    <a:p>
                      <a:pPr indent="0" lvl="0" marL="0" rtl="0" algn="l">
                        <a:spcBef>
                          <a:spcPts val="0"/>
                        </a:spcBef>
                        <a:spcAft>
                          <a:spcPts val="0"/>
                        </a:spcAft>
                        <a:buNone/>
                      </a:pPr>
                      <a:r>
                        <a:rPr lang="en-GB" sz="900"/>
                        <a:t>FollowIR</a:t>
                      </a:r>
                      <a:endParaRPr sz="9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F4CCCC"/>
                    </a:solidFill>
                  </a:tcPr>
                </a:tc>
                <a:tc>
                  <a:txBody>
                    <a:bodyPr/>
                    <a:lstStyle/>
                    <a:p>
                      <a:pPr indent="0" lvl="0" marL="0" rtl="0" algn="l">
                        <a:spcBef>
                          <a:spcPts val="0"/>
                        </a:spcBef>
                        <a:spcAft>
                          <a:spcPts val="0"/>
                        </a:spcAft>
                        <a:buNone/>
                      </a:pPr>
                      <a:r>
                        <a:rPr lang="en-GB" sz="900"/>
                        <a:t>Arbitrary instructions</a:t>
                      </a:r>
                      <a:endParaRPr sz="9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F4CCCC"/>
                    </a:solidFill>
                  </a:tcPr>
                </a:tc>
                <a:tc>
                  <a:txBody>
                    <a:bodyPr/>
                    <a:lstStyle/>
                    <a:p>
                      <a:pPr indent="0" lvl="0" marL="0" rtl="0" algn="l">
                        <a:spcBef>
                          <a:spcPts val="0"/>
                        </a:spcBef>
                        <a:spcAft>
                          <a:spcPts val="0"/>
                        </a:spcAft>
                        <a:buNone/>
                      </a:pPr>
                      <a:r>
                        <a:rPr lang="en-GB" sz="900"/>
                        <a:t>Explicit narrative</a:t>
                      </a:r>
                      <a:endParaRPr sz="9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F4CCCC"/>
                    </a:solidFill>
                  </a:tcPr>
                </a:tc>
                <a:tc>
                  <a:txBody>
                    <a:bodyPr/>
                    <a:lstStyle/>
                    <a:p>
                      <a:pPr indent="0" lvl="0" marL="0" rtl="0" algn="l">
                        <a:spcBef>
                          <a:spcPts val="0"/>
                        </a:spcBef>
                        <a:spcAft>
                          <a:spcPts val="0"/>
                        </a:spcAft>
                        <a:buNone/>
                      </a:pPr>
                      <a:r>
                        <a:rPr lang="en-GB" sz="900"/>
                        <a:t>TREC collections</a:t>
                      </a:r>
                      <a:endParaRPr sz="9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F4CCCC"/>
                    </a:solidFill>
                  </a:tcPr>
                </a:tc>
                <a:tc>
                  <a:txBody>
                    <a:bodyPr/>
                    <a:lstStyle/>
                    <a:p>
                      <a:pPr indent="0" lvl="0" marL="0" rtl="0" algn="l">
                        <a:spcBef>
                          <a:spcPts val="0"/>
                        </a:spcBef>
                        <a:spcAft>
                          <a:spcPts val="0"/>
                        </a:spcAft>
                        <a:buClr>
                          <a:schemeClr val="dk1"/>
                        </a:buClr>
                        <a:buSzPts val="1100"/>
                        <a:buFont typeface="Arial"/>
                        <a:buNone/>
                      </a:pPr>
                      <a:r>
                        <a:rPr lang="en-GB" sz="900">
                          <a:solidFill>
                            <a:schemeClr val="dk1"/>
                          </a:solidFill>
                        </a:rPr>
                        <a:t>Pairwise instruction-sensitivity</a:t>
                      </a:r>
                      <a:endParaRPr sz="9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F4CCCC"/>
                    </a:solidFill>
                  </a:tcPr>
                </a:tc>
                <a:tc>
                  <a:txBody>
                    <a:bodyPr/>
                    <a:lstStyle/>
                    <a:p>
                      <a:pPr indent="0" lvl="0" marL="0" rtl="0" algn="l">
                        <a:spcBef>
                          <a:spcPts val="0"/>
                        </a:spcBef>
                        <a:spcAft>
                          <a:spcPts val="0"/>
                        </a:spcAft>
                        <a:buNone/>
                      </a:pPr>
                      <a:r>
                        <a:rPr lang="en-GB" sz="900">
                          <a:solidFill>
                            <a:schemeClr val="dk1"/>
                          </a:solidFill>
                        </a:rPr>
                        <a:t>Weller et al., 2025</a:t>
                      </a:r>
                      <a:endParaRPr sz="900">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F4CCCC"/>
                    </a:solidFill>
                  </a:tcPr>
                </a:tc>
              </a:tr>
              <a:tr h="328700">
                <a:tc>
                  <a:txBody>
                    <a:bodyPr/>
                    <a:lstStyle/>
                    <a:p>
                      <a:pPr indent="0" lvl="0" marL="0" rtl="0" algn="l">
                        <a:spcBef>
                          <a:spcPts val="0"/>
                        </a:spcBef>
                        <a:spcAft>
                          <a:spcPts val="0"/>
                        </a:spcAft>
                        <a:buNone/>
                      </a:pPr>
                      <a:r>
                        <a:rPr lang="en-GB" sz="900"/>
                        <a:t>BIRCO</a:t>
                      </a:r>
                      <a:endParaRPr sz="9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FCE5CD"/>
                    </a:solidFill>
                  </a:tcPr>
                </a:tc>
                <a:tc>
                  <a:txBody>
                    <a:bodyPr/>
                    <a:lstStyle/>
                    <a:p>
                      <a:pPr indent="0" lvl="0" marL="0" rtl="0" algn="l">
                        <a:spcBef>
                          <a:spcPts val="0"/>
                        </a:spcBef>
                        <a:spcAft>
                          <a:spcPts val="0"/>
                        </a:spcAft>
                        <a:buNone/>
                      </a:pPr>
                      <a:r>
                        <a:rPr lang="en-GB" sz="900"/>
                        <a:t>Multi-faceted objectives</a:t>
                      </a:r>
                      <a:endParaRPr sz="9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FCE5CD"/>
                    </a:solidFill>
                  </a:tcPr>
                </a:tc>
                <a:tc>
                  <a:txBody>
                    <a:bodyPr/>
                    <a:lstStyle/>
                    <a:p>
                      <a:pPr indent="0" lvl="0" marL="0" rtl="0" algn="l">
                        <a:spcBef>
                          <a:spcPts val="0"/>
                        </a:spcBef>
                        <a:spcAft>
                          <a:spcPts val="0"/>
                        </a:spcAft>
                        <a:buNone/>
                      </a:pPr>
                      <a:r>
                        <a:rPr lang="en-GB" sz="900"/>
                        <a:t>Explicit</a:t>
                      </a:r>
                      <a:endParaRPr sz="9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FCE5CD"/>
                    </a:solidFill>
                  </a:tcPr>
                </a:tc>
                <a:tc>
                  <a:txBody>
                    <a:bodyPr/>
                    <a:lstStyle/>
                    <a:p>
                      <a:pPr indent="0" lvl="0" marL="0" rtl="0" algn="l">
                        <a:spcBef>
                          <a:spcPts val="0"/>
                        </a:spcBef>
                        <a:spcAft>
                          <a:spcPts val="0"/>
                        </a:spcAft>
                        <a:buNone/>
                      </a:pPr>
                      <a:r>
                        <a:rPr lang="en-GB" sz="900"/>
                        <a:t>Mixed</a:t>
                      </a:r>
                      <a:endParaRPr sz="9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FCE5CD"/>
                    </a:solidFill>
                  </a:tcPr>
                </a:tc>
                <a:tc>
                  <a:txBody>
                    <a:bodyPr/>
                    <a:lstStyle/>
                    <a:p>
                      <a:pPr indent="0" lvl="0" marL="0" rtl="0" algn="l">
                        <a:spcBef>
                          <a:spcPts val="0"/>
                        </a:spcBef>
                        <a:spcAft>
                          <a:spcPts val="0"/>
                        </a:spcAft>
                        <a:buClr>
                          <a:schemeClr val="dk1"/>
                        </a:buClr>
                        <a:buSzPts val="1100"/>
                        <a:buFont typeface="Arial"/>
                        <a:buNone/>
                      </a:pPr>
                      <a:r>
                        <a:rPr lang="en-GB" sz="900">
                          <a:solidFill>
                            <a:schemeClr val="dk1"/>
                          </a:solidFill>
                        </a:rPr>
                        <a:t>nDCG</a:t>
                      </a:r>
                      <a:endParaRPr sz="9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FCE5CD"/>
                    </a:solidFill>
                  </a:tcPr>
                </a:tc>
                <a:tc>
                  <a:txBody>
                    <a:bodyPr/>
                    <a:lstStyle/>
                    <a:p>
                      <a:pPr indent="0" lvl="0" marL="0" rtl="0" algn="l">
                        <a:spcBef>
                          <a:spcPts val="0"/>
                        </a:spcBef>
                        <a:spcAft>
                          <a:spcPts val="0"/>
                        </a:spcAft>
                        <a:buNone/>
                      </a:pPr>
                      <a:r>
                        <a:rPr lang="en-GB" sz="900">
                          <a:solidFill>
                            <a:schemeClr val="dk1"/>
                          </a:solidFill>
                        </a:rPr>
                        <a:t>Wang et al., 2024</a:t>
                      </a:r>
                      <a:endParaRPr sz="900">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FCE5CD"/>
                    </a:solidFill>
                  </a:tcPr>
                </a:tc>
              </a:tr>
              <a:tr h="328700">
                <a:tc>
                  <a:txBody>
                    <a:bodyPr/>
                    <a:lstStyle/>
                    <a:p>
                      <a:pPr indent="0" lvl="0" marL="0" rtl="0" algn="l">
                        <a:spcBef>
                          <a:spcPts val="0"/>
                        </a:spcBef>
                        <a:spcAft>
                          <a:spcPts val="0"/>
                        </a:spcAft>
                        <a:buNone/>
                      </a:pPr>
                      <a:r>
                        <a:rPr lang="en-GB" sz="900"/>
                        <a:t>BRIGHT</a:t>
                      </a:r>
                      <a:endParaRPr sz="9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D9D2E9"/>
                    </a:solidFill>
                  </a:tcPr>
                </a:tc>
                <a:tc>
                  <a:txBody>
                    <a:bodyPr/>
                    <a:lstStyle/>
                    <a:p>
                      <a:pPr indent="0" lvl="0" marL="0" rtl="0" algn="l">
                        <a:spcBef>
                          <a:spcPts val="0"/>
                        </a:spcBef>
                        <a:spcAft>
                          <a:spcPts val="0"/>
                        </a:spcAft>
                        <a:buNone/>
                      </a:pPr>
                      <a:r>
                        <a:rPr lang="en-GB" sz="900"/>
                        <a:t>Inferential relevance</a:t>
                      </a:r>
                      <a:endParaRPr sz="9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D9D2E9"/>
                    </a:solidFill>
                  </a:tcPr>
                </a:tc>
                <a:tc>
                  <a:txBody>
                    <a:bodyPr/>
                    <a:lstStyle/>
                    <a:p>
                      <a:pPr indent="0" lvl="0" marL="0" rtl="0" algn="l">
                        <a:spcBef>
                          <a:spcPts val="0"/>
                        </a:spcBef>
                        <a:spcAft>
                          <a:spcPts val="0"/>
                        </a:spcAft>
                        <a:buNone/>
                      </a:pPr>
                      <a:r>
                        <a:rPr lang="en-GB" sz="900"/>
                        <a:t>Implicit</a:t>
                      </a:r>
                      <a:endParaRPr sz="9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D9D2E9"/>
                    </a:solidFill>
                  </a:tcPr>
                </a:tc>
                <a:tc>
                  <a:txBody>
                    <a:bodyPr/>
                    <a:lstStyle/>
                    <a:p>
                      <a:pPr indent="0" lvl="0" marL="0" rtl="0" algn="l">
                        <a:spcBef>
                          <a:spcPts val="0"/>
                        </a:spcBef>
                        <a:spcAft>
                          <a:spcPts val="0"/>
                        </a:spcAft>
                        <a:buNone/>
                      </a:pPr>
                      <a:r>
                        <a:rPr lang="en-GB" sz="900"/>
                        <a:t>Domain corpora</a:t>
                      </a:r>
                      <a:endParaRPr sz="9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D9D2E9"/>
                    </a:solidFill>
                  </a:tcPr>
                </a:tc>
                <a:tc>
                  <a:txBody>
                    <a:bodyPr/>
                    <a:lstStyle/>
                    <a:p>
                      <a:pPr indent="0" lvl="0" marL="0" rtl="0" algn="l">
                        <a:spcBef>
                          <a:spcPts val="0"/>
                        </a:spcBef>
                        <a:spcAft>
                          <a:spcPts val="0"/>
                        </a:spcAft>
                        <a:buClr>
                          <a:schemeClr val="dk1"/>
                        </a:buClr>
                        <a:buSzPts val="1100"/>
                        <a:buFont typeface="Arial"/>
                        <a:buNone/>
                      </a:pPr>
                      <a:r>
                        <a:rPr lang="en-GB" sz="900">
                          <a:solidFill>
                            <a:schemeClr val="dk1"/>
                          </a:solidFill>
                        </a:rPr>
                        <a:t>nDCG@10</a:t>
                      </a:r>
                      <a:endParaRPr sz="9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D9D2E9"/>
                    </a:solidFill>
                  </a:tcPr>
                </a:tc>
                <a:tc>
                  <a:txBody>
                    <a:bodyPr/>
                    <a:lstStyle/>
                    <a:p>
                      <a:pPr indent="0" lvl="0" marL="0" rtl="0" algn="l">
                        <a:spcBef>
                          <a:spcPts val="0"/>
                        </a:spcBef>
                        <a:spcAft>
                          <a:spcPts val="0"/>
                        </a:spcAft>
                        <a:buNone/>
                      </a:pPr>
                      <a:r>
                        <a:rPr lang="en-GB" sz="900">
                          <a:solidFill>
                            <a:schemeClr val="dk1"/>
                          </a:solidFill>
                        </a:rPr>
                        <a:t>Su et al., 2025</a:t>
                      </a:r>
                      <a:endParaRPr sz="900">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D9D2E9"/>
                    </a:solidFill>
                  </a:tcPr>
                </a:tc>
              </a:tr>
            </a:tbl>
          </a:graphicData>
        </a:graphic>
      </p:graphicFrame>
      <p:grpSp>
        <p:nvGrpSpPr>
          <p:cNvPr id="442" name="Google Shape;442;p62"/>
          <p:cNvGrpSpPr/>
          <p:nvPr/>
        </p:nvGrpSpPr>
        <p:grpSpPr>
          <a:xfrm>
            <a:off x="824350" y="4585770"/>
            <a:ext cx="1059675" cy="270300"/>
            <a:chOff x="640125" y="4530600"/>
            <a:chExt cx="1059675" cy="270300"/>
          </a:xfrm>
        </p:grpSpPr>
        <p:sp>
          <p:nvSpPr>
            <p:cNvPr id="443" name="Google Shape;443;p62"/>
            <p:cNvSpPr/>
            <p:nvPr/>
          </p:nvSpPr>
          <p:spPr>
            <a:xfrm>
              <a:off x="640125" y="4602300"/>
              <a:ext cx="209700" cy="126900"/>
            </a:xfrm>
            <a:prstGeom prst="rect">
              <a:avLst/>
            </a:prstGeom>
            <a:solidFill>
              <a:srgbClr val="D9EA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44" name="Google Shape;444;p62"/>
            <p:cNvSpPr txBox="1"/>
            <p:nvPr/>
          </p:nvSpPr>
          <p:spPr>
            <a:xfrm>
              <a:off x="811200" y="4530600"/>
              <a:ext cx="888600" cy="270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GB" sz="900">
                  <a:solidFill>
                    <a:schemeClr val="dk2"/>
                  </a:solidFill>
                </a:rPr>
                <a:t>Starting point</a:t>
              </a:r>
              <a:endParaRPr sz="900">
                <a:solidFill>
                  <a:schemeClr val="dk2"/>
                </a:solidFill>
              </a:endParaRPr>
            </a:p>
          </p:txBody>
        </p:sp>
      </p:grpSp>
      <p:grpSp>
        <p:nvGrpSpPr>
          <p:cNvPr id="445" name="Google Shape;445;p62"/>
          <p:cNvGrpSpPr/>
          <p:nvPr/>
        </p:nvGrpSpPr>
        <p:grpSpPr>
          <a:xfrm>
            <a:off x="1861975" y="4585770"/>
            <a:ext cx="1612575" cy="270300"/>
            <a:chOff x="640125" y="4530600"/>
            <a:chExt cx="1612575" cy="270300"/>
          </a:xfrm>
        </p:grpSpPr>
        <p:sp>
          <p:nvSpPr>
            <p:cNvPr id="446" name="Google Shape;446;p62"/>
            <p:cNvSpPr/>
            <p:nvPr/>
          </p:nvSpPr>
          <p:spPr>
            <a:xfrm>
              <a:off x="640125" y="4602300"/>
              <a:ext cx="209700" cy="126900"/>
            </a:xfrm>
            <a:prstGeom prst="rect">
              <a:avLst/>
            </a:prstGeom>
            <a:solidFill>
              <a:srgbClr val="FFF2C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47" name="Google Shape;447;p62"/>
            <p:cNvSpPr txBox="1"/>
            <p:nvPr/>
          </p:nvSpPr>
          <p:spPr>
            <a:xfrm>
              <a:off x="811200" y="4530600"/>
              <a:ext cx="1441500" cy="270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GB" sz="900">
                  <a:solidFill>
                    <a:schemeClr val="dk2"/>
                  </a:solidFill>
                </a:rPr>
                <a:t>Negation understanding</a:t>
              </a:r>
              <a:endParaRPr sz="900">
                <a:solidFill>
                  <a:schemeClr val="dk2"/>
                </a:solidFill>
              </a:endParaRPr>
            </a:p>
          </p:txBody>
        </p:sp>
      </p:grpSp>
      <p:grpSp>
        <p:nvGrpSpPr>
          <p:cNvPr id="448" name="Google Shape;448;p62"/>
          <p:cNvGrpSpPr/>
          <p:nvPr/>
        </p:nvGrpSpPr>
        <p:grpSpPr>
          <a:xfrm>
            <a:off x="3426425" y="4585770"/>
            <a:ext cx="1400175" cy="270300"/>
            <a:chOff x="640125" y="4530600"/>
            <a:chExt cx="1400175" cy="270300"/>
          </a:xfrm>
        </p:grpSpPr>
        <p:sp>
          <p:nvSpPr>
            <p:cNvPr id="449" name="Google Shape;449;p62"/>
            <p:cNvSpPr/>
            <p:nvPr/>
          </p:nvSpPr>
          <p:spPr>
            <a:xfrm>
              <a:off x="640125" y="4602300"/>
              <a:ext cx="209700" cy="126900"/>
            </a:xfrm>
            <a:prstGeom prst="rect">
              <a:avLst/>
            </a:prstGeom>
            <a:solidFill>
              <a:srgbClr val="F4CCC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50" name="Google Shape;450;p62"/>
            <p:cNvSpPr txBox="1"/>
            <p:nvPr/>
          </p:nvSpPr>
          <p:spPr>
            <a:xfrm>
              <a:off x="811200" y="4530600"/>
              <a:ext cx="1229100" cy="270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GB" sz="900">
                  <a:solidFill>
                    <a:schemeClr val="dk2"/>
                  </a:solidFill>
                </a:rPr>
                <a:t>Instruction-following</a:t>
              </a:r>
              <a:endParaRPr sz="900">
                <a:solidFill>
                  <a:schemeClr val="dk2"/>
                </a:solidFill>
              </a:endParaRPr>
            </a:p>
          </p:txBody>
        </p:sp>
      </p:grpSp>
      <p:grpSp>
        <p:nvGrpSpPr>
          <p:cNvPr id="451" name="Google Shape;451;p62"/>
          <p:cNvGrpSpPr/>
          <p:nvPr/>
        </p:nvGrpSpPr>
        <p:grpSpPr>
          <a:xfrm>
            <a:off x="4781817" y="4585770"/>
            <a:ext cx="1595484" cy="270300"/>
            <a:chOff x="640125" y="4530600"/>
            <a:chExt cx="1595484" cy="270300"/>
          </a:xfrm>
        </p:grpSpPr>
        <p:sp>
          <p:nvSpPr>
            <p:cNvPr id="452" name="Google Shape;452;p62"/>
            <p:cNvSpPr/>
            <p:nvPr/>
          </p:nvSpPr>
          <p:spPr>
            <a:xfrm>
              <a:off x="640125" y="4602300"/>
              <a:ext cx="209700" cy="126900"/>
            </a:xfrm>
            <a:prstGeom prst="rect">
              <a:avLst/>
            </a:prstGeom>
            <a:solidFill>
              <a:srgbClr val="FCE5C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53" name="Google Shape;453;p62"/>
            <p:cNvSpPr txBox="1"/>
            <p:nvPr/>
          </p:nvSpPr>
          <p:spPr>
            <a:xfrm>
              <a:off x="811209" y="4530600"/>
              <a:ext cx="1424400" cy="270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GB" sz="900">
                  <a:solidFill>
                    <a:schemeClr val="dk2"/>
                  </a:solidFill>
                </a:rPr>
                <a:t>Multi-constraint retrieval</a:t>
              </a:r>
              <a:endParaRPr sz="900">
                <a:solidFill>
                  <a:schemeClr val="dk2"/>
                </a:solidFill>
              </a:endParaRPr>
            </a:p>
          </p:txBody>
        </p:sp>
      </p:grpSp>
      <p:grpSp>
        <p:nvGrpSpPr>
          <p:cNvPr id="454" name="Google Shape;454;p62"/>
          <p:cNvGrpSpPr/>
          <p:nvPr/>
        </p:nvGrpSpPr>
        <p:grpSpPr>
          <a:xfrm>
            <a:off x="6369011" y="4585770"/>
            <a:ext cx="1950639" cy="270300"/>
            <a:chOff x="640125" y="4530600"/>
            <a:chExt cx="1595484" cy="270300"/>
          </a:xfrm>
        </p:grpSpPr>
        <p:sp>
          <p:nvSpPr>
            <p:cNvPr id="455" name="Google Shape;455;p62"/>
            <p:cNvSpPr/>
            <p:nvPr/>
          </p:nvSpPr>
          <p:spPr>
            <a:xfrm>
              <a:off x="640125" y="4602300"/>
              <a:ext cx="209700" cy="126900"/>
            </a:xfrm>
            <a:prstGeom prst="rect">
              <a:avLst/>
            </a:prstGeom>
            <a:solidFill>
              <a:srgbClr val="D9D2E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56" name="Google Shape;456;p62"/>
            <p:cNvSpPr txBox="1"/>
            <p:nvPr/>
          </p:nvSpPr>
          <p:spPr>
            <a:xfrm>
              <a:off x="811209" y="4530600"/>
              <a:ext cx="1424400" cy="270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GB" sz="900">
                  <a:solidFill>
                    <a:schemeClr val="dk2"/>
                  </a:solidFill>
                </a:rPr>
                <a:t>Reasoning-intensive retrieval</a:t>
              </a:r>
              <a:endParaRPr sz="900">
                <a:solidFill>
                  <a:schemeClr val="dk2"/>
                </a:solidFill>
              </a:endParaRPr>
            </a:p>
          </p:txBody>
        </p:sp>
      </p:gr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D9EEB"/>
        </a:solidFill>
      </p:bgPr>
    </p:bg>
    <p:spTree>
      <p:nvGrpSpPr>
        <p:cNvPr id="460" name="Shape 460"/>
        <p:cNvGrpSpPr/>
        <p:nvPr/>
      </p:nvGrpSpPr>
      <p:grpSpPr>
        <a:xfrm>
          <a:off x="0" y="0"/>
          <a:ext cx="0" cy="0"/>
          <a:chOff x="0" y="0"/>
          <a:chExt cx="0" cy="0"/>
        </a:xfrm>
      </p:grpSpPr>
      <p:sp>
        <p:nvSpPr>
          <p:cNvPr id="461" name="Google Shape;461;p6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b="1" lang="en-GB">
                <a:solidFill>
                  <a:schemeClr val="lt1"/>
                </a:solidFill>
                <a:latin typeface="Palatino Linotype"/>
                <a:ea typeface="Palatino Linotype"/>
                <a:cs typeface="Palatino Linotype"/>
                <a:sym typeface="Palatino Linotype"/>
              </a:rPr>
              <a:t>3. What reasoning actually is</a:t>
            </a:r>
            <a:endParaRPr b="1">
              <a:solidFill>
                <a:srgbClr val="93C47D"/>
              </a:solidFill>
              <a:latin typeface="Palatino Linotype"/>
              <a:ea typeface="Palatino Linotype"/>
              <a:cs typeface="Palatino Linotype"/>
              <a:sym typeface="Palatino Linotype"/>
            </a:endParaRPr>
          </a:p>
        </p:txBody>
      </p:sp>
      <p:sp>
        <p:nvSpPr>
          <p:cNvPr id="462" name="Google Shape;462;p6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6" name="Shape 466"/>
        <p:cNvGrpSpPr/>
        <p:nvPr/>
      </p:nvGrpSpPr>
      <p:grpSpPr>
        <a:xfrm>
          <a:off x="0" y="0"/>
          <a:ext cx="0" cy="0"/>
          <a:chOff x="0" y="0"/>
          <a:chExt cx="0" cy="0"/>
        </a:xfrm>
      </p:grpSpPr>
      <p:sp>
        <p:nvSpPr>
          <p:cNvPr id="467" name="Google Shape;467;p64"/>
          <p:cNvSpPr txBox="1"/>
          <p:nvPr>
            <p:ph idx="1" type="body"/>
          </p:nvPr>
        </p:nvSpPr>
        <p:spPr>
          <a:xfrm>
            <a:off x="4641000" y="3998647"/>
            <a:ext cx="4191300" cy="1005900"/>
          </a:xfrm>
          <a:prstGeom prst="rect">
            <a:avLst/>
          </a:prstGeom>
          <a:solidFill>
            <a:srgbClr val="F4CCCC"/>
          </a:solidFill>
          <a:ln>
            <a:noFill/>
          </a:ln>
        </p:spPr>
        <p:txBody>
          <a:bodyPr anchorCtr="0" anchor="t" bIns="91425" lIns="91425" spcFirstLastPara="1" rIns="91425" wrap="square" tIns="91425">
            <a:normAutofit lnSpcReduction="10000"/>
          </a:bodyPr>
          <a:lstStyle/>
          <a:p>
            <a:pPr indent="0" lvl="0" marL="0" rtl="0" algn="l">
              <a:lnSpc>
                <a:spcPct val="100000"/>
              </a:lnSpc>
              <a:spcBef>
                <a:spcPts val="0"/>
              </a:spcBef>
              <a:spcAft>
                <a:spcPts val="0"/>
              </a:spcAft>
              <a:buNone/>
            </a:pPr>
            <a:r>
              <a:rPr b="1" lang="en-GB" sz="1500"/>
              <a:t>6 Grounded understanding</a:t>
            </a:r>
            <a:endParaRPr sz="1500"/>
          </a:p>
          <a:p>
            <a:pPr indent="0" lvl="0" marL="0" rtl="0" algn="l">
              <a:lnSpc>
                <a:spcPct val="100000"/>
              </a:lnSpc>
              <a:spcBef>
                <a:spcPts val="0"/>
              </a:spcBef>
              <a:spcAft>
                <a:spcPts val="0"/>
              </a:spcAft>
              <a:buNone/>
            </a:pPr>
            <a:r>
              <a:t/>
            </a:r>
            <a:endParaRPr sz="1400"/>
          </a:p>
          <a:p>
            <a:pPr indent="0" lvl="0" marL="0" rtl="0" algn="l">
              <a:lnSpc>
                <a:spcPct val="100000"/>
              </a:lnSpc>
              <a:spcBef>
                <a:spcPts val="0"/>
              </a:spcBef>
              <a:spcAft>
                <a:spcPts val="0"/>
              </a:spcAft>
              <a:buNone/>
            </a:pPr>
            <a:r>
              <a:rPr lang="en-GB" sz="1400"/>
              <a:t>Stochastic Parrots (Bender et al. / Madabushi et al.)</a:t>
            </a:r>
            <a:endParaRPr sz="1400"/>
          </a:p>
        </p:txBody>
      </p:sp>
      <p:sp>
        <p:nvSpPr>
          <p:cNvPr id="468" name="Google Shape;468;p64"/>
          <p:cNvSpPr txBox="1"/>
          <p:nvPr>
            <p:ph idx="1" type="body"/>
          </p:nvPr>
        </p:nvSpPr>
        <p:spPr>
          <a:xfrm>
            <a:off x="311300" y="1769645"/>
            <a:ext cx="4191300" cy="1005900"/>
          </a:xfrm>
          <a:prstGeom prst="rect">
            <a:avLst/>
          </a:prstGeom>
          <a:solidFill>
            <a:srgbClr val="D9EAD3"/>
          </a:solidFill>
          <a:ln>
            <a:noFill/>
          </a:ln>
        </p:spPr>
        <p:txBody>
          <a:bodyPr anchorCtr="0" anchor="t" bIns="91425" lIns="91425" spcFirstLastPara="1" rIns="91425" wrap="square" tIns="91425">
            <a:normAutofit lnSpcReduction="10000"/>
          </a:bodyPr>
          <a:lstStyle/>
          <a:p>
            <a:pPr indent="0" lvl="0" marL="0" rtl="0" algn="l">
              <a:lnSpc>
                <a:spcPct val="100000"/>
              </a:lnSpc>
              <a:spcBef>
                <a:spcPts val="0"/>
              </a:spcBef>
              <a:spcAft>
                <a:spcPts val="0"/>
              </a:spcAft>
              <a:buNone/>
            </a:pPr>
            <a:r>
              <a:rPr b="1" lang="en-GB" sz="1500"/>
              <a:t>1 Correct task performance</a:t>
            </a:r>
            <a:endParaRPr sz="1500"/>
          </a:p>
          <a:p>
            <a:pPr indent="0" lvl="0" marL="0" rtl="0" algn="l">
              <a:lnSpc>
                <a:spcPct val="100000"/>
              </a:lnSpc>
              <a:spcBef>
                <a:spcPts val="0"/>
              </a:spcBef>
              <a:spcAft>
                <a:spcPts val="0"/>
              </a:spcAft>
              <a:buNone/>
            </a:pPr>
            <a:r>
              <a:t/>
            </a:r>
            <a:endParaRPr sz="1400"/>
          </a:p>
          <a:p>
            <a:pPr indent="0" lvl="0" marL="0" rtl="0" algn="l">
              <a:lnSpc>
                <a:spcPct val="100000"/>
              </a:lnSpc>
              <a:spcBef>
                <a:spcPts val="0"/>
              </a:spcBef>
              <a:spcAft>
                <a:spcPts val="0"/>
              </a:spcAft>
              <a:buNone/>
            </a:pPr>
            <a:r>
              <a:rPr lang="en-GB" sz="1400"/>
              <a:t>Benchmark papers (GSM8K, MMLU, BIG-Bench Hard)</a:t>
            </a:r>
            <a:endParaRPr sz="1600"/>
          </a:p>
        </p:txBody>
      </p:sp>
      <p:sp>
        <p:nvSpPr>
          <p:cNvPr id="469" name="Google Shape;469;p6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n-GB"/>
              <a:t>The definitional problem</a:t>
            </a:r>
            <a:endParaRPr b="1"/>
          </a:p>
        </p:txBody>
      </p:sp>
      <p:sp>
        <p:nvSpPr>
          <p:cNvPr id="470" name="Google Shape;470;p6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
        <p:nvSpPr>
          <p:cNvPr id="471" name="Google Shape;471;p64"/>
          <p:cNvSpPr txBox="1"/>
          <p:nvPr>
            <p:ph idx="1" type="body"/>
          </p:nvPr>
        </p:nvSpPr>
        <p:spPr>
          <a:xfrm>
            <a:off x="311700" y="1152475"/>
            <a:ext cx="8520600" cy="509400"/>
          </a:xfrm>
          <a:prstGeom prst="rect">
            <a:avLst/>
          </a:prstGeom>
        </p:spPr>
        <p:txBody>
          <a:bodyPr anchorCtr="0" anchor="ctr" bIns="91425" lIns="91425" spcFirstLastPara="1" rIns="91425" wrap="square" tIns="91425">
            <a:normAutofit fontScale="92500"/>
          </a:bodyPr>
          <a:lstStyle/>
          <a:p>
            <a:pPr indent="0" lvl="0" marL="0" rtl="0" algn="l">
              <a:spcBef>
                <a:spcPts val="0"/>
              </a:spcBef>
              <a:spcAft>
                <a:spcPts val="1200"/>
              </a:spcAft>
              <a:buNone/>
            </a:pPr>
            <a:r>
              <a:rPr lang="en-GB"/>
              <a:t>The LLM field uses at least six mutually inconsistent implicit definitions of “reasoning”</a:t>
            </a:r>
            <a:endParaRPr/>
          </a:p>
        </p:txBody>
      </p:sp>
      <p:sp>
        <p:nvSpPr>
          <p:cNvPr id="472" name="Google Shape;472;p64"/>
          <p:cNvSpPr txBox="1"/>
          <p:nvPr>
            <p:ph idx="1" type="body"/>
          </p:nvPr>
        </p:nvSpPr>
        <p:spPr>
          <a:xfrm>
            <a:off x="311300" y="2884149"/>
            <a:ext cx="4191300" cy="1005900"/>
          </a:xfrm>
          <a:prstGeom prst="rect">
            <a:avLst/>
          </a:prstGeom>
          <a:solidFill>
            <a:srgbClr val="D9EAD3"/>
          </a:solidFill>
          <a:ln>
            <a:noFill/>
          </a:ln>
        </p:spPr>
        <p:txBody>
          <a:bodyPr anchorCtr="0" anchor="t" bIns="91425" lIns="91425" spcFirstLastPara="1" rIns="91425" wrap="square" tIns="91425">
            <a:normAutofit lnSpcReduction="10000"/>
          </a:bodyPr>
          <a:lstStyle/>
          <a:p>
            <a:pPr indent="0" lvl="0" marL="0" rtl="0" algn="l">
              <a:lnSpc>
                <a:spcPct val="100000"/>
              </a:lnSpc>
              <a:spcBef>
                <a:spcPts val="0"/>
              </a:spcBef>
              <a:spcAft>
                <a:spcPts val="0"/>
              </a:spcAft>
              <a:buNone/>
            </a:pPr>
            <a:r>
              <a:rPr b="1" lang="en-GB" sz="1500"/>
              <a:t>2</a:t>
            </a:r>
            <a:r>
              <a:rPr b="1" lang="en-GB" sz="1500"/>
              <a:t> Robustness to surface transformations</a:t>
            </a:r>
            <a:endParaRPr sz="1500"/>
          </a:p>
          <a:p>
            <a:pPr indent="0" lvl="0" marL="0" rtl="0" algn="l">
              <a:lnSpc>
                <a:spcPct val="100000"/>
              </a:lnSpc>
              <a:spcBef>
                <a:spcPts val="0"/>
              </a:spcBef>
              <a:spcAft>
                <a:spcPts val="0"/>
              </a:spcAft>
              <a:buNone/>
            </a:pPr>
            <a:r>
              <a:t/>
            </a:r>
            <a:endParaRPr sz="1400"/>
          </a:p>
          <a:p>
            <a:pPr indent="0" lvl="0" marL="0" rtl="0" algn="l">
              <a:lnSpc>
                <a:spcPct val="100000"/>
              </a:lnSpc>
              <a:spcBef>
                <a:spcPts val="0"/>
              </a:spcBef>
              <a:spcAft>
                <a:spcPts val="0"/>
              </a:spcAft>
              <a:buNone/>
            </a:pPr>
            <a:r>
              <a:rPr lang="en-GB" sz="1400"/>
              <a:t>GSM-Symbolic, GSM-IC (Mirzadeh et al. / Shi et al.)</a:t>
            </a:r>
            <a:endParaRPr sz="1600"/>
          </a:p>
        </p:txBody>
      </p:sp>
      <p:sp>
        <p:nvSpPr>
          <p:cNvPr id="473" name="Google Shape;473;p64"/>
          <p:cNvSpPr txBox="1"/>
          <p:nvPr>
            <p:ph idx="1" type="body"/>
          </p:nvPr>
        </p:nvSpPr>
        <p:spPr>
          <a:xfrm>
            <a:off x="311300" y="3998647"/>
            <a:ext cx="4191300" cy="1005900"/>
          </a:xfrm>
          <a:prstGeom prst="rect">
            <a:avLst/>
          </a:prstGeom>
          <a:solidFill>
            <a:srgbClr val="FFF2CC"/>
          </a:solidFill>
          <a:ln>
            <a:noFill/>
          </a:ln>
        </p:spPr>
        <p:txBody>
          <a:bodyPr anchorCtr="0" anchor="t" bIns="91425" lIns="91425" spcFirstLastPara="1" rIns="91425" wrap="square" tIns="91425">
            <a:normAutofit lnSpcReduction="10000"/>
          </a:bodyPr>
          <a:lstStyle/>
          <a:p>
            <a:pPr indent="0" lvl="0" marL="0" rtl="0" algn="l">
              <a:lnSpc>
                <a:spcPct val="100000"/>
              </a:lnSpc>
              <a:spcBef>
                <a:spcPts val="0"/>
              </a:spcBef>
              <a:spcAft>
                <a:spcPts val="0"/>
              </a:spcAft>
              <a:buNone/>
            </a:pPr>
            <a:r>
              <a:rPr b="1" lang="en-GB" sz="1500"/>
              <a:t>3 Compositional generalization</a:t>
            </a:r>
            <a:endParaRPr sz="1500"/>
          </a:p>
          <a:p>
            <a:pPr indent="0" lvl="0" marL="0" rtl="0" algn="l">
              <a:lnSpc>
                <a:spcPct val="100000"/>
              </a:lnSpc>
              <a:spcBef>
                <a:spcPts val="0"/>
              </a:spcBef>
              <a:spcAft>
                <a:spcPts val="0"/>
              </a:spcAft>
              <a:buNone/>
            </a:pPr>
            <a:r>
              <a:t/>
            </a:r>
            <a:endParaRPr sz="1400"/>
          </a:p>
          <a:p>
            <a:pPr indent="0" lvl="0" marL="0" rtl="0" algn="l">
              <a:lnSpc>
                <a:spcPct val="100000"/>
              </a:lnSpc>
              <a:spcBef>
                <a:spcPts val="0"/>
              </a:spcBef>
              <a:spcAft>
                <a:spcPts val="0"/>
              </a:spcAft>
              <a:buNone/>
            </a:pPr>
            <a:r>
              <a:rPr lang="en-GB" sz="1400"/>
              <a:t>Faith and Fate (Dziri et al.)</a:t>
            </a:r>
            <a:br>
              <a:rPr lang="en-GB" sz="1400"/>
            </a:br>
            <a:endParaRPr sz="1600"/>
          </a:p>
        </p:txBody>
      </p:sp>
      <p:sp>
        <p:nvSpPr>
          <p:cNvPr id="474" name="Google Shape;474;p64"/>
          <p:cNvSpPr txBox="1"/>
          <p:nvPr>
            <p:ph idx="1" type="body"/>
          </p:nvPr>
        </p:nvSpPr>
        <p:spPr>
          <a:xfrm>
            <a:off x="4641000" y="1769645"/>
            <a:ext cx="4191300" cy="1005900"/>
          </a:xfrm>
          <a:prstGeom prst="rect">
            <a:avLst/>
          </a:prstGeom>
          <a:solidFill>
            <a:srgbClr val="FFF2CC"/>
          </a:solidFill>
          <a:ln>
            <a:noFill/>
          </a:ln>
        </p:spPr>
        <p:txBody>
          <a:bodyPr anchorCtr="0" anchor="t" bIns="91425" lIns="91425" spcFirstLastPara="1" rIns="91425" wrap="square" tIns="91425">
            <a:normAutofit lnSpcReduction="10000"/>
          </a:bodyPr>
          <a:lstStyle/>
          <a:p>
            <a:pPr indent="0" lvl="0" marL="0" rtl="0" algn="l">
              <a:lnSpc>
                <a:spcPct val="100000"/>
              </a:lnSpc>
              <a:spcBef>
                <a:spcPts val="0"/>
              </a:spcBef>
              <a:spcAft>
                <a:spcPts val="0"/>
              </a:spcAft>
              <a:buNone/>
            </a:pPr>
            <a:r>
              <a:rPr b="1" lang="en-GB" sz="1500"/>
              <a:t>4 Faithful intermediate process</a:t>
            </a:r>
            <a:endParaRPr sz="1500"/>
          </a:p>
          <a:p>
            <a:pPr indent="0" lvl="0" marL="0" rtl="0" algn="l">
              <a:lnSpc>
                <a:spcPct val="100000"/>
              </a:lnSpc>
              <a:spcBef>
                <a:spcPts val="0"/>
              </a:spcBef>
              <a:spcAft>
                <a:spcPts val="0"/>
              </a:spcAft>
              <a:buNone/>
            </a:pPr>
            <a:r>
              <a:t/>
            </a:r>
            <a:endParaRPr sz="1400"/>
          </a:p>
          <a:p>
            <a:pPr indent="0" lvl="0" marL="0" rtl="0" algn="l">
              <a:lnSpc>
                <a:spcPct val="100000"/>
              </a:lnSpc>
              <a:spcBef>
                <a:spcPts val="0"/>
              </a:spcBef>
              <a:spcAft>
                <a:spcPts val="0"/>
              </a:spcAft>
              <a:buNone/>
            </a:pPr>
            <a:r>
              <a:rPr lang="en-GB" sz="1400"/>
              <a:t>CoT, Process Reward Models (Lightman et al.)</a:t>
            </a:r>
            <a:br>
              <a:rPr lang="en-GB" sz="1400"/>
            </a:br>
            <a:endParaRPr sz="1600"/>
          </a:p>
        </p:txBody>
      </p:sp>
      <p:sp>
        <p:nvSpPr>
          <p:cNvPr id="475" name="Google Shape;475;p64"/>
          <p:cNvSpPr txBox="1"/>
          <p:nvPr>
            <p:ph idx="1" type="body"/>
          </p:nvPr>
        </p:nvSpPr>
        <p:spPr>
          <a:xfrm>
            <a:off x="4641000" y="2884149"/>
            <a:ext cx="4191300" cy="1005900"/>
          </a:xfrm>
          <a:prstGeom prst="rect">
            <a:avLst/>
          </a:prstGeom>
          <a:solidFill>
            <a:srgbClr val="F4CCCC"/>
          </a:solidFill>
          <a:ln>
            <a:noFill/>
          </a:ln>
        </p:spPr>
        <p:txBody>
          <a:bodyPr anchorCtr="0" anchor="t" bIns="91425" lIns="91425" spcFirstLastPara="1" rIns="91425" wrap="square" tIns="91425">
            <a:normAutofit lnSpcReduction="10000"/>
          </a:bodyPr>
          <a:lstStyle/>
          <a:p>
            <a:pPr indent="0" lvl="0" marL="0" rtl="0" algn="l">
              <a:lnSpc>
                <a:spcPct val="100000"/>
              </a:lnSpc>
              <a:spcBef>
                <a:spcPts val="0"/>
              </a:spcBef>
              <a:spcAft>
                <a:spcPts val="0"/>
              </a:spcAft>
              <a:buNone/>
            </a:pPr>
            <a:r>
              <a:rPr b="1" lang="en-GB" sz="1500"/>
              <a:t>5 Out-of-distribution generalization</a:t>
            </a:r>
            <a:endParaRPr sz="1500"/>
          </a:p>
          <a:p>
            <a:pPr indent="0" lvl="0" marL="0" rtl="0" algn="l">
              <a:lnSpc>
                <a:spcPct val="100000"/>
              </a:lnSpc>
              <a:spcBef>
                <a:spcPts val="0"/>
              </a:spcBef>
              <a:spcAft>
                <a:spcPts val="0"/>
              </a:spcAft>
              <a:buNone/>
            </a:pPr>
            <a:r>
              <a:t/>
            </a:r>
            <a:endParaRPr sz="1400"/>
          </a:p>
          <a:p>
            <a:pPr indent="0" lvl="0" marL="0" rtl="0" algn="l">
              <a:lnSpc>
                <a:spcPct val="100000"/>
              </a:lnSpc>
              <a:spcBef>
                <a:spcPts val="0"/>
              </a:spcBef>
              <a:spcAft>
                <a:spcPts val="0"/>
              </a:spcAft>
              <a:buNone/>
            </a:pPr>
            <a:r>
              <a:rPr lang="en-GB" sz="1400"/>
              <a:t>GSM-Symbolic, GSM-IC (Mirzadeh et al. / Shi et al.)</a:t>
            </a:r>
            <a:endParaRPr sz="16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9" name="Shape 479"/>
        <p:cNvGrpSpPr/>
        <p:nvPr/>
      </p:nvGrpSpPr>
      <p:grpSpPr>
        <a:xfrm>
          <a:off x="0" y="0"/>
          <a:ext cx="0" cy="0"/>
          <a:chOff x="0" y="0"/>
          <a:chExt cx="0" cy="0"/>
        </a:xfrm>
      </p:grpSpPr>
      <p:sp>
        <p:nvSpPr>
          <p:cNvPr id="480" name="Google Shape;480;p6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n-GB"/>
              <a:t>Five philosophical traditions – IR translations</a:t>
            </a:r>
            <a:endParaRPr b="1"/>
          </a:p>
        </p:txBody>
      </p:sp>
      <p:sp>
        <p:nvSpPr>
          <p:cNvPr id="481" name="Google Shape;481;p6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
        <p:nvSpPr>
          <p:cNvPr id="482" name="Google Shape;482;p65"/>
          <p:cNvSpPr txBox="1"/>
          <p:nvPr>
            <p:ph idx="1" type="body"/>
          </p:nvPr>
        </p:nvSpPr>
        <p:spPr>
          <a:xfrm>
            <a:off x="2517925" y="1169200"/>
            <a:ext cx="6314400" cy="700500"/>
          </a:xfrm>
          <a:prstGeom prst="rect">
            <a:avLst/>
          </a:prstGeom>
          <a:solidFill>
            <a:schemeClr val="lt1"/>
          </a:solidFill>
          <a:ln>
            <a:noFill/>
          </a:ln>
        </p:spPr>
        <p:txBody>
          <a:bodyPr anchorCtr="0" anchor="ctr" bIns="91425" lIns="91425" spcFirstLastPara="1" rIns="91425" wrap="square" tIns="91425">
            <a:normAutofit fontScale="92500" lnSpcReduction="20000"/>
          </a:bodyPr>
          <a:lstStyle/>
          <a:p>
            <a:pPr indent="0" lvl="0" marL="0" rtl="0" algn="l">
              <a:lnSpc>
                <a:spcPct val="100000"/>
              </a:lnSpc>
              <a:spcBef>
                <a:spcPts val="0"/>
              </a:spcBef>
              <a:spcAft>
                <a:spcPts val="0"/>
              </a:spcAft>
              <a:buNone/>
            </a:pPr>
            <a:r>
              <a:rPr b="1" lang="en-GB" sz="1500"/>
              <a:t>Form-content separation</a:t>
            </a:r>
            <a:endParaRPr sz="1500"/>
          </a:p>
          <a:p>
            <a:pPr indent="0" lvl="0" marL="0" rtl="0" algn="l">
              <a:lnSpc>
                <a:spcPct val="100000"/>
              </a:lnSpc>
              <a:spcBef>
                <a:spcPts val="0"/>
              </a:spcBef>
              <a:spcAft>
                <a:spcPts val="0"/>
              </a:spcAft>
              <a:buNone/>
            </a:pPr>
            <a:r>
              <a:rPr lang="en-GB" sz="1400"/>
              <a:t>Behavior governed by logical structure, not surface tokens → the GSM-Symbolic test</a:t>
            </a:r>
            <a:endParaRPr sz="1400"/>
          </a:p>
        </p:txBody>
      </p:sp>
      <p:sp>
        <p:nvSpPr>
          <p:cNvPr id="483" name="Google Shape;483;p65"/>
          <p:cNvSpPr txBox="1"/>
          <p:nvPr>
            <p:ph idx="1" type="body"/>
          </p:nvPr>
        </p:nvSpPr>
        <p:spPr>
          <a:xfrm>
            <a:off x="2517925" y="1976725"/>
            <a:ext cx="6314400" cy="700500"/>
          </a:xfrm>
          <a:prstGeom prst="rect">
            <a:avLst/>
          </a:prstGeom>
          <a:solidFill>
            <a:schemeClr val="lt1"/>
          </a:solidFill>
          <a:ln>
            <a:noFill/>
          </a:ln>
        </p:spPr>
        <p:txBody>
          <a:bodyPr anchorCtr="0" anchor="ctr" bIns="91425" lIns="91425" spcFirstLastPara="1" rIns="91425" wrap="square" tIns="91425">
            <a:normAutofit lnSpcReduction="20000"/>
          </a:bodyPr>
          <a:lstStyle/>
          <a:p>
            <a:pPr indent="0" lvl="0" marL="0" rtl="0" algn="l">
              <a:lnSpc>
                <a:spcPct val="100000"/>
              </a:lnSpc>
              <a:spcBef>
                <a:spcPts val="0"/>
              </a:spcBef>
              <a:spcAft>
                <a:spcPts val="0"/>
              </a:spcAft>
              <a:buNone/>
            </a:pPr>
            <a:r>
              <a:rPr b="1" lang="en-GB" sz="1400"/>
              <a:t>Systematic unity vs. local judgment</a:t>
            </a:r>
            <a:endParaRPr sz="1400"/>
          </a:p>
          <a:p>
            <a:pPr indent="0" lvl="0" marL="0" rtl="0" algn="l">
              <a:lnSpc>
                <a:spcPct val="100000"/>
              </a:lnSpc>
              <a:spcBef>
                <a:spcPts val="0"/>
              </a:spcBef>
              <a:spcAft>
                <a:spcPts val="0"/>
              </a:spcAft>
              <a:buNone/>
            </a:pPr>
            <a:r>
              <a:rPr lang="en-GB" sz="1400"/>
              <a:t>Answering queries correctly ≠ integrating a literature coherently → the research synthesis gap</a:t>
            </a:r>
            <a:endParaRPr sz="1400"/>
          </a:p>
        </p:txBody>
      </p:sp>
      <p:sp>
        <p:nvSpPr>
          <p:cNvPr id="484" name="Google Shape;484;p65"/>
          <p:cNvSpPr txBox="1"/>
          <p:nvPr>
            <p:ph idx="1" type="body"/>
          </p:nvPr>
        </p:nvSpPr>
        <p:spPr>
          <a:xfrm>
            <a:off x="2517900" y="2784250"/>
            <a:ext cx="6314400" cy="700500"/>
          </a:xfrm>
          <a:prstGeom prst="rect">
            <a:avLst/>
          </a:prstGeom>
          <a:solidFill>
            <a:schemeClr val="lt1"/>
          </a:solidFill>
          <a:ln>
            <a:noFill/>
          </a:ln>
        </p:spPr>
        <p:txBody>
          <a:bodyPr anchorCtr="0" anchor="ctr" bIns="91425" lIns="91425" spcFirstLastPara="1" rIns="91425" wrap="square" tIns="91425">
            <a:normAutofit lnSpcReduction="20000"/>
          </a:bodyPr>
          <a:lstStyle/>
          <a:p>
            <a:pPr indent="0" lvl="0" marL="0" rtl="0" algn="l">
              <a:lnSpc>
                <a:spcPct val="100000"/>
              </a:lnSpc>
              <a:spcBef>
                <a:spcPts val="0"/>
              </a:spcBef>
              <a:spcAft>
                <a:spcPts val="0"/>
              </a:spcAft>
              <a:buNone/>
            </a:pPr>
            <a:r>
              <a:rPr b="1" lang="en-GB" sz="1400"/>
              <a:t>Normative, not descriptive</a:t>
            </a:r>
            <a:endParaRPr sz="1400"/>
          </a:p>
          <a:p>
            <a:pPr indent="0" lvl="0" marL="0" rtl="0" algn="l">
              <a:lnSpc>
                <a:spcPct val="100000"/>
              </a:lnSpc>
              <a:spcBef>
                <a:spcPts val="0"/>
              </a:spcBef>
              <a:spcAft>
                <a:spcPts val="0"/>
              </a:spcAft>
              <a:buNone/>
            </a:pPr>
            <a:r>
              <a:rPr lang="en-GB" sz="1400"/>
              <a:t>Correct output ≠ valid inference; distinguishes LLM performance from logical competence</a:t>
            </a:r>
            <a:endParaRPr sz="1400"/>
          </a:p>
        </p:txBody>
      </p:sp>
      <p:sp>
        <p:nvSpPr>
          <p:cNvPr id="485" name="Google Shape;485;p65"/>
          <p:cNvSpPr txBox="1"/>
          <p:nvPr>
            <p:ph idx="1" type="body"/>
          </p:nvPr>
        </p:nvSpPr>
        <p:spPr>
          <a:xfrm>
            <a:off x="2517925" y="3591775"/>
            <a:ext cx="6314400" cy="700500"/>
          </a:xfrm>
          <a:prstGeom prst="rect">
            <a:avLst/>
          </a:prstGeom>
          <a:solidFill>
            <a:schemeClr val="lt1"/>
          </a:solidFill>
          <a:ln>
            <a:noFill/>
          </a:ln>
        </p:spPr>
        <p:txBody>
          <a:bodyPr anchorCtr="0" anchor="ctr" bIns="91425" lIns="91425" spcFirstLastPara="1" rIns="91425" wrap="square" tIns="91425">
            <a:normAutofit lnSpcReduction="20000"/>
          </a:bodyPr>
          <a:lstStyle/>
          <a:p>
            <a:pPr indent="0" lvl="0" marL="0" rtl="0" algn="l">
              <a:lnSpc>
                <a:spcPct val="100000"/>
              </a:lnSpc>
              <a:spcBef>
                <a:spcPts val="0"/>
              </a:spcBef>
              <a:spcAft>
                <a:spcPts val="0"/>
              </a:spcAft>
              <a:buNone/>
            </a:pPr>
            <a:r>
              <a:rPr b="1" lang="en-GB" sz="1400"/>
              <a:t>Rule-following underdetermination</a:t>
            </a:r>
            <a:endParaRPr sz="1400"/>
          </a:p>
          <a:p>
            <a:pPr indent="0" lvl="0" marL="0" rtl="0" algn="l">
              <a:lnSpc>
                <a:spcPct val="100000"/>
              </a:lnSpc>
              <a:spcBef>
                <a:spcPts val="0"/>
              </a:spcBef>
              <a:spcAft>
                <a:spcPts val="0"/>
              </a:spcAft>
              <a:buNone/>
            </a:pPr>
            <a:r>
              <a:rPr lang="en-GB" sz="1400"/>
              <a:t>High benchmark scores don't reveal which rule is followed, GSM-Symbolic shows the wrong rule</a:t>
            </a:r>
            <a:endParaRPr sz="1400"/>
          </a:p>
        </p:txBody>
      </p:sp>
      <p:sp>
        <p:nvSpPr>
          <p:cNvPr id="486" name="Google Shape;486;p65"/>
          <p:cNvSpPr txBox="1"/>
          <p:nvPr>
            <p:ph idx="1" type="body"/>
          </p:nvPr>
        </p:nvSpPr>
        <p:spPr>
          <a:xfrm>
            <a:off x="2517900" y="4399300"/>
            <a:ext cx="6314400" cy="700500"/>
          </a:xfrm>
          <a:prstGeom prst="rect">
            <a:avLst/>
          </a:prstGeom>
          <a:solidFill>
            <a:schemeClr val="lt1"/>
          </a:solidFill>
          <a:ln>
            <a:noFill/>
          </a:ln>
        </p:spPr>
        <p:txBody>
          <a:bodyPr anchorCtr="0" anchor="ctr" bIns="91425" lIns="91425" spcFirstLastPara="1" rIns="91425" wrap="square" tIns="91425">
            <a:normAutofit lnSpcReduction="20000"/>
          </a:bodyPr>
          <a:lstStyle/>
          <a:p>
            <a:pPr indent="0" lvl="0" marL="0" rtl="0" algn="l">
              <a:lnSpc>
                <a:spcPct val="100000"/>
              </a:lnSpc>
              <a:spcBef>
                <a:spcPts val="0"/>
              </a:spcBef>
              <a:spcAft>
                <a:spcPts val="0"/>
              </a:spcAft>
              <a:buNone/>
            </a:pPr>
            <a:r>
              <a:rPr b="1" lang="en-GB" sz="1400"/>
              <a:t>Deduction/Induction/Abduction</a:t>
            </a:r>
            <a:endParaRPr sz="1400"/>
          </a:p>
          <a:p>
            <a:pPr indent="0" lvl="0" marL="0" rtl="0" algn="l">
              <a:lnSpc>
                <a:spcPct val="100000"/>
              </a:lnSpc>
              <a:spcBef>
                <a:spcPts val="0"/>
              </a:spcBef>
              <a:spcAft>
                <a:spcPts val="0"/>
              </a:spcAft>
              <a:buNone/>
            </a:pPr>
            <a:r>
              <a:rPr lang="en-GB" sz="1400"/>
              <a:t>Only deduction is tested; abduction (hypothesis formation, query intent) is almost entirely absent</a:t>
            </a:r>
            <a:endParaRPr sz="1400"/>
          </a:p>
        </p:txBody>
      </p:sp>
      <p:sp>
        <p:nvSpPr>
          <p:cNvPr id="487" name="Google Shape;487;p65"/>
          <p:cNvSpPr txBox="1"/>
          <p:nvPr>
            <p:ph idx="1" type="body"/>
          </p:nvPr>
        </p:nvSpPr>
        <p:spPr>
          <a:xfrm>
            <a:off x="311700" y="1201300"/>
            <a:ext cx="2103000" cy="700500"/>
          </a:xfrm>
          <a:prstGeom prst="rect">
            <a:avLst/>
          </a:prstGeom>
          <a:solidFill>
            <a:srgbClr val="C9DAF8"/>
          </a:solidFill>
          <a:ln>
            <a:noFill/>
          </a:ln>
        </p:spPr>
        <p:txBody>
          <a:bodyPr anchorCtr="0" anchor="ctr" bIns="91425" lIns="91425" spcFirstLastPara="1" rIns="91425" wrap="square" tIns="91425">
            <a:normAutofit/>
          </a:bodyPr>
          <a:lstStyle/>
          <a:p>
            <a:pPr indent="0" lvl="0" marL="0" rtl="0" algn="l">
              <a:spcBef>
                <a:spcPts val="0"/>
              </a:spcBef>
              <a:spcAft>
                <a:spcPts val="1200"/>
              </a:spcAft>
              <a:buNone/>
            </a:pPr>
            <a:r>
              <a:rPr lang="en-GB"/>
              <a:t>Aristotle</a:t>
            </a:r>
            <a:endParaRPr/>
          </a:p>
        </p:txBody>
      </p:sp>
      <p:sp>
        <p:nvSpPr>
          <p:cNvPr id="488" name="Google Shape;488;p65"/>
          <p:cNvSpPr txBox="1"/>
          <p:nvPr>
            <p:ph idx="1" type="body"/>
          </p:nvPr>
        </p:nvSpPr>
        <p:spPr>
          <a:xfrm>
            <a:off x="311700" y="1976725"/>
            <a:ext cx="2103000" cy="700500"/>
          </a:xfrm>
          <a:prstGeom prst="rect">
            <a:avLst/>
          </a:prstGeom>
          <a:solidFill>
            <a:srgbClr val="C9DAF8"/>
          </a:solidFill>
          <a:ln>
            <a:noFill/>
          </a:ln>
        </p:spPr>
        <p:txBody>
          <a:bodyPr anchorCtr="0" anchor="ctr" bIns="91425" lIns="91425" spcFirstLastPara="1" rIns="91425" wrap="square" tIns="91425">
            <a:normAutofit/>
          </a:bodyPr>
          <a:lstStyle/>
          <a:p>
            <a:pPr indent="0" lvl="0" marL="0" rtl="0" algn="l">
              <a:spcBef>
                <a:spcPts val="0"/>
              </a:spcBef>
              <a:spcAft>
                <a:spcPts val="1200"/>
              </a:spcAft>
              <a:buNone/>
            </a:pPr>
            <a:r>
              <a:rPr lang="en-GB"/>
              <a:t>Kant</a:t>
            </a:r>
            <a:endParaRPr/>
          </a:p>
        </p:txBody>
      </p:sp>
      <p:sp>
        <p:nvSpPr>
          <p:cNvPr id="489" name="Google Shape;489;p65"/>
          <p:cNvSpPr txBox="1"/>
          <p:nvPr>
            <p:ph idx="1" type="body"/>
          </p:nvPr>
        </p:nvSpPr>
        <p:spPr>
          <a:xfrm>
            <a:off x="311700" y="2784250"/>
            <a:ext cx="2103000" cy="700500"/>
          </a:xfrm>
          <a:prstGeom prst="rect">
            <a:avLst/>
          </a:prstGeom>
          <a:solidFill>
            <a:srgbClr val="C9DAF8"/>
          </a:solidFill>
          <a:ln>
            <a:noFill/>
          </a:ln>
        </p:spPr>
        <p:txBody>
          <a:bodyPr anchorCtr="0" anchor="ctr" bIns="91425" lIns="91425" spcFirstLastPara="1" rIns="91425" wrap="square" tIns="91425">
            <a:normAutofit/>
          </a:bodyPr>
          <a:lstStyle/>
          <a:p>
            <a:pPr indent="0" lvl="0" marL="0" rtl="0" algn="l">
              <a:spcBef>
                <a:spcPts val="0"/>
              </a:spcBef>
              <a:spcAft>
                <a:spcPts val="1200"/>
              </a:spcAft>
              <a:buNone/>
            </a:pPr>
            <a:r>
              <a:rPr lang="en-GB"/>
              <a:t>Frege</a:t>
            </a:r>
            <a:endParaRPr/>
          </a:p>
        </p:txBody>
      </p:sp>
      <p:sp>
        <p:nvSpPr>
          <p:cNvPr id="490" name="Google Shape;490;p65"/>
          <p:cNvSpPr txBox="1"/>
          <p:nvPr>
            <p:ph idx="1" type="body"/>
          </p:nvPr>
        </p:nvSpPr>
        <p:spPr>
          <a:xfrm>
            <a:off x="311700" y="3591775"/>
            <a:ext cx="2103000" cy="700500"/>
          </a:xfrm>
          <a:prstGeom prst="rect">
            <a:avLst/>
          </a:prstGeom>
          <a:solidFill>
            <a:srgbClr val="C9DAF8"/>
          </a:solidFill>
          <a:ln>
            <a:noFill/>
          </a:ln>
        </p:spPr>
        <p:txBody>
          <a:bodyPr anchorCtr="0" anchor="ctr" bIns="91425" lIns="91425" spcFirstLastPara="1" rIns="91425" wrap="square" tIns="91425">
            <a:normAutofit/>
          </a:bodyPr>
          <a:lstStyle/>
          <a:p>
            <a:pPr indent="0" lvl="0" marL="0" rtl="0" algn="l">
              <a:spcBef>
                <a:spcPts val="0"/>
              </a:spcBef>
              <a:spcAft>
                <a:spcPts val="1200"/>
              </a:spcAft>
              <a:buNone/>
            </a:pPr>
            <a:r>
              <a:rPr lang="en-GB"/>
              <a:t>Wittgenstein</a:t>
            </a:r>
            <a:endParaRPr/>
          </a:p>
        </p:txBody>
      </p:sp>
      <p:sp>
        <p:nvSpPr>
          <p:cNvPr id="491" name="Google Shape;491;p65"/>
          <p:cNvSpPr txBox="1"/>
          <p:nvPr>
            <p:ph idx="1" type="body"/>
          </p:nvPr>
        </p:nvSpPr>
        <p:spPr>
          <a:xfrm>
            <a:off x="311700" y="4399300"/>
            <a:ext cx="2103000" cy="700500"/>
          </a:xfrm>
          <a:prstGeom prst="rect">
            <a:avLst/>
          </a:prstGeom>
          <a:solidFill>
            <a:srgbClr val="C9DAF8"/>
          </a:solidFill>
          <a:ln>
            <a:noFill/>
          </a:ln>
        </p:spPr>
        <p:txBody>
          <a:bodyPr anchorCtr="0" anchor="ctr" bIns="91425" lIns="91425" spcFirstLastPara="1" rIns="91425" wrap="square" tIns="91425">
            <a:normAutofit/>
          </a:bodyPr>
          <a:lstStyle/>
          <a:p>
            <a:pPr indent="0" lvl="0" marL="0" rtl="0" algn="l">
              <a:spcBef>
                <a:spcPts val="0"/>
              </a:spcBef>
              <a:spcAft>
                <a:spcPts val="1200"/>
              </a:spcAft>
              <a:buNone/>
            </a:pPr>
            <a:r>
              <a:rPr lang="en-GB"/>
              <a:t>Peirce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8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8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8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8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8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5" name="Shape 495"/>
        <p:cNvGrpSpPr/>
        <p:nvPr/>
      </p:nvGrpSpPr>
      <p:grpSpPr>
        <a:xfrm>
          <a:off x="0" y="0"/>
          <a:ext cx="0" cy="0"/>
          <a:chOff x="0" y="0"/>
          <a:chExt cx="0" cy="0"/>
        </a:xfrm>
      </p:grpSpPr>
      <p:sp>
        <p:nvSpPr>
          <p:cNvPr id="496" name="Google Shape;496;p66"/>
          <p:cNvSpPr txBox="1"/>
          <p:nvPr>
            <p:ph type="title"/>
          </p:nvPr>
        </p:nvSpPr>
        <p:spPr>
          <a:xfrm>
            <a:off x="311700" y="25883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n-GB"/>
              <a:t>A 12-type taxonomy, with evaluation coverage</a:t>
            </a:r>
            <a:endParaRPr b="1"/>
          </a:p>
        </p:txBody>
      </p:sp>
      <p:sp>
        <p:nvSpPr>
          <p:cNvPr id="497" name="Google Shape;497;p6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graphicFrame>
        <p:nvGraphicFramePr>
          <p:cNvPr id="498" name="Google Shape;498;p66"/>
          <p:cNvGraphicFramePr/>
          <p:nvPr/>
        </p:nvGraphicFramePr>
        <p:xfrm>
          <a:off x="491625" y="789579"/>
          <a:ext cx="3000000" cy="3000000"/>
        </p:xfrm>
        <a:graphic>
          <a:graphicData uri="http://schemas.openxmlformats.org/drawingml/2006/table">
            <a:tbl>
              <a:tblPr>
                <a:noFill/>
                <a:tableStyleId>{690008F1-FBFA-4D70-A9C7-EF09C6EBDACE}</a:tableStyleId>
              </a:tblPr>
              <a:tblGrid>
                <a:gridCol w="1492675"/>
                <a:gridCol w="5552050"/>
                <a:gridCol w="1116025"/>
              </a:tblGrid>
              <a:tr h="253925">
                <a:tc>
                  <a:txBody>
                    <a:bodyPr/>
                    <a:lstStyle/>
                    <a:p>
                      <a:pPr indent="0" lvl="0" marL="0" rtl="0" algn="l">
                        <a:spcBef>
                          <a:spcPts val="0"/>
                        </a:spcBef>
                        <a:spcAft>
                          <a:spcPts val="0"/>
                        </a:spcAft>
                        <a:buNone/>
                      </a:pPr>
                      <a:r>
                        <a:rPr b="1" lang="en-GB" sz="1100"/>
                        <a:t>Reasoning type</a:t>
                      </a:r>
                      <a:endParaRPr b="1" sz="1100"/>
                    </a:p>
                  </a:txBody>
                  <a:tcPr marT="91425" marB="91425" marR="91425" marL="91425">
                    <a:lnL cap="flat" cmpd="sng" w="9525">
                      <a:solidFill>
                        <a:srgbClr val="9E9E9E">
                          <a:alpha val="0"/>
                        </a:srgbClr>
                      </a:solidFill>
                      <a:prstDash val="solid"/>
                      <a:round/>
                      <a:headEnd len="sm" w="sm" type="none"/>
                      <a:tailEnd len="sm" w="sm" type="none"/>
                    </a:lnL>
                    <a:lnR cap="flat" cmpd="sng" w="9525">
                      <a:solidFill>
                        <a:schemeClr val="lt1">
                          <a:alpha val="0"/>
                        </a:scheme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C9DAF8"/>
                    </a:solidFill>
                  </a:tcPr>
                </a:tc>
                <a:tc>
                  <a:txBody>
                    <a:bodyPr/>
                    <a:lstStyle/>
                    <a:p>
                      <a:pPr indent="0" lvl="0" marL="0" rtl="0" algn="l">
                        <a:spcBef>
                          <a:spcPts val="0"/>
                        </a:spcBef>
                        <a:spcAft>
                          <a:spcPts val="0"/>
                        </a:spcAft>
                        <a:buNone/>
                      </a:pPr>
                      <a:r>
                        <a:rPr b="1" lang="en-GB" sz="1100"/>
                        <a:t>IR manifestation</a:t>
                      </a:r>
                      <a:endParaRPr b="1" sz="1100"/>
                    </a:p>
                  </a:txBody>
                  <a:tcPr marT="91425" marB="91425" marR="91425" marL="91425">
                    <a:lnL cap="flat" cmpd="sng" w="9525">
                      <a:solidFill>
                        <a:schemeClr val="lt1">
                          <a:alpha val="0"/>
                        </a:schemeClr>
                      </a:solidFill>
                      <a:prstDash val="solid"/>
                      <a:round/>
                      <a:headEnd len="sm" w="sm" type="none"/>
                      <a:tailEnd len="sm" w="sm" type="none"/>
                    </a:lnL>
                    <a:lnR cap="flat" cmpd="sng" w="9525">
                      <a:solidFill>
                        <a:schemeClr val="lt1">
                          <a:alpha val="0"/>
                        </a:schemeClr>
                      </a:solidFill>
                      <a:prstDash val="solid"/>
                      <a:round/>
                      <a:headEnd len="sm" w="sm" type="none"/>
                      <a:tailEnd len="sm" w="sm" type="none"/>
                    </a:lnR>
                    <a:lnT cap="flat" cmpd="sng" w="9525">
                      <a:solidFill>
                        <a:schemeClr val="lt1">
                          <a:alpha val="0"/>
                        </a:schemeClr>
                      </a:solidFill>
                      <a:prstDash val="solid"/>
                      <a:round/>
                      <a:headEnd len="sm" w="sm" type="none"/>
                      <a:tailEnd len="sm" w="sm" type="none"/>
                    </a:lnT>
                    <a:lnB cap="flat" cmpd="sng" w="9525">
                      <a:solidFill>
                        <a:schemeClr val="lt1">
                          <a:alpha val="0"/>
                        </a:schemeClr>
                      </a:solidFill>
                      <a:prstDash val="solid"/>
                      <a:round/>
                      <a:headEnd len="sm" w="sm" type="none"/>
                      <a:tailEnd len="sm" w="sm" type="none"/>
                    </a:lnB>
                    <a:solidFill>
                      <a:srgbClr val="C9DAF8"/>
                    </a:solidFill>
                  </a:tcPr>
                </a:tc>
                <a:tc>
                  <a:txBody>
                    <a:bodyPr/>
                    <a:lstStyle/>
                    <a:p>
                      <a:pPr indent="0" lvl="0" marL="0" rtl="0" algn="l">
                        <a:spcBef>
                          <a:spcPts val="0"/>
                        </a:spcBef>
                        <a:spcAft>
                          <a:spcPts val="0"/>
                        </a:spcAft>
                        <a:buNone/>
                      </a:pPr>
                      <a:r>
                        <a:rPr b="1" lang="en-GB" sz="1100"/>
                        <a:t>Coverage</a:t>
                      </a:r>
                      <a:endParaRPr b="1" sz="1100"/>
                    </a:p>
                  </a:txBody>
                  <a:tcPr marT="91425" marB="91425" marR="91425" marL="91425">
                    <a:lnL cap="flat" cmpd="sng" w="9525">
                      <a:solidFill>
                        <a:schemeClr val="lt1">
                          <a:alpha val="0"/>
                        </a:scheme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C9DAF8"/>
                    </a:solidFill>
                  </a:tcPr>
                </a:tc>
              </a:tr>
              <a:tr h="328800">
                <a:tc>
                  <a:txBody>
                    <a:bodyPr/>
                    <a:lstStyle/>
                    <a:p>
                      <a:pPr indent="0" lvl="0" marL="0" rtl="0" algn="l">
                        <a:spcBef>
                          <a:spcPts val="0"/>
                        </a:spcBef>
                        <a:spcAft>
                          <a:spcPts val="0"/>
                        </a:spcAft>
                        <a:buNone/>
                      </a:pPr>
                      <a:r>
                        <a:rPr lang="en-GB" sz="900"/>
                        <a:t>Deductive</a:t>
                      </a:r>
                      <a:endParaRPr sz="9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GB" sz="900"/>
                        <a:t>Logical entailment between query and document</a:t>
                      </a:r>
                      <a:endParaRPr sz="9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chemeClr val="lt1">
                          <a:alpha val="0"/>
                        </a:scheme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GB" sz="900"/>
                        <a:t>Partial</a:t>
                      </a:r>
                      <a:endParaRPr sz="9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FFF2CC"/>
                    </a:solidFill>
                  </a:tcPr>
                </a:tc>
              </a:tr>
              <a:tr h="328700">
                <a:tc>
                  <a:txBody>
                    <a:bodyPr/>
                    <a:lstStyle/>
                    <a:p>
                      <a:pPr indent="0" lvl="0" marL="0" rtl="0" algn="l">
                        <a:spcBef>
                          <a:spcPts val="0"/>
                        </a:spcBef>
                        <a:spcAft>
                          <a:spcPts val="0"/>
                        </a:spcAft>
                        <a:buNone/>
                      </a:pPr>
                      <a:r>
                        <a:rPr lang="en-GB" sz="900"/>
                        <a:t>Inductive</a:t>
                      </a:r>
                      <a:endParaRPr sz="9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D9D9D9"/>
                    </a:solidFill>
                  </a:tcPr>
                </a:tc>
                <a:tc>
                  <a:txBody>
                    <a:bodyPr/>
                    <a:lstStyle/>
                    <a:p>
                      <a:pPr indent="0" lvl="0" marL="0" rtl="0" algn="l">
                        <a:spcBef>
                          <a:spcPts val="0"/>
                        </a:spcBef>
                        <a:spcAft>
                          <a:spcPts val="0"/>
                        </a:spcAft>
                        <a:buNone/>
                      </a:pPr>
                      <a:r>
                        <a:rPr lang="en-GB" sz="900"/>
                        <a:t>Generalizing from retrieved evidence to claims</a:t>
                      </a:r>
                      <a:endParaRPr sz="9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D9D9D9"/>
                    </a:solidFill>
                  </a:tcPr>
                </a:tc>
                <a:tc>
                  <a:txBody>
                    <a:bodyPr/>
                    <a:lstStyle/>
                    <a:p>
                      <a:pPr indent="0" lvl="0" marL="0" rtl="0" algn="l">
                        <a:spcBef>
                          <a:spcPts val="0"/>
                        </a:spcBef>
                        <a:spcAft>
                          <a:spcPts val="0"/>
                        </a:spcAft>
                        <a:buNone/>
                      </a:pPr>
                      <a:r>
                        <a:rPr lang="en-GB" sz="900"/>
                        <a:t>Partial</a:t>
                      </a:r>
                      <a:endParaRPr sz="9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FFF2CC"/>
                    </a:solidFill>
                  </a:tcPr>
                </a:tc>
              </a:tr>
              <a:tr h="328700">
                <a:tc>
                  <a:txBody>
                    <a:bodyPr/>
                    <a:lstStyle/>
                    <a:p>
                      <a:pPr indent="0" lvl="0" marL="0" rtl="0" algn="l">
                        <a:spcBef>
                          <a:spcPts val="0"/>
                        </a:spcBef>
                        <a:spcAft>
                          <a:spcPts val="0"/>
                        </a:spcAft>
                        <a:buNone/>
                      </a:pPr>
                      <a:r>
                        <a:rPr lang="en-GB" sz="900"/>
                        <a:t>Abductive</a:t>
                      </a:r>
                      <a:endParaRPr sz="9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GB" sz="900"/>
                        <a:t>Query intent inference; hypothesis formation from evidence</a:t>
                      </a:r>
                      <a:endParaRPr sz="9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GB" sz="900"/>
                        <a:t>Untested</a:t>
                      </a:r>
                      <a:endParaRPr sz="9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F4CCCC"/>
                    </a:solidFill>
                  </a:tcPr>
                </a:tc>
              </a:tr>
              <a:tr h="328700">
                <a:tc>
                  <a:txBody>
                    <a:bodyPr/>
                    <a:lstStyle/>
                    <a:p>
                      <a:pPr indent="0" lvl="0" marL="0" rtl="0" algn="l">
                        <a:spcBef>
                          <a:spcPts val="0"/>
                        </a:spcBef>
                        <a:spcAft>
                          <a:spcPts val="0"/>
                        </a:spcAft>
                        <a:buNone/>
                      </a:pPr>
                      <a:r>
                        <a:rPr lang="en-GB" sz="900"/>
                        <a:t>Analogical</a:t>
                      </a:r>
                      <a:endParaRPr sz="9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D9D9D9"/>
                    </a:solidFill>
                  </a:tcPr>
                </a:tc>
                <a:tc>
                  <a:txBody>
                    <a:bodyPr/>
                    <a:lstStyle/>
                    <a:p>
                      <a:pPr indent="0" lvl="0" marL="0" rtl="0" algn="l">
                        <a:spcBef>
                          <a:spcPts val="0"/>
                        </a:spcBef>
                        <a:spcAft>
                          <a:spcPts val="0"/>
                        </a:spcAft>
                        <a:buNone/>
                      </a:pPr>
                      <a:r>
                        <a:rPr lang="en-GB" sz="900"/>
                        <a:t>Cross-domain retrieval; structural relevance beyond surface</a:t>
                      </a:r>
                      <a:endParaRPr sz="9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D9D9D9"/>
                    </a:solidFill>
                  </a:tcPr>
                </a:tc>
                <a:tc>
                  <a:txBody>
                    <a:bodyPr/>
                    <a:lstStyle/>
                    <a:p>
                      <a:pPr indent="0" lvl="0" marL="0" rtl="0" algn="l">
                        <a:spcBef>
                          <a:spcPts val="0"/>
                        </a:spcBef>
                        <a:spcAft>
                          <a:spcPts val="0"/>
                        </a:spcAft>
                        <a:buClr>
                          <a:schemeClr val="dk1"/>
                        </a:buClr>
                        <a:buSzPts val="1100"/>
                        <a:buFont typeface="Arial"/>
                        <a:buNone/>
                      </a:pPr>
                      <a:r>
                        <a:rPr lang="en-GB" sz="900">
                          <a:solidFill>
                            <a:schemeClr val="dk1"/>
                          </a:solidFill>
                        </a:rPr>
                        <a:t>Untested</a:t>
                      </a:r>
                      <a:endParaRPr sz="9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F4CCCC"/>
                    </a:solidFill>
                  </a:tcPr>
                </a:tc>
              </a:tr>
              <a:tr h="328700">
                <a:tc>
                  <a:txBody>
                    <a:bodyPr/>
                    <a:lstStyle/>
                    <a:p>
                      <a:pPr indent="0" lvl="0" marL="0" rtl="0" algn="l">
                        <a:spcBef>
                          <a:spcPts val="0"/>
                        </a:spcBef>
                        <a:spcAft>
                          <a:spcPts val="0"/>
                        </a:spcAft>
                        <a:buNone/>
                      </a:pPr>
                      <a:r>
                        <a:rPr lang="en-GB" sz="900"/>
                        <a:t>Causal</a:t>
                      </a:r>
                      <a:endParaRPr sz="9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GB" sz="900"/>
                        <a:t>Distinguishing correlation from intervention evidence</a:t>
                      </a:r>
                      <a:endParaRPr sz="9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GB" sz="900">
                          <a:solidFill>
                            <a:schemeClr val="dk1"/>
                          </a:solidFill>
                        </a:rPr>
                        <a:t>Untested</a:t>
                      </a:r>
                      <a:endParaRPr sz="9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F4CCCC"/>
                    </a:solidFill>
                  </a:tcPr>
                </a:tc>
              </a:tr>
              <a:tr h="328700">
                <a:tc>
                  <a:txBody>
                    <a:bodyPr/>
                    <a:lstStyle/>
                    <a:p>
                      <a:pPr indent="0" lvl="0" marL="0" rtl="0" algn="l">
                        <a:spcBef>
                          <a:spcPts val="0"/>
                        </a:spcBef>
                        <a:spcAft>
                          <a:spcPts val="0"/>
                        </a:spcAft>
                        <a:buNone/>
                      </a:pPr>
                      <a:r>
                        <a:rPr lang="en-GB" sz="900"/>
                        <a:t>Defeasible</a:t>
                      </a:r>
                      <a:endParaRPr sz="9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D9D9D9"/>
                    </a:solidFill>
                  </a:tcPr>
                </a:tc>
                <a:tc>
                  <a:txBody>
                    <a:bodyPr/>
                    <a:lstStyle/>
                    <a:p>
                      <a:pPr indent="0" lvl="0" marL="0" rtl="0" algn="l">
                        <a:spcBef>
                          <a:spcPts val="0"/>
                        </a:spcBef>
                        <a:spcAft>
                          <a:spcPts val="0"/>
                        </a:spcAft>
                        <a:buNone/>
                      </a:pPr>
                      <a:r>
                        <a:rPr lang="en-GB" sz="900"/>
                        <a:t>Provisional relevance; belief revision on new retrieval</a:t>
                      </a:r>
                      <a:endParaRPr sz="9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D9D9D9"/>
                    </a:solidFill>
                  </a:tcPr>
                </a:tc>
                <a:tc>
                  <a:txBody>
                    <a:bodyPr/>
                    <a:lstStyle/>
                    <a:p>
                      <a:pPr indent="0" lvl="0" marL="0" rtl="0" algn="l">
                        <a:spcBef>
                          <a:spcPts val="0"/>
                        </a:spcBef>
                        <a:spcAft>
                          <a:spcPts val="0"/>
                        </a:spcAft>
                        <a:buClr>
                          <a:schemeClr val="dk1"/>
                        </a:buClr>
                        <a:buSzPts val="1100"/>
                        <a:buFont typeface="Arial"/>
                        <a:buNone/>
                      </a:pPr>
                      <a:r>
                        <a:rPr lang="en-GB" sz="900">
                          <a:solidFill>
                            <a:schemeClr val="dk1"/>
                          </a:solidFill>
                        </a:rPr>
                        <a:t>Untested</a:t>
                      </a:r>
                      <a:endParaRPr sz="9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F4CCCC"/>
                    </a:solidFill>
                  </a:tcPr>
                </a:tc>
              </a:tr>
              <a:tr h="328700">
                <a:tc>
                  <a:txBody>
                    <a:bodyPr/>
                    <a:lstStyle/>
                    <a:p>
                      <a:pPr indent="0" lvl="0" marL="0" rtl="0" algn="l">
                        <a:spcBef>
                          <a:spcPts val="0"/>
                        </a:spcBef>
                        <a:spcAft>
                          <a:spcPts val="0"/>
                        </a:spcAft>
                        <a:buNone/>
                      </a:pPr>
                      <a:r>
                        <a:rPr lang="en-GB" sz="900"/>
                        <a:t>Modal</a:t>
                      </a:r>
                      <a:endParaRPr sz="9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GB" sz="900"/>
                        <a:t>Tracking claim strength (established/contested/speculative)</a:t>
                      </a:r>
                      <a:endParaRPr sz="9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GB" sz="900">
                          <a:solidFill>
                            <a:schemeClr val="dk1"/>
                          </a:solidFill>
                        </a:rPr>
                        <a:t>Untested</a:t>
                      </a:r>
                      <a:endParaRPr sz="9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F4CCCC"/>
                    </a:solidFill>
                  </a:tcPr>
                </a:tc>
              </a:tr>
              <a:tr h="328700">
                <a:tc>
                  <a:txBody>
                    <a:bodyPr/>
                    <a:lstStyle/>
                    <a:p>
                      <a:pPr indent="0" lvl="0" marL="0" rtl="0" algn="l">
                        <a:spcBef>
                          <a:spcPts val="0"/>
                        </a:spcBef>
                        <a:spcAft>
                          <a:spcPts val="0"/>
                        </a:spcAft>
                        <a:buNone/>
                      </a:pPr>
                      <a:r>
                        <a:rPr lang="en-GB" sz="900"/>
                        <a:t>Epistemic</a:t>
                      </a:r>
                      <a:endParaRPr sz="9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D9D9D9"/>
                    </a:solidFill>
                  </a:tcPr>
                </a:tc>
                <a:tc>
                  <a:txBody>
                    <a:bodyPr/>
                    <a:lstStyle/>
                    <a:p>
                      <a:pPr indent="0" lvl="0" marL="0" rtl="0" algn="l">
                        <a:spcBef>
                          <a:spcPts val="0"/>
                        </a:spcBef>
                        <a:spcAft>
                          <a:spcPts val="0"/>
                        </a:spcAft>
                        <a:buNone/>
                      </a:pPr>
                      <a:r>
                        <a:rPr lang="en-GB" sz="900"/>
                        <a:t>Knowledge state tracking across a literature over time</a:t>
                      </a:r>
                      <a:endParaRPr sz="9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D9D9D9"/>
                    </a:solidFill>
                  </a:tcPr>
                </a:tc>
                <a:tc>
                  <a:txBody>
                    <a:bodyPr/>
                    <a:lstStyle/>
                    <a:p>
                      <a:pPr indent="0" lvl="0" marL="0" rtl="0" algn="l">
                        <a:spcBef>
                          <a:spcPts val="0"/>
                        </a:spcBef>
                        <a:spcAft>
                          <a:spcPts val="0"/>
                        </a:spcAft>
                        <a:buClr>
                          <a:schemeClr val="dk1"/>
                        </a:buClr>
                        <a:buSzPts val="1100"/>
                        <a:buFont typeface="Arial"/>
                        <a:buNone/>
                      </a:pPr>
                      <a:r>
                        <a:rPr lang="en-GB" sz="900">
                          <a:solidFill>
                            <a:schemeClr val="dk1"/>
                          </a:solidFill>
                        </a:rPr>
                        <a:t>Untested</a:t>
                      </a:r>
                      <a:endParaRPr sz="9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F4CCCC"/>
                    </a:solidFill>
                  </a:tcPr>
                </a:tc>
              </a:tr>
              <a:tr h="328800">
                <a:tc>
                  <a:txBody>
                    <a:bodyPr/>
                    <a:lstStyle/>
                    <a:p>
                      <a:pPr indent="0" lvl="0" marL="0" rtl="0" algn="l">
                        <a:spcBef>
                          <a:spcPts val="0"/>
                        </a:spcBef>
                        <a:spcAft>
                          <a:spcPts val="0"/>
                        </a:spcAft>
                        <a:buNone/>
                      </a:pPr>
                      <a:r>
                        <a:rPr lang="en-GB" sz="900"/>
                        <a:t>Dialectical</a:t>
                      </a:r>
                      <a:endParaRPr sz="9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GB" sz="900"/>
                        <a:t>Mapping argumentative position within a field's disputes</a:t>
                      </a:r>
                      <a:endParaRPr sz="9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GB" sz="900">
                          <a:solidFill>
                            <a:schemeClr val="dk1"/>
                          </a:solidFill>
                        </a:rPr>
                        <a:t>Untested</a:t>
                      </a:r>
                      <a:endParaRPr sz="9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F4CCCC"/>
                    </a:solidFill>
                  </a:tcPr>
                </a:tc>
              </a:tr>
              <a:tr h="328800">
                <a:tc>
                  <a:txBody>
                    <a:bodyPr/>
                    <a:lstStyle/>
                    <a:p>
                      <a:pPr indent="0" lvl="0" marL="0" rtl="0" algn="l">
                        <a:spcBef>
                          <a:spcPts val="0"/>
                        </a:spcBef>
                        <a:spcAft>
                          <a:spcPts val="0"/>
                        </a:spcAft>
                        <a:buNone/>
                      </a:pPr>
                      <a:r>
                        <a:rPr lang="en-GB" sz="900"/>
                        <a:t>Temporal</a:t>
                      </a:r>
                      <a:endParaRPr sz="9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D9D9D9"/>
                    </a:solidFill>
                  </a:tcPr>
                </a:tc>
                <a:tc>
                  <a:txBody>
                    <a:bodyPr/>
                    <a:lstStyle/>
                    <a:p>
                      <a:pPr indent="0" lvl="0" marL="0" rtl="0" algn="l">
                        <a:spcBef>
                          <a:spcPts val="0"/>
                        </a:spcBef>
                        <a:spcAft>
                          <a:spcPts val="0"/>
                        </a:spcAft>
                        <a:buNone/>
                      </a:pPr>
                      <a:r>
                        <a:rPr lang="en-GB" sz="900"/>
                        <a:t>Evidence currency; supersession; historical state tracking</a:t>
                      </a:r>
                      <a:endParaRPr sz="9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D9D9D9"/>
                    </a:solidFill>
                  </a:tcPr>
                </a:tc>
                <a:tc>
                  <a:txBody>
                    <a:bodyPr/>
                    <a:lstStyle/>
                    <a:p>
                      <a:pPr indent="0" lvl="0" marL="0" rtl="0" algn="l">
                        <a:spcBef>
                          <a:spcPts val="0"/>
                        </a:spcBef>
                        <a:spcAft>
                          <a:spcPts val="0"/>
                        </a:spcAft>
                        <a:buNone/>
                      </a:pPr>
                      <a:r>
                        <a:rPr lang="en-GB" sz="900"/>
                        <a:t>Partial</a:t>
                      </a:r>
                      <a:endParaRPr sz="9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FFF2CC"/>
                    </a:solidFill>
                  </a:tcPr>
                </a:tc>
              </a:tr>
              <a:tr h="328800">
                <a:tc>
                  <a:txBody>
                    <a:bodyPr/>
                    <a:lstStyle/>
                    <a:p>
                      <a:pPr indent="0" lvl="0" marL="0" rtl="0" algn="l">
                        <a:spcBef>
                          <a:spcPts val="0"/>
                        </a:spcBef>
                        <a:spcAft>
                          <a:spcPts val="0"/>
                        </a:spcAft>
                        <a:buNone/>
                      </a:pPr>
                      <a:r>
                        <a:rPr lang="en-GB" sz="900"/>
                        <a:t>Metacognitive</a:t>
                      </a:r>
                      <a:endParaRPr sz="9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GB" sz="900"/>
                        <a:t>Query reformulation; knowing when to stop; uncertainty flag</a:t>
                      </a:r>
                      <a:endParaRPr sz="9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GB" sz="900"/>
                        <a:t>Partial</a:t>
                      </a:r>
                      <a:endParaRPr sz="9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FFF2CC"/>
                    </a:solidFill>
                  </a:tcPr>
                </a:tc>
              </a:tr>
              <a:tr h="328700">
                <a:tc>
                  <a:txBody>
                    <a:bodyPr/>
                    <a:lstStyle/>
                    <a:p>
                      <a:pPr indent="0" lvl="0" marL="0" rtl="0" algn="l">
                        <a:spcBef>
                          <a:spcPts val="0"/>
                        </a:spcBef>
                        <a:spcAft>
                          <a:spcPts val="0"/>
                        </a:spcAft>
                        <a:buNone/>
                      </a:pPr>
                      <a:r>
                        <a:rPr lang="en-GB" sz="900"/>
                        <a:t>Practical</a:t>
                      </a:r>
                      <a:endParaRPr sz="9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D9D9D9"/>
                    </a:solidFill>
                  </a:tcPr>
                </a:tc>
                <a:tc>
                  <a:txBody>
                    <a:bodyPr/>
                    <a:lstStyle/>
                    <a:p>
                      <a:pPr indent="0" lvl="0" marL="0" rtl="0" algn="l">
                        <a:spcBef>
                          <a:spcPts val="0"/>
                        </a:spcBef>
                        <a:spcAft>
                          <a:spcPts val="0"/>
                        </a:spcAft>
                        <a:buNone/>
                      </a:pPr>
                      <a:r>
                        <a:rPr lang="en-GB" sz="900"/>
                        <a:t>Search strategy decisions in agentic pipelines</a:t>
                      </a:r>
                      <a:endParaRPr sz="9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D9D9D9"/>
                    </a:solidFill>
                  </a:tcPr>
                </a:tc>
                <a:tc>
                  <a:txBody>
                    <a:bodyPr/>
                    <a:lstStyle/>
                    <a:p>
                      <a:pPr indent="0" lvl="0" marL="0" rtl="0" algn="l">
                        <a:spcBef>
                          <a:spcPts val="0"/>
                        </a:spcBef>
                        <a:spcAft>
                          <a:spcPts val="0"/>
                        </a:spcAft>
                        <a:buNone/>
                      </a:pPr>
                      <a:r>
                        <a:rPr lang="en-GB" sz="900"/>
                        <a:t>Untested</a:t>
                      </a:r>
                      <a:endParaRPr sz="9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F4CCCC"/>
                    </a:solidFill>
                  </a:tcPr>
                </a:tc>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D9EEB"/>
        </a:solidFill>
      </p:bgPr>
    </p:bg>
    <p:spTree>
      <p:nvGrpSpPr>
        <p:cNvPr id="502" name="Shape 502"/>
        <p:cNvGrpSpPr/>
        <p:nvPr/>
      </p:nvGrpSpPr>
      <p:grpSpPr>
        <a:xfrm>
          <a:off x="0" y="0"/>
          <a:ext cx="0" cy="0"/>
          <a:chOff x="0" y="0"/>
          <a:chExt cx="0" cy="0"/>
        </a:xfrm>
      </p:grpSpPr>
      <p:sp>
        <p:nvSpPr>
          <p:cNvPr id="503" name="Google Shape;503;p67"/>
          <p:cNvSpPr txBox="1"/>
          <p:nvPr>
            <p:ph type="title"/>
          </p:nvPr>
        </p:nvSpPr>
        <p:spPr>
          <a:xfrm>
            <a:off x="311700" y="2150850"/>
            <a:ext cx="8832300" cy="8418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b="1" lang="en-GB">
                <a:solidFill>
                  <a:schemeClr val="lt1"/>
                </a:solidFill>
                <a:latin typeface="Palatino Linotype"/>
                <a:ea typeface="Palatino Linotype"/>
                <a:cs typeface="Palatino Linotype"/>
                <a:sym typeface="Palatino Linotype"/>
              </a:rPr>
              <a:t>4. Implications, open problems, takeaways</a:t>
            </a:r>
            <a:endParaRPr b="1">
              <a:solidFill>
                <a:srgbClr val="93C47D"/>
              </a:solidFill>
              <a:latin typeface="Palatino Linotype"/>
              <a:ea typeface="Palatino Linotype"/>
              <a:cs typeface="Palatino Linotype"/>
              <a:sym typeface="Palatino Linotype"/>
            </a:endParaRPr>
          </a:p>
        </p:txBody>
      </p:sp>
      <p:sp>
        <p:nvSpPr>
          <p:cNvPr id="504" name="Google Shape;504;p6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8" name="Shape 508"/>
        <p:cNvGrpSpPr/>
        <p:nvPr/>
      </p:nvGrpSpPr>
      <p:grpSpPr>
        <a:xfrm>
          <a:off x="0" y="0"/>
          <a:ext cx="0" cy="0"/>
          <a:chOff x="0" y="0"/>
          <a:chExt cx="0" cy="0"/>
        </a:xfrm>
      </p:grpSpPr>
      <p:sp>
        <p:nvSpPr>
          <p:cNvPr id="509" name="Google Shape;509;p6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n-GB"/>
              <a:t>Evaluation design</a:t>
            </a:r>
            <a:endParaRPr b="1"/>
          </a:p>
        </p:txBody>
      </p:sp>
      <p:sp>
        <p:nvSpPr>
          <p:cNvPr id="510" name="Google Shape;510;p6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
        <p:nvSpPr>
          <p:cNvPr id="511" name="Google Shape;511;p68"/>
          <p:cNvSpPr txBox="1"/>
          <p:nvPr>
            <p:ph idx="1" type="body"/>
          </p:nvPr>
        </p:nvSpPr>
        <p:spPr>
          <a:xfrm>
            <a:off x="311700" y="1152475"/>
            <a:ext cx="8520600" cy="509400"/>
          </a:xfrm>
          <a:prstGeom prst="rect">
            <a:avLst/>
          </a:prstGeom>
        </p:spPr>
        <p:txBody>
          <a:bodyPr anchorCtr="0" anchor="ctr" bIns="91425" lIns="91425" spcFirstLastPara="1" rIns="91425" wrap="square" tIns="91425">
            <a:normAutofit/>
          </a:bodyPr>
          <a:lstStyle/>
          <a:p>
            <a:pPr indent="0" lvl="0" marL="0" rtl="0" algn="l">
              <a:spcBef>
                <a:spcPts val="0"/>
              </a:spcBef>
              <a:spcAft>
                <a:spcPts val="1200"/>
              </a:spcAft>
              <a:buNone/>
            </a:pPr>
            <a:r>
              <a:rPr lang="en-GB"/>
              <a:t>A credible evaluation of reasoning-intensive IR must be:</a:t>
            </a:r>
            <a:endParaRPr/>
          </a:p>
        </p:txBody>
      </p:sp>
      <p:sp>
        <p:nvSpPr>
          <p:cNvPr id="512" name="Google Shape;512;p68"/>
          <p:cNvSpPr txBox="1"/>
          <p:nvPr>
            <p:ph idx="1" type="body"/>
          </p:nvPr>
        </p:nvSpPr>
        <p:spPr>
          <a:xfrm>
            <a:off x="311300" y="1769645"/>
            <a:ext cx="4191300" cy="1005900"/>
          </a:xfrm>
          <a:prstGeom prst="rect">
            <a:avLst/>
          </a:prstGeom>
          <a:solidFill>
            <a:srgbClr val="D9EAD3"/>
          </a:solidFill>
          <a:ln>
            <a:noFill/>
          </a:ln>
        </p:spPr>
        <p:txBody>
          <a:bodyPr anchorCtr="0" anchor="t" bIns="91425" lIns="91425" spcFirstLastPara="1" rIns="91425" wrap="square" tIns="91425">
            <a:normAutofit fontScale="92500" lnSpcReduction="20000"/>
          </a:bodyPr>
          <a:lstStyle/>
          <a:p>
            <a:pPr indent="0" lvl="0" marL="0" rtl="0" algn="l">
              <a:lnSpc>
                <a:spcPct val="100000"/>
              </a:lnSpc>
              <a:spcBef>
                <a:spcPts val="0"/>
              </a:spcBef>
              <a:spcAft>
                <a:spcPts val="0"/>
              </a:spcAft>
              <a:buNone/>
            </a:pPr>
            <a:r>
              <a:rPr b="1" lang="en-GB" sz="1500"/>
              <a:t>Leakage resistant</a:t>
            </a:r>
            <a:endParaRPr sz="1500"/>
          </a:p>
          <a:p>
            <a:pPr indent="0" lvl="0" marL="0" rtl="0" algn="l">
              <a:lnSpc>
                <a:spcPct val="100000"/>
              </a:lnSpc>
              <a:spcBef>
                <a:spcPts val="0"/>
              </a:spcBef>
              <a:spcAft>
                <a:spcPts val="0"/>
              </a:spcAft>
              <a:buNone/>
            </a:pPr>
            <a:r>
              <a:t/>
            </a:r>
            <a:endParaRPr sz="1400"/>
          </a:p>
          <a:p>
            <a:pPr indent="0" lvl="0" marL="0" rtl="0" algn="l">
              <a:lnSpc>
                <a:spcPct val="100000"/>
              </a:lnSpc>
              <a:spcBef>
                <a:spcPts val="0"/>
              </a:spcBef>
              <a:spcAft>
                <a:spcPts val="0"/>
              </a:spcAft>
              <a:buNone/>
            </a:pPr>
            <a:r>
              <a:rPr lang="en-GB" sz="1400"/>
              <a:t>Queries from sources unlikely to appear in training data: recent publications, proprietary datasets, template-generated novel surface forms.</a:t>
            </a:r>
            <a:endParaRPr sz="1600"/>
          </a:p>
        </p:txBody>
      </p:sp>
      <p:sp>
        <p:nvSpPr>
          <p:cNvPr id="513" name="Google Shape;513;p68"/>
          <p:cNvSpPr txBox="1"/>
          <p:nvPr>
            <p:ph idx="1" type="body"/>
          </p:nvPr>
        </p:nvSpPr>
        <p:spPr>
          <a:xfrm>
            <a:off x="311300" y="2884149"/>
            <a:ext cx="4191300" cy="1005900"/>
          </a:xfrm>
          <a:prstGeom prst="rect">
            <a:avLst/>
          </a:prstGeom>
          <a:solidFill>
            <a:srgbClr val="FFF2CC"/>
          </a:solidFill>
          <a:ln>
            <a:noFill/>
          </a:ln>
        </p:spPr>
        <p:txBody>
          <a:bodyPr anchorCtr="0" anchor="t" bIns="91425" lIns="91425" spcFirstLastPara="1" rIns="91425" wrap="square" tIns="91425">
            <a:normAutofit fontScale="92500" lnSpcReduction="20000"/>
          </a:bodyPr>
          <a:lstStyle/>
          <a:p>
            <a:pPr indent="0" lvl="0" marL="0" rtl="0" algn="l">
              <a:lnSpc>
                <a:spcPct val="100000"/>
              </a:lnSpc>
              <a:spcBef>
                <a:spcPts val="0"/>
              </a:spcBef>
              <a:spcAft>
                <a:spcPts val="0"/>
              </a:spcAft>
              <a:buNone/>
            </a:pPr>
            <a:r>
              <a:rPr b="1" lang="en-GB" sz="1500"/>
              <a:t>Multi-hop with verified structure</a:t>
            </a:r>
            <a:endParaRPr sz="1500"/>
          </a:p>
          <a:p>
            <a:pPr indent="0" lvl="0" marL="0" rtl="0" algn="l">
              <a:lnSpc>
                <a:spcPct val="100000"/>
              </a:lnSpc>
              <a:spcBef>
                <a:spcPts val="0"/>
              </a:spcBef>
              <a:spcAft>
                <a:spcPts val="0"/>
              </a:spcAft>
              <a:buNone/>
            </a:pPr>
            <a:r>
              <a:t/>
            </a:r>
            <a:endParaRPr sz="1400"/>
          </a:p>
          <a:p>
            <a:pPr indent="0" lvl="0" marL="0" rtl="0" algn="l">
              <a:lnSpc>
                <a:spcPct val="100000"/>
              </a:lnSpc>
              <a:spcBef>
                <a:spcPts val="0"/>
              </a:spcBef>
              <a:spcAft>
                <a:spcPts val="0"/>
              </a:spcAft>
              <a:buNone/>
            </a:pPr>
            <a:r>
              <a:rPr lang="en-GB" sz="1400"/>
              <a:t>Not just questions that happen to require multiple documents, hop structure explicitly annotated so each hop is independently evaluable.</a:t>
            </a:r>
            <a:endParaRPr sz="1600"/>
          </a:p>
        </p:txBody>
      </p:sp>
      <p:sp>
        <p:nvSpPr>
          <p:cNvPr id="514" name="Google Shape;514;p68"/>
          <p:cNvSpPr txBox="1"/>
          <p:nvPr>
            <p:ph idx="1" type="body"/>
          </p:nvPr>
        </p:nvSpPr>
        <p:spPr>
          <a:xfrm>
            <a:off x="4641000" y="1769645"/>
            <a:ext cx="4191300" cy="1005900"/>
          </a:xfrm>
          <a:prstGeom prst="rect">
            <a:avLst/>
          </a:prstGeom>
          <a:solidFill>
            <a:srgbClr val="C9DAF8"/>
          </a:solidFill>
          <a:ln>
            <a:noFill/>
          </a:ln>
        </p:spPr>
        <p:txBody>
          <a:bodyPr anchorCtr="0" anchor="t" bIns="91425" lIns="91425" spcFirstLastPara="1" rIns="91425" wrap="square" tIns="91425">
            <a:normAutofit fontScale="92500" lnSpcReduction="20000"/>
          </a:bodyPr>
          <a:lstStyle/>
          <a:p>
            <a:pPr indent="0" lvl="0" marL="0" rtl="0" algn="l">
              <a:lnSpc>
                <a:spcPct val="100000"/>
              </a:lnSpc>
              <a:spcBef>
                <a:spcPts val="0"/>
              </a:spcBef>
              <a:spcAft>
                <a:spcPts val="0"/>
              </a:spcAft>
              <a:buNone/>
            </a:pPr>
            <a:r>
              <a:rPr b="1" lang="en-GB" sz="1500"/>
              <a:t>Reasoning-type stratified</a:t>
            </a:r>
            <a:endParaRPr sz="1500"/>
          </a:p>
          <a:p>
            <a:pPr indent="0" lvl="0" marL="0" rtl="0" algn="l">
              <a:lnSpc>
                <a:spcPct val="100000"/>
              </a:lnSpc>
              <a:spcBef>
                <a:spcPts val="0"/>
              </a:spcBef>
              <a:spcAft>
                <a:spcPts val="0"/>
              </a:spcAft>
              <a:buNone/>
            </a:pPr>
            <a:r>
              <a:t/>
            </a:r>
            <a:endParaRPr sz="1400"/>
          </a:p>
          <a:p>
            <a:pPr indent="0" lvl="0" marL="0" rtl="0" algn="l">
              <a:lnSpc>
                <a:spcPct val="100000"/>
              </a:lnSpc>
              <a:spcBef>
                <a:spcPts val="0"/>
              </a:spcBef>
              <a:spcAft>
                <a:spcPts val="0"/>
              </a:spcAft>
              <a:buNone/>
            </a:pPr>
            <a:r>
              <a:rPr lang="en-GB" sz="1400"/>
              <a:t>Separate tracks for different reasoning types. Aggregate scores conceal type-specific failures. Use the 12-type taxonomy as the stratification grid.</a:t>
            </a:r>
            <a:endParaRPr sz="1600"/>
          </a:p>
        </p:txBody>
      </p:sp>
      <p:sp>
        <p:nvSpPr>
          <p:cNvPr id="515" name="Google Shape;515;p68"/>
          <p:cNvSpPr txBox="1"/>
          <p:nvPr>
            <p:ph idx="1" type="body"/>
          </p:nvPr>
        </p:nvSpPr>
        <p:spPr>
          <a:xfrm>
            <a:off x="4641000" y="2884149"/>
            <a:ext cx="4191300" cy="1005900"/>
          </a:xfrm>
          <a:prstGeom prst="rect">
            <a:avLst/>
          </a:prstGeom>
          <a:solidFill>
            <a:srgbClr val="F4CCCC"/>
          </a:solidFill>
          <a:ln>
            <a:noFill/>
          </a:ln>
        </p:spPr>
        <p:txBody>
          <a:bodyPr anchorCtr="0" anchor="t" bIns="91425" lIns="91425" spcFirstLastPara="1" rIns="91425" wrap="square" tIns="91425">
            <a:normAutofit fontScale="92500" lnSpcReduction="20000"/>
          </a:bodyPr>
          <a:lstStyle/>
          <a:p>
            <a:pPr indent="0" lvl="0" marL="0" rtl="0" algn="l">
              <a:lnSpc>
                <a:spcPct val="100000"/>
              </a:lnSpc>
              <a:spcBef>
                <a:spcPts val="0"/>
              </a:spcBef>
              <a:spcAft>
                <a:spcPts val="0"/>
              </a:spcAft>
              <a:buNone/>
            </a:pPr>
            <a:r>
              <a:rPr b="1" lang="en-GB" sz="1500"/>
              <a:t>Faithful trace evaluation</a:t>
            </a:r>
            <a:endParaRPr sz="1500"/>
          </a:p>
          <a:p>
            <a:pPr indent="0" lvl="0" marL="0" rtl="0" algn="l">
              <a:lnSpc>
                <a:spcPct val="100000"/>
              </a:lnSpc>
              <a:spcBef>
                <a:spcPts val="0"/>
              </a:spcBef>
              <a:spcAft>
                <a:spcPts val="0"/>
              </a:spcAft>
              <a:buNone/>
            </a:pPr>
            <a:r>
              <a:t/>
            </a:r>
            <a:endParaRPr sz="1400"/>
          </a:p>
          <a:p>
            <a:pPr indent="0" lvl="0" marL="0" rtl="0" algn="l">
              <a:lnSpc>
                <a:spcPct val="100000"/>
              </a:lnSpc>
              <a:spcBef>
                <a:spcPts val="0"/>
              </a:spcBef>
              <a:spcAft>
                <a:spcPts val="0"/>
              </a:spcAft>
              <a:buNone/>
            </a:pPr>
            <a:r>
              <a:rPr lang="en-GB" sz="1400"/>
              <a:t>For agentic systems: evaluate not just final answers but whether the reasoning trace causally accounts for the answer, not just post-hoc rationalization.</a:t>
            </a:r>
            <a:endParaRPr sz="1600"/>
          </a:p>
        </p:txBody>
      </p:sp>
      <p:sp>
        <p:nvSpPr>
          <p:cNvPr id="516" name="Google Shape;516;p68"/>
          <p:cNvSpPr txBox="1"/>
          <p:nvPr>
            <p:ph idx="1" type="body"/>
          </p:nvPr>
        </p:nvSpPr>
        <p:spPr>
          <a:xfrm>
            <a:off x="311700" y="4345975"/>
            <a:ext cx="8520600" cy="509400"/>
          </a:xfrm>
          <a:prstGeom prst="rect">
            <a:avLst/>
          </a:prstGeom>
        </p:spPr>
        <p:txBody>
          <a:bodyPr anchorCtr="0" anchor="ctr" bIns="91425" lIns="91425" spcFirstLastPara="1" rIns="91425" wrap="square" tIns="91425">
            <a:normAutofit/>
          </a:bodyPr>
          <a:lstStyle/>
          <a:p>
            <a:pPr indent="0" lvl="0" marL="0" rtl="0" algn="ctr">
              <a:spcBef>
                <a:spcPts val="0"/>
              </a:spcBef>
              <a:spcAft>
                <a:spcPts val="1200"/>
              </a:spcAft>
              <a:buNone/>
            </a:pPr>
            <a:r>
              <a:rPr i="1" lang="en-GB">
                <a:solidFill>
                  <a:schemeClr val="accent1"/>
                </a:solidFill>
              </a:rPr>
              <a:t>IR already has evaluation tradition and infrastructure. Now design the right tasks</a:t>
            </a:r>
            <a:endParaRPr i="1">
              <a:solidFill>
                <a:schemeClr val="accent1"/>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0" name="Shape 520"/>
        <p:cNvGrpSpPr/>
        <p:nvPr/>
      </p:nvGrpSpPr>
      <p:grpSpPr>
        <a:xfrm>
          <a:off x="0" y="0"/>
          <a:ext cx="0" cy="0"/>
          <a:chOff x="0" y="0"/>
          <a:chExt cx="0" cy="0"/>
        </a:xfrm>
      </p:grpSpPr>
      <p:sp>
        <p:nvSpPr>
          <p:cNvPr id="521" name="Google Shape;521;p6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n-GB"/>
              <a:t>System design implications</a:t>
            </a:r>
            <a:endParaRPr b="1"/>
          </a:p>
        </p:txBody>
      </p:sp>
      <p:sp>
        <p:nvSpPr>
          <p:cNvPr id="522" name="Google Shape;522;p6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
        <p:nvSpPr>
          <p:cNvPr id="523" name="Google Shape;523;p69"/>
          <p:cNvSpPr txBox="1"/>
          <p:nvPr>
            <p:ph idx="1" type="body"/>
          </p:nvPr>
        </p:nvSpPr>
        <p:spPr>
          <a:xfrm>
            <a:off x="311700" y="1152475"/>
            <a:ext cx="8520600" cy="509400"/>
          </a:xfrm>
          <a:prstGeom prst="rect">
            <a:avLst/>
          </a:prstGeom>
        </p:spPr>
        <p:txBody>
          <a:bodyPr anchorCtr="0" anchor="ctr" bIns="91425" lIns="91425" spcFirstLastPara="1" rIns="91425" wrap="square" tIns="91425">
            <a:normAutofit fontScale="92500"/>
          </a:bodyPr>
          <a:lstStyle/>
          <a:p>
            <a:pPr indent="0" lvl="0" marL="0" rtl="0" algn="l">
              <a:spcBef>
                <a:spcPts val="0"/>
              </a:spcBef>
              <a:spcAft>
                <a:spcPts val="1200"/>
              </a:spcAft>
              <a:buNone/>
            </a:pPr>
            <a:r>
              <a:rPr lang="en-GB"/>
              <a:t>Each failure mode implies a design response, presented as </a:t>
            </a:r>
            <a:r>
              <a:rPr b="1" lang="en-GB">
                <a:solidFill>
                  <a:schemeClr val="accent1"/>
                </a:solidFill>
              </a:rPr>
              <a:t>hypotheses</a:t>
            </a:r>
            <a:r>
              <a:rPr lang="en-GB"/>
              <a:t>, not solutions:</a:t>
            </a:r>
            <a:endParaRPr/>
          </a:p>
        </p:txBody>
      </p:sp>
      <p:sp>
        <p:nvSpPr>
          <p:cNvPr id="524" name="Google Shape;524;p69"/>
          <p:cNvSpPr txBox="1"/>
          <p:nvPr>
            <p:ph idx="1" type="body"/>
          </p:nvPr>
        </p:nvSpPr>
        <p:spPr>
          <a:xfrm>
            <a:off x="2827300" y="1727775"/>
            <a:ext cx="6004800" cy="365700"/>
          </a:xfrm>
          <a:prstGeom prst="rect">
            <a:avLst/>
          </a:prstGeom>
          <a:solidFill>
            <a:srgbClr val="D9EAD3"/>
          </a:solidFill>
          <a:ln>
            <a:noFill/>
          </a:ln>
        </p:spPr>
        <p:txBody>
          <a:bodyPr anchorCtr="0" anchor="ctr" bIns="91425" lIns="91425" spcFirstLastPara="1" rIns="91425" wrap="square" tIns="91425">
            <a:normAutofit fontScale="77500"/>
          </a:bodyPr>
          <a:lstStyle/>
          <a:p>
            <a:pPr indent="0" lvl="0" marL="0" rtl="0" algn="l">
              <a:lnSpc>
                <a:spcPct val="100000"/>
              </a:lnSpc>
              <a:spcBef>
                <a:spcPts val="0"/>
              </a:spcBef>
              <a:spcAft>
                <a:spcPts val="0"/>
              </a:spcAft>
              <a:buNone/>
            </a:pPr>
            <a:r>
              <a:rPr lang="en-GB" sz="1400"/>
              <a:t>Retrieval augmented with formal semantic representations abstracting over surface form</a:t>
            </a:r>
            <a:endParaRPr sz="1400"/>
          </a:p>
        </p:txBody>
      </p:sp>
      <p:sp>
        <p:nvSpPr>
          <p:cNvPr id="525" name="Google Shape;525;p69"/>
          <p:cNvSpPr txBox="1"/>
          <p:nvPr>
            <p:ph idx="1" type="body"/>
          </p:nvPr>
        </p:nvSpPr>
        <p:spPr>
          <a:xfrm>
            <a:off x="311700" y="1727775"/>
            <a:ext cx="2103000" cy="365700"/>
          </a:xfrm>
          <a:prstGeom prst="rect">
            <a:avLst/>
          </a:prstGeom>
          <a:solidFill>
            <a:srgbClr val="C9DAF8"/>
          </a:solidFill>
          <a:ln>
            <a:noFill/>
          </a:ln>
        </p:spPr>
        <p:txBody>
          <a:bodyPr anchorCtr="0" anchor="ctr" bIns="91425" lIns="91425" spcFirstLastPara="1" rIns="91425" wrap="square" tIns="91425">
            <a:normAutofit fontScale="85000"/>
          </a:bodyPr>
          <a:lstStyle/>
          <a:p>
            <a:pPr indent="0" lvl="0" marL="0" rtl="0" algn="l">
              <a:spcBef>
                <a:spcPts val="0"/>
              </a:spcBef>
              <a:spcAft>
                <a:spcPts val="1200"/>
              </a:spcAft>
              <a:buNone/>
            </a:pPr>
            <a:r>
              <a:rPr lang="en-GB" sz="1400"/>
              <a:t>Surface fragility</a:t>
            </a:r>
            <a:endParaRPr sz="1400"/>
          </a:p>
        </p:txBody>
      </p:sp>
      <p:sp>
        <p:nvSpPr>
          <p:cNvPr id="526" name="Google Shape;526;p69"/>
          <p:cNvSpPr txBox="1"/>
          <p:nvPr/>
        </p:nvSpPr>
        <p:spPr>
          <a:xfrm>
            <a:off x="2386000" y="1729887"/>
            <a:ext cx="441300" cy="320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sz="2500">
                <a:solidFill>
                  <a:schemeClr val="dk2"/>
                </a:solidFill>
              </a:rPr>
              <a:t>→</a:t>
            </a:r>
            <a:endParaRPr b="1" sz="2500"/>
          </a:p>
        </p:txBody>
      </p:sp>
      <p:sp>
        <p:nvSpPr>
          <p:cNvPr id="527" name="Google Shape;527;p69"/>
          <p:cNvSpPr txBox="1"/>
          <p:nvPr>
            <p:ph idx="1" type="body"/>
          </p:nvPr>
        </p:nvSpPr>
        <p:spPr>
          <a:xfrm>
            <a:off x="2827400" y="2295697"/>
            <a:ext cx="6004800" cy="365700"/>
          </a:xfrm>
          <a:prstGeom prst="rect">
            <a:avLst/>
          </a:prstGeom>
          <a:solidFill>
            <a:srgbClr val="D9EAD3"/>
          </a:solidFill>
          <a:ln>
            <a:noFill/>
          </a:ln>
        </p:spPr>
        <p:txBody>
          <a:bodyPr anchorCtr="0" anchor="ctr" bIns="91425" lIns="91425" spcFirstLastPara="1" rIns="91425" wrap="square" tIns="91425">
            <a:normAutofit fontScale="85000"/>
          </a:bodyPr>
          <a:lstStyle/>
          <a:p>
            <a:pPr indent="0" lvl="0" marL="0" rtl="0" algn="l">
              <a:lnSpc>
                <a:spcPct val="100000"/>
              </a:lnSpc>
              <a:spcBef>
                <a:spcPts val="0"/>
              </a:spcBef>
              <a:spcAft>
                <a:spcPts val="0"/>
              </a:spcAft>
              <a:buNone/>
            </a:pPr>
            <a:r>
              <a:rPr lang="en-GB" sz="1400"/>
              <a:t>Explicit subproblem decomposition with intermediate verification and backtracking</a:t>
            </a:r>
            <a:endParaRPr sz="1400"/>
          </a:p>
        </p:txBody>
      </p:sp>
      <p:sp>
        <p:nvSpPr>
          <p:cNvPr id="528" name="Google Shape;528;p69"/>
          <p:cNvSpPr txBox="1"/>
          <p:nvPr>
            <p:ph idx="1" type="body"/>
          </p:nvPr>
        </p:nvSpPr>
        <p:spPr>
          <a:xfrm>
            <a:off x="311800" y="2295697"/>
            <a:ext cx="2103000" cy="365700"/>
          </a:xfrm>
          <a:prstGeom prst="rect">
            <a:avLst/>
          </a:prstGeom>
          <a:solidFill>
            <a:srgbClr val="C9DAF8"/>
          </a:solidFill>
          <a:ln>
            <a:noFill/>
          </a:ln>
        </p:spPr>
        <p:txBody>
          <a:bodyPr anchorCtr="0" anchor="ctr" bIns="91425" lIns="91425" spcFirstLastPara="1" rIns="91425" wrap="square" tIns="91425">
            <a:normAutofit fontScale="85000"/>
          </a:bodyPr>
          <a:lstStyle/>
          <a:p>
            <a:pPr indent="0" lvl="0" marL="0" rtl="0" algn="l">
              <a:spcBef>
                <a:spcPts val="0"/>
              </a:spcBef>
              <a:spcAft>
                <a:spcPts val="1200"/>
              </a:spcAft>
              <a:buNone/>
            </a:pPr>
            <a:r>
              <a:rPr lang="en-GB" sz="1400"/>
              <a:t>Compositional failure</a:t>
            </a:r>
            <a:endParaRPr sz="1400"/>
          </a:p>
        </p:txBody>
      </p:sp>
      <p:sp>
        <p:nvSpPr>
          <p:cNvPr id="529" name="Google Shape;529;p69"/>
          <p:cNvSpPr txBox="1"/>
          <p:nvPr/>
        </p:nvSpPr>
        <p:spPr>
          <a:xfrm>
            <a:off x="2386100" y="2297809"/>
            <a:ext cx="441300" cy="320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sz="2500">
                <a:solidFill>
                  <a:schemeClr val="dk2"/>
                </a:solidFill>
              </a:rPr>
              <a:t>→</a:t>
            </a:r>
            <a:endParaRPr b="1" sz="2500"/>
          </a:p>
        </p:txBody>
      </p:sp>
      <p:sp>
        <p:nvSpPr>
          <p:cNvPr id="530" name="Google Shape;530;p69"/>
          <p:cNvSpPr txBox="1"/>
          <p:nvPr>
            <p:ph idx="1" type="body"/>
          </p:nvPr>
        </p:nvSpPr>
        <p:spPr>
          <a:xfrm>
            <a:off x="2827400" y="2863619"/>
            <a:ext cx="6004800" cy="365700"/>
          </a:xfrm>
          <a:prstGeom prst="rect">
            <a:avLst/>
          </a:prstGeom>
          <a:solidFill>
            <a:srgbClr val="D9EAD3"/>
          </a:solidFill>
          <a:ln>
            <a:noFill/>
          </a:ln>
        </p:spPr>
        <p:txBody>
          <a:bodyPr anchorCtr="0" anchor="ctr" bIns="91425" lIns="91425" spcFirstLastPara="1" rIns="91425" wrap="square" tIns="91425">
            <a:normAutofit fontScale="77500"/>
          </a:bodyPr>
          <a:lstStyle/>
          <a:p>
            <a:pPr indent="0" lvl="0" marL="0" rtl="0" algn="l">
              <a:lnSpc>
                <a:spcPct val="100000"/>
              </a:lnSpc>
              <a:spcBef>
                <a:spcPts val="0"/>
              </a:spcBef>
              <a:spcAft>
                <a:spcPts val="0"/>
              </a:spcAft>
              <a:buNone/>
            </a:pPr>
            <a:r>
              <a:rPr lang="en-GB" sz="1400"/>
              <a:t>Retrieved document filtration before reasoning, not after; confidence-weighted aggregation</a:t>
            </a:r>
            <a:endParaRPr sz="1400"/>
          </a:p>
        </p:txBody>
      </p:sp>
      <p:sp>
        <p:nvSpPr>
          <p:cNvPr id="531" name="Google Shape;531;p69"/>
          <p:cNvSpPr txBox="1"/>
          <p:nvPr>
            <p:ph idx="1" type="body"/>
          </p:nvPr>
        </p:nvSpPr>
        <p:spPr>
          <a:xfrm>
            <a:off x="311800" y="2863619"/>
            <a:ext cx="2103000" cy="365700"/>
          </a:xfrm>
          <a:prstGeom prst="rect">
            <a:avLst/>
          </a:prstGeom>
          <a:solidFill>
            <a:srgbClr val="C9DAF8"/>
          </a:solidFill>
          <a:ln>
            <a:noFill/>
          </a:ln>
        </p:spPr>
        <p:txBody>
          <a:bodyPr anchorCtr="0" anchor="ctr" bIns="91425" lIns="91425" spcFirstLastPara="1" rIns="91425" wrap="square" tIns="91425">
            <a:normAutofit fontScale="85000"/>
          </a:bodyPr>
          <a:lstStyle/>
          <a:p>
            <a:pPr indent="0" lvl="0" marL="0" rtl="0" algn="l">
              <a:spcBef>
                <a:spcPts val="0"/>
              </a:spcBef>
              <a:spcAft>
                <a:spcPts val="1200"/>
              </a:spcAft>
              <a:buNone/>
            </a:pPr>
            <a:r>
              <a:rPr lang="en-GB" sz="1400"/>
              <a:t>Noise sensitivity</a:t>
            </a:r>
            <a:endParaRPr sz="1400"/>
          </a:p>
        </p:txBody>
      </p:sp>
      <p:sp>
        <p:nvSpPr>
          <p:cNvPr id="532" name="Google Shape;532;p69"/>
          <p:cNvSpPr txBox="1"/>
          <p:nvPr/>
        </p:nvSpPr>
        <p:spPr>
          <a:xfrm>
            <a:off x="2386100" y="2865731"/>
            <a:ext cx="441300" cy="320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sz="2500">
                <a:solidFill>
                  <a:schemeClr val="dk2"/>
                </a:solidFill>
              </a:rPr>
              <a:t>→</a:t>
            </a:r>
            <a:endParaRPr b="1" sz="2500"/>
          </a:p>
        </p:txBody>
      </p:sp>
      <p:sp>
        <p:nvSpPr>
          <p:cNvPr id="533" name="Google Shape;533;p69"/>
          <p:cNvSpPr txBox="1"/>
          <p:nvPr>
            <p:ph idx="1" type="body"/>
          </p:nvPr>
        </p:nvSpPr>
        <p:spPr>
          <a:xfrm>
            <a:off x="2827400" y="3410829"/>
            <a:ext cx="6004800" cy="365700"/>
          </a:xfrm>
          <a:prstGeom prst="rect">
            <a:avLst/>
          </a:prstGeom>
          <a:solidFill>
            <a:srgbClr val="D9EAD3"/>
          </a:solidFill>
          <a:ln>
            <a:noFill/>
          </a:ln>
        </p:spPr>
        <p:txBody>
          <a:bodyPr anchorCtr="0" anchor="ctr" bIns="91425" lIns="91425" spcFirstLastPara="1" rIns="91425" wrap="square" tIns="91425">
            <a:normAutofit fontScale="85000"/>
          </a:bodyPr>
          <a:lstStyle/>
          <a:p>
            <a:pPr indent="0" lvl="0" marL="0" rtl="0" algn="l">
              <a:lnSpc>
                <a:spcPct val="100000"/>
              </a:lnSpc>
              <a:spcBef>
                <a:spcPts val="0"/>
              </a:spcBef>
              <a:spcAft>
                <a:spcPts val="0"/>
              </a:spcAft>
              <a:buNone/>
            </a:pPr>
            <a:r>
              <a:rPr lang="en-GB" sz="1400"/>
              <a:t>Retrieval-order-invariant aggregation; multiple orderings with consistency checking</a:t>
            </a:r>
            <a:endParaRPr sz="1400"/>
          </a:p>
        </p:txBody>
      </p:sp>
      <p:sp>
        <p:nvSpPr>
          <p:cNvPr id="534" name="Google Shape;534;p69"/>
          <p:cNvSpPr txBox="1"/>
          <p:nvPr>
            <p:ph idx="1" type="body"/>
          </p:nvPr>
        </p:nvSpPr>
        <p:spPr>
          <a:xfrm>
            <a:off x="311800" y="3410829"/>
            <a:ext cx="2103000" cy="365700"/>
          </a:xfrm>
          <a:prstGeom prst="rect">
            <a:avLst/>
          </a:prstGeom>
          <a:solidFill>
            <a:srgbClr val="C9DAF8"/>
          </a:solidFill>
          <a:ln>
            <a:noFill/>
          </a:ln>
        </p:spPr>
        <p:txBody>
          <a:bodyPr anchorCtr="0" anchor="ctr" bIns="91425" lIns="91425" spcFirstLastPara="1" rIns="91425" wrap="square" tIns="91425">
            <a:normAutofit fontScale="85000"/>
          </a:bodyPr>
          <a:lstStyle/>
          <a:p>
            <a:pPr indent="0" lvl="0" marL="0" rtl="0" algn="l">
              <a:spcBef>
                <a:spcPts val="0"/>
              </a:spcBef>
              <a:spcAft>
                <a:spcPts val="1200"/>
              </a:spcAft>
              <a:buNone/>
            </a:pPr>
            <a:r>
              <a:rPr lang="en-GB" sz="1400"/>
              <a:t>Position bias</a:t>
            </a:r>
            <a:endParaRPr sz="1400"/>
          </a:p>
        </p:txBody>
      </p:sp>
      <p:sp>
        <p:nvSpPr>
          <p:cNvPr id="535" name="Google Shape;535;p69"/>
          <p:cNvSpPr txBox="1"/>
          <p:nvPr/>
        </p:nvSpPr>
        <p:spPr>
          <a:xfrm>
            <a:off x="2386100" y="3412941"/>
            <a:ext cx="441300" cy="320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sz="2500">
                <a:solidFill>
                  <a:schemeClr val="dk2"/>
                </a:solidFill>
              </a:rPr>
              <a:t>→</a:t>
            </a:r>
            <a:endParaRPr b="1" sz="2500"/>
          </a:p>
        </p:txBody>
      </p:sp>
      <p:sp>
        <p:nvSpPr>
          <p:cNvPr id="536" name="Google Shape;536;p69"/>
          <p:cNvSpPr txBox="1"/>
          <p:nvPr>
            <p:ph idx="1" type="body"/>
          </p:nvPr>
        </p:nvSpPr>
        <p:spPr>
          <a:xfrm>
            <a:off x="2827400" y="3958051"/>
            <a:ext cx="6004800" cy="365700"/>
          </a:xfrm>
          <a:prstGeom prst="rect">
            <a:avLst/>
          </a:prstGeom>
          <a:solidFill>
            <a:srgbClr val="D9EAD3"/>
          </a:solidFill>
          <a:ln>
            <a:noFill/>
          </a:ln>
        </p:spPr>
        <p:txBody>
          <a:bodyPr anchorCtr="0" anchor="ctr" bIns="91425" lIns="91425" spcFirstLastPara="1" rIns="91425" wrap="square" tIns="91425">
            <a:normAutofit fontScale="85000"/>
          </a:bodyPr>
          <a:lstStyle/>
          <a:p>
            <a:pPr indent="0" lvl="0" marL="0" rtl="0" algn="l">
              <a:lnSpc>
                <a:spcPct val="100000"/>
              </a:lnSpc>
              <a:spcBef>
                <a:spcPts val="0"/>
              </a:spcBef>
              <a:spcAft>
                <a:spcPts val="0"/>
              </a:spcAft>
              <a:buNone/>
            </a:pPr>
            <a:r>
              <a:rPr lang="en-GB" sz="1400"/>
              <a:t>Separate search-control logic from generation; formal verification of intermediate steps</a:t>
            </a:r>
            <a:endParaRPr sz="1400"/>
          </a:p>
        </p:txBody>
      </p:sp>
      <p:sp>
        <p:nvSpPr>
          <p:cNvPr id="537" name="Google Shape;537;p69"/>
          <p:cNvSpPr txBox="1"/>
          <p:nvPr>
            <p:ph idx="1" type="body"/>
          </p:nvPr>
        </p:nvSpPr>
        <p:spPr>
          <a:xfrm>
            <a:off x="311800" y="3958051"/>
            <a:ext cx="2103000" cy="365700"/>
          </a:xfrm>
          <a:prstGeom prst="rect">
            <a:avLst/>
          </a:prstGeom>
          <a:solidFill>
            <a:srgbClr val="C9DAF8"/>
          </a:solidFill>
          <a:ln>
            <a:noFill/>
          </a:ln>
        </p:spPr>
        <p:txBody>
          <a:bodyPr anchorCtr="0" anchor="ctr" bIns="91425" lIns="91425" spcFirstLastPara="1" rIns="91425" wrap="square" tIns="91425">
            <a:normAutofit fontScale="85000"/>
          </a:bodyPr>
          <a:lstStyle/>
          <a:p>
            <a:pPr indent="0" lvl="0" marL="0" rtl="0" algn="l">
              <a:spcBef>
                <a:spcPts val="0"/>
              </a:spcBef>
              <a:spcAft>
                <a:spcPts val="1200"/>
              </a:spcAft>
              <a:buNone/>
            </a:pPr>
            <a:r>
              <a:rPr lang="en-GB" sz="1400"/>
              <a:t>Unfaithful traces</a:t>
            </a:r>
            <a:endParaRPr sz="1400"/>
          </a:p>
        </p:txBody>
      </p:sp>
      <p:sp>
        <p:nvSpPr>
          <p:cNvPr id="538" name="Google Shape;538;p69"/>
          <p:cNvSpPr txBox="1"/>
          <p:nvPr/>
        </p:nvSpPr>
        <p:spPr>
          <a:xfrm>
            <a:off x="2386100" y="3960163"/>
            <a:ext cx="441300" cy="320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sz="2500">
                <a:solidFill>
                  <a:schemeClr val="dk2"/>
                </a:solidFill>
              </a:rPr>
              <a:t>→</a:t>
            </a:r>
            <a:endParaRPr b="1" sz="2500"/>
          </a:p>
        </p:txBody>
      </p:sp>
      <p:sp>
        <p:nvSpPr>
          <p:cNvPr id="539" name="Google Shape;539;p69"/>
          <p:cNvSpPr txBox="1"/>
          <p:nvPr>
            <p:ph idx="1" type="body"/>
          </p:nvPr>
        </p:nvSpPr>
        <p:spPr>
          <a:xfrm>
            <a:off x="2827400" y="4505273"/>
            <a:ext cx="6004800" cy="365700"/>
          </a:xfrm>
          <a:prstGeom prst="rect">
            <a:avLst/>
          </a:prstGeom>
          <a:solidFill>
            <a:srgbClr val="D9EAD3"/>
          </a:solidFill>
          <a:ln>
            <a:noFill/>
          </a:ln>
        </p:spPr>
        <p:txBody>
          <a:bodyPr anchorCtr="0" anchor="ctr" bIns="91425" lIns="91425" spcFirstLastPara="1" rIns="91425" wrap="square" tIns="91425">
            <a:normAutofit fontScale="85000"/>
          </a:bodyPr>
          <a:lstStyle/>
          <a:p>
            <a:pPr indent="0" lvl="0" marL="0" rtl="0" algn="l">
              <a:lnSpc>
                <a:spcPct val="100000"/>
              </a:lnSpc>
              <a:spcBef>
                <a:spcPts val="0"/>
              </a:spcBef>
              <a:spcAft>
                <a:spcPts val="0"/>
              </a:spcAft>
              <a:buNone/>
            </a:pPr>
            <a:r>
              <a:rPr lang="en-GB" sz="1400"/>
              <a:t>Specialized modules for causal, defeasible, dialectical reasoning not in base LLM</a:t>
            </a:r>
            <a:endParaRPr sz="1400"/>
          </a:p>
        </p:txBody>
      </p:sp>
      <p:sp>
        <p:nvSpPr>
          <p:cNvPr id="540" name="Google Shape;540;p69"/>
          <p:cNvSpPr txBox="1"/>
          <p:nvPr>
            <p:ph idx="1" type="body"/>
          </p:nvPr>
        </p:nvSpPr>
        <p:spPr>
          <a:xfrm>
            <a:off x="311800" y="4505273"/>
            <a:ext cx="2103000" cy="365700"/>
          </a:xfrm>
          <a:prstGeom prst="rect">
            <a:avLst/>
          </a:prstGeom>
          <a:solidFill>
            <a:srgbClr val="C9DAF8"/>
          </a:solidFill>
          <a:ln>
            <a:noFill/>
          </a:ln>
        </p:spPr>
        <p:txBody>
          <a:bodyPr anchorCtr="0" anchor="ctr" bIns="91425" lIns="91425" spcFirstLastPara="1" rIns="91425" wrap="square" tIns="91425">
            <a:normAutofit fontScale="85000"/>
          </a:bodyPr>
          <a:lstStyle/>
          <a:p>
            <a:pPr indent="0" lvl="0" marL="0" rtl="0" algn="l">
              <a:spcBef>
                <a:spcPts val="0"/>
              </a:spcBef>
              <a:spcAft>
                <a:spcPts val="1200"/>
              </a:spcAft>
              <a:buNone/>
            </a:pPr>
            <a:r>
              <a:rPr lang="en-GB" sz="1400"/>
              <a:t>Missing reasoning types</a:t>
            </a:r>
            <a:endParaRPr sz="1400"/>
          </a:p>
        </p:txBody>
      </p:sp>
      <p:sp>
        <p:nvSpPr>
          <p:cNvPr id="541" name="Google Shape;541;p69"/>
          <p:cNvSpPr txBox="1"/>
          <p:nvPr/>
        </p:nvSpPr>
        <p:spPr>
          <a:xfrm>
            <a:off x="2386100" y="4507385"/>
            <a:ext cx="441300" cy="320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sz="2500">
                <a:solidFill>
                  <a:schemeClr val="dk2"/>
                </a:solidFill>
              </a:rPr>
              <a:t>→</a:t>
            </a:r>
            <a:endParaRPr b="1" sz="25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2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2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2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2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3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3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3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3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3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3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3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3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3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4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4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3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5" name="Shape 545"/>
        <p:cNvGrpSpPr/>
        <p:nvPr/>
      </p:nvGrpSpPr>
      <p:grpSpPr>
        <a:xfrm>
          <a:off x="0" y="0"/>
          <a:ext cx="0" cy="0"/>
          <a:chOff x="0" y="0"/>
          <a:chExt cx="0" cy="0"/>
        </a:xfrm>
      </p:grpSpPr>
      <p:sp>
        <p:nvSpPr>
          <p:cNvPr id="546" name="Google Shape;546;p7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n-GB"/>
              <a:t>The normative gap</a:t>
            </a:r>
            <a:endParaRPr b="1"/>
          </a:p>
        </p:txBody>
      </p:sp>
      <p:sp>
        <p:nvSpPr>
          <p:cNvPr id="547" name="Google Shape;547;p7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
        <p:nvSpPr>
          <p:cNvPr id="548" name="Google Shape;548;p70"/>
          <p:cNvSpPr txBox="1"/>
          <p:nvPr>
            <p:ph idx="1" type="body"/>
          </p:nvPr>
        </p:nvSpPr>
        <p:spPr>
          <a:xfrm>
            <a:off x="311300" y="1114532"/>
            <a:ext cx="4191300" cy="1828800"/>
          </a:xfrm>
          <a:prstGeom prst="rect">
            <a:avLst/>
          </a:prstGeom>
          <a:solidFill>
            <a:srgbClr val="FFF2CC"/>
          </a:solidFill>
          <a:ln>
            <a:noFill/>
          </a:ln>
        </p:spPr>
        <p:txBody>
          <a:bodyPr anchorCtr="0" anchor="t" bIns="91425" lIns="91425" spcFirstLastPara="1" rIns="91425" wrap="square" tIns="91425">
            <a:normAutofit lnSpcReduction="20000"/>
          </a:bodyPr>
          <a:lstStyle/>
          <a:p>
            <a:pPr indent="0" lvl="0" marL="0" rtl="0" algn="l">
              <a:lnSpc>
                <a:spcPct val="100000"/>
              </a:lnSpc>
              <a:spcBef>
                <a:spcPts val="0"/>
              </a:spcBef>
              <a:spcAft>
                <a:spcPts val="0"/>
              </a:spcAft>
              <a:buNone/>
            </a:pPr>
            <a:r>
              <a:rPr b="1" lang="en-GB" sz="1500"/>
              <a:t>Current evaluation</a:t>
            </a:r>
            <a:endParaRPr sz="1500"/>
          </a:p>
          <a:p>
            <a:pPr indent="0" lvl="0" marL="0" rtl="0" algn="l">
              <a:lnSpc>
                <a:spcPct val="100000"/>
              </a:lnSpc>
              <a:spcBef>
                <a:spcPts val="0"/>
              </a:spcBef>
              <a:spcAft>
                <a:spcPts val="0"/>
              </a:spcAft>
              <a:buNone/>
            </a:pPr>
            <a:r>
              <a:t/>
            </a:r>
            <a:endParaRPr sz="1400"/>
          </a:p>
          <a:p>
            <a:pPr indent="0" lvl="0" marL="0" rtl="0" algn="l">
              <a:lnSpc>
                <a:spcPct val="100000"/>
              </a:lnSpc>
              <a:spcBef>
                <a:spcPts val="0"/>
              </a:spcBef>
              <a:spcAft>
                <a:spcPts val="0"/>
              </a:spcAft>
              <a:buNone/>
            </a:pPr>
            <a:r>
              <a:rPr i="1" lang="en-GB" sz="1400"/>
              <a:t>Behavioral criterion</a:t>
            </a:r>
            <a:endParaRPr sz="1400"/>
          </a:p>
          <a:p>
            <a:pPr indent="0" lvl="0" marL="0" rtl="0" algn="l">
              <a:lnSpc>
                <a:spcPct val="100000"/>
              </a:lnSpc>
              <a:spcBef>
                <a:spcPts val="0"/>
              </a:spcBef>
              <a:spcAft>
                <a:spcPts val="0"/>
              </a:spcAft>
              <a:buNone/>
            </a:pPr>
            <a:r>
              <a:rPr b="1" lang="en-GB" sz="1400"/>
              <a:t>Does the system produce correct outputs?</a:t>
            </a:r>
            <a:endParaRPr sz="1400"/>
          </a:p>
          <a:p>
            <a:pPr indent="0" lvl="0" marL="0" rtl="0" algn="l">
              <a:lnSpc>
                <a:spcPct val="100000"/>
              </a:lnSpc>
              <a:spcBef>
                <a:spcPts val="0"/>
              </a:spcBef>
              <a:spcAft>
                <a:spcPts val="0"/>
              </a:spcAft>
              <a:buNone/>
            </a:pPr>
            <a:r>
              <a:t/>
            </a:r>
            <a:endParaRPr sz="1400"/>
          </a:p>
          <a:p>
            <a:pPr indent="0" lvl="0" marL="0" rtl="0" algn="l">
              <a:lnSpc>
                <a:spcPct val="100000"/>
              </a:lnSpc>
              <a:spcBef>
                <a:spcPts val="0"/>
              </a:spcBef>
              <a:spcAft>
                <a:spcPts val="0"/>
              </a:spcAft>
              <a:buNone/>
            </a:pPr>
            <a:r>
              <a:rPr lang="en-GB" sz="1400"/>
              <a:t>Performance tested on distribution close to training data. Benchmark saturation is taken as evidence of competence.</a:t>
            </a:r>
            <a:endParaRPr sz="1400"/>
          </a:p>
          <a:p>
            <a:pPr indent="0" lvl="0" marL="0" rtl="0" algn="l">
              <a:lnSpc>
                <a:spcPct val="100000"/>
              </a:lnSpc>
              <a:spcBef>
                <a:spcPts val="0"/>
              </a:spcBef>
              <a:spcAft>
                <a:spcPts val="0"/>
              </a:spcAft>
              <a:buNone/>
            </a:pPr>
            <a:r>
              <a:t/>
            </a:r>
            <a:endParaRPr sz="1400"/>
          </a:p>
        </p:txBody>
      </p:sp>
      <p:sp>
        <p:nvSpPr>
          <p:cNvPr id="549" name="Google Shape;549;p70"/>
          <p:cNvSpPr txBox="1"/>
          <p:nvPr>
            <p:ph idx="1" type="body"/>
          </p:nvPr>
        </p:nvSpPr>
        <p:spPr>
          <a:xfrm>
            <a:off x="4641000" y="1114532"/>
            <a:ext cx="4191300" cy="1828800"/>
          </a:xfrm>
          <a:prstGeom prst="rect">
            <a:avLst/>
          </a:prstGeom>
          <a:solidFill>
            <a:srgbClr val="D9EAD3"/>
          </a:solidFill>
          <a:ln>
            <a:noFill/>
          </a:ln>
        </p:spPr>
        <p:txBody>
          <a:bodyPr anchorCtr="0" anchor="t" bIns="91425" lIns="91425" spcFirstLastPara="1" rIns="91425" wrap="square" tIns="91425">
            <a:normAutofit lnSpcReduction="20000"/>
          </a:bodyPr>
          <a:lstStyle/>
          <a:p>
            <a:pPr indent="0" lvl="0" marL="0" rtl="0" algn="l">
              <a:lnSpc>
                <a:spcPct val="100000"/>
              </a:lnSpc>
              <a:spcBef>
                <a:spcPts val="0"/>
              </a:spcBef>
              <a:spcAft>
                <a:spcPts val="0"/>
              </a:spcAft>
              <a:buNone/>
            </a:pPr>
            <a:r>
              <a:rPr b="1" lang="en-GB" sz="1500"/>
              <a:t>What research requires</a:t>
            </a:r>
            <a:endParaRPr sz="1500"/>
          </a:p>
          <a:p>
            <a:pPr indent="0" lvl="0" marL="0" rtl="0" algn="l">
              <a:lnSpc>
                <a:spcPct val="100000"/>
              </a:lnSpc>
              <a:spcBef>
                <a:spcPts val="0"/>
              </a:spcBef>
              <a:spcAft>
                <a:spcPts val="0"/>
              </a:spcAft>
              <a:buNone/>
            </a:pPr>
            <a:r>
              <a:t/>
            </a:r>
            <a:endParaRPr sz="1400"/>
          </a:p>
          <a:p>
            <a:pPr indent="0" lvl="0" marL="0" rtl="0" algn="l">
              <a:lnSpc>
                <a:spcPct val="100000"/>
              </a:lnSpc>
              <a:spcBef>
                <a:spcPts val="0"/>
              </a:spcBef>
              <a:spcAft>
                <a:spcPts val="0"/>
              </a:spcAft>
              <a:buNone/>
            </a:pPr>
            <a:r>
              <a:rPr i="1" lang="en-GB" sz="1400"/>
              <a:t>Normative sensitivity</a:t>
            </a:r>
            <a:endParaRPr sz="1400"/>
          </a:p>
          <a:p>
            <a:pPr indent="0" lvl="0" marL="0" rtl="0" algn="l">
              <a:lnSpc>
                <a:spcPct val="100000"/>
              </a:lnSpc>
              <a:spcBef>
                <a:spcPts val="0"/>
              </a:spcBef>
              <a:spcAft>
                <a:spcPts val="0"/>
              </a:spcAft>
              <a:buNone/>
            </a:pPr>
            <a:r>
              <a:rPr b="1" lang="en-GB" sz="1400"/>
              <a:t>Is the system responding to the quality of reasons</a:t>
            </a:r>
            <a:endParaRPr sz="1400"/>
          </a:p>
          <a:p>
            <a:pPr indent="0" lvl="0" marL="0" rtl="0" algn="l">
              <a:lnSpc>
                <a:spcPct val="100000"/>
              </a:lnSpc>
              <a:spcBef>
                <a:spcPts val="0"/>
              </a:spcBef>
              <a:spcAft>
                <a:spcPts val="0"/>
              </a:spcAft>
              <a:buNone/>
            </a:pPr>
            <a:r>
              <a:rPr lang="en-GB" sz="1400"/>
              <a:t>Weight a randomized controlled trial over an observational study not because RCTs appear more in training, but because they provide stronger causal evidence.</a:t>
            </a:r>
            <a:endParaRPr sz="1400"/>
          </a:p>
        </p:txBody>
      </p:sp>
      <p:sp>
        <p:nvSpPr>
          <p:cNvPr id="550" name="Google Shape;550;p70"/>
          <p:cNvSpPr txBox="1"/>
          <p:nvPr>
            <p:ph idx="1" type="body"/>
          </p:nvPr>
        </p:nvSpPr>
        <p:spPr>
          <a:xfrm>
            <a:off x="311700" y="3083350"/>
            <a:ext cx="8520600" cy="509400"/>
          </a:xfrm>
          <a:prstGeom prst="rect">
            <a:avLst/>
          </a:prstGeom>
        </p:spPr>
        <p:txBody>
          <a:bodyPr anchorCtr="0" anchor="ctr" bIns="91425" lIns="91425" spcFirstLastPara="1" rIns="91425" wrap="square" tIns="91425">
            <a:normAutofit/>
          </a:bodyPr>
          <a:lstStyle/>
          <a:p>
            <a:pPr indent="0" lvl="0" marL="0" rtl="0" algn="l">
              <a:spcBef>
                <a:spcPts val="0"/>
              </a:spcBef>
              <a:spcAft>
                <a:spcPts val="1200"/>
              </a:spcAft>
              <a:buNone/>
            </a:pPr>
            <a:r>
              <a:rPr lang="en-GB"/>
              <a:t>Three open questions</a:t>
            </a:r>
            <a:endParaRPr/>
          </a:p>
        </p:txBody>
      </p:sp>
      <p:sp>
        <p:nvSpPr>
          <p:cNvPr id="551" name="Google Shape;551;p70"/>
          <p:cNvSpPr txBox="1"/>
          <p:nvPr>
            <p:ph idx="1" type="body"/>
          </p:nvPr>
        </p:nvSpPr>
        <p:spPr>
          <a:xfrm>
            <a:off x="311700" y="3665525"/>
            <a:ext cx="8520600" cy="365700"/>
          </a:xfrm>
          <a:prstGeom prst="rect">
            <a:avLst/>
          </a:prstGeom>
          <a:solidFill>
            <a:srgbClr val="C9DAF8"/>
          </a:solid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688"/>
              <a:buNone/>
            </a:pPr>
            <a:r>
              <a:rPr lang="en-GB" sz="900"/>
              <a:t>1. </a:t>
            </a:r>
            <a:r>
              <a:rPr lang="en-GB" sz="900"/>
              <a:t>Can reasoning-type-stratified evaluation be operationalized at scale? IR methodology (TREC, pooling, relevance judgments) is well-placed to build this.</a:t>
            </a:r>
            <a:endParaRPr sz="900"/>
          </a:p>
        </p:txBody>
      </p:sp>
      <p:sp>
        <p:nvSpPr>
          <p:cNvPr id="552" name="Google Shape;552;p70"/>
          <p:cNvSpPr txBox="1"/>
          <p:nvPr>
            <p:ph idx="1" type="body"/>
          </p:nvPr>
        </p:nvSpPr>
        <p:spPr>
          <a:xfrm>
            <a:off x="311700" y="4104000"/>
            <a:ext cx="8520600" cy="365700"/>
          </a:xfrm>
          <a:prstGeom prst="rect">
            <a:avLst/>
          </a:prstGeom>
          <a:solidFill>
            <a:srgbClr val="C9DAF8"/>
          </a:solidFill>
          <a:ln>
            <a:noFill/>
          </a:ln>
        </p:spPr>
        <p:txBody>
          <a:bodyPr anchorCtr="0" anchor="ctr" bIns="91425" lIns="91425" spcFirstLastPara="1" rIns="91425" wrap="square" tIns="91425">
            <a:normAutofit/>
          </a:bodyPr>
          <a:lstStyle/>
          <a:p>
            <a:pPr indent="0" lvl="0" marL="0" rtl="0" algn="l">
              <a:lnSpc>
                <a:spcPct val="100000"/>
              </a:lnSpc>
              <a:spcBef>
                <a:spcPts val="0"/>
              </a:spcBef>
              <a:spcAft>
                <a:spcPts val="0"/>
              </a:spcAft>
              <a:buNone/>
            </a:pPr>
            <a:r>
              <a:rPr lang="en-GB" sz="900"/>
              <a:t>2. Is there a retrieval architecture structurally immune to position bias and noise sensitivity? Or are these failures fundamental to transformer attention?</a:t>
            </a:r>
            <a:endParaRPr sz="900"/>
          </a:p>
        </p:txBody>
      </p:sp>
      <p:sp>
        <p:nvSpPr>
          <p:cNvPr id="553" name="Google Shape;553;p70"/>
          <p:cNvSpPr txBox="1"/>
          <p:nvPr>
            <p:ph idx="1" type="body"/>
          </p:nvPr>
        </p:nvSpPr>
        <p:spPr>
          <a:xfrm>
            <a:off x="311700" y="4542475"/>
            <a:ext cx="8520600" cy="365700"/>
          </a:xfrm>
          <a:prstGeom prst="rect">
            <a:avLst/>
          </a:prstGeom>
          <a:solidFill>
            <a:srgbClr val="C9DAF8"/>
          </a:solid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n-GB" sz="900"/>
              <a:t>3. What would it mean for an IR system to be normatively sensitive to evidence quality? Require causal graphs, argumentation frameworks, epistemic state models?</a:t>
            </a:r>
            <a:endParaRPr sz="9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4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5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5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5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7" name="Shape 557"/>
        <p:cNvGrpSpPr/>
        <p:nvPr/>
      </p:nvGrpSpPr>
      <p:grpSpPr>
        <a:xfrm>
          <a:off x="0" y="0"/>
          <a:ext cx="0" cy="0"/>
          <a:chOff x="0" y="0"/>
          <a:chExt cx="0" cy="0"/>
        </a:xfrm>
      </p:grpSpPr>
      <p:sp>
        <p:nvSpPr>
          <p:cNvPr id="558" name="Google Shape;558;p7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
        <p:nvSpPr>
          <p:cNvPr id="559" name="Google Shape;559;p71"/>
          <p:cNvSpPr/>
          <p:nvPr/>
        </p:nvSpPr>
        <p:spPr>
          <a:xfrm>
            <a:off x="4606818" y="1770050"/>
            <a:ext cx="4476000" cy="3234000"/>
          </a:xfrm>
          <a:prstGeom prst="rect">
            <a:avLst/>
          </a:prstGeom>
          <a:solidFill>
            <a:srgbClr val="FCE5CD"/>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60" name="Google Shape;560;p71"/>
          <p:cNvSpPr txBox="1"/>
          <p:nvPr>
            <p:ph idx="1" type="body"/>
          </p:nvPr>
        </p:nvSpPr>
        <p:spPr>
          <a:xfrm>
            <a:off x="311700" y="2884145"/>
            <a:ext cx="4191300" cy="1005900"/>
          </a:xfrm>
          <a:prstGeom prst="rect">
            <a:avLst/>
          </a:prstGeom>
          <a:solidFill>
            <a:srgbClr val="C9DAF8"/>
          </a:solidFill>
          <a:ln>
            <a:noFill/>
          </a:ln>
        </p:spPr>
        <p:txBody>
          <a:bodyPr anchorCtr="0" anchor="t" bIns="91425" lIns="91425" spcFirstLastPara="1" rIns="91425" wrap="square" tIns="91425">
            <a:normAutofit lnSpcReduction="10000"/>
          </a:bodyPr>
          <a:lstStyle/>
          <a:p>
            <a:pPr indent="0" lvl="0" marL="0" rtl="0" algn="l">
              <a:lnSpc>
                <a:spcPct val="100000"/>
              </a:lnSpc>
              <a:spcBef>
                <a:spcPts val="0"/>
              </a:spcBef>
              <a:spcAft>
                <a:spcPts val="0"/>
              </a:spcAft>
              <a:buNone/>
            </a:pPr>
            <a:r>
              <a:rPr b="1" lang="en-GB" sz="1500"/>
              <a:t>Inference faithfulness</a:t>
            </a:r>
            <a:endParaRPr b="1" sz="1500"/>
          </a:p>
          <a:p>
            <a:pPr indent="0" lvl="0" marL="0" rtl="0" algn="l">
              <a:lnSpc>
                <a:spcPct val="100000"/>
              </a:lnSpc>
              <a:spcBef>
                <a:spcPts val="0"/>
              </a:spcBef>
              <a:spcAft>
                <a:spcPts val="0"/>
              </a:spcAft>
              <a:buClr>
                <a:schemeClr val="dk1"/>
              </a:buClr>
              <a:buSzPts val="1100"/>
              <a:buFont typeface="Arial"/>
              <a:buNone/>
            </a:pPr>
            <a:r>
              <a:t/>
            </a:r>
            <a:endParaRPr b="1" sz="1500"/>
          </a:p>
          <a:p>
            <a:pPr indent="0" lvl="0" marL="0" rtl="0" algn="l">
              <a:lnSpc>
                <a:spcPct val="100000"/>
              </a:lnSpc>
              <a:spcBef>
                <a:spcPts val="0"/>
              </a:spcBef>
              <a:spcAft>
                <a:spcPts val="0"/>
              </a:spcAft>
              <a:buNone/>
            </a:pPr>
            <a:r>
              <a:rPr i="1" lang="en-GB" sz="1500"/>
              <a:t>Can faithfulness of the reasoning process be verified?</a:t>
            </a:r>
            <a:endParaRPr i="1" sz="1600"/>
          </a:p>
        </p:txBody>
      </p:sp>
      <p:sp>
        <p:nvSpPr>
          <p:cNvPr id="561" name="Google Shape;561;p7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n-GB"/>
              <a:t>Three helpful “reasoning axes”</a:t>
            </a:r>
            <a:endParaRPr b="1"/>
          </a:p>
        </p:txBody>
      </p:sp>
      <p:sp>
        <p:nvSpPr>
          <p:cNvPr id="562" name="Google Shape;562;p71"/>
          <p:cNvSpPr txBox="1"/>
          <p:nvPr>
            <p:ph idx="1" type="body"/>
          </p:nvPr>
        </p:nvSpPr>
        <p:spPr>
          <a:xfrm>
            <a:off x="311700" y="1152475"/>
            <a:ext cx="8520600" cy="509400"/>
          </a:xfrm>
          <a:prstGeom prst="rect">
            <a:avLst/>
          </a:prstGeom>
        </p:spPr>
        <p:txBody>
          <a:bodyPr anchorCtr="0" anchor="ctr" bIns="91425" lIns="91425" spcFirstLastPara="1" rIns="91425" wrap="square" tIns="91425">
            <a:normAutofit/>
          </a:bodyPr>
          <a:lstStyle/>
          <a:p>
            <a:pPr indent="0" lvl="0" marL="0" rtl="0" algn="l">
              <a:spcBef>
                <a:spcPts val="0"/>
              </a:spcBef>
              <a:spcAft>
                <a:spcPts val="1200"/>
              </a:spcAft>
              <a:buNone/>
            </a:pPr>
            <a:r>
              <a:rPr lang="en-GB"/>
              <a:t>To help compare and relate reasoning proposals in different contexts</a:t>
            </a:r>
            <a:endParaRPr/>
          </a:p>
        </p:txBody>
      </p:sp>
      <p:grpSp>
        <p:nvGrpSpPr>
          <p:cNvPr id="563" name="Google Shape;563;p71"/>
          <p:cNvGrpSpPr/>
          <p:nvPr/>
        </p:nvGrpSpPr>
        <p:grpSpPr>
          <a:xfrm>
            <a:off x="4623679" y="1794749"/>
            <a:ext cx="4437143" cy="3190655"/>
            <a:chOff x="3898386" y="1068500"/>
            <a:chExt cx="4865289" cy="3498525"/>
          </a:xfrm>
        </p:grpSpPr>
        <p:cxnSp>
          <p:nvCxnSpPr>
            <p:cNvPr id="564" name="Google Shape;564;p71"/>
            <p:cNvCxnSpPr/>
            <p:nvPr/>
          </p:nvCxnSpPr>
          <p:spPr>
            <a:xfrm flipH="1" rot="10800000">
              <a:off x="6200075" y="1068500"/>
              <a:ext cx="8100" cy="2285100"/>
            </a:xfrm>
            <a:prstGeom prst="straightConnector1">
              <a:avLst/>
            </a:prstGeom>
            <a:noFill/>
            <a:ln cap="flat" cmpd="sng" w="8675">
              <a:solidFill>
                <a:srgbClr val="FF0000"/>
              </a:solidFill>
              <a:prstDash val="solid"/>
              <a:round/>
              <a:headEnd len="med" w="med" type="none"/>
              <a:tailEnd len="med" w="med" type="triangle"/>
            </a:ln>
          </p:spPr>
        </p:cxnSp>
        <p:cxnSp>
          <p:nvCxnSpPr>
            <p:cNvPr id="565" name="Google Shape;565;p71"/>
            <p:cNvCxnSpPr/>
            <p:nvPr/>
          </p:nvCxnSpPr>
          <p:spPr>
            <a:xfrm>
              <a:off x="6208275" y="3394550"/>
              <a:ext cx="2555400" cy="1146600"/>
            </a:xfrm>
            <a:prstGeom prst="straightConnector1">
              <a:avLst/>
            </a:prstGeom>
            <a:noFill/>
            <a:ln cap="flat" cmpd="sng" w="8675">
              <a:solidFill>
                <a:srgbClr val="3C78D8"/>
              </a:solidFill>
              <a:prstDash val="solid"/>
              <a:round/>
              <a:headEnd len="med" w="med" type="none"/>
              <a:tailEnd len="med" w="med" type="triangle"/>
            </a:ln>
          </p:spPr>
        </p:cxnSp>
        <p:cxnSp>
          <p:nvCxnSpPr>
            <p:cNvPr id="566" name="Google Shape;566;p71"/>
            <p:cNvCxnSpPr/>
            <p:nvPr/>
          </p:nvCxnSpPr>
          <p:spPr>
            <a:xfrm flipH="1">
              <a:off x="3916300" y="3402725"/>
              <a:ext cx="2267400" cy="1164300"/>
            </a:xfrm>
            <a:prstGeom prst="straightConnector1">
              <a:avLst/>
            </a:prstGeom>
            <a:noFill/>
            <a:ln cap="flat" cmpd="sng" w="8675">
              <a:solidFill>
                <a:srgbClr val="188038"/>
              </a:solidFill>
              <a:prstDash val="solid"/>
              <a:round/>
              <a:headEnd len="med" w="med" type="none"/>
              <a:tailEnd len="med" w="med" type="triangle"/>
            </a:ln>
          </p:spPr>
        </p:cxnSp>
        <p:sp>
          <p:nvSpPr>
            <p:cNvPr id="567" name="Google Shape;567;p71"/>
            <p:cNvSpPr txBox="1"/>
            <p:nvPr/>
          </p:nvSpPr>
          <p:spPr>
            <a:xfrm rot="-5400000">
              <a:off x="4982350" y="2043125"/>
              <a:ext cx="2068500" cy="334200"/>
            </a:xfrm>
            <a:prstGeom prst="rect">
              <a:avLst/>
            </a:prstGeom>
            <a:noFill/>
            <a:ln>
              <a:noFill/>
            </a:ln>
          </p:spPr>
          <p:txBody>
            <a:bodyPr anchorCtr="0" anchor="t" bIns="83375" lIns="83375" spcFirstLastPara="1" rIns="83375" wrap="square" tIns="83375">
              <a:noAutofit/>
            </a:bodyPr>
            <a:lstStyle/>
            <a:p>
              <a:pPr indent="0" lvl="0" marL="0" rtl="0" algn="ctr">
                <a:spcBef>
                  <a:spcPts val="0"/>
                </a:spcBef>
                <a:spcAft>
                  <a:spcPts val="0"/>
                </a:spcAft>
                <a:buNone/>
              </a:pPr>
              <a:r>
                <a:rPr b="1" lang="en-GB" sz="912">
                  <a:solidFill>
                    <a:srgbClr val="FF0000"/>
                  </a:solidFill>
                </a:rPr>
                <a:t>Representational capability</a:t>
              </a:r>
              <a:endParaRPr b="1" sz="912">
                <a:solidFill>
                  <a:srgbClr val="FF0000"/>
                </a:solidFill>
              </a:endParaRPr>
            </a:p>
          </p:txBody>
        </p:sp>
        <p:sp>
          <p:nvSpPr>
            <p:cNvPr id="568" name="Google Shape;568;p71"/>
            <p:cNvSpPr txBox="1"/>
            <p:nvPr/>
          </p:nvSpPr>
          <p:spPr>
            <a:xfrm rot="1458962">
              <a:off x="6394338" y="3530433"/>
              <a:ext cx="2068391" cy="333915"/>
            </a:xfrm>
            <a:prstGeom prst="rect">
              <a:avLst/>
            </a:prstGeom>
            <a:noFill/>
            <a:ln>
              <a:noFill/>
            </a:ln>
          </p:spPr>
          <p:txBody>
            <a:bodyPr anchorCtr="0" anchor="t" bIns="83375" lIns="83375" spcFirstLastPara="1" rIns="83375" wrap="square" tIns="83375">
              <a:noAutofit/>
            </a:bodyPr>
            <a:lstStyle/>
            <a:p>
              <a:pPr indent="0" lvl="0" marL="0" rtl="0" algn="ctr">
                <a:spcBef>
                  <a:spcPts val="0"/>
                </a:spcBef>
                <a:spcAft>
                  <a:spcPts val="0"/>
                </a:spcAft>
                <a:buNone/>
              </a:pPr>
              <a:r>
                <a:rPr b="1" lang="en-GB" sz="912">
                  <a:solidFill>
                    <a:srgbClr val="3C78D8"/>
                  </a:solidFill>
                </a:rPr>
                <a:t>Inference faithfulness</a:t>
              </a:r>
              <a:endParaRPr b="1" sz="912">
                <a:solidFill>
                  <a:srgbClr val="3C78D8"/>
                </a:solidFill>
              </a:endParaRPr>
            </a:p>
          </p:txBody>
        </p:sp>
        <p:sp>
          <p:nvSpPr>
            <p:cNvPr id="569" name="Google Shape;569;p71"/>
            <p:cNvSpPr txBox="1"/>
            <p:nvPr/>
          </p:nvSpPr>
          <p:spPr>
            <a:xfrm rot="-1636633">
              <a:off x="3855304" y="3666937"/>
              <a:ext cx="2137265" cy="330472"/>
            </a:xfrm>
            <a:prstGeom prst="rect">
              <a:avLst/>
            </a:prstGeom>
            <a:noFill/>
            <a:ln>
              <a:noFill/>
            </a:ln>
          </p:spPr>
          <p:txBody>
            <a:bodyPr anchorCtr="0" anchor="t" bIns="83375" lIns="83375" spcFirstLastPara="1" rIns="83375" wrap="square" tIns="83375">
              <a:noAutofit/>
            </a:bodyPr>
            <a:lstStyle/>
            <a:p>
              <a:pPr indent="0" lvl="0" marL="0" rtl="0" algn="ctr">
                <a:spcBef>
                  <a:spcPts val="0"/>
                </a:spcBef>
                <a:spcAft>
                  <a:spcPts val="0"/>
                </a:spcAft>
                <a:buNone/>
              </a:pPr>
              <a:r>
                <a:rPr b="1" lang="en-GB" sz="914">
                  <a:solidFill>
                    <a:srgbClr val="188038"/>
                  </a:solidFill>
                </a:rPr>
                <a:t>Computational feasibility for IR</a:t>
              </a:r>
              <a:endParaRPr b="1" sz="914">
                <a:solidFill>
                  <a:srgbClr val="188038"/>
                </a:solidFill>
              </a:endParaRPr>
            </a:p>
          </p:txBody>
        </p:sp>
      </p:grpSp>
      <p:sp>
        <p:nvSpPr>
          <p:cNvPr id="570" name="Google Shape;570;p71"/>
          <p:cNvSpPr txBox="1"/>
          <p:nvPr>
            <p:ph idx="1" type="body"/>
          </p:nvPr>
        </p:nvSpPr>
        <p:spPr>
          <a:xfrm>
            <a:off x="311700" y="3998245"/>
            <a:ext cx="4191300" cy="1005900"/>
          </a:xfrm>
          <a:prstGeom prst="rect">
            <a:avLst/>
          </a:prstGeom>
          <a:solidFill>
            <a:srgbClr val="D9EAD3"/>
          </a:solidFill>
          <a:ln>
            <a:noFill/>
          </a:ln>
        </p:spPr>
        <p:txBody>
          <a:bodyPr anchorCtr="0" anchor="t" bIns="91425" lIns="91425" spcFirstLastPara="1" rIns="91425" wrap="square" tIns="91425">
            <a:normAutofit lnSpcReduction="20000"/>
          </a:bodyPr>
          <a:lstStyle/>
          <a:p>
            <a:pPr indent="0" lvl="0" marL="0" rtl="0" algn="l">
              <a:lnSpc>
                <a:spcPct val="100000"/>
              </a:lnSpc>
              <a:spcBef>
                <a:spcPts val="0"/>
              </a:spcBef>
              <a:spcAft>
                <a:spcPts val="0"/>
              </a:spcAft>
              <a:buNone/>
            </a:pPr>
            <a:r>
              <a:rPr b="1" lang="en-GB" sz="1500"/>
              <a:t>Computational feasibility for IR</a:t>
            </a:r>
            <a:endParaRPr sz="1500"/>
          </a:p>
          <a:p>
            <a:pPr indent="0" lvl="0" marL="0" rtl="0" algn="l">
              <a:lnSpc>
                <a:spcPct val="100000"/>
              </a:lnSpc>
              <a:spcBef>
                <a:spcPts val="0"/>
              </a:spcBef>
              <a:spcAft>
                <a:spcPts val="0"/>
              </a:spcAft>
              <a:buNone/>
            </a:pPr>
            <a:r>
              <a:t/>
            </a:r>
            <a:endParaRPr sz="1400"/>
          </a:p>
          <a:p>
            <a:pPr indent="0" lvl="0" marL="0" rtl="0" algn="l">
              <a:spcBef>
                <a:spcPts val="0"/>
              </a:spcBef>
              <a:spcAft>
                <a:spcPts val="0"/>
              </a:spcAft>
              <a:buNone/>
            </a:pPr>
            <a:r>
              <a:rPr i="1" lang="en-GB" sz="1400"/>
              <a:t>Is the reasoning process computationally feasible over a large set of documents? </a:t>
            </a:r>
            <a:endParaRPr i="1" sz="1400"/>
          </a:p>
        </p:txBody>
      </p:sp>
      <p:sp>
        <p:nvSpPr>
          <p:cNvPr id="571" name="Google Shape;571;p71"/>
          <p:cNvSpPr txBox="1"/>
          <p:nvPr>
            <p:ph idx="1" type="body"/>
          </p:nvPr>
        </p:nvSpPr>
        <p:spPr>
          <a:xfrm>
            <a:off x="311700" y="1770061"/>
            <a:ext cx="4191300" cy="1005900"/>
          </a:xfrm>
          <a:prstGeom prst="rect">
            <a:avLst/>
          </a:prstGeom>
          <a:solidFill>
            <a:srgbClr val="F4CCCC"/>
          </a:solidFill>
          <a:ln>
            <a:noFill/>
          </a:ln>
        </p:spPr>
        <p:txBody>
          <a:bodyPr anchorCtr="0" anchor="t" bIns="91425" lIns="91425" spcFirstLastPara="1" rIns="91425" wrap="square" tIns="91425">
            <a:normAutofit lnSpcReduction="10000"/>
          </a:bodyPr>
          <a:lstStyle/>
          <a:p>
            <a:pPr indent="0" lvl="0" marL="0" rtl="0" algn="l">
              <a:spcBef>
                <a:spcPts val="0"/>
              </a:spcBef>
              <a:spcAft>
                <a:spcPts val="0"/>
              </a:spcAft>
              <a:buNone/>
            </a:pPr>
            <a:r>
              <a:rPr b="1" lang="en-GB" sz="1500"/>
              <a:t>Representational capability</a:t>
            </a:r>
            <a:endParaRPr b="1" sz="1500"/>
          </a:p>
          <a:p>
            <a:pPr indent="0" lvl="0" marL="0" rtl="0" algn="l">
              <a:lnSpc>
                <a:spcPct val="100000"/>
              </a:lnSpc>
              <a:spcBef>
                <a:spcPts val="0"/>
              </a:spcBef>
              <a:spcAft>
                <a:spcPts val="0"/>
              </a:spcAft>
              <a:buNone/>
            </a:pPr>
            <a:r>
              <a:t/>
            </a:r>
            <a:endParaRPr sz="1400"/>
          </a:p>
          <a:p>
            <a:pPr indent="0" lvl="0" marL="0" rtl="0" algn="l">
              <a:lnSpc>
                <a:spcPct val="100000"/>
              </a:lnSpc>
              <a:spcBef>
                <a:spcPts val="0"/>
              </a:spcBef>
              <a:spcAft>
                <a:spcPts val="0"/>
              </a:spcAft>
              <a:buNone/>
            </a:pPr>
            <a:r>
              <a:rPr i="1" lang="en-GB" sz="1400"/>
              <a:t>E.g., Does reasoning proposals explicitly encode uncertainty, causal relationships, etc.?</a:t>
            </a:r>
            <a:endParaRPr i="1" sz="16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5" name="Shape 575"/>
        <p:cNvGrpSpPr/>
        <p:nvPr/>
      </p:nvGrpSpPr>
      <p:grpSpPr>
        <a:xfrm>
          <a:off x="0" y="0"/>
          <a:ext cx="0" cy="0"/>
          <a:chOff x="0" y="0"/>
          <a:chExt cx="0" cy="0"/>
        </a:xfrm>
      </p:grpSpPr>
      <p:sp>
        <p:nvSpPr>
          <p:cNvPr id="576" name="Google Shape;576;p7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n-GB"/>
              <a:t>Wrapping up</a:t>
            </a:r>
            <a:r>
              <a:rPr b="1" lang="en-GB"/>
              <a:t> Part 2</a:t>
            </a:r>
            <a:endParaRPr b="1"/>
          </a:p>
        </p:txBody>
      </p:sp>
      <p:sp>
        <p:nvSpPr>
          <p:cNvPr id="577" name="Google Shape;577;p72"/>
          <p:cNvSpPr txBox="1"/>
          <p:nvPr/>
        </p:nvSpPr>
        <p:spPr>
          <a:xfrm>
            <a:off x="311725" y="1227475"/>
            <a:ext cx="8520600" cy="738000"/>
          </a:xfrm>
          <a:prstGeom prst="rect">
            <a:avLst/>
          </a:prstGeom>
          <a:solidFill>
            <a:srgbClr val="D9EAD3"/>
          </a:solidFill>
          <a:ln>
            <a:noFill/>
          </a:ln>
        </p:spPr>
        <p:txBody>
          <a:bodyPr anchorCtr="0" anchor="ctr" bIns="91425" lIns="91425" spcFirstLastPara="1" rIns="91425" wrap="square" tIns="91425">
            <a:noAutofit/>
          </a:bodyPr>
          <a:lstStyle/>
          <a:p>
            <a:pPr indent="0" lvl="0" marL="0" rtl="0" algn="l">
              <a:spcBef>
                <a:spcPts val="0"/>
              </a:spcBef>
              <a:spcAft>
                <a:spcPts val="1000"/>
              </a:spcAft>
              <a:buNone/>
            </a:pPr>
            <a:r>
              <a:rPr b="1" lang="en-GB" sz="1800">
                <a:solidFill>
                  <a:schemeClr val="dk2"/>
                </a:solidFill>
              </a:rPr>
              <a:t>1 Complex information needs</a:t>
            </a:r>
            <a:br>
              <a:rPr b="1" lang="en-GB" sz="1800">
                <a:solidFill>
                  <a:schemeClr val="dk2"/>
                </a:solidFill>
                <a:highlight>
                  <a:srgbClr val="C9DAF8"/>
                </a:highlight>
              </a:rPr>
            </a:br>
            <a:r>
              <a:rPr lang="en-GB" sz="1200">
                <a:solidFill>
                  <a:schemeClr val="dk2"/>
                </a:solidFill>
              </a:rPr>
              <a:t>require multi-step reasoning across documents, following inferential edges in the knowledge network, not sampling surface-similar nodes</a:t>
            </a:r>
            <a:endParaRPr sz="1200">
              <a:solidFill>
                <a:schemeClr val="dk2"/>
              </a:solidFill>
            </a:endParaRPr>
          </a:p>
        </p:txBody>
      </p:sp>
      <p:sp>
        <p:nvSpPr>
          <p:cNvPr id="578" name="Google Shape;578;p72"/>
          <p:cNvSpPr txBox="1"/>
          <p:nvPr/>
        </p:nvSpPr>
        <p:spPr>
          <a:xfrm>
            <a:off x="311725" y="2131550"/>
            <a:ext cx="8520600" cy="738000"/>
          </a:xfrm>
          <a:prstGeom prst="rect">
            <a:avLst/>
          </a:prstGeom>
          <a:solidFill>
            <a:srgbClr val="D9EAD3"/>
          </a:solidFill>
          <a:ln>
            <a:noFill/>
          </a:ln>
        </p:spPr>
        <p:txBody>
          <a:bodyPr anchorCtr="0" anchor="ctr" bIns="91425" lIns="91425" spcFirstLastPara="1" rIns="91425" wrap="square" tIns="91425">
            <a:noAutofit/>
          </a:bodyPr>
          <a:lstStyle/>
          <a:p>
            <a:pPr indent="0" lvl="0" marL="0" rtl="0" algn="l">
              <a:spcBef>
                <a:spcPts val="0"/>
              </a:spcBef>
              <a:spcAft>
                <a:spcPts val="1000"/>
              </a:spcAft>
              <a:buNone/>
            </a:pPr>
            <a:r>
              <a:rPr b="1" lang="en-GB" sz="1800">
                <a:solidFill>
                  <a:schemeClr val="dk2"/>
                </a:solidFill>
              </a:rPr>
              <a:t>2 The empirical question</a:t>
            </a:r>
            <a:br>
              <a:rPr b="1" lang="en-GB" sz="1800">
                <a:solidFill>
                  <a:schemeClr val="dk2"/>
                </a:solidFill>
              </a:rPr>
            </a:br>
            <a:r>
              <a:rPr lang="en-GB" sz="1200">
                <a:solidFill>
                  <a:schemeClr val="dk2"/>
                </a:solidFill>
              </a:rPr>
              <a:t>is whether LLM-based systems provide this; evidence suggests they approximate it on familiar distributions but fail on robustness, compositionality, noise resistance, faithful integration, and evidence quality</a:t>
            </a:r>
            <a:endParaRPr sz="1200">
              <a:solidFill>
                <a:schemeClr val="dk2"/>
              </a:solidFill>
            </a:endParaRPr>
          </a:p>
        </p:txBody>
      </p:sp>
      <p:sp>
        <p:nvSpPr>
          <p:cNvPr id="579" name="Google Shape;579;p72"/>
          <p:cNvSpPr txBox="1"/>
          <p:nvPr/>
        </p:nvSpPr>
        <p:spPr>
          <a:xfrm>
            <a:off x="311725" y="3035625"/>
            <a:ext cx="8520600" cy="738000"/>
          </a:xfrm>
          <a:prstGeom prst="rect">
            <a:avLst/>
          </a:prstGeom>
          <a:solidFill>
            <a:srgbClr val="D9EAD3"/>
          </a:solidFill>
          <a:ln>
            <a:noFill/>
          </a:ln>
        </p:spPr>
        <p:txBody>
          <a:bodyPr anchorCtr="0" anchor="ctr" bIns="91425" lIns="91425" spcFirstLastPara="1" rIns="91425" wrap="square" tIns="91425">
            <a:noAutofit/>
          </a:bodyPr>
          <a:lstStyle/>
          <a:p>
            <a:pPr indent="0" lvl="0" marL="0" rtl="0" algn="l">
              <a:spcBef>
                <a:spcPts val="0"/>
              </a:spcBef>
              <a:spcAft>
                <a:spcPts val="1000"/>
              </a:spcAft>
              <a:buNone/>
            </a:pPr>
            <a:r>
              <a:rPr b="1" lang="en-GB" sz="1800">
                <a:solidFill>
                  <a:schemeClr val="dk2"/>
                </a:solidFill>
              </a:rPr>
              <a:t>3 The conceptual framework</a:t>
            </a:r>
            <a:br>
              <a:rPr b="1" lang="en-GB" sz="1800">
                <a:solidFill>
                  <a:schemeClr val="dk2"/>
                </a:solidFill>
              </a:rPr>
            </a:br>
            <a:r>
              <a:rPr lang="en-GB" sz="1200">
                <a:solidFill>
                  <a:schemeClr val="dk2"/>
                </a:solidFill>
              </a:rPr>
              <a:t>needed to evaluate this properly, a 12-type taxonomy, normative rather than behavioral criteria, definitional precision, is available in the philosophical literature but not yet imported into IR</a:t>
            </a:r>
            <a:endParaRPr sz="1200">
              <a:solidFill>
                <a:schemeClr val="dk2"/>
              </a:solidFill>
            </a:endParaRPr>
          </a:p>
        </p:txBody>
      </p:sp>
      <p:sp>
        <p:nvSpPr>
          <p:cNvPr id="580" name="Google Shape;580;p72"/>
          <p:cNvSpPr txBox="1"/>
          <p:nvPr/>
        </p:nvSpPr>
        <p:spPr>
          <a:xfrm>
            <a:off x="311725" y="3939700"/>
            <a:ext cx="8520600" cy="738000"/>
          </a:xfrm>
          <a:prstGeom prst="rect">
            <a:avLst/>
          </a:prstGeom>
          <a:solidFill>
            <a:srgbClr val="D9EAD3"/>
          </a:solidFill>
          <a:ln>
            <a:noFill/>
          </a:ln>
        </p:spPr>
        <p:txBody>
          <a:bodyPr anchorCtr="0" anchor="ctr" bIns="91425" lIns="91425" spcFirstLastPara="1" rIns="91425" wrap="square" tIns="91425">
            <a:noAutofit/>
          </a:bodyPr>
          <a:lstStyle/>
          <a:p>
            <a:pPr indent="0" lvl="0" marL="0" rtl="0" algn="l">
              <a:spcBef>
                <a:spcPts val="0"/>
              </a:spcBef>
              <a:spcAft>
                <a:spcPts val="1000"/>
              </a:spcAft>
              <a:buNone/>
            </a:pPr>
            <a:r>
              <a:rPr b="1" lang="en-GB" sz="1800">
                <a:solidFill>
                  <a:schemeClr val="dk2"/>
                </a:solidFill>
              </a:rPr>
              <a:t>4 The research agenda</a:t>
            </a:r>
            <a:br>
              <a:rPr b="1" lang="en-GB" sz="1800">
                <a:solidFill>
                  <a:schemeClr val="dk2"/>
                </a:solidFill>
              </a:rPr>
            </a:br>
            <a:r>
              <a:rPr lang="en-GB" sz="1200">
                <a:solidFill>
                  <a:schemeClr val="dk2"/>
                </a:solidFill>
              </a:rPr>
              <a:t>is to import it: build leakage-resistant, reasoning-type-stratified evaluation; design architectures that address specific failure modes; and close the normative gap, using the reasoning axes to help organize material</a:t>
            </a:r>
            <a:endParaRPr sz="1200">
              <a:solidFill>
                <a:schemeClr val="dk2"/>
              </a:solidFill>
            </a:endParaRPr>
          </a:p>
        </p:txBody>
      </p:sp>
      <p:sp>
        <p:nvSpPr>
          <p:cNvPr id="581" name="Google Shape;581;p7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8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83C92"/>
        </a:solidFill>
      </p:bgPr>
    </p:bg>
    <p:spTree>
      <p:nvGrpSpPr>
        <p:cNvPr id="585" name="Shape 585"/>
        <p:cNvGrpSpPr/>
        <p:nvPr/>
      </p:nvGrpSpPr>
      <p:grpSpPr>
        <a:xfrm>
          <a:off x="0" y="0"/>
          <a:ext cx="0" cy="0"/>
          <a:chOff x="0" y="0"/>
          <a:chExt cx="0" cy="0"/>
        </a:xfrm>
      </p:grpSpPr>
      <p:sp>
        <p:nvSpPr>
          <p:cNvPr id="586" name="Google Shape;586;p73"/>
          <p:cNvSpPr txBox="1"/>
          <p:nvPr>
            <p:ph type="title"/>
          </p:nvPr>
        </p:nvSpPr>
        <p:spPr>
          <a:xfrm>
            <a:off x="311700" y="2150850"/>
            <a:ext cx="8520600" cy="8418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b="1" lang="en-GB">
                <a:solidFill>
                  <a:schemeClr val="lt1"/>
                </a:solidFill>
                <a:latin typeface="Palatino Linotype"/>
                <a:ea typeface="Palatino Linotype"/>
                <a:cs typeface="Palatino Linotype"/>
                <a:sym typeface="Palatino Linotype"/>
              </a:rPr>
              <a:t>II. Generative Reasoning: </a:t>
            </a:r>
            <a:endParaRPr b="1">
              <a:solidFill>
                <a:schemeClr val="lt1"/>
              </a:solidFill>
              <a:latin typeface="Palatino Linotype"/>
              <a:ea typeface="Palatino Linotype"/>
              <a:cs typeface="Palatino Linotype"/>
              <a:sym typeface="Palatino Linotype"/>
            </a:endParaRPr>
          </a:p>
          <a:p>
            <a:pPr indent="457200" lvl="0" marL="0" rtl="0" algn="l">
              <a:spcBef>
                <a:spcPts val="0"/>
              </a:spcBef>
              <a:spcAft>
                <a:spcPts val="0"/>
              </a:spcAft>
              <a:buNone/>
            </a:pPr>
            <a:r>
              <a:rPr b="1" lang="en-GB" sz="3044">
                <a:solidFill>
                  <a:schemeClr val="lt1"/>
                </a:solidFill>
                <a:latin typeface="Palatino Linotype"/>
                <a:ea typeface="Palatino Linotype"/>
                <a:cs typeface="Palatino Linotype"/>
                <a:sym typeface="Palatino Linotype"/>
              </a:rPr>
              <a:t>From Chain-of-Thought to Multi-Agent Systems</a:t>
            </a:r>
            <a:endParaRPr b="1" sz="3044">
              <a:solidFill>
                <a:srgbClr val="93C47D"/>
              </a:solidFill>
              <a:latin typeface="Palatino Linotype"/>
              <a:ea typeface="Palatino Linotype"/>
              <a:cs typeface="Palatino Linotype"/>
              <a:sym typeface="Palatino Linotype"/>
            </a:endParaRPr>
          </a:p>
        </p:txBody>
      </p:sp>
      <p:sp>
        <p:nvSpPr>
          <p:cNvPr id="587" name="Google Shape;587;p7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D9EEB"/>
        </a:solidFill>
      </p:bgPr>
    </p:bg>
    <p:spTree>
      <p:nvGrpSpPr>
        <p:cNvPr id="591" name="Shape 591"/>
        <p:cNvGrpSpPr/>
        <p:nvPr/>
      </p:nvGrpSpPr>
      <p:grpSpPr>
        <a:xfrm>
          <a:off x="0" y="0"/>
          <a:ext cx="0" cy="0"/>
          <a:chOff x="0" y="0"/>
          <a:chExt cx="0" cy="0"/>
        </a:xfrm>
      </p:grpSpPr>
      <p:sp>
        <p:nvSpPr>
          <p:cNvPr id="592" name="Google Shape;592;p74"/>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b="1" lang="en-GB">
                <a:solidFill>
                  <a:schemeClr val="lt1"/>
                </a:solidFill>
                <a:latin typeface="Palatino Linotype"/>
                <a:ea typeface="Palatino Linotype"/>
                <a:cs typeface="Palatino Linotype"/>
                <a:sym typeface="Palatino Linotype"/>
              </a:rPr>
              <a:t>1. Why LLMs for reasoning?</a:t>
            </a:r>
            <a:endParaRPr b="1">
              <a:solidFill>
                <a:srgbClr val="93C47D"/>
              </a:solidFill>
              <a:latin typeface="Palatino Linotype"/>
              <a:ea typeface="Palatino Linotype"/>
              <a:cs typeface="Palatino Linotype"/>
              <a:sym typeface="Palatino Linotype"/>
            </a:endParaRPr>
          </a:p>
        </p:txBody>
      </p:sp>
      <p:sp>
        <p:nvSpPr>
          <p:cNvPr id="593" name="Google Shape;593;p7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97" name="Shape 597"/>
        <p:cNvGrpSpPr/>
        <p:nvPr/>
      </p:nvGrpSpPr>
      <p:grpSpPr>
        <a:xfrm>
          <a:off x="0" y="0"/>
          <a:ext cx="0" cy="0"/>
          <a:chOff x="0" y="0"/>
          <a:chExt cx="0" cy="0"/>
        </a:xfrm>
      </p:grpSpPr>
      <p:sp>
        <p:nvSpPr>
          <p:cNvPr id="598" name="Google Shape;598;p7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ctr">
              <a:spcBef>
                <a:spcPts val="0"/>
              </a:spcBef>
              <a:spcAft>
                <a:spcPts val="0"/>
              </a:spcAft>
              <a:buClr>
                <a:schemeClr val="dk1"/>
              </a:buClr>
              <a:buSzPct val="111111"/>
              <a:buFont typeface="Arial"/>
              <a:buNone/>
            </a:pPr>
            <a:r>
              <a:rPr b="1" lang="en-GB"/>
              <a:t>Transformer</a:t>
            </a:r>
            <a:r>
              <a:rPr lang="en-GB"/>
              <a:t> </a:t>
            </a:r>
            <a:endParaRPr/>
          </a:p>
          <a:p>
            <a:pPr indent="0" lvl="0" marL="0" rtl="0" algn="ctr">
              <a:spcBef>
                <a:spcPts val="0"/>
              </a:spcBef>
              <a:spcAft>
                <a:spcPts val="0"/>
              </a:spcAft>
              <a:buSzPct val="172839"/>
              <a:buNone/>
            </a:pPr>
            <a:r>
              <a:rPr i="1" lang="en-GB" sz="1800"/>
              <a:t>and its limitation for sequential reasoning</a:t>
            </a:r>
            <a:endParaRPr i="1" sz="1800"/>
          </a:p>
        </p:txBody>
      </p:sp>
      <p:sp>
        <p:nvSpPr>
          <p:cNvPr id="599" name="Google Shape;599;p7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03" name="Shape 603"/>
        <p:cNvGrpSpPr/>
        <p:nvPr/>
      </p:nvGrpSpPr>
      <p:grpSpPr>
        <a:xfrm>
          <a:off x="0" y="0"/>
          <a:ext cx="0" cy="0"/>
          <a:chOff x="0" y="0"/>
          <a:chExt cx="0" cy="0"/>
        </a:xfrm>
      </p:grpSpPr>
      <p:sp>
        <p:nvSpPr>
          <p:cNvPr id="604" name="Google Shape;604;p7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ctr">
              <a:spcBef>
                <a:spcPts val="0"/>
              </a:spcBef>
              <a:spcAft>
                <a:spcPts val="0"/>
              </a:spcAft>
              <a:buSzPct val="111111"/>
              <a:buNone/>
            </a:pPr>
            <a:r>
              <a:rPr b="1" lang="en-GB"/>
              <a:t>Transformer</a:t>
            </a:r>
            <a:r>
              <a:rPr lang="en-GB"/>
              <a:t> </a:t>
            </a:r>
            <a:endParaRPr/>
          </a:p>
          <a:p>
            <a:pPr indent="0" lvl="0" marL="0" rtl="0" algn="ctr">
              <a:spcBef>
                <a:spcPts val="0"/>
              </a:spcBef>
              <a:spcAft>
                <a:spcPts val="0"/>
              </a:spcAft>
              <a:buSzPct val="172839"/>
              <a:buNone/>
            </a:pPr>
            <a:r>
              <a:rPr i="1" lang="en-GB" sz="1800"/>
              <a:t>and its limitation for sequential reasoning</a:t>
            </a:r>
            <a:endParaRPr i="1" sz="1800"/>
          </a:p>
        </p:txBody>
      </p:sp>
      <p:sp>
        <p:nvSpPr>
          <p:cNvPr id="605" name="Google Shape;605;p7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
        <p:nvSpPr>
          <p:cNvPr id="606" name="Google Shape;606;p76"/>
          <p:cNvSpPr txBox="1"/>
          <p:nvPr/>
        </p:nvSpPr>
        <p:spPr>
          <a:xfrm>
            <a:off x="5505010" y="1291750"/>
            <a:ext cx="3262200" cy="923400"/>
          </a:xfrm>
          <a:prstGeom prst="rect">
            <a:avLst/>
          </a:prstGeom>
          <a:noFill/>
          <a:ln cap="flat" cmpd="sng" w="9525">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GB" sz="1200">
                <a:solidFill>
                  <a:srgbClr val="0C5ADB"/>
                </a:solidFill>
              </a:rPr>
              <a:t>Efficient transformers </a:t>
            </a:r>
            <a:endParaRPr sz="1200">
              <a:solidFill>
                <a:srgbClr val="0C5ADB"/>
              </a:solidFill>
            </a:endParaRPr>
          </a:p>
          <a:p>
            <a:pPr indent="0" lvl="0" marL="0" rtl="0" algn="l">
              <a:spcBef>
                <a:spcPts val="0"/>
              </a:spcBef>
              <a:spcAft>
                <a:spcPts val="0"/>
              </a:spcAft>
              <a:buNone/>
            </a:pPr>
            <a:r>
              <a:rPr lang="en-GB" sz="1200">
                <a:solidFill>
                  <a:srgbClr val="00B050"/>
                </a:solidFill>
              </a:rPr>
              <a:t>for long documents </a:t>
            </a:r>
            <a:endParaRPr sz="1200">
              <a:solidFill>
                <a:srgbClr val="00B050"/>
              </a:solidFill>
            </a:endParaRPr>
          </a:p>
          <a:p>
            <a:pPr indent="0" lvl="0" marL="0" rtl="0" algn="l">
              <a:spcBef>
                <a:spcPts val="0"/>
              </a:spcBef>
              <a:spcAft>
                <a:spcPts val="0"/>
              </a:spcAft>
              <a:buNone/>
            </a:pPr>
            <a:r>
              <a:rPr lang="en-GB" sz="1200">
                <a:solidFill>
                  <a:srgbClr val="FF0000"/>
                </a:solidFill>
              </a:rPr>
              <a:t>that don’t use sparse attention, </a:t>
            </a:r>
            <a:endParaRPr sz="1200">
              <a:solidFill>
                <a:srgbClr val="FF0000"/>
              </a:solidFill>
            </a:endParaRPr>
          </a:p>
          <a:p>
            <a:pPr indent="0" lvl="0" marL="0" rtl="0" algn="l">
              <a:spcBef>
                <a:spcPts val="0"/>
              </a:spcBef>
              <a:spcAft>
                <a:spcPts val="0"/>
              </a:spcAft>
              <a:buNone/>
            </a:pPr>
            <a:r>
              <a:rPr lang="en-GB" sz="1200">
                <a:solidFill>
                  <a:srgbClr val="EF8600"/>
                </a:solidFill>
              </a:rPr>
              <a:t>and are validated across multiple domains</a:t>
            </a:r>
            <a:endParaRPr sz="1200">
              <a:solidFill>
                <a:schemeClr val="dk1"/>
              </a:solidFill>
            </a:endParaRPr>
          </a:p>
        </p:txBody>
      </p:sp>
      <p:sp>
        <p:nvSpPr>
          <p:cNvPr id="607" name="Google Shape;607;p76"/>
          <p:cNvSpPr txBox="1"/>
          <p:nvPr/>
        </p:nvSpPr>
        <p:spPr>
          <a:xfrm>
            <a:off x="242625" y="1459650"/>
            <a:ext cx="5193300" cy="47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500">
                <a:solidFill>
                  <a:schemeClr val="dk2"/>
                </a:solidFill>
                <a:latin typeface="Calibri"/>
                <a:ea typeface="Calibri"/>
                <a:cs typeface="Calibri"/>
                <a:sym typeface="Calibri"/>
              </a:rPr>
              <a:t>Answering a query requires sequential reasoning;</a:t>
            </a:r>
            <a:endParaRPr b="1" sz="1500">
              <a:solidFill>
                <a:schemeClr val="dk2"/>
              </a:solidFill>
              <a:latin typeface="Calibri"/>
              <a:ea typeface="Calibri"/>
              <a:cs typeface="Calibri"/>
              <a:sym typeface="Calibri"/>
            </a:endParaRPr>
          </a:p>
          <a:p>
            <a:pPr indent="0" lvl="0" marL="0" rtl="0" algn="l">
              <a:spcBef>
                <a:spcPts val="0"/>
              </a:spcBef>
              <a:spcAft>
                <a:spcPts val="0"/>
              </a:spcAft>
              <a:buNone/>
            </a:pPr>
            <a:r>
              <a:t/>
            </a:r>
            <a:endParaRPr sz="1500">
              <a:solidFill>
                <a:schemeClr val="dk2"/>
              </a:solidFill>
              <a:latin typeface="Calibri"/>
              <a:ea typeface="Calibri"/>
              <a:cs typeface="Calibri"/>
              <a:sym typeface="Calibri"/>
            </a:endParaRPr>
          </a:p>
          <a:p>
            <a:pPr indent="0" lvl="0" marL="0" rtl="0" algn="l">
              <a:spcBef>
                <a:spcPts val="0"/>
              </a:spcBef>
              <a:spcAft>
                <a:spcPts val="0"/>
              </a:spcAft>
              <a:buNone/>
            </a:pPr>
            <a:r>
              <a:t/>
            </a:r>
            <a:endParaRPr sz="1500">
              <a:solidFill>
                <a:schemeClr val="dk2"/>
              </a:solidFill>
              <a:latin typeface="Calibri"/>
              <a:ea typeface="Calibri"/>
              <a:cs typeface="Calibri"/>
              <a:sym typeface="Calibri"/>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11" name="Shape 611"/>
        <p:cNvGrpSpPr/>
        <p:nvPr/>
      </p:nvGrpSpPr>
      <p:grpSpPr>
        <a:xfrm>
          <a:off x="0" y="0"/>
          <a:ext cx="0" cy="0"/>
          <a:chOff x="0" y="0"/>
          <a:chExt cx="0" cy="0"/>
        </a:xfrm>
      </p:grpSpPr>
      <p:sp>
        <p:nvSpPr>
          <p:cNvPr id="612" name="Google Shape;612;p7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ctr">
              <a:spcBef>
                <a:spcPts val="0"/>
              </a:spcBef>
              <a:spcAft>
                <a:spcPts val="0"/>
              </a:spcAft>
              <a:buSzPct val="111111"/>
              <a:buNone/>
            </a:pPr>
            <a:r>
              <a:rPr b="1" lang="en-GB"/>
              <a:t>Transformer</a:t>
            </a:r>
            <a:r>
              <a:rPr lang="en-GB"/>
              <a:t> </a:t>
            </a:r>
            <a:endParaRPr/>
          </a:p>
          <a:p>
            <a:pPr indent="0" lvl="0" marL="0" rtl="0" algn="ctr">
              <a:spcBef>
                <a:spcPts val="0"/>
              </a:spcBef>
              <a:spcAft>
                <a:spcPts val="0"/>
              </a:spcAft>
              <a:buSzPct val="172839"/>
              <a:buNone/>
            </a:pPr>
            <a:r>
              <a:rPr i="1" lang="en-GB" sz="1800"/>
              <a:t>and its limitation for sequential reasoning</a:t>
            </a:r>
            <a:endParaRPr i="1" sz="1800"/>
          </a:p>
        </p:txBody>
      </p:sp>
      <p:sp>
        <p:nvSpPr>
          <p:cNvPr id="613" name="Google Shape;613;p7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
        <p:nvSpPr>
          <p:cNvPr id="614" name="Google Shape;614;p77"/>
          <p:cNvSpPr txBox="1"/>
          <p:nvPr/>
        </p:nvSpPr>
        <p:spPr>
          <a:xfrm>
            <a:off x="242625" y="1459650"/>
            <a:ext cx="5193300" cy="47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500">
                <a:solidFill>
                  <a:schemeClr val="dk2"/>
                </a:solidFill>
                <a:latin typeface="Calibri"/>
                <a:ea typeface="Calibri"/>
                <a:cs typeface="Calibri"/>
                <a:sym typeface="Calibri"/>
              </a:rPr>
              <a:t>Answering a query requires sequential reasoning;</a:t>
            </a:r>
            <a:endParaRPr b="1" sz="1500">
              <a:solidFill>
                <a:schemeClr val="dk2"/>
              </a:solidFill>
              <a:latin typeface="Calibri"/>
              <a:ea typeface="Calibri"/>
              <a:cs typeface="Calibri"/>
              <a:sym typeface="Calibri"/>
            </a:endParaRPr>
          </a:p>
          <a:p>
            <a:pPr indent="0" lvl="0" marL="0" rtl="0" algn="l">
              <a:spcBef>
                <a:spcPts val="0"/>
              </a:spcBef>
              <a:spcAft>
                <a:spcPts val="0"/>
              </a:spcAft>
              <a:buNone/>
            </a:pPr>
            <a:r>
              <a:t/>
            </a:r>
            <a:endParaRPr sz="1500">
              <a:solidFill>
                <a:schemeClr val="dk2"/>
              </a:solidFill>
              <a:latin typeface="Calibri"/>
              <a:ea typeface="Calibri"/>
              <a:cs typeface="Calibri"/>
              <a:sym typeface="Calibri"/>
            </a:endParaRPr>
          </a:p>
          <a:p>
            <a:pPr indent="0" lvl="0" marL="0" rtl="0" algn="l">
              <a:spcBef>
                <a:spcPts val="0"/>
              </a:spcBef>
              <a:spcAft>
                <a:spcPts val="0"/>
              </a:spcAft>
              <a:buNone/>
            </a:pPr>
            <a:r>
              <a:t/>
            </a:r>
            <a:endParaRPr sz="1500">
              <a:solidFill>
                <a:schemeClr val="dk2"/>
              </a:solidFill>
              <a:latin typeface="Calibri"/>
              <a:ea typeface="Calibri"/>
              <a:cs typeface="Calibri"/>
              <a:sym typeface="Calibri"/>
            </a:endParaRPr>
          </a:p>
        </p:txBody>
      </p:sp>
      <p:sp>
        <p:nvSpPr>
          <p:cNvPr id="615" name="Google Shape;615;p77"/>
          <p:cNvSpPr txBox="1"/>
          <p:nvPr/>
        </p:nvSpPr>
        <p:spPr>
          <a:xfrm>
            <a:off x="5505010" y="1291750"/>
            <a:ext cx="3262200" cy="923400"/>
          </a:xfrm>
          <a:prstGeom prst="rect">
            <a:avLst/>
          </a:prstGeom>
          <a:noFill/>
          <a:ln cap="flat" cmpd="sng" w="9525">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GB" sz="1200">
                <a:solidFill>
                  <a:srgbClr val="0C5ADB"/>
                </a:solidFill>
              </a:rPr>
              <a:t>Efficient transformers </a:t>
            </a:r>
            <a:endParaRPr sz="1200">
              <a:solidFill>
                <a:srgbClr val="0C5ADB"/>
              </a:solidFill>
            </a:endParaRPr>
          </a:p>
          <a:p>
            <a:pPr indent="0" lvl="0" marL="0" rtl="0" algn="l">
              <a:spcBef>
                <a:spcPts val="0"/>
              </a:spcBef>
              <a:spcAft>
                <a:spcPts val="0"/>
              </a:spcAft>
              <a:buNone/>
            </a:pPr>
            <a:r>
              <a:rPr lang="en-GB" sz="1200">
                <a:solidFill>
                  <a:srgbClr val="00B050"/>
                </a:solidFill>
              </a:rPr>
              <a:t>for long documents </a:t>
            </a:r>
            <a:endParaRPr sz="1200">
              <a:solidFill>
                <a:srgbClr val="00B050"/>
              </a:solidFill>
            </a:endParaRPr>
          </a:p>
          <a:p>
            <a:pPr indent="0" lvl="0" marL="0" rtl="0" algn="l">
              <a:spcBef>
                <a:spcPts val="0"/>
              </a:spcBef>
              <a:spcAft>
                <a:spcPts val="0"/>
              </a:spcAft>
              <a:buNone/>
            </a:pPr>
            <a:r>
              <a:rPr lang="en-GB" sz="1200">
                <a:solidFill>
                  <a:srgbClr val="FF0000"/>
                </a:solidFill>
              </a:rPr>
              <a:t>that don’t use sparse attention, </a:t>
            </a:r>
            <a:endParaRPr sz="1200">
              <a:solidFill>
                <a:srgbClr val="FF0000"/>
              </a:solidFill>
            </a:endParaRPr>
          </a:p>
          <a:p>
            <a:pPr indent="0" lvl="0" marL="0" rtl="0" algn="l">
              <a:spcBef>
                <a:spcPts val="0"/>
              </a:spcBef>
              <a:spcAft>
                <a:spcPts val="0"/>
              </a:spcAft>
              <a:buNone/>
            </a:pPr>
            <a:r>
              <a:rPr lang="en-GB" sz="1200">
                <a:solidFill>
                  <a:srgbClr val="EF8600"/>
                </a:solidFill>
              </a:rPr>
              <a:t>and are validated across multiple domains</a:t>
            </a:r>
            <a:endParaRPr sz="1200">
              <a:solidFill>
                <a:schemeClr val="dk1"/>
              </a:solidFill>
            </a:endParaRPr>
          </a:p>
        </p:txBody>
      </p:sp>
      <p:sp>
        <p:nvSpPr>
          <p:cNvPr id="616" name="Google Shape;616;p77"/>
          <p:cNvSpPr txBox="1"/>
          <p:nvPr/>
        </p:nvSpPr>
        <p:spPr>
          <a:xfrm>
            <a:off x="311700" y="1912825"/>
            <a:ext cx="5193300" cy="47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latin typeface="Calibri"/>
                <a:ea typeface="Calibri"/>
                <a:cs typeface="Calibri"/>
                <a:sym typeface="Calibri"/>
              </a:rPr>
              <a:t>Make a move; </a:t>
            </a:r>
            <a:endParaRPr>
              <a:solidFill>
                <a:schemeClr val="dk2"/>
              </a:solidFill>
              <a:latin typeface="Calibri"/>
              <a:ea typeface="Calibri"/>
              <a:cs typeface="Calibri"/>
              <a:sym typeface="Calibri"/>
            </a:endParaRPr>
          </a:p>
          <a:p>
            <a:pPr indent="0" lvl="0" marL="0" rtl="0" algn="l">
              <a:spcBef>
                <a:spcPts val="0"/>
              </a:spcBef>
              <a:spcAft>
                <a:spcPts val="0"/>
              </a:spcAft>
              <a:buNone/>
            </a:pPr>
            <a:r>
              <a:rPr i="1" lang="en-GB" sz="1200">
                <a:solidFill>
                  <a:schemeClr val="dk2"/>
                </a:solidFill>
                <a:latin typeface="Calibri"/>
                <a:ea typeface="Calibri"/>
                <a:cs typeface="Calibri"/>
                <a:sym typeface="Calibri"/>
              </a:rPr>
              <a:t>e.g., decompose a query, retrieve candidates/evidence, check constraints. etc. </a:t>
            </a:r>
            <a:endParaRPr i="1" sz="1200">
              <a:solidFill>
                <a:schemeClr val="dk2"/>
              </a:solidFill>
              <a:latin typeface="Calibri"/>
              <a:ea typeface="Calibri"/>
              <a:cs typeface="Calibri"/>
              <a:sym typeface="Calibri"/>
            </a:endParaRPr>
          </a:p>
          <a:p>
            <a:pPr indent="0" lvl="0" marL="0" rtl="0" algn="l">
              <a:spcBef>
                <a:spcPts val="0"/>
              </a:spcBef>
              <a:spcAft>
                <a:spcPts val="0"/>
              </a:spcAft>
              <a:buNone/>
            </a:pPr>
            <a:r>
              <a:t/>
            </a:r>
            <a:endParaRPr>
              <a:solidFill>
                <a:schemeClr val="dk2"/>
              </a:solidFill>
              <a:latin typeface="Calibri"/>
              <a:ea typeface="Calibri"/>
              <a:cs typeface="Calibri"/>
              <a:sym typeface="Calibri"/>
            </a:endParaRPr>
          </a:p>
          <a:p>
            <a:pPr indent="0" lvl="0" marL="0" rtl="0" algn="l">
              <a:spcBef>
                <a:spcPts val="0"/>
              </a:spcBef>
              <a:spcAft>
                <a:spcPts val="0"/>
              </a:spcAft>
              <a:buNone/>
            </a:pPr>
            <a:r>
              <a:t/>
            </a:r>
            <a:endParaRPr>
              <a:solidFill>
                <a:schemeClr val="dk2"/>
              </a:solidFill>
              <a:latin typeface="Calibri"/>
              <a:ea typeface="Calibri"/>
              <a:cs typeface="Calibri"/>
              <a:sym typeface="Calibri"/>
            </a:endParaRPr>
          </a:p>
          <a:p>
            <a:pPr indent="0" lvl="0" marL="0" rtl="0" algn="l">
              <a:spcBef>
                <a:spcPts val="0"/>
              </a:spcBef>
              <a:spcAft>
                <a:spcPts val="0"/>
              </a:spcAft>
              <a:buNone/>
            </a:pPr>
            <a:r>
              <a:t/>
            </a:r>
            <a:endParaRPr>
              <a:solidFill>
                <a:schemeClr val="dk2"/>
              </a:solidFill>
              <a:latin typeface="Calibri"/>
              <a:ea typeface="Calibri"/>
              <a:cs typeface="Calibri"/>
              <a:sym typeface="Calibri"/>
            </a:endParaRPr>
          </a:p>
          <a:p>
            <a:pPr indent="0" lvl="0" marL="0" rtl="0" algn="l">
              <a:spcBef>
                <a:spcPts val="0"/>
              </a:spcBef>
              <a:spcAft>
                <a:spcPts val="0"/>
              </a:spcAft>
              <a:buNone/>
            </a:pPr>
            <a:r>
              <a:t/>
            </a:r>
            <a:endParaRPr>
              <a:solidFill>
                <a:schemeClr val="dk2"/>
              </a:solidFill>
              <a:latin typeface="Calibri"/>
              <a:ea typeface="Calibri"/>
              <a:cs typeface="Calibri"/>
              <a:sym typeface="Calibri"/>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20" name="Shape 620"/>
        <p:cNvGrpSpPr/>
        <p:nvPr/>
      </p:nvGrpSpPr>
      <p:grpSpPr>
        <a:xfrm>
          <a:off x="0" y="0"/>
          <a:ext cx="0" cy="0"/>
          <a:chOff x="0" y="0"/>
          <a:chExt cx="0" cy="0"/>
        </a:xfrm>
      </p:grpSpPr>
      <p:sp>
        <p:nvSpPr>
          <p:cNvPr id="621" name="Google Shape;621;p7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ctr">
              <a:spcBef>
                <a:spcPts val="0"/>
              </a:spcBef>
              <a:spcAft>
                <a:spcPts val="0"/>
              </a:spcAft>
              <a:buSzPct val="111111"/>
              <a:buNone/>
            </a:pPr>
            <a:r>
              <a:rPr b="1" lang="en-GB"/>
              <a:t>Transformer</a:t>
            </a:r>
            <a:r>
              <a:rPr lang="en-GB"/>
              <a:t> </a:t>
            </a:r>
            <a:endParaRPr/>
          </a:p>
          <a:p>
            <a:pPr indent="0" lvl="0" marL="0" rtl="0" algn="ctr">
              <a:spcBef>
                <a:spcPts val="0"/>
              </a:spcBef>
              <a:spcAft>
                <a:spcPts val="0"/>
              </a:spcAft>
              <a:buSzPct val="172839"/>
              <a:buNone/>
            </a:pPr>
            <a:r>
              <a:rPr i="1" lang="en-GB" sz="1800"/>
              <a:t>and its limitation for sequential reasoning</a:t>
            </a:r>
            <a:endParaRPr i="1" sz="1800"/>
          </a:p>
        </p:txBody>
      </p:sp>
      <p:sp>
        <p:nvSpPr>
          <p:cNvPr id="622" name="Google Shape;622;p7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
        <p:nvSpPr>
          <p:cNvPr id="623" name="Google Shape;623;p78"/>
          <p:cNvSpPr txBox="1"/>
          <p:nvPr/>
        </p:nvSpPr>
        <p:spPr>
          <a:xfrm>
            <a:off x="242625" y="1459650"/>
            <a:ext cx="5193300" cy="47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500">
                <a:solidFill>
                  <a:schemeClr val="dk2"/>
                </a:solidFill>
                <a:latin typeface="Calibri"/>
                <a:ea typeface="Calibri"/>
                <a:cs typeface="Calibri"/>
                <a:sym typeface="Calibri"/>
              </a:rPr>
              <a:t>Answering a query requires sequential reasoning;</a:t>
            </a:r>
            <a:endParaRPr b="1" sz="1500">
              <a:solidFill>
                <a:schemeClr val="dk2"/>
              </a:solidFill>
              <a:latin typeface="Calibri"/>
              <a:ea typeface="Calibri"/>
              <a:cs typeface="Calibri"/>
              <a:sym typeface="Calibri"/>
            </a:endParaRPr>
          </a:p>
          <a:p>
            <a:pPr indent="0" lvl="0" marL="0" rtl="0" algn="l">
              <a:spcBef>
                <a:spcPts val="0"/>
              </a:spcBef>
              <a:spcAft>
                <a:spcPts val="0"/>
              </a:spcAft>
              <a:buNone/>
            </a:pPr>
            <a:r>
              <a:t/>
            </a:r>
            <a:endParaRPr sz="1500">
              <a:solidFill>
                <a:schemeClr val="dk2"/>
              </a:solidFill>
              <a:latin typeface="Calibri"/>
              <a:ea typeface="Calibri"/>
              <a:cs typeface="Calibri"/>
              <a:sym typeface="Calibri"/>
            </a:endParaRPr>
          </a:p>
          <a:p>
            <a:pPr indent="0" lvl="0" marL="0" rtl="0" algn="l">
              <a:spcBef>
                <a:spcPts val="0"/>
              </a:spcBef>
              <a:spcAft>
                <a:spcPts val="0"/>
              </a:spcAft>
              <a:buNone/>
            </a:pPr>
            <a:r>
              <a:t/>
            </a:r>
            <a:endParaRPr sz="1500">
              <a:solidFill>
                <a:schemeClr val="dk2"/>
              </a:solidFill>
              <a:latin typeface="Calibri"/>
              <a:ea typeface="Calibri"/>
              <a:cs typeface="Calibri"/>
              <a:sym typeface="Calibri"/>
            </a:endParaRPr>
          </a:p>
        </p:txBody>
      </p:sp>
      <p:sp>
        <p:nvSpPr>
          <p:cNvPr id="624" name="Google Shape;624;p78"/>
          <p:cNvSpPr txBox="1"/>
          <p:nvPr/>
        </p:nvSpPr>
        <p:spPr>
          <a:xfrm>
            <a:off x="311700" y="1912825"/>
            <a:ext cx="5193300" cy="47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latin typeface="Calibri"/>
                <a:ea typeface="Calibri"/>
                <a:cs typeface="Calibri"/>
                <a:sym typeface="Calibri"/>
              </a:rPr>
              <a:t>Make a move; </a:t>
            </a:r>
            <a:endParaRPr>
              <a:solidFill>
                <a:schemeClr val="dk2"/>
              </a:solidFill>
              <a:latin typeface="Calibri"/>
              <a:ea typeface="Calibri"/>
              <a:cs typeface="Calibri"/>
              <a:sym typeface="Calibri"/>
            </a:endParaRPr>
          </a:p>
          <a:p>
            <a:pPr indent="0" lvl="0" marL="0" rtl="0" algn="l">
              <a:spcBef>
                <a:spcPts val="0"/>
              </a:spcBef>
              <a:spcAft>
                <a:spcPts val="0"/>
              </a:spcAft>
              <a:buNone/>
            </a:pPr>
            <a:r>
              <a:rPr i="1" lang="en-GB" sz="1200">
                <a:solidFill>
                  <a:schemeClr val="dk2"/>
                </a:solidFill>
                <a:latin typeface="Calibri"/>
                <a:ea typeface="Calibri"/>
                <a:cs typeface="Calibri"/>
                <a:sym typeface="Calibri"/>
              </a:rPr>
              <a:t>e.g., decompose a query, retrieve candidates/evidence, check constraints. etc. </a:t>
            </a:r>
            <a:endParaRPr i="1" sz="1200">
              <a:solidFill>
                <a:schemeClr val="dk2"/>
              </a:solidFill>
              <a:latin typeface="Calibri"/>
              <a:ea typeface="Calibri"/>
              <a:cs typeface="Calibri"/>
              <a:sym typeface="Calibri"/>
            </a:endParaRPr>
          </a:p>
          <a:p>
            <a:pPr indent="0" lvl="0" marL="0" rtl="0" algn="l">
              <a:spcBef>
                <a:spcPts val="0"/>
              </a:spcBef>
              <a:spcAft>
                <a:spcPts val="0"/>
              </a:spcAft>
              <a:buNone/>
            </a:pPr>
            <a:r>
              <a:t/>
            </a:r>
            <a:endParaRPr>
              <a:solidFill>
                <a:schemeClr val="dk2"/>
              </a:solidFill>
              <a:latin typeface="Calibri"/>
              <a:ea typeface="Calibri"/>
              <a:cs typeface="Calibri"/>
              <a:sym typeface="Calibri"/>
            </a:endParaRPr>
          </a:p>
          <a:p>
            <a:pPr indent="0" lvl="0" marL="0" rtl="0" algn="l">
              <a:spcBef>
                <a:spcPts val="0"/>
              </a:spcBef>
              <a:spcAft>
                <a:spcPts val="0"/>
              </a:spcAft>
              <a:buNone/>
            </a:pPr>
            <a:r>
              <a:t/>
            </a:r>
            <a:endParaRPr>
              <a:solidFill>
                <a:schemeClr val="dk2"/>
              </a:solidFill>
              <a:latin typeface="Calibri"/>
              <a:ea typeface="Calibri"/>
              <a:cs typeface="Calibri"/>
              <a:sym typeface="Calibri"/>
            </a:endParaRPr>
          </a:p>
          <a:p>
            <a:pPr indent="0" lvl="0" marL="0" rtl="0" algn="l">
              <a:spcBef>
                <a:spcPts val="0"/>
              </a:spcBef>
              <a:spcAft>
                <a:spcPts val="0"/>
              </a:spcAft>
              <a:buNone/>
            </a:pPr>
            <a:r>
              <a:t/>
            </a:r>
            <a:endParaRPr>
              <a:solidFill>
                <a:schemeClr val="dk2"/>
              </a:solidFill>
              <a:latin typeface="Calibri"/>
              <a:ea typeface="Calibri"/>
              <a:cs typeface="Calibri"/>
              <a:sym typeface="Calibri"/>
            </a:endParaRPr>
          </a:p>
          <a:p>
            <a:pPr indent="0" lvl="0" marL="0" rtl="0" algn="l">
              <a:spcBef>
                <a:spcPts val="0"/>
              </a:spcBef>
              <a:spcAft>
                <a:spcPts val="0"/>
              </a:spcAft>
              <a:buNone/>
            </a:pPr>
            <a:r>
              <a:t/>
            </a:r>
            <a:endParaRPr>
              <a:solidFill>
                <a:schemeClr val="dk2"/>
              </a:solidFill>
              <a:latin typeface="Calibri"/>
              <a:ea typeface="Calibri"/>
              <a:cs typeface="Calibri"/>
              <a:sym typeface="Calibri"/>
            </a:endParaRPr>
          </a:p>
        </p:txBody>
      </p:sp>
      <p:sp>
        <p:nvSpPr>
          <p:cNvPr id="625" name="Google Shape;625;p78"/>
          <p:cNvSpPr txBox="1"/>
          <p:nvPr/>
        </p:nvSpPr>
        <p:spPr>
          <a:xfrm>
            <a:off x="311700" y="2656713"/>
            <a:ext cx="5193300" cy="47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latin typeface="Calibri"/>
                <a:ea typeface="Calibri"/>
                <a:cs typeface="Calibri"/>
                <a:sym typeface="Calibri"/>
              </a:rPr>
              <a:t>The partial answer;</a:t>
            </a:r>
            <a:endParaRPr>
              <a:solidFill>
                <a:schemeClr val="dk2"/>
              </a:solidFill>
              <a:latin typeface="Calibri"/>
              <a:ea typeface="Calibri"/>
              <a:cs typeface="Calibri"/>
              <a:sym typeface="Calibri"/>
            </a:endParaRPr>
          </a:p>
          <a:p>
            <a:pPr indent="0" lvl="0" marL="0" rtl="0" algn="l">
              <a:spcBef>
                <a:spcPts val="0"/>
              </a:spcBef>
              <a:spcAft>
                <a:spcPts val="0"/>
              </a:spcAft>
              <a:buNone/>
            </a:pPr>
            <a:r>
              <a:rPr i="1" lang="en-GB" sz="1100">
                <a:solidFill>
                  <a:schemeClr val="dk2"/>
                </a:solidFill>
                <a:latin typeface="Calibri"/>
                <a:ea typeface="Calibri"/>
                <a:cs typeface="Calibri"/>
                <a:sym typeface="Calibri"/>
              </a:rPr>
              <a:t>Valid? Continue. Not valid? Backtrack and try another branch. </a:t>
            </a:r>
            <a:endParaRPr i="1" sz="1100">
              <a:solidFill>
                <a:schemeClr val="dk2"/>
              </a:solidFill>
              <a:latin typeface="Calibri"/>
              <a:ea typeface="Calibri"/>
              <a:cs typeface="Calibri"/>
              <a:sym typeface="Calibri"/>
            </a:endParaRPr>
          </a:p>
        </p:txBody>
      </p:sp>
      <p:sp>
        <p:nvSpPr>
          <p:cNvPr id="626" name="Google Shape;626;p78"/>
          <p:cNvSpPr txBox="1"/>
          <p:nvPr/>
        </p:nvSpPr>
        <p:spPr>
          <a:xfrm>
            <a:off x="5505010" y="1291750"/>
            <a:ext cx="3262200" cy="923400"/>
          </a:xfrm>
          <a:prstGeom prst="rect">
            <a:avLst/>
          </a:prstGeom>
          <a:noFill/>
          <a:ln cap="flat" cmpd="sng" w="9525">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GB" sz="1200">
                <a:solidFill>
                  <a:srgbClr val="0C5ADB"/>
                </a:solidFill>
              </a:rPr>
              <a:t>Efficient transformers </a:t>
            </a:r>
            <a:endParaRPr sz="1200">
              <a:solidFill>
                <a:srgbClr val="0C5ADB"/>
              </a:solidFill>
            </a:endParaRPr>
          </a:p>
          <a:p>
            <a:pPr indent="0" lvl="0" marL="0" rtl="0" algn="l">
              <a:spcBef>
                <a:spcPts val="0"/>
              </a:spcBef>
              <a:spcAft>
                <a:spcPts val="0"/>
              </a:spcAft>
              <a:buNone/>
            </a:pPr>
            <a:r>
              <a:rPr lang="en-GB" sz="1200">
                <a:solidFill>
                  <a:srgbClr val="00B050"/>
                </a:solidFill>
              </a:rPr>
              <a:t>for long documents </a:t>
            </a:r>
            <a:endParaRPr sz="1200">
              <a:solidFill>
                <a:srgbClr val="00B050"/>
              </a:solidFill>
            </a:endParaRPr>
          </a:p>
          <a:p>
            <a:pPr indent="0" lvl="0" marL="0" rtl="0" algn="l">
              <a:spcBef>
                <a:spcPts val="0"/>
              </a:spcBef>
              <a:spcAft>
                <a:spcPts val="0"/>
              </a:spcAft>
              <a:buNone/>
            </a:pPr>
            <a:r>
              <a:rPr lang="en-GB" sz="1200">
                <a:solidFill>
                  <a:srgbClr val="FF0000"/>
                </a:solidFill>
              </a:rPr>
              <a:t>that don’t use sparse attention, </a:t>
            </a:r>
            <a:endParaRPr sz="1200">
              <a:solidFill>
                <a:srgbClr val="FF0000"/>
              </a:solidFill>
            </a:endParaRPr>
          </a:p>
          <a:p>
            <a:pPr indent="0" lvl="0" marL="0" rtl="0" algn="l">
              <a:spcBef>
                <a:spcPts val="0"/>
              </a:spcBef>
              <a:spcAft>
                <a:spcPts val="0"/>
              </a:spcAft>
              <a:buNone/>
            </a:pPr>
            <a:r>
              <a:rPr lang="en-GB" sz="1200">
                <a:solidFill>
                  <a:srgbClr val="EF8600"/>
                </a:solidFill>
              </a:rPr>
              <a:t>and are validated across multiple domains</a:t>
            </a:r>
            <a:endParaRPr sz="1200">
              <a:solidFill>
                <a:schemeClr val="dk1"/>
              </a:solidFill>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30" name="Shape 630"/>
        <p:cNvGrpSpPr/>
        <p:nvPr/>
      </p:nvGrpSpPr>
      <p:grpSpPr>
        <a:xfrm>
          <a:off x="0" y="0"/>
          <a:ext cx="0" cy="0"/>
          <a:chOff x="0" y="0"/>
          <a:chExt cx="0" cy="0"/>
        </a:xfrm>
      </p:grpSpPr>
      <p:sp>
        <p:nvSpPr>
          <p:cNvPr id="631" name="Google Shape;631;p7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ctr">
              <a:spcBef>
                <a:spcPts val="0"/>
              </a:spcBef>
              <a:spcAft>
                <a:spcPts val="0"/>
              </a:spcAft>
              <a:buSzPct val="111111"/>
              <a:buNone/>
            </a:pPr>
            <a:r>
              <a:rPr b="1" lang="en-GB"/>
              <a:t>Transformer</a:t>
            </a:r>
            <a:r>
              <a:rPr lang="en-GB"/>
              <a:t> </a:t>
            </a:r>
            <a:endParaRPr/>
          </a:p>
          <a:p>
            <a:pPr indent="0" lvl="0" marL="0" rtl="0" algn="ctr">
              <a:spcBef>
                <a:spcPts val="0"/>
              </a:spcBef>
              <a:spcAft>
                <a:spcPts val="0"/>
              </a:spcAft>
              <a:buSzPct val="172839"/>
              <a:buNone/>
            </a:pPr>
            <a:r>
              <a:rPr i="1" lang="en-GB" sz="1800"/>
              <a:t>and its limitation for sequential reasoning</a:t>
            </a:r>
            <a:endParaRPr i="1" sz="1800"/>
          </a:p>
        </p:txBody>
      </p:sp>
      <p:sp>
        <p:nvSpPr>
          <p:cNvPr id="632" name="Google Shape;632;p7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grpSp>
        <p:nvGrpSpPr>
          <p:cNvPr id="633" name="Google Shape;633;p79"/>
          <p:cNvGrpSpPr/>
          <p:nvPr/>
        </p:nvGrpSpPr>
        <p:grpSpPr>
          <a:xfrm>
            <a:off x="5078619" y="2390436"/>
            <a:ext cx="3890769" cy="1247150"/>
            <a:chOff x="516644" y="2390436"/>
            <a:chExt cx="3890769" cy="1247150"/>
          </a:xfrm>
        </p:grpSpPr>
        <p:sp>
          <p:nvSpPr>
            <p:cNvPr id="634" name="Google Shape;634;p79"/>
            <p:cNvSpPr/>
            <p:nvPr/>
          </p:nvSpPr>
          <p:spPr>
            <a:xfrm>
              <a:off x="516644" y="2761210"/>
              <a:ext cx="288000" cy="288000"/>
            </a:xfrm>
            <a:prstGeom prst="rect">
              <a:avLst/>
            </a:prstGeom>
            <a:solidFill>
              <a:srgbClr val="FF63FF">
                <a:alpha val="30200"/>
              </a:srgbClr>
            </a:solidFill>
            <a:ln cap="flat" cmpd="sng" w="25400">
              <a:solidFill>
                <a:srgbClr val="7030A0">
                  <a:alpha val="7608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cxnSp>
          <p:nvCxnSpPr>
            <p:cNvPr id="635" name="Google Shape;635;p79"/>
            <p:cNvCxnSpPr>
              <a:stCxn id="634" idx="3"/>
            </p:cNvCxnSpPr>
            <p:nvPr/>
          </p:nvCxnSpPr>
          <p:spPr>
            <a:xfrm flipH="1" rot="10800000">
              <a:off x="804644" y="2510110"/>
              <a:ext cx="595800" cy="395100"/>
            </a:xfrm>
            <a:prstGeom prst="straightConnector1">
              <a:avLst/>
            </a:prstGeom>
            <a:noFill/>
            <a:ln cap="flat" cmpd="sng" w="9525">
              <a:solidFill>
                <a:srgbClr val="000000"/>
              </a:solidFill>
              <a:prstDash val="solid"/>
              <a:round/>
              <a:headEnd len="sm" w="sm" type="none"/>
              <a:tailEnd len="med" w="med" type="triangle"/>
            </a:ln>
          </p:spPr>
        </p:cxnSp>
        <p:cxnSp>
          <p:nvCxnSpPr>
            <p:cNvPr id="636" name="Google Shape;636;p79"/>
            <p:cNvCxnSpPr>
              <a:stCxn id="634" idx="3"/>
            </p:cNvCxnSpPr>
            <p:nvPr/>
          </p:nvCxnSpPr>
          <p:spPr>
            <a:xfrm>
              <a:off x="804644" y="2905210"/>
              <a:ext cx="587700" cy="14400"/>
            </a:xfrm>
            <a:prstGeom prst="straightConnector1">
              <a:avLst/>
            </a:prstGeom>
            <a:noFill/>
            <a:ln cap="flat" cmpd="sng" w="9525">
              <a:solidFill>
                <a:srgbClr val="000000"/>
              </a:solidFill>
              <a:prstDash val="solid"/>
              <a:round/>
              <a:headEnd len="sm" w="sm" type="none"/>
              <a:tailEnd len="med" w="med" type="triangle"/>
            </a:ln>
          </p:spPr>
        </p:cxnSp>
        <p:cxnSp>
          <p:nvCxnSpPr>
            <p:cNvPr id="637" name="Google Shape;637;p79"/>
            <p:cNvCxnSpPr>
              <a:stCxn id="634" idx="3"/>
              <a:endCxn id="638" idx="1"/>
            </p:cNvCxnSpPr>
            <p:nvPr/>
          </p:nvCxnSpPr>
          <p:spPr>
            <a:xfrm>
              <a:off x="804644" y="2905210"/>
              <a:ext cx="585900" cy="467700"/>
            </a:xfrm>
            <a:prstGeom prst="straightConnector1">
              <a:avLst/>
            </a:prstGeom>
            <a:noFill/>
            <a:ln cap="flat" cmpd="sng" w="9525">
              <a:solidFill>
                <a:srgbClr val="000000"/>
              </a:solidFill>
              <a:prstDash val="solid"/>
              <a:round/>
              <a:headEnd len="sm" w="sm" type="none"/>
              <a:tailEnd len="med" w="med" type="triangle"/>
            </a:ln>
          </p:spPr>
        </p:cxnSp>
        <p:sp>
          <p:nvSpPr>
            <p:cNvPr id="639" name="Google Shape;639;p79"/>
            <p:cNvSpPr/>
            <p:nvPr/>
          </p:nvSpPr>
          <p:spPr>
            <a:xfrm>
              <a:off x="1395847" y="2415611"/>
              <a:ext cx="288000" cy="288000"/>
            </a:xfrm>
            <a:prstGeom prst="rect">
              <a:avLst/>
            </a:prstGeom>
            <a:solidFill>
              <a:srgbClr val="BCBCBC"/>
            </a:solidFill>
            <a:ln cap="flat" cmpd="sng" w="25400">
              <a:solidFill>
                <a:srgbClr val="1B386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sp>
          <p:nvSpPr>
            <p:cNvPr id="640" name="Google Shape;640;p79"/>
            <p:cNvSpPr/>
            <p:nvPr/>
          </p:nvSpPr>
          <p:spPr>
            <a:xfrm>
              <a:off x="1390562" y="2813798"/>
              <a:ext cx="288000" cy="288000"/>
            </a:xfrm>
            <a:prstGeom prst="rect">
              <a:avLst/>
            </a:prstGeom>
            <a:solidFill>
              <a:srgbClr val="BCBCBC"/>
            </a:solidFill>
            <a:ln cap="flat" cmpd="sng" w="25400">
              <a:solidFill>
                <a:srgbClr val="1B386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sp>
          <p:nvSpPr>
            <p:cNvPr id="638" name="Google Shape;638;p79"/>
            <p:cNvSpPr/>
            <p:nvPr/>
          </p:nvSpPr>
          <p:spPr>
            <a:xfrm>
              <a:off x="1390562" y="3228964"/>
              <a:ext cx="288000" cy="288000"/>
            </a:xfrm>
            <a:prstGeom prst="rect">
              <a:avLst/>
            </a:prstGeom>
            <a:solidFill>
              <a:srgbClr val="BCBCBC"/>
            </a:solidFill>
            <a:ln cap="flat" cmpd="sng" w="25400">
              <a:solidFill>
                <a:srgbClr val="1B386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cxnSp>
          <p:nvCxnSpPr>
            <p:cNvPr id="641" name="Google Shape;641;p79"/>
            <p:cNvCxnSpPr>
              <a:stCxn id="640" idx="3"/>
              <a:endCxn id="642" idx="1"/>
            </p:cNvCxnSpPr>
            <p:nvPr/>
          </p:nvCxnSpPr>
          <p:spPr>
            <a:xfrm flipH="1" rot="10800000">
              <a:off x="1678562" y="2760998"/>
              <a:ext cx="496500" cy="196800"/>
            </a:xfrm>
            <a:prstGeom prst="straightConnector1">
              <a:avLst/>
            </a:prstGeom>
            <a:noFill/>
            <a:ln cap="flat" cmpd="sng" w="9525">
              <a:solidFill>
                <a:srgbClr val="000000"/>
              </a:solidFill>
              <a:prstDash val="solid"/>
              <a:round/>
              <a:headEnd len="sm" w="sm" type="none"/>
              <a:tailEnd len="med" w="med" type="triangle"/>
            </a:ln>
          </p:spPr>
        </p:cxnSp>
        <p:cxnSp>
          <p:nvCxnSpPr>
            <p:cNvPr id="643" name="Google Shape;643;p79"/>
            <p:cNvCxnSpPr>
              <a:stCxn id="640" idx="3"/>
              <a:endCxn id="644" idx="1"/>
            </p:cNvCxnSpPr>
            <p:nvPr/>
          </p:nvCxnSpPr>
          <p:spPr>
            <a:xfrm>
              <a:off x="1678562" y="2957798"/>
              <a:ext cx="496500" cy="181200"/>
            </a:xfrm>
            <a:prstGeom prst="straightConnector1">
              <a:avLst/>
            </a:prstGeom>
            <a:noFill/>
            <a:ln cap="flat" cmpd="sng" w="9525">
              <a:solidFill>
                <a:srgbClr val="000000"/>
              </a:solidFill>
              <a:prstDash val="solid"/>
              <a:round/>
              <a:headEnd len="sm" w="sm" type="none"/>
              <a:tailEnd len="med" w="med" type="triangle"/>
            </a:ln>
          </p:spPr>
        </p:cxnSp>
        <p:sp>
          <p:nvSpPr>
            <p:cNvPr id="642" name="Google Shape;642;p79"/>
            <p:cNvSpPr/>
            <p:nvPr/>
          </p:nvSpPr>
          <p:spPr>
            <a:xfrm>
              <a:off x="2175192" y="2616890"/>
              <a:ext cx="288000" cy="288000"/>
            </a:xfrm>
            <a:prstGeom prst="rect">
              <a:avLst/>
            </a:prstGeom>
            <a:solidFill>
              <a:srgbClr val="BCBCBC"/>
            </a:solidFill>
            <a:ln cap="flat" cmpd="sng" w="25400">
              <a:solidFill>
                <a:srgbClr val="1B386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sp>
          <p:nvSpPr>
            <p:cNvPr id="644" name="Google Shape;644;p79"/>
            <p:cNvSpPr/>
            <p:nvPr/>
          </p:nvSpPr>
          <p:spPr>
            <a:xfrm>
              <a:off x="2175204" y="2995046"/>
              <a:ext cx="288000" cy="288000"/>
            </a:xfrm>
            <a:prstGeom prst="rect">
              <a:avLst/>
            </a:prstGeom>
            <a:solidFill>
              <a:srgbClr val="BCBCBC"/>
            </a:solidFill>
            <a:ln cap="flat" cmpd="sng" w="25400">
              <a:solidFill>
                <a:srgbClr val="1B386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GB" sz="1400" u="none" cap="none" strike="noStrike">
                  <a:solidFill>
                    <a:srgbClr val="FFFFFF"/>
                  </a:solidFill>
                  <a:latin typeface="Arial"/>
                  <a:ea typeface="Arial"/>
                  <a:cs typeface="Arial"/>
                  <a:sym typeface="Arial"/>
                </a:rPr>
                <a:t> </a:t>
              </a:r>
              <a:endParaRPr b="0" i="0" sz="1400" u="none" cap="none" strike="noStrike">
                <a:solidFill>
                  <a:srgbClr val="FFFFFF"/>
                </a:solidFill>
                <a:latin typeface="Arial"/>
                <a:ea typeface="Arial"/>
                <a:cs typeface="Arial"/>
                <a:sym typeface="Arial"/>
              </a:endParaRPr>
            </a:p>
          </p:txBody>
        </p:sp>
        <p:cxnSp>
          <p:nvCxnSpPr>
            <p:cNvPr id="645" name="Google Shape;645;p79"/>
            <p:cNvCxnSpPr>
              <a:stCxn id="644" idx="3"/>
              <a:endCxn id="646" idx="1"/>
            </p:cNvCxnSpPr>
            <p:nvPr/>
          </p:nvCxnSpPr>
          <p:spPr>
            <a:xfrm>
              <a:off x="2463204" y="3139046"/>
              <a:ext cx="328200" cy="0"/>
            </a:xfrm>
            <a:prstGeom prst="straightConnector1">
              <a:avLst/>
            </a:prstGeom>
            <a:noFill/>
            <a:ln cap="flat" cmpd="sng" w="9525">
              <a:solidFill>
                <a:srgbClr val="000000"/>
              </a:solidFill>
              <a:prstDash val="solid"/>
              <a:round/>
              <a:headEnd len="sm" w="sm" type="none"/>
              <a:tailEnd len="med" w="med" type="triangle"/>
            </a:ln>
          </p:spPr>
        </p:cxnSp>
        <p:cxnSp>
          <p:nvCxnSpPr>
            <p:cNvPr id="647" name="Google Shape;647;p79"/>
            <p:cNvCxnSpPr>
              <a:stCxn id="644" idx="3"/>
              <a:endCxn id="648" idx="1"/>
            </p:cNvCxnSpPr>
            <p:nvPr/>
          </p:nvCxnSpPr>
          <p:spPr>
            <a:xfrm flipH="1" rot="10800000">
              <a:off x="2463204" y="2809646"/>
              <a:ext cx="328200" cy="329400"/>
            </a:xfrm>
            <a:prstGeom prst="straightConnector1">
              <a:avLst/>
            </a:prstGeom>
            <a:noFill/>
            <a:ln cap="flat" cmpd="sng" w="9525">
              <a:solidFill>
                <a:srgbClr val="000000"/>
              </a:solidFill>
              <a:prstDash val="solid"/>
              <a:round/>
              <a:headEnd len="sm" w="sm" type="none"/>
              <a:tailEnd len="med" w="med" type="triangle"/>
            </a:ln>
          </p:spPr>
        </p:cxnSp>
        <p:cxnSp>
          <p:nvCxnSpPr>
            <p:cNvPr id="649" name="Google Shape;649;p79"/>
            <p:cNvCxnSpPr>
              <a:stCxn id="644" idx="3"/>
              <a:endCxn id="650" idx="1"/>
            </p:cNvCxnSpPr>
            <p:nvPr/>
          </p:nvCxnSpPr>
          <p:spPr>
            <a:xfrm>
              <a:off x="2463204" y="3139046"/>
              <a:ext cx="328200" cy="329400"/>
            </a:xfrm>
            <a:prstGeom prst="straightConnector1">
              <a:avLst/>
            </a:prstGeom>
            <a:noFill/>
            <a:ln cap="flat" cmpd="sng" w="9525">
              <a:solidFill>
                <a:srgbClr val="000000"/>
              </a:solidFill>
              <a:prstDash val="solid"/>
              <a:round/>
              <a:headEnd len="sm" w="sm" type="none"/>
              <a:tailEnd len="med" w="med" type="triangle"/>
            </a:ln>
          </p:spPr>
        </p:cxnSp>
        <p:sp>
          <p:nvSpPr>
            <p:cNvPr id="648" name="Google Shape;648;p79"/>
            <p:cNvSpPr/>
            <p:nvPr/>
          </p:nvSpPr>
          <p:spPr>
            <a:xfrm>
              <a:off x="2791365" y="2665735"/>
              <a:ext cx="288000" cy="288000"/>
            </a:xfrm>
            <a:prstGeom prst="rect">
              <a:avLst/>
            </a:prstGeom>
            <a:solidFill>
              <a:srgbClr val="BCBCBC"/>
            </a:solidFill>
            <a:ln cap="flat" cmpd="sng" w="25400">
              <a:solidFill>
                <a:srgbClr val="1B386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sp>
          <p:nvSpPr>
            <p:cNvPr id="646" name="Google Shape;646;p79"/>
            <p:cNvSpPr/>
            <p:nvPr/>
          </p:nvSpPr>
          <p:spPr>
            <a:xfrm>
              <a:off x="2791365" y="2995046"/>
              <a:ext cx="288000" cy="288000"/>
            </a:xfrm>
            <a:prstGeom prst="rect">
              <a:avLst/>
            </a:prstGeom>
            <a:solidFill>
              <a:srgbClr val="BCBCBC"/>
            </a:solidFill>
            <a:ln cap="flat" cmpd="sng" w="25400">
              <a:solidFill>
                <a:srgbClr val="1B386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sp>
          <p:nvSpPr>
            <p:cNvPr id="650" name="Google Shape;650;p79"/>
            <p:cNvSpPr/>
            <p:nvPr/>
          </p:nvSpPr>
          <p:spPr>
            <a:xfrm>
              <a:off x="2791365" y="3324382"/>
              <a:ext cx="288000" cy="288000"/>
            </a:xfrm>
            <a:prstGeom prst="rect">
              <a:avLst/>
            </a:prstGeom>
            <a:solidFill>
              <a:srgbClr val="BCBCBC"/>
            </a:solidFill>
            <a:ln cap="flat" cmpd="sng" w="25400">
              <a:solidFill>
                <a:srgbClr val="1B386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sp>
          <p:nvSpPr>
            <p:cNvPr id="651" name="Google Shape;651;p79"/>
            <p:cNvSpPr txBox="1"/>
            <p:nvPr/>
          </p:nvSpPr>
          <p:spPr>
            <a:xfrm>
              <a:off x="3188890" y="2941172"/>
              <a:ext cx="4995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GB" sz="1400" u="none" cap="none" strike="noStrike">
                  <a:solidFill>
                    <a:srgbClr val="000000"/>
                  </a:solidFill>
                  <a:latin typeface="Arial"/>
                  <a:ea typeface="Arial"/>
                  <a:cs typeface="Arial"/>
                  <a:sym typeface="Arial"/>
                </a:rPr>
                <a:t>…</a:t>
              </a:r>
              <a:endParaRPr/>
            </a:p>
          </p:txBody>
        </p:sp>
        <p:cxnSp>
          <p:nvCxnSpPr>
            <p:cNvPr id="652" name="Google Shape;652;p79"/>
            <p:cNvCxnSpPr/>
            <p:nvPr/>
          </p:nvCxnSpPr>
          <p:spPr>
            <a:xfrm>
              <a:off x="3627555" y="3106935"/>
              <a:ext cx="323700" cy="0"/>
            </a:xfrm>
            <a:prstGeom prst="straightConnector1">
              <a:avLst/>
            </a:prstGeom>
            <a:noFill/>
            <a:ln cap="flat" cmpd="sng" w="9525">
              <a:solidFill>
                <a:srgbClr val="000000"/>
              </a:solidFill>
              <a:prstDash val="solid"/>
              <a:round/>
              <a:headEnd len="sm" w="sm" type="none"/>
              <a:tailEnd len="med" w="med" type="triangle"/>
            </a:ln>
          </p:spPr>
        </p:cxnSp>
        <p:sp>
          <p:nvSpPr>
            <p:cNvPr id="653" name="Google Shape;653;p79"/>
            <p:cNvSpPr/>
            <p:nvPr/>
          </p:nvSpPr>
          <p:spPr>
            <a:xfrm>
              <a:off x="4047422" y="2953224"/>
              <a:ext cx="288000" cy="288000"/>
            </a:xfrm>
            <a:prstGeom prst="rect">
              <a:avLst/>
            </a:prstGeom>
            <a:solidFill>
              <a:srgbClr val="BCBCBC"/>
            </a:solidFill>
            <a:ln cap="flat" cmpd="sng" w="25400">
              <a:solidFill>
                <a:srgbClr val="1B386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sp>
          <p:nvSpPr>
            <p:cNvPr id="654" name="Google Shape;654;p79"/>
            <p:cNvSpPr/>
            <p:nvPr/>
          </p:nvSpPr>
          <p:spPr>
            <a:xfrm>
              <a:off x="1372567" y="2390436"/>
              <a:ext cx="324000" cy="338400"/>
            </a:xfrm>
            <a:prstGeom prst="mathMultiply">
              <a:avLst>
                <a:gd fmla="val 23520" name="adj1"/>
              </a:avLst>
            </a:pr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sp>
          <p:nvSpPr>
            <p:cNvPr id="655" name="Google Shape;655;p79"/>
            <p:cNvSpPr/>
            <p:nvPr/>
          </p:nvSpPr>
          <p:spPr>
            <a:xfrm>
              <a:off x="1372559" y="3211989"/>
              <a:ext cx="324000" cy="338400"/>
            </a:xfrm>
            <a:prstGeom prst="mathMultiply">
              <a:avLst>
                <a:gd fmla="val 23520" name="adj1"/>
              </a:avLst>
            </a:pr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sp>
          <p:nvSpPr>
            <p:cNvPr id="656" name="Google Shape;656;p79"/>
            <p:cNvSpPr/>
            <p:nvPr/>
          </p:nvSpPr>
          <p:spPr>
            <a:xfrm>
              <a:off x="2157189" y="2591691"/>
              <a:ext cx="324000" cy="338400"/>
            </a:xfrm>
            <a:prstGeom prst="mathMultiply">
              <a:avLst>
                <a:gd fmla="val 23520" name="adj1"/>
              </a:avLst>
            </a:pr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sp>
          <p:nvSpPr>
            <p:cNvPr id="657" name="Google Shape;657;p79"/>
            <p:cNvSpPr/>
            <p:nvPr/>
          </p:nvSpPr>
          <p:spPr>
            <a:xfrm>
              <a:off x="2773383" y="2615336"/>
              <a:ext cx="324000" cy="338400"/>
            </a:xfrm>
            <a:prstGeom prst="mathMultiply">
              <a:avLst>
                <a:gd fmla="val 23520" name="adj1"/>
              </a:avLst>
            </a:pr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sp>
          <p:nvSpPr>
            <p:cNvPr id="658" name="Google Shape;658;p79"/>
            <p:cNvSpPr/>
            <p:nvPr/>
          </p:nvSpPr>
          <p:spPr>
            <a:xfrm>
              <a:off x="2773386" y="3299187"/>
              <a:ext cx="324000" cy="338400"/>
            </a:xfrm>
            <a:prstGeom prst="mathMultiply">
              <a:avLst>
                <a:gd fmla="val 23520" name="adj1"/>
              </a:avLst>
            </a:pr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pic>
          <p:nvPicPr>
            <p:cNvPr descr="✔️ Check Mark - Royalty-Free GIF - Animated Sticker - Free ..." id="659" name="Google Shape;659;p79"/>
            <p:cNvPicPr preferRelativeResize="0"/>
            <p:nvPr/>
          </p:nvPicPr>
          <p:blipFill rotWithShape="1">
            <a:blip r:embed="rId3">
              <a:alphaModFix/>
            </a:blip>
            <a:srcRect b="0" l="0" r="0" t="0"/>
            <a:stretch/>
          </p:blipFill>
          <p:spPr>
            <a:xfrm>
              <a:off x="1349272" y="2704173"/>
              <a:ext cx="397626" cy="397626"/>
            </a:xfrm>
            <a:prstGeom prst="rect">
              <a:avLst/>
            </a:prstGeom>
            <a:noFill/>
            <a:ln>
              <a:noFill/>
            </a:ln>
          </p:spPr>
        </p:pic>
        <p:pic>
          <p:nvPicPr>
            <p:cNvPr descr="✔️ Check Mark - Royalty-Free GIF - Animated Sticker - Free ..." id="660" name="Google Shape;660;p79"/>
            <p:cNvPicPr preferRelativeResize="0"/>
            <p:nvPr/>
          </p:nvPicPr>
          <p:blipFill rotWithShape="1">
            <a:blip r:embed="rId3">
              <a:alphaModFix/>
            </a:blip>
            <a:srcRect b="0" l="0" r="0" t="0"/>
            <a:stretch/>
          </p:blipFill>
          <p:spPr>
            <a:xfrm>
              <a:off x="2120381" y="2896260"/>
              <a:ext cx="397626" cy="397626"/>
            </a:xfrm>
            <a:prstGeom prst="rect">
              <a:avLst/>
            </a:prstGeom>
            <a:noFill/>
            <a:ln>
              <a:noFill/>
            </a:ln>
          </p:spPr>
        </p:pic>
        <p:pic>
          <p:nvPicPr>
            <p:cNvPr descr="✔️ Check Mark - Royalty-Free GIF - Animated Sticker - Free ..." id="661" name="Google Shape;661;p79"/>
            <p:cNvPicPr preferRelativeResize="0"/>
            <p:nvPr/>
          </p:nvPicPr>
          <p:blipFill rotWithShape="1">
            <a:blip r:embed="rId3">
              <a:alphaModFix/>
            </a:blip>
            <a:srcRect b="0" l="0" r="0" t="0"/>
            <a:stretch/>
          </p:blipFill>
          <p:spPr>
            <a:xfrm>
              <a:off x="2736552" y="2908128"/>
              <a:ext cx="397626" cy="397626"/>
            </a:xfrm>
            <a:prstGeom prst="rect">
              <a:avLst/>
            </a:prstGeom>
            <a:noFill/>
            <a:ln>
              <a:noFill/>
            </a:ln>
          </p:spPr>
        </p:pic>
        <p:pic>
          <p:nvPicPr>
            <p:cNvPr descr="✔️ Check Mark - Royalty-Free GIF - Animated Sticker - Free ..." id="662" name="Google Shape;662;p79"/>
            <p:cNvPicPr preferRelativeResize="0"/>
            <p:nvPr/>
          </p:nvPicPr>
          <p:blipFill rotWithShape="1">
            <a:blip r:embed="rId3">
              <a:alphaModFix/>
            </a:blip>
            <a:srcRect b="0" l="0" r="0" t="0"/>
            <a:stretch/>
          </p:blipFill>
          <p:spPr>
            <a:xfrm>
              <a:off x="4009787" y="2849590"/>
              <a:ext cx="397626" cy="397626"/>
            </a:xfrm>
            <a:prstGeom prst="rect">
              <a:avLst/>
            </a:prstGeom>
            <a:noFill/>
            <a:ln>
              <a:noFill/>
            </a:ln>
          </p:spPr>
        </p:pic>
      </p:grpSp>
      <p:sp>
        <p:nvSpPr>
          <p:cNvPr id="663" name="Google Shape;663;p79"/>
          <p:cNvSpPr txBox="1"/>
          <p:nvPr/>
        </p:nvSpPr>
        <p:spPr>
          <a:xfrm>
            <a:off x="242625" y="1459650"/>
            <a:ext cx="5193300" cy="47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500">
                <a:solidFill>
                  <a:schemeClr val="dk2"/>
                </a:solidFill>
                <a:latin typeface="Calibri"/>
                <a:ea typeface="Calibri"/>
                <a:cs typeface="Calibri"/>
                <a:sym typeface="Calibri"/>
              </a:rPr>
              <a:t>Answering a query requires sequential reasoning;</a:t>
            </a:r>
            <a:endParaRPr b="1" sz="1500">
              <a:solidFill>
                <a:schemeClr val="dk2"/>
              </a:solidFill>
              <a:latin typeface="Calibri"/>
              <a:ea typeface="Calibri"/>
              <a:cs typeface="Calibri"/>
              <a:sym typeface="Calibri"/>
            </a:endParaRPr>
          </a:p>
          <a:p>
            <a:pPr indent="0" lvl="0" marL="0" rtl="0" algn="l">
              <a:spcBef>
                <a:spcPts val="0"/>
              </a:spcBef>
              <a:spcAft>
                <a:spcPts val="0"/>
              </a:spcAft>
              <a:buNone/>
            </a:pPr>
            <a:r>
              <a:t/>
            </a:r>
            <a:endParaRPr sz="1500">
              <a:solidFill>
                <a:schemeClr val="dk2"/>
              </a:solidFill>
              <a:latin typeface="Calibri"/>
              <a:ea typeface="Calibri"/>
              <a:cs typeface="Calibri"/>
              <a:sym typeface="Calibri"/>
            </a:endParaRPr>
          </a:p>
          <a:p>
            <a:pPr indent="0" lvl="0" marL="0" rtl="0" algn="l">
              <a:spcBef>
                <a:spcPts val="0"/>
              </a:spcBef>
              <a:spcAft>
                <a:spcPts val="0"/>
              </a:spcAft>
              <a:buNone/>
            </a:pPr>
            <a:r>
              <a:t/>
            </a:r>
            <a:endParaRPr sz="1500">
              <a:solidFill>
                <a:schemeClr val="dk2"/>
              </a:solidFill>
              <a:latin typeface="Calibri"/>
              <a:ea typeface="Calibri"/>
              <a:cs typeface="Calibri"/>
              <a:sym typeface="Calibri"/>
            </a:endParaRPr>
          </a:p>
        </p:txBody>
      </p:sp>
      <p:sp>
        <p:nvSpPr>
          <p:cNvPr id="664" name="Google Shape;664;p79"/>
          <p:cNvSpPr txBox="1"/>
          <p:nvPr/>
        </p:nvSpPr>
        <p:spPr>
          <a:xfrm>
            <a:off x="311700" y="2656713"/>
            <a:ext cx="5193300" cy="47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latin typeface="Calibri"/>
                <a:ea typeface="Calibri"/>
                <a:cs typeface="Calibri"/>
                <a:sym typeface="Calibri"/>
              </a:rPr>
              <a:t>The partial answer;</a:t>
            </a:r>
            <a:endParaRPr>
              <a:solidFill>
                <a:schemeClr val="dk2"/>
              </a:solidFill>
              <a:latin typeface="Calibri"/>
              <a:ea typeface="Calibri"/>
              <a:cs typeface="Calibri"/>
              <a:sym typeface="Calibri"/>
            </a:endParaRPr>
          </a:p>
          <a:p>
            <a:pPr indent="0" lvl="0" marL="0" rtl="0" algn="l">
              <a:spcBef>
                <a:spcPts val="0"/>
              </a:spcBef>
              <a:spcAft>
                <a:spcPts val="0"/>
              </a:spcAft>
              <a:buNone/>
            </a:pPr>
            <a:r>
              <a:rPr i="1" lang="en-GB" sz="1100">
                <a:solidFill>
                  <a:schemeClr val="dk2"/>
                </a:solidFill>
                <a:latin typeface="Calibri"/>
                <a:ea typeface="Calibri"/>
                <a:cs typeface="Calibri"/>
                <a:sym typeface="Calibri"/>
              </a:rPr>
              <a:t>Valid? Continue. Not valid? Backtrack and try another branch. </a:t>
            </a:r>
            <a:endParaRPr i="1" sz="1100">
              <a:solidFill>
                <a:schemeClr val="dk2"/>
              </a:solidFill>
              <a:latin typeface="Calibri"/>
              <a:ea typeface="Calibri"/>
              <a:cs typeface="Calibri"/>
              <a:sym typeface="Calibri"/>
            </a:endParaRPr>
          </a:p>
        </p:txBody>
      </p:sp>
      <p:sp>
        <p:nvSpPr>
          <p:cNvPr id="665" name="Google Shape;665;p79"/>
          <p:cNvSpPr txBox="1"/>
          <p:nvPr/>
        </p:nvSpPr>
        <p:spPr>
          <a:xfrm>
            <a:off x="311700" y="3368863"/>
            <a:ext cx="5193300" cy="47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latin typeface="Calibri"/>
                <a:ea typeface="Calibri"/>
                <a:cs typeface="Calibri"/>
                <a:sym typeface="Calibri"/>
              </a:rPr>
              <a:t>This naturally unfolds as a tree;</a:t>
            </a:r>
            <a:endParaRPr>
              <a:solidFill>
                <a:schemeClr val="dk2"/>
              </a:solidFill>
              <a:latin typeface="Calibri"/>
              <a:ea typeface="Calibri"/>
              <a:cs typeface="Calibri"/>
              <a:sym typeface="Calibri"/>
            </a:endParaRPr>
          </a:p>
          <a:p>
            <a:pPr indent="0" lvl="0" marL="0" rtl="0" algn="l">
              <a:spcBef>
                <a:spcPts val="0"/>
              </a:spcBef>
              <a:spcAft>
                <a:spcPts val="0"/>
              </a:spcAft>
              <a:buNone/>
            </a:pPr>
            <a:r>
              <a:rPr i="1" lang="en-GB" sz="1100">
                <a:solidFill>
                  <a:schemeClr val="dk2"/>
                </a:solidFill>
                <a:latin typeface="Calibri"/>
                <a:ea typeface="Calibri"/>
                <a:cs typeface="Calibri"/>
                <a:sym typeface="Calibri"/>
              </a:rPr>
              <a:t>Each node, depends on its parents. </a:t>
            </a:r>
            <a:endParaRPr i="1" sz="1100">
              <a:solidFill>
                <a:schemeClr val="dk2"/>
              </a:solidFill>
              <a:latin typeface="Calibri"/>
              <a:ea typeface="Calibri"/>
              <a:cs typeface="Calibri"/>
              <a:sym typeface="Calibri"/>
            </a:endParaRPr>
          </a:p>
          <a:p>
            <a:pPr indent="0" lvl="0" marL="0" rtl="0" algn="l">
              <a:spcBef>
                <a:spcPts val="0"/>
              </a:spcBef>
              <a:spcAft>
                <a:spcPts val="0"/>
              </a:spcAft>
              <a:buNone/>
            </a:pPr>
            <a:r>
              <a:rPr i="1" lang="en-GB" sz="1100">
                <a:solidFill>
                  <a:schemeClr val="dk2"/>
                </a:solidFill>
                <a:latin typeface="Calibri"/>
                <a:ea typeface="Calibri"/>
                <a:cs typeface="Calibri"/>
                <a:sym typeface="Calibri"/>
              </a:rPr>
              <a:t>Following any path from root to leaf, is a chain of sequential operations.</a:t>
            </a:r>
            <a:endParaRPr i="1" sz="1100">
              <a:solidFill>
                <a:schemeClr val="dk2"/>
              </a:solidFill>
              <a:latin typeface="Calibri"/>
              <a:ea typeface="Calibri"/>
              <a:cs typeface="Calibri"/>
              <a:sym typeface="Calibri"/>
            </a:endParaRPr>
          </a:p>
        </p:txBody>
      </p:sp>
      <p:sp>
        <p:nvSpPr>
          <p:cNvPr id="666" name="Google Shape;666;p79"/>
          <p:cNvSpPr txBox="1"/>
          <p:nvPr/>
        </p:nvSpPr>
        <p:spPr>
          <a:xfrm>
            <a:off x="5505010" y="1291750"/>
            <a:ext cx="3262200" cy="923400"/>
          </a:xfrm>
          <a:prstGeom prst="rect">
            <a:avLst/>
          </a:prstGeom>
          <a:noFill/>
          <a:ln cap="flat" cmpd="sng" w="9525">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GB" sz="1200">
                <a:solidFill>
                  <a:srgbClr val="0C5ADB"/>
                </a:solidFill>
              </a:rPr>
              <a:t>Efficient transformers </a:t>
            </a:r>
            <a:endParaRPr sz="1200">
              <a:solidFill>
                <a:srgbClr val="0C5ADB"/>
              </a:solidFill>
            </a:endParaRPr>
          </a:p>
          <a:p>
            <a:pPr indent="0" lvl="0" marL="0" rtl="0" algn="l">
              <a:spcBef>
                <a:spcPts val="0"/>
              </a:spcBef>
              <a:spcAft>
                <a:spcPts val="0"/>
              </a:spcAft>
              <a:buNone/>
            </a:pPr>
            <a:r>
              <a:rPr lang="en-GB" sz="1200">
                <a:solidFill>
                  <a:srgbClr val="00B050"/>
                </a:solidFill>
              </a:rPr>
              <a:t>for long documents </a:t>
            </a:r>
            <a:endParaRPr sz="1200">
              <a:solidFill>
                <a:srgbClr val="00B050"/>
              </a:solidFill>
            </a:endParaRPr>
          </a:p>
          <a:p>
            <a:pPr indent="0" lvl="0" marL="0" rtl="0" algn="l">
              <a:spcBef>
                <a:spcPts val="0"/>
              </a:spcBef>
              <a:spcAft>
                <a:spcPts val="0"/>
              </a:spcAft>
              <a:buNone/>
            </a:pPr>
            <a:r>
              <a:rPr lang="en-GB" sz="1200">
                <a:solidFill>
                  <a:srgbClr val="FF0000"/>
                </a:solidFill>
              </a:rPr>
              <a:t>that don’t use sparse attention, </a:t>
            </a:r>
            <a:endParaRPr sz="1200">
              <a:solidFill>
                <a:srgbClr val="FF0000"/>
              </a:solidFill>
            </a:endParaRPr>
          </a:p>
          <a:p>
            <a:pPr indent="0" lvl="0" marL="0" rtl="0" algn="l">
              <a:spcBef>
                <a:spcPts val="0"/>
              </a:spcBef>
              <a:spcAft>
                <a:spcPts val="0"/>
              </a:spcAft>
              <a:buNone/>
            </a:pPr>
            <a:r>
              <a:rPr lang="en-GB" sz="1200">
                <a:solidFill>
                  <a:srgbClr val="EF8600"/>
                </a:solidFill>
              </a:rPr>
              <a:t>and are validated across multiple domains</a:t>
            </a:r>
            <a:endParaRPr sz="1200">
              <a:solidFill>
                <a:schemeClr val="dk1"/>
              </a:solidFill>
            </a:endParaRPr>
          </a:p>
        </p:txBody>
      </p:sp>
      <p:sp>
        <p:nvSpPr>
          <p:cNvPr id="667" name="Google Shape;667;p79"/>
          <p:cNvSpPr txBox="1"/>
          <p:nvPr/>
        </p:nvSpPr>
        <p:spPr>
          <a:xfrm>
            <a:off x="311700" y="1912825"/>
            <a:ext cx="5193300" cy="47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latin typeface="Calibri"/>
                <a:ea typeface="Calibri"/>
                <a:cs typeface="Calibri"/>
                <a:sym typeface="Calibri"/>
              </a:rPr>
              <a:t>Make a move; </a:t>
            </a:r>
            <a:endParaRPr>
              <a:solidFill>
                <a:schemeClr val="dk2"/>
              </a:solidFill>
              <a:latin typeface="Calibri"/>
              <a:ea typeface="Calibri"/>
              <a:cs typeface="Calibri"/>
              <a:sym typeface="Calibri"/>
            </a:endParaRPr>
          </a:p>
          <a:p>
            <a:pPr indent="0" lvl="0" marL="0" rtl="0" algn="l">
              <a:spcBef>
                <a:spcPts val="0"/>
              </a:spcBef>
              <a:spcAft>
                <a:spcPts val="0"/>
              </a:spcAft>
              <a:buNone/>
            </a:pPr>
            <a:r>
              <a:rPr i="1" lang="en-GB" sz="1200">
                <a:solidFill>
                  <a:schemeClr val="dk2"/>
                </a:solidFill>
                <a:latin typeface="Calibri"/>
                <a:ea typeface="Calibri"/>
                <a:cs typeface="Calibri"/>
                <a:sym typeface="Calibri"/>
              </a:rPr>
              <a:t>e.g., decompose a query, retrieve candidates/evidence, check constraints. etc. </a:t>
            </a:r>
            <a:endParaRPr>
              <a:solidFill>
                <a:schemeClr val="dk2"/>
              </a:solidFill>
              <a:latin typeface="Calibri"/>
              <a:ea typeface="Calibri"/>
              <a:cs typeface="Calibri"/>
              <a:sym typeface="Calibri"/>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71" name="Shape 671"/>
        <p:cNvGrpSpPr/>
        <p:nvPr/>
      </p:nvGrpSpPr>
      <p:grpSpPr>
        <a:xfrm>
          <a:off x="0" y="0"/>
          <a:ext cx="0" cy="0"/>
          <a:chOff x="0" y="0"/>
          <a:chExt cx="0" cy="0"/>
        </a:xfrm>
      </p:grpSpPr>
      <p:sp>
        <p:nvSpPr>
          <p:cNvPr id="672" name="Google Shape;672;p8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ctr">
              <a:spcBef>
                <a:spcPts val="0"/>
              </a:spcBef>
              <a:spcAft>
                <a:spcPts val="0"/>
              </a:spcAft>
              <a:buSzPct val="111111"/>
              <a:buNone/>
            </a:pPr>
            <a:r>
              <a:rPr b="1" lang="en-GB"/>
              <a:t>Transformer</a:t>
            </a:r>
            <a:r>
              <a:rPr lang="en-GB"/>
              <a:t> </a:t>
            </a:r>
            <a:endParaRPr/>
          </a:p>
          <a:p>
            <a:pPr indent="0" lvl="0" marL="0" rtl="0" algn="ctr">
              <a:spcBef>
                <a:spcPts val="0"/>
              </a:spcBef>
              <a:spcAft>
                <a:spcPts val="0"/>
              </a:spcAft>
              <a:buSzPct val="172839"/>
              <a:buNone/>
            </a:pPr>
            <a:r>
              <a:rPr i="1" lang="en-GB" sz="1800"/>
              <a:t>and its limitation for sequential reasoning</a:t>
            </a:r>
            <a:endParaRPr i="1" sz="1800"/>
          </a:p>
        </p:txBody>
      </p:sp>
      <p:sp>
        <p:nvSpPr>
          <p:cNvPr id="673" name="Google Shape;673;p80"/>
          <p:cNvSpPr/>
          <p:nvPr/>
        </p:nvSpPr>
        <p:spPr>
          <a:xfrm>
            <a:off x="516644" y="2761210"/>
            <a:ext cx="288000" cy="288000"/>
          </a:xfrm>
          <a:prstGeom prst="rect">
            <a:avLst/>
          </a:prstGeom>
          <a:solidFill>
            <a:srgbClr val="FF63FF">
              <a:alpha val="30200"/>
            </a:srgbClr>
          </a:solidFill>
          <a:ln cap="flat" cmpd="sng" w="25400">
            <a:solidFill>
              <a:srgbClr val="7030A0">
                <a:alpha val="7608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cxnSp>
        <p:nvCxnSpPr>
          <p:cNvPr id="674" name="Google Shape;674;p80"/>
          <p:cNvCxnSpPr>
            <a:stCxn id="673" idx="3"/>
          </p:cNvCxnSpPr>
          <p:nvPr/>
        </p:nvCxnSpPr>
        <p:spPr>
          <a:xfrm flipH="1" rot="10800000">
            <a:off x="804644" y="2510110"/>
            <a:ext cx="595800" cy="395100"/>
          </a:xfrm>
          <a:prstGeom prst="straightConnector1">
            <a:avLst/>
          </a:prstGeom>
          <a:noFill/>
          <a:ln cap="flat" cmpd="sng" w="9525">
            <a:solidFill>
              <a:srgbClr val="000000"/>
            </a:solidFill>
            <a:prstDash val="solid"/>
            <a:round/>
            <a:headEnd len="sm" w="sm" type="none"/>
            <a:tailEnd len="med" w="med" type="triangle"/>
          </a:ln>
        </p:spPr>
      </p:cxnSp>
      <p:cxnSp>
        <p:nvCxnSpPr>
          <p:cNvPr id="675" name="Google Shape;675;p80"/>
          <p:cNvCxnSpPr>
            <a:stCxn id="673" idx="3"/>
          </p:cNvCxnSpPr>
          <p:nvPr/>
        </p:nvCxnSpPr>
        <p:spPr>
          <a:xfrm>
            <a:off x="804644" y="2905210"/>
            <a:ext cx="587700" cy="14400"/>
          </a:xfrm>
          <a:prstGeom prst="straightConnector1">
            <a:avLst/>
          </a:prstGeom>
          <a:noFill/>
          <a:ln cap="flat" cmpd="sng" w="9525">
            <a:solidFill>
              <a:srgbClr val="000000"/>
            </a:solidFill>
            <a:prstDash val="solid"/>
            <a:round/>
            <a:headEnd len="sm" w="sm" type="none"/>
            <a:tailEnd len="med" w="med" type="triangle"/>
          </a:ln>
        </p:spPr>
      </p:cxnSp>
      <p:cxnSp>
        <p:nvCxnSpPr>
          <p:cNvPr id="676" name="Google Shape;676;p80"/>
          <p:cNvCxnSpPr>
            <a:stCxn id="673" idx="3"/>
            <a:endCxn id="677" idx="1"/>
          </p:cNvCxnSpPr>
          <p:nvPr/>
        </p:nvCxnSpPr>
        <p:spPr>
          <a:xfrm>
            <a:off x="804644" y="2905210"/>
            <a:ext cx="585900" cy="467700"/>
          </a:xfrm>
          <a:prstGeom prst="straightConnector1">
            <a:avLst/>
          </a:prstGeom>
          <a:noFill/>
          <a:ln cap="flat" cmpd="sng" w="9525">
            <a:solidFill>
              <a:srgbClr val="000000"/>
            </a:solidFill>
            <a:prstDash val="solid"/>
            <a:round/>
            <a:headEnd len="sm" w="sm" type="none"/>
            <a:tailEnd len="med" w="med" type="triangle"/>
          </a:ln>
        </p:spPr>
      </p:cxnSp>
      <p:sp>
        <p:nvSpPr>
          <p:cNvPr id="678" name="Google Shape;678;p80"/>
          <p:cNvSpPr/>
          <p:nvPr/>
        </p:nvSpPr>
        <p:spPr>
          <a:xfrm>
            <a:off x="1395847" y="2415611"/>
            <a:ext cx="288000" cy="288000"/>
          </a:xfrm>
          <a:prstGeom prst="rect">
            <a:avLst/>
          </a:prstGeom>
          <a:solidFill>
            <a:srgbClr val="BCBCBC"/>
          </a:solidFill>
          <a:ln cap="flat" cmpd="sng" w="25400">
            <a:solidFill>
              <a:srgbClr val="1B386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sp>
        <p:nvSpPr>
          <p:cNvPr id="679" name="Google Shape;679;p80"/>
          <p:cNvSpPr/>
          <p:nvPr/>
        </p:nvSpPr>
        <p:spPr>
          <a:xfrm>
            <a:off x="1390562" y="2813798"/>
            <a:ext cx="288000" cy="288000"/>
          </a:xfrm>
          <a:prstGeom prst="rect">
            <a:avLst/>
          </a:prstGeom>
          <a:solidFill>
            <a:srgbClr val="BCBCBC"/>
          </a:solidFill>
          <a:ln cap="flat" cmpd="sng" w="25400">
            <a:solidFill>
              <a:srgbClr val="1B386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sp>
        <p:nvSpPr>
          <p:cNvPr id="677" name="Google Shape;677;p80"/>
          <p:cNvSpPr/>
          <p:nvPr/>
        </p:nvSpPr>
        <p:spPr>
          <a:xfrm>
            <a:off x="1390562" y="3228964"/>
            <a:ext cx="288000" cy="288000"/>
          </a:xfrm>
          <a:prstGeom prst="rect">
            <a:avLst/>
          </a:prstGeom>
          <a:solidFill>
            <a:srgbClr val="BCBCBC"/>
          </a:solidFill>
          <a:ln cap="flat" cmpd="sng" w="25400">
            <a:solidFill>
              <a:srgbClr val="1B386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cxnSp>
        <p:nvCxnSpPr>
          <p:cNvPr id="680" name="Google Shape;680;p80"/>
          <p:cNvCxnSpPr>
            <a:stCxn id="679" idx="3"/>
            <a:endCxn id="681" idx="1"/>
          </p:cNvCxnSpPr>
          <p:nvPr/>
        </p:nvCxnSpPr>
        <p:spPr>
          <a:xfrm flipH="1" rot="10800000">
            <a:off x="1678562" y="2760998"/>
            <a:ext cx="496500" cy="196800"/>
          </a:xfrm>
          <a:prstGeom prst="straightConnector1">
            <a:avLst/>
          </a:prstGeom>
          <a:noFill/>
          <a:ln cap="flat" cmpd="sng" w="9525">
            <a:solidFill>
              <a:srgbClr val="000000"/>
            </a:solidFill>
            <a:prstDash val="solid"/>
            <a:round/>
            <a:headEnd len="sm" w="sm" type="none"/>
            <a:tailEnd len="med" w="med" type="triangle"/>
          </a:ln>
        </p:spPr>
      </p:cxnSp>
      <p:cxnSp>
        <p:nvCxnSpPr>
          <p:cNvPr id="682" name="Google Shape;682;p80"/>
          <p:cNvCxnSpPr>
            <a:stCxn id="679" idx="3"/>
            <a:endCxn id="683" idx="1"/>
          </p:cNvCxnSpPr>
          <p:nvPr/>
        </p:nvCxnSpPr>
        <p:spPr>
          <a:xfrm>
            <a:off x="1678562" y="2957798"/>
            <a:ext cx="496500" cy="181200"/>
          </a:xfrm>
          <a:prstGeom prst="straightConnector1">
            <a:avLst/>
          </a:prstGeom>
          <a:noFill/>
          <a:ln cap="flat" cmpd="sng" w="9525">
            <a:solidFill>
              <a:srgbClr val="000000"/>
            </a:solidFill>
            <a:prstDash val="solid"/>
            <a:round/>
            <a:headEnd len="sm" w="sm" type="none"/>
            <a:tailEnd len="med" w="med" type="triangle"/>
          </a:ln>
        </p:spPr>
      </p:cxnSp>
      <p:sp>
        <p:nvSpPr>
          <p:cNvPr id="681" name="Google Shape;681;p80"/>
          <p:cNvSpPr/>
          <p:nvPr/>
        </p:nvSpPr>
        <p:spPr>
          <a:xfrm>
            <a:off x="2175192" y="2616890"/>
            <a:ext cx="288000" cy="288000"/>
          </a:xfrm>
          <a:prstGeom prst="rect">
            <a:avLst/>
          </a:prstGeom>
          <a:solidFill>
            <a:srgbClr val="BCBCBC"/>
          </a:solidFill>
          <a:ln cap="flat" cmpd="sng" w="25400">
            <a:solidFill>
              <a:srgbClr val="1B386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sp>
        <p:nvSpPr>
          <p:cNvPr id="683" name="Google Shape;683;p80"/>
          <p:cNvSpPr/>
          <p:nvPr/>
        </p:nvSpPr>
        <p:spPr>
          <a:xfrm>
            <a:off x="2175204" y="2995046"/>
            <a:ext cx="288000" cy="288000"/>
          </a:xfrm>
          <a:prstGeom prst="rect">
            <a:avLst/>
          </a:prstGeom>
          <a:solidFill>
            <a:srgbClr val="BCBCBC"/>
          </a:solidFill>
          <a:ln cap="flat" cmpd="sng" w="25400">
            <a:solidFill>
              <a:srgbClr val="1B386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GB" sz="1400" u="none" cap="none" strike="noStrike">
                <a:solidFill>
                  <a:srgbClr val="FFFFFF"/>
                </a:solidFill>
                <a:latin typeface="Arial"/>
                <a:ea typeface="Arial"/>
                <a:cs typeface="Arial"/>
                <a:sym typeface="Arial"/>
              </a:rPr>
              <a:t> </a:t>
            </a:r>
            <a:endParaRPr b="0" i="0" sz="1400" u="none" cap="none" strike="noStrike">
              <a:solidFill>
                <a:srgbClr val="FFFFFF"/>
              </a:solidFill>
              <a:latin typeface="Arial"/>
              <a:ea typeface="Arial"/>
              <a:cs typeface="Arial"/>
              <a:sym typeface="Arial"/>
            </a:endParaRPr>
          </a:p>
        </p:txBody>
      </p:sp>
      <p:cxnSp>
        <p:nvCxnSpPr>
          <p:cNvPr id="684" name="Google Shape;684;p80"/>
          <p:cNvCxnSpPr>
            <a:stCxn id="683" idx="3"/>
            <a:endCxn id="685" idx="1"/>
          </p:cNvCxnSpPr>
          <p:nvPr/>
        </p:nvCxnSpPr>
        <p:spPr>
          <a:xfrm>
            <a:off x="2463204" y="3139046"/>
            <a:ext cx="328200" cy="0"/>
          </a:xfrm>
          <a:prstGeom prst="straightConnector1">
            <a:avLst/>
          </a:prstGeom>
          <a:noFill/>
          <a:ln cap="flat" cmpd="sng" w="9525">
            <a:solidFill>
              <a:srgbClr val="000000"/>
            </a:solidFill>
            <a:prstDash val="solid"/>
            <a:round/>
            <a:headEnd len="sm" w="sm" type="none"/>
            <a:tailEnd len="med" w="med" type="triangle"/>
          </a:ln>
        </p:spPr>
      </p:cxnSp>
      <p:cxnSp>
        <p:nvCxnSpPr>
          <p:cNvPr id="686" name="Google Shape;686;p80"/>
          <p:cNvCxnSpPr>
            <a:stCxn id="683" idx="3"/>
            <a:endCxn id="687" idx="1"/>
          </p:cNvCxnSpPr>
          <p:nvPr/>
        </p:nvCxnSpPr>
        <p:spPr>
          <a:xfrm flipH="1" rot="10800000">
            <a:off x="2463204" y="2809646"/>
            <a:ext cx="328200" cy="329400"/>
          </a:xfrm>
          <a:prstGeom prst="straightConnector1">
            <a:avLst/>
          </a:prstGeom>
          <a:noFill/>
          <a:ln cap="flat" cmpd="sng" w="9525">
            <a:solidFill>
              <a:srgbClr val="000000"/>
            </a:solidFill>
            <a:prstDash val="solid"/>
            <a:round/>
            <a:headEnd len="sm" w="sm" type="none"/>
            <a:tailEnd len="med" w="med" type="triangle"/>
          </a:ln>
        </p:spPr>
      </p:cxnSp>
      <p:cxnSp>
        <p:nvCxnSpPr>
          <p:cNvPr id="688" name="Google Shape;688;p80"/>
          <p:cNvCxnSpPr>
            <a:stCxn id="683" idx="3"/>
            <a:endCxn id="689" idx="1"/>
          </p:cNvCxnSpPr>
          <p:nvPr/>
        </p:nvCxnSpPr>
        <p:spPr>
          <a:xfrm>
            <a:off x="2463204" y="3139046"/>
            <a:ext cx="328200" cy="329400"/>
          </a:xfrm>
          <a:prstGeom prst="straightConnector1">
            <a:avLst/>
          </a:prstGeom>
          <a:noFill/>
          <a:ln cap="flat" cmpd="sng" w="9525">
            <a:solidFill>
              <a:srgbClr val="000000"/>
            </a:solidFill>
            <a:prstDash val="solid"/>
            <a:round/>
            <a:headEnd len="sm" w="sm" type="none"/>
            <a:tailEnd len="med" w="med" type="triangle"/>
          </a:ln>
        </p:spPr>
      </p:cxnSp>
      <p:sp>
        <p:nvSpPr>
          <p:cNvPr id="687" name="Google Shape;687;p80"/>
          <p:cNvSpPr/>
          <p:nvPr/>
        </p:nvSpPr>
        <p:spPr>
          <a:xfrm>
            <a:off x="2791365" y="2665735"/>
            <a:ext cx="288000" cy="288000"/>
          </a:xfrm>
          <a:prstGeom prst="rect">
            <a:avLst/>
          </a:prstGeom>
          <a:solidFill>
            <a:srgbClr val="BCBCBC"/>
          </a:solidFill>
          <a:ln cap="flat" cmpd="sng" w="25400">
            <a:solidFill>
              <a:srgbClr val="1B386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sp>
        <p:nvSpPr>
          <p:cNvPr id="685" name="Google Shape;685;p80"/>
          <p:cNvSpPr/>
          <p:nvPr/>
        </p:nvSpPr>
        <p:spPr>
          <a:xfrm>
            <a:off x="2791365" y="2995046"/>
            <a:ext cx="288000" cy="288000"/>
          </a:xfrm>
          <a:prstGeom prst="rect">
            <a:avLst/>
          </a:prstGeom>
          <a:solidFill>
            <a:srgbClr val="BCBCBC"/>
          </a:solidFill>
          <a:ln cap="flat" cmpd="sng" w="25400">
            <a:solidFill>
              <a:srgbClr val="1B386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sp>
        <p:nvSpPr>
          <p:cNvPr id="689" name="Google Shape;689;p80"/>
          <p:cNvSpPr/>
          <p:nvPr/>
        </p:nvSpPr>
        <p:spPr>
          <a:xfrm>
            <a:off x="2791365" y="3324382"/>
            <a:ext cx="288000" cy="288000"/>
          </a:xfrm>
          <a:prstGeom prst="rect">
            <a:avLst/>
          </a:prstGeom>
          <a:solidFill>
            <a:srgbClr val="BCBCBC"/>
          </a:solidFill>
          <a:ln cap="flat" cmpd="sng" w="25400">
            <a:solidFill>
              <a:srgbClr val="1B386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sp>
        <p:nvSpPr>
          <p:cNvPr id="690" name="Google Shape;690;p80"/>
          <p:cNvSpPr txBox="1"/>
          <p:nvPr/>
        </p:nvSpPr>
        <p:spPr>
          <a:xfrm>
            <a:off x="3188890" y="2941172"/>
            <a:ext cx="4995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GB" sz="1400" u="none" cap="none" strike="noStrike">
                <a:solidFill>
                  <a:srgbClr val="000000"/>
                </a:solidFill>
                <a:latin typeface="Arial"/>
                <a:ea typeface="Arial"/>
                <a:cs typeface="Arial"/>
                <a:sym typeface="Arial"/>
              </a:rPr>
              <a:t>…</a:t>
            </a:r>
            <a:endParaRPr/>
          </a:p>
        </p:txBody>
      </p:sp>
      <p:cxnSp>
        <p:nvCxnSpPr>
          <p:cNvPr id="691" name="Google Shape;691;p80"/>
          <p:cNvCxnSpPr/>
          <p:nvPr/>
        </p:nvCxnSpPr>
        <p:spPr>
          <a:xfrm>
            <a:off x="3627555" y="3106935"/>
            <a:ext cx="323700" cy="0"/>
          </a:xfrm>
          <a:prstGeom prst="straightConnector1">
            <a:avLst/>
          </a:prstGeom>
          <a:noFill/>
          <a:ln cap="flat" cmpd="sng" w="9525">
            <a:solidFill>
              <a:srgbClr val="000000"/>
            </a:solidFill>
            <a:prstDash val="solid"/>
            <a:round/>
            <a:headEnd len="sm" w="sm" type="none"/>
            <a:tailEnd len="med" w="med" type="triangle"/>
          </a:ln>
        </p:spPr>
      </p:cxnSp>
      <p:sp>
        <p:nvSpPr>
          <p:cNvPr id="692" name="Google Shape;692;p80"/>
          <p:cNvSpPr/>
          <p:nvPr/>
        </p:nvSpPr>
        <p:spPr>
          <a:xfrm>
            <a:off x="4047422" y="2953224"/>
            <a:ext cx="288000" cy="288000"/>
          </a:xfrm>
          <a:prstGeom prst="rect">
            <a:avLst/>
          </a:prstGeom>
          <a:solidFill>
            <a:srgbClr val="BCBCBC"/>
          </a:solidFill>
          <a:ln cap="flat" cmpd="sng" w="25400">
            <a:solidFill>
              <a:srgbClr val="1B386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sp>
        <p:nvSpPr>
          <p:cNvPr id="693" name="Google Shape;693;p80"/>
          <p:cNvSpPr/>
          <p:nvPr/>
        </p:nvSpPr>
        <p:spPr>
          <a:xfrm>
            <a:off x="1372567" y="2390436"/>
            <a:ext cx="324000" cy="338400"/>
          </a:xfrm>
          <a:prstGeom prst="mathMultiply">
            <a:avLst>
              <a:gd fmla="val 23520" name="adj1"/>
            </a:avLst>
          </a:pr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sp>
        <p:nvSpPr>
          <p:cNvPr id="694" name="Google Shape;694;p80"/>
          <p:cNvSpPr/>
          <p:nvPr/>
        </p:nvSpPr>
        <p:spPr>
          <a:xfrm>
            <a:off x="1372559" y="3211989"/>
            <a:ext cx="324000" cy="338400"/>
          </a:xfrm>
          <a:prstGeom prst="mathMultiply">
            <a:avLst>
              <a:gd fmla="val 23520" name="adj1"/>
            </a:avLst>
          </a:pr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sp>
        <p:nvSpPr>
          <p:cNvPr id="695" name="Google Shape;695;p80"/>
          <p:cNvSpPr/>
          <p:nvPr/>
        </p:nvSpPr>
        <p:spPr>
          <a:xfrm>
            <a:off x="2157189" y="2591691"/>
            <a:ext cx="324000" cy="338400"/>
          </a:xfrm>
          <a:prstGeom prst="mathMultiply">
            <a:avLst>
              <a:gd fmla="val 23520" name="adj1"/>
            </a:avLst>
          </a:pr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sp>
        <p:nvSpPr>
          <p:cNvPr id="696" name="Google Shape;696;p80"/>
          <p:cNvSpPr/>
          <p:nvPr/>
        </p:nvSpPr>
        <p:spPr>
          <a:xfrm>
            <a:off x="2773383" y="2615336"/>
            <a:ext cx="324000" cy="338400"/>
          </a:xfrm>
          <a:prstGeom prst="mathMultiply">
            <a:avLst>
              <a:gd fmla="val 23520" name="adj1"/>
            </a:avLst>
          </a:pr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sp>
        <p:nvSpPr>
          <p:cNvPr id="697" name="Google Shape;697;p80"/>
          <p:cNvSpPr/>
          <p:nvPr/>
        </p:nvSpPr>
        <p:spPr>
          <a:xfrm>
            <a:off x="2773386" y="3299187"/>
            <a:ext cx="324000" cy="338400"/>
          </a:xfrm>
          <a:prstGeom prst="mathMultiply">
            <a:avLst>
              <a:gd fmla="val 23520" name="adj1"/>
            </a:avLst>
          </a:pr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pic>
        <p:nvPicPr>
          <p:cNvPr descr="✔️ Check Mark - Royalty-Free GIF - Animated Sticker - Free ..." id="698" name="Google Shape;698;p80"/>
          <p:cNvPicPr preferRelativeResize="0"/>
          <p:nvPr/>
        </p:nvPicPr>
        <p:blipFill rotWithShape="1">
          <a:blip r:embed="rId3">
            <a:alphaModFix/>
          </a:blip>
          <a:srcRect b="0" l="0" r="0" t="0"/>
          <a:stretch/>
        </p:blipFill>
        <p:spPr>
          <a:xfrm>
            <a:off x="1349272" y="2704173"/>
            <a:ext cx="397626" cy="397626"/>
          </a:xfrm>
          <a:prstGeom prst="rect">
            <a:avLst/>
          </a:prstGeom>
          <a:noFill/>
          <a:ln>
            <a:noFill/>
          </a:ln>
        </p:spPr>
      </p:pic>
      <p:pic>
        <p:nvPicPr>
          <p:cNvPr descr="✔️ Check Mark - Royalty-Free GIF - Animated Sticker - Free ..." id="699" name="Google Shape;699;p80"/>
          <p:cNvPicPr preferRelativeResize="0"/>
          <p:nvPr/>
        </p:nvPicPr>
        <p:blipFill rotWithShape="1">
          <a:blip r:embed="rId3">
            <a:alphaModFix/>
          </a:blip>
          <a:srcRect b="0" l="0" r="0" t="0"/>
          <a:stretch/>
        </p:blipFill>
        <p:spPr>
          <a:xfrm>
            <a:off x="2120381" y="2896260"/>
            <a:ext cx="397626" cy="397626"/>
          </a:xfrm>
          <a:prstGeom prst="rect">
            <a:avLst/>
          </a:prstGeom>
          <a:noFill/>
          <a:ln>
            <a:noFill/>
          </a:ln>
        </p:spPr>
      </p:pic>
      <p:pic>
        <p:nvPicPr>
          <p:cNvPr descr="✔️ Check Mark - Royalty-Free GIF - Animated Sticker - Free ..." id="700" name="Google Shape;700;p80"/>
          <p:cNvPicPr preferRelativeResize="0"/>
          <p:nvPr/>
        </p:nvPicPr>
        <p:blipFill rotWithShape="1">
          <a:blip r:embed="rId3">
            <a:alphaModFix/>
          </a:blip>
          <a:srcRect b="0" l="0" r="0" t="0"/>
          <a:stretch/>
        </p:blipFill>
        <p:spPr>
          <a:xfrm>
            <a:off x="2736552" y="2908128"/>
            <a:ext cx="397626" cy="397626"/>
          </a:xfrm>
          <a:prstGeom prst="rect">
            <a:avLst/>
          </a:prstGeom>
          <a:noFill/>
          <a:ln>
            <a:noFill/>
          </a:ln>
        </p:spPr>
      </p:pic>
      <p:pic>
        <p:nvPicPr>
          <p:cNvPr descr="✔️ Check Mark - Royalty-Free GIF - Animated Sticker - Free ..." id="701" name="Google Shape;701;p80"/>
          <p:cNvPicPr preferRelativeResize="0"/>
          <p:nvPr/>
        </p:nvPicPr>
        <p:blipFill rotWithShape="1">
          <a:blip r:embed="rId3">
            <a:alphaModFix/>
          </a:blip>
          <a:srcRect b="0" l="0" r="0" t="0"/>
          <a:stretch/>
        </p:blipFill>
        <p:spPr>
          <a:xfrm>
            <a:off x="4009787" y="2849590"/>
            <a:ext cx="397626" cy="397626"/>
          </a:xfrm>
          <a:prstGeom prst="rect">
            <a:avLst/>
          </a:prstGeom>
          <a:noFill/>
          <a:ln>
            <a:noFill/>
          </a:ln>
        </p:spPr>
      </p:pic>
      <p:sp>
        <p:nvSpPr>
          <p:cNvPr id="702" name="Google Shape;702;p8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
        <p:nvSpPr>
          <p:cNvPr id="703" name="Google Shape;703;p80"/>
          <p:cNvSpPr txBox="1"/>
          <p:nvPr/>
        </p:nvSpPr>
        <p:spPr>
          <a:xfrm>
            <a:off x="230200" y="1369900"/>
            <a:ext cx="5703300" cy="47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500">
                <a:solidFill>
                  <a:schemeClr val="dk2"/>
                </a:solidFill>
                <a:latin typeface="Calibri"/>
                <a:ea typeface="Calibri"/>
                <a:cs typeface="Calibri"/>
                <a:sym typeface="Calibri"/>
              </a:rPr>
              <a:t>Transformers, however, can only represent a chain of limited depth.</a:t>
            </a:r>
            <a:endParaRPr sz="1500">
              <a:solidFill>
                <a:schemeClr val="dk2"/>
              </a:solidFill>
              <a:latin typeface="Calibri"/>
              <a:ea typeface="Calibri"/>
              <a:cs typeface="Calibri"/>
              <a:sym typeface="Calibri"/>
            </a:endParaRPr>
          </a:p>
        </p:txBody>
      </p:sp>
      <p:cxnSp>
        <p:nvCxnSpPr>
          <p:cNvPr id="704" name="Google Shape;704;p80"/>
          <p:cNvCxnSpPr/>
          <p:nvPr/>
        </p:nvCxnSpPr>
        <p:spPr>
          <a:xfrm>
            <a:off x="516639" y="3931858"/>
            <a:ext cx="3657600" cy="9000"/>
          </a:xfrm>
          <a:prstGeom prst="straightConnector1">
            <a:avLst/>
          </a:prstGeom>
          <a:noFill/>
          <a:ln cap="flat" cmpd="sng" w="9525">
            <a:solidFill>
              <a:srgbClr val="741B47"/>
            </a:solidFill>
            <a:prstDash val="solid"/>
            <a:round/>
            <a:headEnd len="med" w="med" type="none"/>
            <a:tailEnd len="med" w="med" type="triangle"/>
          </a:ln>
        </p:spPr>
      </p:cxnSp>
      <p:sp>
        <p:nvSpPr>
          <p:cNvPr id="705" name="Google Shape;705;p80"/>
          <p:cNvSpPr txBox="1"/>
          <p:nvPr/>
        </p:nvSpPr>
        <p:spPr>
          <a:xfrm>
            <a:off x="1746900" y="3928575"/>
            <a:ext cx="920400" cy="196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GB" sz="1000">
                <a:solidFill>
                  <a:srgbClr val="741B47"/>
                </a:solidFill>
              </a:rPr>
              <a:t>Depth (L)</a:t>
            </a:r>
            <a:endParaRPr b="1" sz="1000">
              <a:solidFill>
                <a:srgbClr val="741B47"/>
              </a:solidFill>
            </a:endParaRPr>
          </a:p>
        </p:txBody>
      </p:sp>
      <p:grpSp>
        <p:nvGrpSpPr>
          <p:cNvPr id="706" name="Google Shape;706;p80"/>
          <p:cNvGrpSpPr/>
          <p:nvPr/>
        </p:nvGrpSpPr>
        <p:grpSpPr>
          <a:xfrm>
            <a:off x="5899203" y="1590899"/>
            <a:ext cx="2723192" cy="2914879"/>
            <a:chOff x="5899203" y="1590899"/>
            <a:chExt cx="2723192" cy="2914879"/>
          </a:xfrm>
        </p:grpSpPr>
        <p:cxnSp>
          <p:nvCxnSpPr>
            <p:cNvPr id="707" name="Google Shape;707;p80"/>
            <p:cNvCxnSpPr/>
            <p:nvPr/>
          </p:nvCxnSpPr>
          <p:spPr>
            <a:xfrm rot="10800000">
              <a:off x="6317824" y="1590899"/>
              <a:ext cx="0" cy="2340000"/>
            </a:xfrm>
            <a:prstGeom prst="straightConnector1">
              <a:avLst/>
            </a:prstGeom>
            <a:noFill/>
            <a:ln cap="flat" cmpd="sng" w="47625">
              <a:solidFill>
                <a:srgbClr val="000000"/>
              </a:solidFill>
              <a:prstDash val="solid"/>
              <a:round/>
              <a:headEnd len="med" w="med" type="triangle"/>
              <a:tailEnd len="med" w="med" type="triangle"/>
            </a:ln>
          </p:spPr>
        </p:cxnSp>
        <p:cxnSp>
          <p:nvCxnSpPr>
            <p:cNvPr id="708" name="Google Shape;708;p80"/>
            <p:cNvCxnSpPr/>
            <p:nvPr/>
          </p:nvCxnSpPr>
          <p:spPr>
            <a:xfrm>
              <a:off x="6282395" y="4099106"/>
              <a:ext cx="2340000" cy="0"/>
            </a:xfrm>
            <a:prstGeom prst="straightConnector1">
              <a:avLst/>
            </a:prstGeom>
            <a:noFill/>
            <a:ln cap="flat" cmpd="sng" w="47625">
              <a:solidFill>
                <a:srgbClr val="000000"/>
              </a:solidFill>
              <a:prstDash val="solid"/>
              <a:round/>
              <a:headEnd len="med" w="med" type="triangle"/>
              <a:tailEnd len="med" w="med" type="triangle"/>
            </a:ln>
          </p:spPr>
        </p:cxnSp>
        <p:sp>
          <p:nvSpPr>
            <p:cNvPr id="709" name="Google Shape;709;p80"/>
            <p:cNvSpPr/>
            <p:nvPr/>
          </p:nvSpPr>
          <p:spPr>
            <a:xfrm>
              <a:off x="8217456" y="1906212"/>
              <a:ext cx="288000" cy="288000"/>
            </a:xfrm>
            <a:prstGeom prst="rect">
              <a:avLst/>
            </a:prstGeom>
            <a:solidFill>
              <a:srgbClr val="BCBCBC"/>
            </a:solidFill>
            <a:ln cap="flat" cmpd="sng" w="25400">
              <a:solidFill>
                <a:srgbClr val="1B386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sp>
          <p:nvSpPr>
            <p:cNvPr id="710" name="Google Shape;710;p80"/>
            <p:cNvSpPr/>
            <p:nvPr/>
          </p:nvSpPr>
          <p:spPr>
            <a:xfrm>
              <a:off x="7818612" y="1906212"/>
              <a:ext cx="288000" cy="288000"/>
            </a:xfrm>
            <a:prstGeom prst="rect">
              <a:avLst/>
            </a:prstGeom>
            <a:solidFill>
              <a:srgbClr val="BCBCBC"/>
            </a:solidFill>
            <a:ln cap="flat" cmpd="sng" w="25400">
              <a:solidFill>
                <a:srgbClr val="1B386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sp>
          <p:nvSpPr>
            <p:cNvPr id="711" name="Google Shape;711;p80"/>
            <p:cNvSpPr/>
            <p:nvPr/>
          </p:nvSpPr>
          <p:spPr>
            <a:xfrm>
              <a:off x="7439190" y="1906212"/>
              <a:ext cx="288000" cy="288000"/>
            </a:xfrm>
            <a:prstGeom prst="rect">
              <a:avLst/>
            </a:prstGeom>
            <a:solidFill>
              <a:srgbClr val="BCBCBC"/>
            </a:solidFill>
            <a:ln cap="flat" cmpd="sng" w="25400">
              <a:solidFill>
                <a:srgbClr val="1B386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sp>
          <p:nvSpPr>
            <p:cNvPr id="712" name="Google Shape;712;p80"/>
            <p:cNvSpPr/>
            <p:nvPr/>
          </p:nvSpPr>
          <p:spPr>
            <a:xfrm>
              <a:off x="7040346" y="1906212"/>
              <a:ext cx="288000" cy="288000"/>
            </a:xfrm>
            <a:prstGeom prst="rect">
              <a:avLst/>
            </a:prstGeom>
            <a:solidFill>
              <a:srgbClr val="BCBCBC"/>
            </a:solidFill>
            <a:ln cap="flat" cmpd="sng" w="25400">
              <a:solidFill>
                <a:srgbClr val="1B386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sp>
          <p:nvSpPr>
            <p:cNvPr id="713" name="Google Shape;713;p80"/>
            <p:cNvSpPr/>
            <p:nvPr/>
          </p:nvSpPr>
          <p:spPr>
            <a:xfrm>
              <a:off x="6641502" y="1906212"/>
              <a:ext cx="288000" cy="288000"/>
            </a:xfrm>
            <a:prstGeom prst="rect">
              <a:avLst/>
            </a:prstGeom>
            <a:solidFill>
              <a:srgbClr val="BCBCBC"/>
            </a:solidFill>
            <a:ln cap="flat" cmpd="sng" w="25400">
              <a:solidFill>
                <a:srgbClr val="1B386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sp>
          <p:nvSpPr>
            <p:cNvPr id="714" name="Google Shape;714;p80"/>
            <p:cNvSpPr/>
            <p:nvPr/>
          </p:nvSpPr>
          <p:spPr>
            <a:xfrm>
              <a:off x="8217456" y="2311936"/>
              <a:ext cx="288000" cy="288000"/>
            </a:xfrm>
            <a:prstGeom prst="rect">
              <a:avLst/>
            </a:prstGeom>
            <a:solidFill>
              <a:srgbClr val="BCBCBC"/>
            </a:solidFill>
            <a:ln cap="flat" cmpd="sng" w="25400">
              <a:solidFill>
                <a:srgbClr val="1B386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sp>
          <p:nvSpPr>
            <p:cNvPr id="715" name="Google Shape;715;p80"/>
            <p:cNvSpPr/>
            <p:nvPr/>
          </p:nvSpPr>
          <p:spPr>
            <a:xfrm>
              <a:off x="7818612" y="2311936"/>
              <a:ext cx="288000" cy="288000"/>
            </a:xfrm>
            <a:prstGeom prst="rect">
              <a:avLst/>
            </a:prstGeom>
            <a:solidFill>
              <a:srgbClr val="BCBCBC"/>
            </a:solidFill>
            <a:ln cap="flat" cmpd="sng" w="25400">
              <a:solidFill>
                <a:srgbClr val="1B386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sp>
          <p:nvSpPr>
            <p:cNvPr id="716" name="Google Shape;716;p80"/>
            <p:cNvSpPr/>
            <p:nvPr/>
          </p:nvSpPr>
          <p:spPr>
            <a:xfrm>
              <a:off x="7439190" y="2311936"/>
              <a:ext cx="288000" cy="288000"/>
            </a:xfrm>
            <a:prstGeom prst="rect">
              <a:avLst/>
            </a:prstGeom>
            <a:solidFill>
              <a:srgbClr val="BCBCBC"/>
            </a:solidFill>
            <a:ln cap="flat" cmpd="sng" w="25400">
              <a:solidFill>
                <a:srgbClr val="1B386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sp>
          <p:nvSpPr>
            <p:cNvPr id="717" name="Google Shape;717;p80"/>
            <p:cNvSpPr/>
            <p:nvPr/>
          </p:nvSpPr>
          <p:spPr>
            <a:xfrm>
              <a:off x="7040346" y="2311936"/>
              <a:ext cx="288000" cy="288000"/>
            </a:xfrm>
            <a:prstGeom prst="rect">
              <a:avLst/>
            </a:prstGeom>
            <a:solidFill>
              <a:srgbClr val="BCBCBC"/>
            </a:solidFill>
            <a:ln cap="flat" cmpd="sng" w="25400">
              <a:solidFill>
                <a:srgbClr val="1B386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sp>
          <p:nvSpPr>
            <p:cNvPr id="718" name="Google Shape;718;p80"/>
            <p:cNvSpPr/>
            <p:nvPr/>
          </p:nvSpPr>
          <p:spPr>
            <a:xfrm>
              <a:off x="6641502" y="2311936"/>
              <a:ext cx="288000" cy="288000"/>
            </a:xfrm>
            <a:prstGeom prst="rect">
              <a:avLst/>
            </a:prstGeom>
            <a:solidFill>
              <a:srgbClr val="BCBCBC"/>
            </a:solidFill>
            <a:ln cap="flat" cmpd="sng" w="25400">
              <a:solidFill>
                <a:srgbClr val="1B386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sp>
          <p:nvSpPr>
            <p:cNvPr id="719" name="Google Shape;719;p80"/>
            <p:cNvSpPr/>
            <p:nvPr/>
          </p:nvSpPr>
          <p:spPr>
            <a:xfrm>
              <a:off x="8217456" y="2717660"/>
              <a:ext cx="288000" cy="288000"/>
            </a:xfrm>
            <a:prstGeom prst="rect">
              <a:avLst/>
            </a:prstGeom>
            <a:solidFill>
              <a:srgbClr val="BCBCBC"/>
            </a:solidFill>
            <a:ln cap="flat" cmpd="sng" w="25400">
              <a:solidFill>
                <a:srgbClr val="1B386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sp>
          <p:nvSpPr>
            <p:cNvPr id="720" name="Google Shape;720;p80"/>
            <p:cNvSpPr/>
            <p:nvPr/>
          </p:nvSpPr>
          <p:spPr>
            <a:xfrm>
              <a:off x="7818612" y="2717660"/>
              <a:ext cx="288000" cy="288000"/>
            </a:xfrm>
            <a:prstGeom prst="rect">
              <a:avLst/>
            </a:prstGeom>
            <a:solidFill>
              <a:srgbClr val="BCBCBC"/>
            </a:solidFill>
            <a:ln cap="flat" cmpd="sng" w="25400">
              <a:solidFill>
                <a:srgbClr val="1B386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sp>
          <p:nvSpPr>
            <p:cNvPr id="721" name="Google Shape;721;p80"/>
            <p:cNvSpPr/>
            <p:nvPr/>
          </p:nvSpPr>
          <p:spPr>
            <a:xfrm>
              <a:off x="7439190" y="2717660"/>
              <a:ext cx="288000" cy="288000"/>
            </a:xfrm>
            <a:prstGeom prst="rect">
              <a:avLst/>
            </a:prstGeom>
            <a:solidFill>
              <a:srgbClr val="BCBCBC"/>
            </a:solidFill>
            <a:ln cap="flat" cmpd="sng" w="25400">
              <a:solidFill>
                <a:srgbClr val="1B386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sp>
          <p:nvSpPr>
            <p:cNvPr id="722" name="Google Shape;722;p80"/>
            <p:cNvSpPr/>
            <p:nvPr/>
          </p:nvSpPr>
          <p:spPr>
            <a:xfrm>
              <a:off x="7040346" y="2717660"/>
              <a:ext cx="288000" cy="288000"/>
            </a:xfrm>
            <a:prstGeom prst="rect">
              <a:avLst/>
            </a:prstGeom>
            <a:solidFill>
              <a:srgbClr val="FF63FF">
                <a:alpha val="13730"/>
              </a:srgbClr>
            </a:solidFill>
            <a:ln cap="flat" cmpd="sng" w="25400">
              <a:solidFill>
                <a:srgbClr val="7030A0">
                  <a:alpha val="2392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sp>
          <p:nvSpPr>
            <p:cNvPr id="723" name="Google Shape;723;p80"/>
            <p:cNvSpPr/>
            <p:nvPr/>
          </p:nvSpPr>
          <p:spPr>
            <a:xfrm>
              <a:off x="6641502" y="2717660"/>
              <a:ext cx="288000" cy="288000"/>
            </a:xfrm>
            <a:prstGeom prst="rect">
              <a:avLst/>
            </a:prstGeom>
            <a:solidFill>
              <a:srgbClr val="BCBCBC"/>
            </a:solidFill>
            <a:ln cap="flat" cmpd="sng" w="25400">
              <a:solidFill>
                <a:srgbClr val="1B386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sp>
          <p:nvSpPr>
            <p:cNvPr id="724" name="Google Shape;724;p80"/>
            <p:cNvSpPr/>
            <p:nvPr/>
          </p:nvSpPr>
          <p:spPr>
            <a:xfrm>
              <a:off x="8217456" y="3109810"/>
              <a:ext cx="288000" cy="288000"/>
            </a:xfrm>
            <a:prstGeom prst="rect">
              <a:avLst/>
            </a:prstGeom>
            <a:solidFill>
              <a:srgbClr val="BCBCBC"/>
            </a:solidFill>
            <a:ln cap="flat" cmpd="sng" w="25400">
              <a:solidFill>
                <a:srgbClr val="1B386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sp>
          <p:nvSpPr>
            <p:cNvPr id="725" name="Google Shape;725;p80"/>
            <p:cNvSpPr/>
            <p:nvPr/>
          </p:nvSpPr>
          <p:spPr>
            <a:xfrm>
              <a:off x="7818612" y="3109810"/>
              <a:ext cx="288000" cy="288000"/>
            </a:xfrm>
            <a:prstGeom prst="rect">
              <a:avLst/>
            </a:prstGeom>
            <a:solidFill>
              <a:srgbClr val="BCBCBC"/>
            </a:solidFill>
            <a:ln cap="flat" cmpd="sng" w="25400">
              <a:solidFill>
                <a:srgbClr val="1B386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sp>
          <p:nvSpPr>
            <p:cNvPr id="726" name="Google Shape;726;p80"/>
            <p:cNvSpPr/>
            <p:nvPr/>
          </p:nvSpPr>
          <p:spPr>
            <a:xfrm>
              <a:off x="7439190" y="3109810"/>
              <a:ext cx="288000" cy="288000"/>
            </a:xfrm>
            <a:prstGeom prst="rect">
              <a:avLst/>
            </a:prstGeom>
            <a:solidFill>
              <a:srgbClr val="BCBCBC"/>
            </a:solidFill>
            <a:ln cap="flat" cmpd="sng" w="25400">
              <a:solidFill>
                <a:srgbClr val="1B386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sp>
          <p:nvSpPr>
            <p:cNvPr id="727" name="Google Shape;727;p80"/>
            <p:cNvSpPr/>
            <p:nvPr/>
          </p:nvSpPr>
          <p:spPr>
            <a:xfrm>
              <a:off x="7040346" y="3109810"/>
              <a:ext cx="288000" cy="288000"/>
            </a:xfrm>
            <a:prstGeom prst="rect">
              <a:avLst/>
            </a:prstGeom>
            <a:solidFill>
              <a:srgbClr val="BCBCBC"/>
            </a:solidFill>
            <a:ln cap="flat" cmpd="sng" w="25400">
              <a:solidFill>
                <a:srgbClr val="1B386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sp>
          <p:nvSpPr>
            <p:cNvPr id="728" name="Google Shape;728;p80"/>
            <p:cNvSpPr/>
            <p:nvPr/>
          </p:nvSpPr>
          <p:spPr>
            <a:xfrm>
              <a:off x="6641502" y="3109810"/>
              <a:ext cx="288000" cy="288000"/>
            </a:xfrm>
            <a:prstGeom prst="rect">
              <a:avLst/>
            </a:prstGeom>
            <a:solidFill>
              <a:srgbClr val="FF63FF">
                <a:alpha val="40780"/>
              </a:srgbClr>
            </a:solidFill>
            <a:ln cap="flat" cmpd="sng" w="25400">
              <a:solidFill>
                <a:srgbClr val="7030A0">
                  <a:alpha val="9490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sp>
          <p:nvSpPr>
            <p:cNvPr id="729" name="Google Shape;729;p80"/>
            <p:cNvSpPr/>
            <p:nvPr/>
          </p:nvSpPr>
          <p:spPr>
            <a:xfrm>
              <a:off x="8217456" y="3504810"/>
              <a:ext cx="288000" cy="288000"/>
            </a:xfrm>
            <a:prstGeom prst="rect">
              <a:avLst/>
            </a:prstGeom>
            <a:solidFill>
              <a:srgbClr val="BCBCBC"/>
            </a:solidFill>
            <a:ln cap="flat" cmpd="sng" w="25400">
              <a:solidFill>
                <a:srgbClr val="1B386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sp>
          <p:nvSpPr>
            <p:cNvPr id="730" name="Google Shape;730;p80"/>
            <p:cNvSpPr/>
            <p:nvPr/>
          </p:nvSpPr>
          <p:spPr>
            <a:xfrm>
              <a:off x="7818612" y="3504810"/>
              <a:ext cx="288000" cy="288000"/>
            </a:xfrm>
            <a:prstGeom prst="rect">
              <a:avLst/>
            </a:prstGeom>
            <a:solidFill>
              <a:srgbClr val="BCBCBC"/>
            </a:solidFill>
            <a:ln cap="flat" cmpd="sng" w="25400">
              <a:solidFill>
                <a:srgbClr val="1B386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sp>
          <p:nvSpPr>
            <p:cNvPr id="731" name="Google Shape;731;p80"/>
            <p:cNvSpPr/>
            <p:nvPr/>
          </p:nvSpPr>
          <p:spPr>
            <a:xfrm>
              <a:off x="7439190" y="3504810"/>
              <a:ext cx="288000" cy="288000"/>
            </a:xfrm>
            <a:prstGeom prst="rect">
              <a:avLst/>
            </a:prstGeom>
            <a:solidFill>
              <a:srgbClr val="BCBCBC"/>
            </a:solidFill>
            <a:ln cap="flat" cmpd="sng" w="25400">
              <a:solidFill>
                <a:srgbClr val="1B386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sp>
          <p:nvSpPr>
            <p:cNvPr id="732" name="Google Shape;732;p80"/>
            <p:cNvSpPr/>
            <p:nvPr/>
          </p:nvSpPr>
          <p:spPr>
            <a:xfrm>
              <a:off x="7040346" y="3504810"/>
              <a:ext cx="288000" cy="288000"/>
            </a:xfrm>
            <a:prstGeom prst="rect">
              <a:avLst/>
            </a:prstGeom>
            <a:solidFill>
              <a:srgbClr val="BCBCBC"/>
            </a:solidFill>
            <a:ln cap="flat" cmpd="sng" w="25400">
              <a:solidFill>
                <a:srgbClr val="1B386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sp>
          <p:nvSpPr>
            <p:cNvPr id="733" name="Google Shape;733;p80"/>
            <p:cNvSpPr/>
            <p:nvPr/>
          </p:nvSpPr>
          <p:spPr>
            <a:xfrm>
              <a:off x="6641502" y="3504810"/>
              <a:ext cx="288000" cy="288000"/>
            </a:xfrm>
            <a:prstGeom prst="rect">
              <a:avLst/>
            </a:prstGeom>
            <a:solidFill>
              <a:srgbClr val="BCBCBC"/>
            </a:solidFill>
            <a:ln cap="flat" cmpd="sng" w="25400">
              <a:solidFill>
                <a:srgbClr val="1B386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sp>
          <p:nvSpPr>
            <p:cNvPr id="734" name="Google Shape;734;p80"/>
            <p:cNvSpPr txBox="1"/>
            <p:nvPr/>
          </p:nvSpPr>
          <p:spPr>
            <a:xfrm rot="-5400000">
              <a:off x="5605653" y="2563780"/>
              <a:ext cx="8949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GB" sz="1400" u="none" cap="none" strike="noStrike">
                  <a:solidFill>
                    <a:srgbClr val="000000"/>
                  </a:solidFill>
                  <a:latin typeface="Calibri"/>
                  <a:ea typeface="Calibri"/>
                  <a:cs typeface="Calibri"/>
                  <a:sym typeface="Calibri"/>
                </a:rPr>
                <a:t>T</a:t>
              </a:r>
              <a:r>
                <a:rPr b="0" i="0" lang="en-GB" sz="1400" u="none" cap="none" strike="noStrike">
                  <a:solidFill>
                    <a:srgbClr val="000000"/>
                  </a:solidFill>
                  <a:latin typeface="Calibri"/>
                  <a:ea typeface="Calibri"/>
                  <a:cs typeface="Calibri"/>
                  <a:sym typeface="Calibri"/>
                </a:rPr>
                <a:t>  Layers</a:t>
              </a:r>
              <a:endParaRPr/>
            </a:p>
          </p:txBody>
        </p:sp>
        <p:sp>
          <p:nvSpPr>
            <p:cNvPr id="735" name="Google Shape;735;p80"/>
            <p:cNvSpPr txBox="1"/>
            <p:nvPr/>
          </p:nvSpPr>
          <p:spPr>
            <a:xfrm>
              <a:off x="7135719" y="4197978"/>
              <a:ext cx="8949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GB" sz="1400" u="none" cap="none" strike="noStrike">
                  <a:solidFill>
                    <a:srgbClr val="000000"/>
                  </a:solidFill>
                  <a:latin typeface="Calibri"/>
                  <a:ea typeface="Calibri"/>
                  <a:cs typeface="Calibri"/>
                  <a:sym typeface="Calibri"/>
                </a:rPr>
                <a:t>N</a:t>
              </a:r>
              <a:r>
                <a:rPr b="0" i="0" lang="en-GB" sz="1400" u="none" cap="none" strike="noStrike">
                  <a:solidFill>
                    <a:srgbClr val="000000"/>
                  </a:solidFill>
                  <a:latin typeface="Calibri"/>
                  <a:ea typeface="Calibri"/>
                  <a:cs typeface="Calibri"/>
                  <a:sym typeface="Calibri"/>
                </a:rPr>
                <a:t>  Tokens</a:t>
              </a:r>
              <a:endParaRPr/>
            </a:p>
          </p:txBody>
        </p:sp>
      </p:gr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39" name="Shape 739"/>
        <p:cNvGrpSpPr/>
        <p:nvPr/>
      </p:nvGrpSpPr>
      <p:grpSpPr>
        <a:xfrm>
          <a:off x="0" y="0"/>
          <a:ext cx="0" cy="0"/>
          <a:chOff x="0" y="0"/>
          <a:chExt cx="0" cy="0"/>
        </a:xfrm>
      </p:grpSpPr>
      <p:sp>
        <p:nvSpPr>
          <p:cNvPr id="740" name="Google Shape;740;p8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ctr">
              <a:spcBef>
                <a:spcPts val="0"/>
              </a:spcBef>
              <a:spcAft>
                <a:spcPts val="0"/>
              </a:spcAft>
              <a:buSzPct val="111111"/>
              <a:buNone/>
            </a:pPr>
            <a:r>
              <a:rPr b="1" lang="en-GB"/>
              <a:t>Transformer</a:t>
            </a:r>
            <a:r>
              <a:rPr lang="en-GB"/>
              <a:t> </a:t>
            </a:r>
            <a:endParaRPr/>
          </a:p>
          <a:p>
            <a:pPr indent="0" lvl="0" marL="0" rtl="0" algn="ctr">
              <a:spcBef>
                <a:spcPts val="0"/>
              </a:spcBef>
              <a:spcAft>
                <a:spcPts val="0"/>
              </a:spcAft>
              <a:buSzPct val="172839"/>
              <a:buNone/>
            </a:pPr>
            <a:r>
              <a:rPr i="1" lang="en-GB" sz="1800"/>
              <a:t>and its limitation for sequential reasoning</a:t>
            </a:r>
            <a:endParaRPr i="1" sz="1800"/>
          </a:p>
        </p:txBody>
      </p:sp>
      <p:cxnSp>
        <p:nvCxnSpPr>
          <p:cNvPr id="741" name="Google Shape;741;p81"/>
          <p:cNvCxnSpPr/>
          <p:nvPr/>
        </p:nvCxnSpPr>
        <p:spPr>
          <a:xfrm rot="10800000">
            <a:off x="6317824" y="1590899"/>
            <a:ext cx="0" cy="2340000"/>
          </a:xfrm>
          <a:prstGeom prst="straightConnector1">
            <a:avLst/>
          </a:prstGeom>
          <a:noFill/>
          <a:ln cap="flat" cmpd="sng" w="47625">
            <a:solidFill>
              <a:srgbClr val="000000"/>
            </a:solidFill>
            <a:prstDash val="solid"/>
            <a:round/>
            <a:headEnd len="med" w="med" type="triangle"/>
            <a:tailEnd len="med" w="med" type="triangle"/>
          </a:ln>
        </p:spPr>
      </p:cxnSp>
      <p:cxnSp>
        <p:nvCxnSpPr>
          <p:cNvPr id="742" name="Google Shape;742;p81"/>
          <p:cNvCxnSpPr/>
          <p:nvPr/>
        </p:nvCxnSpPr>
        <p:spPr>
          <a:xfrm>
            <a:off x="6282395" y="4099106"/>
            <a:ext cx="2340000" cy="0"/>
          </a:xfrm>
          <a:prstGeom prst="straightConnector1">
            <a:avLst/>
          </a:prstGeom>
          <a:noFill/>
          <a:ln cap="flat" cmpd="sng" w="47625">
            <a:solidFill>
              <a:srgbClr val="000000"/>
            </a:solidFill>
            <a:prstDash val="solid"/>
            <a:round/>
            <a:headEnd len="med" w="med" type="triangle"/>
            <a:tailEnd len="med" w="med" type="triangle"/>
          </a:ln>
        </p:spPr>
      </p:cxnSp>
      <p:sp>
        <p:nvSpPr>
          <p:cNvPr id="743" name="Google Shape;743;p81"/>
          <p:cNvSpPr/>
          <p:nvPr/>
        </p:nvSpPr>
        <p:spPr>
          <a:xfrm>
            <a:off x="8217456" y="1906212"/>
            <a:ext cx="288000" cy="288000"/>
          </a:xfrm>
          <a:prstGeom prst="rect">
            <a:avLst/>
          </a:prstGeom>
          <a:solidFill>
            <a:srgbClr val="BCBCBC"/>
          </a:solidFill>
          <a:ln cap="flat" cmpd="sng" w="25400">
            <a:solidFill>
              <a:srgbClr val="1B386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sp>
        <p:nvSpPr>
          <p:cNvPr id="744" name="Google Shape;744;p81"/>
          <p:cNvSpPr/>
          <p:nvPr/>
        </p:nvSpPr>
        <p:spPr>
          <a:xfrm>
            <a:off x="7818612" y="1906212"/>
            <a:ext cx="288000" cy="288000"/>
          </a:xfrm>
          <a:prstGeom prst="rect">
            <a:avLst/>
          </a:prstGeom>
          <a:solidFill>
            <a:srgbClr val="FDEBFF"/>
          </a:solidFill>
          <a:ln cap="flat" cmpd="sng" w="25400">
            <a:solidFill>
              <a:srgbClr val="DDC3E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sp>
        <p:nvSpPr>
          <p:cNvPr id="745" name="Google Shape;745;p81"/>
          <p:cNvSpPr/>
          <p:nvPr/>
        </p:nvSpPr>
        <p:spPr>
          <a:xfrm>
            <a:off x="7439190" y="1906212"/>
            <a:ext cx="288000" cy="288000"/>
          </a:xfrm>
          <a:prstGeom prst="rect">
            <a:avLst/>
          </a:prstGeom>
          <a:solidFill>
            <a:srgbClr val="BCBCBC"/>
          </a:solidFill>
          <a:ln cap="flat" cmpd="sng" w="25400">
            <a:solidFill>
              <a:srgbClr val="1B386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sp>
        <p:nvSpPr>
          <p:cNvPr id="746" name="Google Shape;746;p81"/>
          <p:cNvSpPr/>
          <p:nvPr/>
        </p:nvSpPr>
        <p:spPr>
          <a:xfrm>
            <a:off x="7040346" y="1906212"/>
            <a:ext cx="288000" cy="288000"/>
          </a:xfrm>
          <a:prstGeom prst="rect">
            <a:avLst/>
          </a:prstGeom>
          <a:solidFill>
            <a:srgbClr val="BCBCBC"/>
          </a:solidFill>
          <a:ln cap="flat" cmpd="sng" w="25400">
            <a:solidFill>
              <a:srgbClr val="1B386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sp>
        <p:nvSpPr>
          <p:cNvPr id="747" name="Google Shape;747;p81"/>
          <p:cNvSpPr/>
          <p:nvPr/>
        </p:nvSpPr>
        <p:spPr>
          <a:xfrm>
            <a:off x="6641502" y="1906212"/>
            <a:ext cx="288000" cy="288000"/>
          </a:xfrm>
          <a:prstGeom prst="rect">
            <a:avLst/>
          </a:prstGeom>
          <a:solidFill>
            <a:srgbClr val="BCBCBC"/>
          </a:solidFill>
          <a:ln cap="flat" cmpd="sng" w="25400">
            <a:solidFill>
              <a:srgbClr val="1B386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sp>
        <p:nvSpPr>
          <p:cNvPr id="748" name="Google Shape;748;p81"/>
          <p:cNvSpPr/>
          <p:nvPr/>
        </p:nvSpPr>
        <p:spPr>
          <a:xfrm>
            <a:off x="8217456" y="2311936"/>
            <a:ext cx="288000" cy="288000"/>
          </a:xfrm>
          <a:prstGeom prst="rect">
            <a:avLst/>
          </a:prstGeom>
          <a:solidFill>
            <a:srgbClr val="BCBCBC"/>
          </a:solidFill>
          <a:ln cap="flat" cmpd="sng" w="25400">
            <a:solidFill>
              <a:srgbClr val="1B386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sp>
        <p:nvSpPr>
          <p:cNvPr id="749" name="Google Shape;749;p81"/>
          <p:cNvSpPr/>
          <p:nvPr/>
        </p:nvSpPr>
        <p:spPr>
          <a:xfrm>
            <a:off x="7818612" y="2311936"/>
            <a:ext cx="288000" cy="288000"/>
          </a:xfrm>
          <a:prstGeom prst="rect">
            <a:avLst/>
          </a:prstGeom>
          <a:solidFill>
            <a:srgbClr val="BCBCBC"/>
          </a:solidFill>
          <a:ln cap="flat" cmpd="sng" w="25400">
            <a:solidFill>
              <a:srgbClr val="1B386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sp>
        <p:nvSpPr>
          <p:cNvPr id="750" name="Google Shape;750;p81"/>
          <p:cNvSpPr/>
          <p:nvPr/>
        </p:nvSpPr>
        <p:spPr>
          <a:xfrm>
            <a:off x="7439190" y="2311936"/>
            <a:ext cx="288000" cy="288000"/>
          </a:xfrm>
          <a:prstGeom prst="rect">
            <a:avLst/>
          </a:prstGeom>
          <a:solidFill>
            <a:srgbClr val="FDEBFF"/>
          </a:solidFill>
          <a:ln cap="flat" cmpd="sng" w="25400">
            <a:solidFill>
              <a:srgbClr val="DDC3E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sp>
        <p:nvSpPr>
          <p:cNvPr id="751" name="Google Shape;751;p81"/>
          <p:cNvSpPr/>
          <p:nvPr/>
        </p:nvSpPr>
        <p:spPr>
          <a:xfrm>
            <a:off x="7040346" y="2311936"/>
            <a:ext cx="288000" cy="288000"/>
          </a:xfrm>
          <a:prstGeom prst="rect">
            <a:avLst/>
          </a:prstGeom>
          <a:solidFill>
            <a:srgbClr val="BCBCBC"/>
          </a:solidFill>
          <a:ln cap="flat" cmpd="sng" w="25400">
            <a:solidFill>
              <a:srgbClr val="1B386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sp>
        <p:nvSpPr>
          <p:cNvPr id="752" name="Google Shape;752;p81"/>
          <p:cNvSpPr/>
          <p:nvPr/>
        </p:nvSpPr>
        <p:spPr>
          <a:xfrm>
            <a:off x="6641502" y="2311936"/>
            <a:ext cx="288000" cy="288000"/>
          </a:xfrm>
          <a:prstGeom prst="rect">
            <a:avLst/>
          </a:prstGeom>
          <a:solidFill>
            <a:srgbClr val="BCBCBC"/>
          </a:solidFill>
          <a:ln cap="flat" cmpd="sng" w="25400">
            <a:solidFill>
              <a:srgbClr val="1B386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sp>
        <p:nvSpPr>
          <p:cNvPr id="753" name="Google Shape;753;p81"/>
          <p:cNvSpPr/>
          <p:nvPr/>
        </p:nvSpPr>
        <p:spPr>
          <a:xfrm>
            <a:off x="8217456" y="2717660"/>
            <a:ext cx="288000" cy="288000"/>
          </a:xfrm>
          <a:prstGeom prst="rect">
            <a:avLst/>
          </a:prstGeom>
          <a:solidFill>
            <a:srgbClr val="BCBCBC"/>
          </a:solidFill>
          <a:ln cap="flat" cmpd="sng" w="25400">
            <a:solidFill>
              <a:srgbClr val="1B386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sp>
        <p:nvSpPr>
          <p:cNvPr id="754" name="Google Shape;754;p81"/>
          <p:cNvSpPr/>
          <p:nvPr/>
        </p:nvSpPr>
        <p:spPr>
          <a:xfrm>
            <a:off x="7818612" y="2717660"/>
            <a:ext cx="288000" cy="288000"/>
          </a:xfrm>
          <a:prstGeom prst="rect">
            <a:avLst/>
          </a:prstGeom>
          <a:solidFill>
            <a:srgbClr val="BCBCBC"/>
          </a:solidFill>
          <a:ln cap="flat" cmpd="sng" w="25400">
            <a:solidFill>
              <a:srgbClr val="1B386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sp>
        <p:nvSpPr>
          <p:cNvPr id="755" name="Google Shape;755;p81"/>
          <p:cNvSpPr/>
          <p:nvPr/>
        </p:nvSpPr>
        <p:spPr>
          <a:xfrm>
            <a:off x="7439190" y="2717660"/>
            <a:ext cx="288000" cy="288000"/>
          </a:xfrm>
          <a:prstGeom prst="rect">
            <a:avLst/>
          </a:prstGeom>
          <a:solidFill>
            <a:srgbClr val="BCBCBC"/>
          </a:solidFill>
          <a:ln cap="flat" cmpd="sng" w="25400">
            <a:solidFill>
              <a:srgbClr val="1B386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sp>
        <p:nvSpPr>
          <p:cNvPr id="756" name="Google Shape;756;p81"/>
          <p:cNvSpPr/>
          <p:nvPr/>
        </p:nvSpPr>
        <p:spPr>
          <a:xfrm>
            <a:off x="7040346" y="2717660"/>
            <a:ext cx="288000" cy="288000"/>
          </a:xfrm>
          <a:prstGeom prst="rect">
            <a:avLst/>
          </a:prstGeom>
          <a:solidFill>
            <a:srgbClr val="FF63FF">
              <a:alpha val="13730"/>
            </a:srgbClr>
          </a:solidFill>
          <a:ln cap="flat" cmpd="sng" w="25400">
            <a:solidFill>
              <a:srgbClr val="7030A0">
                <a:alpha val="2392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sp>
        <p:nvSpPr>
          <p:cNvPr id="757" name="Google Shape;757;p81"/>
          <p:cNvSpPr/>
          <p:nvPr/>
        </p:nvSpPr>
        <p:spPr>
          <a:xfrm>
            <a:off x="6641502" y="2717660"/>
            <a:ext cx="288000" cy="288000"/>
          </a:xfrm>
          <a:prstGeom prst="rect">
            <a:avLst/>
          </a:prstGeom>
          <a:solidFill>
            <a:srgbClr val="BCBCBC"/>
          </a:solidFill>
          <a:ln cap="flat" cmpd="sng" w="25400">
            <a:solidFill>
              <a:srgbClr val="1B386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sp>
        <p:nvSpPr>
          <p:cNvPr id="758" name="Google Shape;758;p81"/>
          <p:cNvSpPr/>
          <p:nvPr/>
        </p:nvSpPr>
        <p:spPr>
          <a:xfrm>
            <a:off x="8217456" y="3109810"/>
            <a:ext cx="288000" cy="288000"/>
          </a:xfrm>
          <a:prstGeom prst="rect">
            <a:avLst/>
          </a:prstGeom>
          <a:solidFill>
            <a:srgbClr val="BCBCBC"/>
          </a:solidFill>
          <a:ln cap="flat" cmpd="sng" w="25400">
            <a:solidFill>
              <a:srgbClr val="1B386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sp>
        <p:nvSpPr>
          <p:cNvPr id="759" name="Google Shape;759;p81"/>
          <p:cNvSpPr/>
          <p:nvPr/>
        </p:nvSpPr>
        <p:spPr>
          <a:xfrm>
            <a:off x="7818612" y="3109810"/>
            <a:ext cx="288000" cy="288000"/>
          </a:xfrm>
          <a:prstGeom prst="rect">
            <a:avLst/>
          </a:prstGeom>
          <a:solidFill>
            <a:srgbClr val="BCBCBC"/>
          </a:solidFill>
          <a:ln cap="flat" cmpd="sng" w="25400">
            <a:solidFill>
              <a:srgbClr val="1B386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sp>
        <p:nvSpPr>
          <p:cNvPr id="760" name="Google Shape;760;p81"/>
          <p:cNvSpPr/>
          <p:nvPr/>
        </p:nvSpPr>
        <p:spPr>
          <a:xfrm>
            <a:off x="7439190" y="3109810"/>
            <a:ext cx="288000" cy="288000"/>
          </a:xfrm>
          <a:prstGeom prst="rect">
            <a:avLst/>
          </a:prstGeom>
          <a:solidFill>
            <a:srgbClr val="BCBCBC"/>
          </a:solidFill>
          <a:ln cap="flat" cmpd="sng" w="25400">
            <a:solidFill>
              <a:srgbClr val="1B386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sp>
        <p:nvSpPr>
          <p:cNvPr id="761" name="Google Shape;761;p81"/>
          <p:cNvSpPr/>
          <p:nvPr/>
        </p:nvSpPr>
        <p:spPr>
          <a:xfrm>
            <a:off x="7040346" y="3109810"/>
            <a:ext cx="288000" cy="288000"/>
          </a:xfrm>
          <a:prstGeom prst="rect">
            <a:avLst/>
          </a:prstGeom>
          <a:solidFill>
            <a:srgbClr val="BCBCBC"/>
          </a:solidFill>
          <a:ln cap="flat" cmpd="sng" w="25400">
            <a:solidFill>
              <a:srgbClr val="1B386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sp>
        <p:nvSpPr>
          <p:cNvPr id="762" name="Google Shape;762;p81"/>
          <p:cNvSpPr/>
          <p:nvPr/>
        </p:nvSpPr>
        <p:spPr>
          <a:xfrm>
            <a:off x="6641502" y="3109810"/>
            <a:ext cx="288000" cy="288000"/>
          </a:xfrm>
          <a:prstGeom prst="rect">
            <a:avLst/>
          </a:prstGeom>
          <a:solidFill>
            <a:srgbClr val="FF63FF">
              <a:alpha val="40780"/>
            </a:srgbClr>
          </a:solidFill>
          <a:ln cap="flat" cmpd="sng" w="25400">
            <a:solidFill>
              <a:srgbClr val="7030A0">
                <a:alpha val="9490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sp>
        <p:nvSpPr>
          <p:cNvPr id="763" name="Google Shape;763;p81"/>
          <p:cNvSpPr/>
          <p:nvPr/>
        </p:nvSpPr>
        <p:spPr>
          <a:xfrm>
            <a:off x="8217456" y="3504810"/>
            <a:ext cx="288000" cy="288000"/>
          </a:xfrm>
          <a:prstGeom prst="rect">
            <a:avLst/>
          </a:prstGeom>
          <a:solidFill>
            <a:srgbClr val="BCBCBC"/>
          </a:solidFill>
          <a:ln cap="flat" cmpd="sng" w="25400">
            <a:solidFill>
              <a:srgbClr val="1B386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sp>
        <p:nvSpPr>
          <p:cNvPr id="764" name="Google Shape;764;p81"/>
          <p:cNvSpPr/>
          <p:nvPr/>
        </p:nvSpPr>
        <p:spPr>
          <a:xfrm>
            <a:off x="7818612" y="3504810"/>
            <a:ext cx="288000" cy="288000"/>
          </a:xfrm>
          <a:prstGeom prst="rect">
            <a:avLst/>
          </a:prstGeom>
          <a:solidFill>
            <a:srgbClr val="BCBCBC"/>
          </a:solidFill>
          <a:ln cap="flat" cmpd="sng" w="25400">
            <a:solidFill>
              <a:srgbClr val="1B386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sp>
        <p:nvSpPr>
          <p:cNvPr id="765" name="Google Shape;765;p81"/>
          <p:cNvSpPr/>
          <p:nvPr/>
        </p:nvSpPr>
        <p:spPr>
          <a:xfrm>
            <a:off x="7439190" y="3504810"/>
            <a:ext cx="288000" cy="288000"/>
          </a:xfrm>
          <a:prstGeom prst="rect">
            <a:avLst/>
          </a:prstGeom>
          <a:solidFill>
            <a:srgbClr val="BCBCBC"/>
          </a:solidFill>
          <a:ln cap="flat" cmpd="sng" w="25400">
            <a:solidFill>
              <a:srgbClr val="1B386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sp>
        <p:nvSpPr>
          <p:cNvPr id="766" name="Google Shape;766;p81"/>
          <p:cNvSpPr/>
          <p:nvPr/>
        </p:nvSpPr>
        <p:spPr>
          <a:xfrm>
            <a:off x="7040346" y="3504810"/>
            <a:ext cx="288000" cy="288000"/>
          </a:xfrm>
          <a:prstGeom prst="rect">
            <a:avLst/>
          </a:prstGeom>
          <a:solidFill>
            <a:srgbClr val="BCBCBC"/>
          </a:solidFill>
          <a:ln cap="flat" cmpd="sng" w="25400">
            <a:solidFill>
              <a:srgbClr val="1B386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sp>
        <p:nvSpPr>
          <p:cNvPr id="767" name="Google Shape;767;p81"/>
          <p:cNvSpPr/>
          <p:nvPr/>
        </p:nvSpPr>
        <p:spPr>
          <a:xfrm>
            <a:off x="6641502" y="3504810"/>
            <a:ext cx="288000" cy="288000"/>
          </a:xfrm>
          <a:prstGeom prst="rect">
            <a:avLst/>
          </a:prstGeom>
          <a:solidFill>
            <a:srgbClr val="BCBCBC"/>
          </a:solidFill>
          <a:ln cap="flat" cmpd="sng" w="25400">
            <a:solidFill>
              <a:srgbClr val="1B386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sp>
        <p:nvSpPr>
          <p:cNvPr id="768" name="Google Shape;768;p81"/>
          <p:cNvSpPr txBox="1"/>
          <p:nvPr/>
        </p:nvSpPr>
        <p:spPr>
          <a:xfrm rot="-5400000">
            <a:off x="5605653" y="2563780"/>
            <a:ext cx="8949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GB" sz="1400" u="none" cap="none" strike="noStrike">
                <a:solidFill>
                  <a:srgbClr val="000000"/>
                </a:solidFill>
                <a:latin typeface="Calibri"/>
                <a:ea typeface="Calibri"/>
                <a:cs typeface="Calibri"/>
                <a:sym typeface="Calibri"/>
              </a:rPr>
              <a:t>T</a:t>
            </a:r>
            <a:r>
              <a:rPr b="0" i="0" lang="en-GB" sz="1400" u="none" cap="none" strike="noStrike">
                <a:solidFill>
                  <a:srgbClr val="000000"/>
                </a:solidFill>
                <a:latin typeface="Calibri"/>
                <a:ea typeface="Calibri"/>
                <a:cs typeface="Calibri"/>
                <a:sym typeface="Calibri"/>
              </a:rPr>
              <a:t>  Layers</a:t>
            </a:r>
            <a:endParaRPr/>
          </a:p>
        </p:txBody>
      </p:sp>
      <p:sp>
        <p:nvSpPr>
          <p:cNvPr id="769" name="Google Shape;769;p81"/>
          <p:cNvSpPr txBox="1"/>
          <p:nvPr/>
        </p:nvSpPr>
        <p:spPr>
          <a:xfrm>
            <a:off x="7135719" y="4197978"/>
            <a:ext cx="8949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GB" sz="1400" u="none" cap="none" strike="noStrike">
                <a:solidFill>
                  <a:srgbClr val="000000"/>
                </a:solidFill>
                <a:latin typeface="Calibri"/>
                <a:ea typeface="Calibri"/>
                <a:cs typeface="Calibri"/>
                <a:sym typeface="Calibri"/>
              </a:rPr>
              <a:t>N</a:t>
            </a:r>
            <a:r>
              <a:rPr b="0" i="0" lang="en-GB" sz="1400" u="none" cap="none" strike="noStrike">
                <a:solidFill>
                  <a:srgbClr val="000000"/>
                </a:solidFill>
                <a:latin typeface="Calibri"/>
                <a:ea typeface="Calibri"/>
                <a:cs typeface="Calibri"/>
                <a:sym typeface="Calibri"/>
              </a:rPr>
              <a:t>  Tokens</a:t>
            </a:r>
            <a:endParaRPr/>
          </a:p>
        </p:txBody>
      </p:sp>
      <p:sp>
        <p:nvSpPr>
          <p:cNvPr id="770" name="Google Shape;770;p81"/>
          <p:cNvSpPr/>
          <p:nvPr/>
        </p:nvSpPr>
        <p:spPr>
          <a:xfrm>
            <a:off x="516644" y="2761210"/>
            <a:ext cx="288000" cy="288000"/>
          </a:xfrm>
          <a:prstGeom prst="rect">
            <a:avLst/>
          </a:prstGeom>
          <a:solidFill>
            <a:srgbClr val="FF63FF">
              <a:alpha val="30200"/>
            </a:srgbClr>
          </a:solidFill>
          <a:ln cap="flat" cmpd="sng" w="25400">
            <a:solidFill>
              <a:srgbClr val="7030A0">
                <a:alpha val="7608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cxnSp>
        <p:nvCxnSpPr>
          <p:cNvPr id="771" name="Google Shape;771;p81"/>
          <p:cNvCxnSpPr>
            <a:stCxn id="770" idx="3"/>
          </p:cNvCxnSpPr>
          <p:nvPr/>
        </p:nvCxnSpPr>
        <p:spPr>
          <a:xfrm flipH="1" rot="10800000">
            <a:off x="804644" y="2510110"/>
            <a:ext cx="595800" cy="395100"/>
          </a:xfrm>
          <a:prstGeom prst="straightConnector1">
            <a:avLst/>
          </a:prstGeom>
          <a:noFill/>
          <a:ln cap="flat" cmpd="sng" w="9525">
            <a:solidFill>
              <a:srgbClr val="000000"/>
            </a:solidFill>
            <a:prstDash val="solid"/>
            <a:round/>
            <a:headEnd len="sm" w="sm" type="none"/>
            <a:tailEnd len="med" w="med" type="triangle"/>
          </a:ln>
        </p:spPr>
      </p:cxnSp>
      <p:cxnSp>
        <p:nvCxnSpPr>
          <p:cNvPr id="772" name="Google Shape;772;p81"/>
          <p:cNvCxnSpPr>
            <a:stCxn id="770" idx="3"/>
          </p:cNvCxnSpPr>
          <p:nvPr/>
        </p:nvCxnSpPr>
        <p:spPr>
          <a:xfrm>
            <a:off x="804644" y="2905210"/>
            <a:ext cx="587700" cy="14400"/>
          </a:xfrm>
          <a:prstGeom prst="straightConnector1">
            <a:avLst/>
          </a:prstGeom>
          <a:noFill/>
          <a:ln cap="flat" cmpd="sng" w="9525">
            <a:solidFill>
              <a:srgbClr val="000000"/>
            </a:solidFill>
            <a:prstDash val="solid"/>
            <a:round/>
            <a:headEnd len="sm" w="sm" type="none"/>
            <a:tailEnd len="med" w="med" type="triangle"/>
          </a:ln>
        </p:spPr>
      </p:cxnSp>
      <p:cxnSp>
        <p:nvCxnSpPr>
          <p:cNvPr id="773" name="Google Shape;773;p81"/>
          <p:cNvCxnSpPr>
            <a:stCxn id="770" idx="3"/>
            <a:endCxn id="774" idx="1"/>
          </p:cNvCxnSpPr>
          <p:nvPr/>
        </p:nvCxnSpPr>
        <p:spPr>
          <a:xfrm>
            <a:off x="804644" y="2905210"/>
            <a:ext cx="585900" cy="467700"/>
          </a:xfrm>
          <a:prstGeom prst="straightConnector1">
            <a:avLst/>
          </a:prstGeom>
          <a:noFill/>
          <a:ln cap="flat" cmpd="sng" w="9525">
            <a:solidFill>
              <a:srgbClr val="000000"/>
            </a:solidFill>
            <a:prstDash val="solid"/>
            <a:round/>
            <a:headEnd len="sm" w="sm" type="none"/>
            <a:tailEnd len="med" w="med" type="triangle"/>
          </a:ln>
        </p:spPr>
      </p:cxnSp>
      <p:sp>
        <p:nvSpPr>
          <p:cNvPr id="775" name="Google Shape;775;p81"/>
          <p:cNvSpPr/>
          <p:nvPr/>
        </p:nvSpPr>
        <p:spPr>
          <a:xfrm>
            <a:off x="1395847" y="2415611"/>
            <a:ext cx="288000" cy="288000"/>
          </a:xfrm>
          <a:prstGeom prst="rect">
            <a:avLst/>
          </a:prstGeom>
          <a:solidFill>
            <a:srgbClr val="BCBCBC"/>
          </a:solidFill>
          <a:ln cap="flat" cmpd="sng" w="25400">
            <a:solidFill>
              <a:srgbClr val="1B386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sp>
        <p:nvSpPr>
          <p:cNvPr id="776" name="Google Shape;776;p81"/>
          <p:cNvSpPr/>
          <p:nvPr/>
        </p:nvSpPr>
        <p:spPr>
          <a:xfrm>
            <a:off x="1390562" y="2813798"/>
            <a:ext cx="288000" cy="288000"/>
          </a:xfrm>
          <a:prstGeom prst="rect">
            <a:avLst/>
          </a:prstGeom>
          <a:solidFill>
            <a:srgbClr val="FDEBFF"/>
          </a:solidFill>
          <a:ln cap="flat" cmpd="sng" w="25400">
            <a:solidFill>
              <a:srgbClr val="DDC3E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sp>
        <p:nvSpPr>
          <p:cNvPr id="774" name="Google Shape;774;p81"/>
          <p:cNvSpPr/>
          <p:nvPr/>
        </p:nvSpPr>
        <p:spPr>
          <a:xfrm>
            <a:off x="1390562" y="3228964"/>
            <a:ext cx="288000" cy="288000"/>
          </a:xfrm>
          <a:prstGeom prst="rect">
            <a:avLst/>
          </a:prstGeom>
          <a:solidFill>
            <a:srgbClr val="BCBCBC"/>
          </a:solidFill>
          <a:ln cap="flat" cmpd="sng" w="25400">
            <a:solidFill>
              <a:srgbClr val="1B386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cxnSp>
        <p:nvCxnSpPr>
          <p:cNvPr id="777" name="Google Shape;777;p81"/>
          <p:cNvCxnSpPr>
            <a:stCxn id="776" idx="3"/>
            <a:endCxn id="778" idx="1"/>
          </p:cNvCxnSpPr>
          <p:nvPr/>
        </p:nvCxnSpPr>
        <p:spPr>
          <a:xfrm flipH="1" rot="10800000">
            <a:off x="1678562" y="2760998"/>
            <a:ext cx="496500" cy="196800"/>
          </a:xfrm>
          <a:prstGeom prst="straightConnector1">
            <a:avLst/>
          </a:prstGeom>
          <a:noFill/>
          <a:ln cap="flat" cmpd="sng" w="9525">
            <a:solidFill>
              <a:srgbClr val="000000"/>
            </a:solidFill>
            <a:prstDash val="solid"/>
            <a:round/>
            <a:headEnd len="sm" w="sm" type="none"/>
            <a:tailEnd len="med" w="med" type="triangle"/>
          </a:ln>
        </p:spPr>
      </p:cxnSp>
      <p:cxnSp>
        <p:nvCxnSpPr>
          <p:cNvPr id="779" name="Google Shape;779;p81"/>
          <p:cNvCxnSpPr>
            <a:stCxn id="776" idx="3"/>
            <a:endCxn id="780" idx="1"/>
          </p:cNvCxnSpPr>
          <p:nvPr/>
        </p:nvCxnSpPr>
        <p:spPr>
          <a:xfrm>
            <a:off x="1678562" y="2957798"/>
            <a:ext cx="496500" cy="181200"/>
          </a:xfrm>
          <a:prstGeom prst="straightConnector1">
            <a:avLst/>
          </a:prstGeom>
          <a:noFill/>
          <a:ln cap="flat" cmpd="sng" w="9525">
            <a:solidFill>
              <a:srgbClr val="000000"/>
            </a:solidFill>
            <a:prstDash val="solid"/>
            <a:round/>
            <a:headEnd len="sm" w="sm" type="none"/>
            <a:tailEnd len="med" w="med" type="triangle"/>
          </a:ln>
        </p:spPr>
      </p:cxnSp>
      <p:sp>
        <p:nvSpPr>
          <p:cNvPr id="778" name="Google Shape;778;p81"/>
          <p:cNvSpPr/>
          <p:nvPr/>
        </p:nvSpPr>
        <p:spPr>
          <a:xfrm>
            <a:off x="2175192" y="2616890"/>
            <a:ext cx="288000" cy="288000"/>
          </a:xfrm>
          <a:prstGeom prst="rect">
            <a:avLst/>
          </a:prstGeom>
          <a:solidFill>
            <a:srgbClr val="BCBCBC"/>
          </a:solidFill>
          <a:ln cap="flat" cmpd="sng" w="25400">
            <a:solidFill>
              <a:srgbClr val="1B386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sp>
        <p:nvSpPr>
          <p:cNvPr id="780" name="Google Shape;780;p81"/>
          <p:cNvSpPr/>
          <p:nvPr/>
        </p:nvSpPr>
        <p:spPr>
          <a:xfrm>
            <a:off x="2175204" y="2995046"/>
            <a:ext cx="288000" cy="288000"/>
          </a:xfrm>
          <a:prstGeom prst="rect">
            <a:avLst/>
          </a:prstGeom>
          <a:solidFill>
            <a:srgbClr val="FDEBFF"/>
          </a:solidFill>
          <a:ln cap="flat" cmpd="sng" w="25400">
            <a:solidFill>
              <a:srgbClr val="DDC3E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GB" sz="1400" u="none" cap="none" strike="noStrike">
                <a:solidFill>
                  <a:srgbClr val="FFFFFF"/>
                </a:solidFill>
                <a:latin typeface="Arial"/>
                <a:ea typeface="Arial"/>
                <a:cs typeface="Arial"/>
                <a:sym typeface="Arial"/>
              </a:rPr>
              <a:t> </a:t>
            </a:r>
            <a:endParaRPr b="0" i="0" sz="1400" u="none" cap="none" strike="noStrike">
              <a:solidFill>
                <a:srgbClr val="FFFFFF"/>
              </a:solidFill>
              <a:latin typeface="Arial"/>
              <a:ea typeface="Arial"/>
              <a:cs typeface="Arial"/>
              <a:sym typeface="Arial"/>
            </a:endParaRPr>
          </a:p>
        </p:txBody>
      </p:sp>
      <p:cxnSp>
        <p:nvCxnSpPr>
          <p:cNvPr id="781" name="Google Shape;781;p81"/>
          <p:cNvCxnSpPr>
            <a:stCxn id="780" idx="3"/>
            <a:endCxn id="782" idx="1"/>
          </p:cNvCxnSpPr>
          <p:nvPr/>
        </p:nvCxnSpPr>
        <p:spPr>
          <a:xfrm>
            <a:off x="2463204" y="3139046"/>
            <a:ext cx="328200" cy="0"/>
          </a:xfrm>
          <a:prstGeom prst="straightConnector1">
            <a:avLst/>
          </a:prstGeom>
          <a:noFill/>
          <a:ln cap="flat" cmpd="sng" w="9525">
            <a:solidFill>
              <a:srgbClr val="000000"/>
            </a:solidFill>
            <a:prstDash val="solid"/>
            <a:round/>
            <a:headEnd len="sm" w="sm" type="none"/>
            <a:tailEnd len="med" w="med" type="triangle"/>
          </a:ln>
        </p:spPr>
      </p:cxnSp>
      <p:cxnSp>
        <p:nvCxnSpPr>
          <p:cNvPr id="783" name="Google Shape;783;p81"/>
          <p:cNvCxnSpPr>
            <a:stCxn id="780" idx="3"/>
            <a:endCxn id="784" idx="1"/>
          </p:cNvCxnSpPr>
          <p:nvPr/>
        </p:nvCxnSpPr>
        <p:spPr>
          <a:xfrm flipH="1" rot="10800000">
            <a:off x="2463204" y="2809646"/>
            <a:ext cx="328200" cy="329400"/>
          </a:xfrm>
          <a:prstGeom prst="straightConnector1">
            <a:avLst/>
          </a:prstGeom>
          <a:noFill/>
          <a:ln cap="flat" cmpd="sng" w="9525">
            <a:solidFill>
              <a:srgbClr val="000000"/>
            </a:solidFill>
            <a:prstDash val="solid"/>
            <a:round/>
            <a:headEnd len="sm" w="sm" type="none"/>
            <a:tailEnd len="med" w="med" type="triangle"/>
          </a:ln>
        </p:spPr>
      </p:cxnSp>
      <p:cxnSp>
        <p:nvCxnSpPr>
          <p:cNvPr id="785" name="Google Shape;785;p81"/>
          <p:cNvCxnSpPr>
            <a:stCxn id="780" idx="3"/>
            <a:endCxn id="786" idx="1"/>
          </p:cNvCxnSpPr>
          <p:nvPr/>
        </p:nvCxnSpPr>
        <p:spPr>
          <a:xfrm>
            <a:off x="2463204" y="3139046"/>
            <a:ext cx="328200" cy="329400"/>
          </a:xfrm>
          <a:prstGeom prst="straightConnector1">
            <a:avLst/>
          </a:prstGeom>
          <a:noFill/>
          <a:ln cap="flat" cmpd="sng" w="9525">
            <a:solidFill>
              <a:srgbClr val="000000"/>
            </a:solidFill>
            <a:prstDash val="solid"/>
            <a:round/>
            <a:headEnd len="sm" w="sm" type="none"/>
            <a:tailEnd len="med" w="med" type="triangle"/>
          </a:ln>
        </p:spPr>
      </p:cxnSp>
      <p:sp>
        <p:nvSpPr>
          <p:cNvPr id="784" name="Google Shape;784;p81"/>
          <p:cNvSpPr/>
          <p:nvPr/>
        </p:nvSpPr>
        <p:spPr>
          <a:xfrm>
            <a:off x="2791365" y="2665735"/>
            <a:ext cx="288000" cy="288000"/>
          </a:xfrm>
          <a:prstGeom prst="rect">
            <a:avLst/>
          </a:prstGeom>
          <a:solidFill>
            <a:srgbClr val="BCBCBC"/>
          </a:solidFill>
          <a:ln cap="flat" cmpd="sng" w="25400">
            <a:solidFill>
              <a:srgbClr val="1B386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sp>
        <p:nvSpPr>
          <p:cNvPr id="782" name="Google Shape;782;p81"/>
          <p:cNvSpPr/>
          <p:nvPr/>
        </p:nvSpPr>
        <p:spPr>
          <a:xfrm>
            <a:off x="2791365" y="2995046"/>
            <a:ext cx="288000" cy="288000"/>
          </a:xfrm>
          <a:prstGeom prst="rect">
            <a:avLst/>
          </a:prstGeom>
          <a:solidFill>
            <a:srgbClr val="FDEBFF"/>
          </a:solidFill>
          <a:ln cap="flat" cmpd="sng" w="25400">
            <a:solidFill>
              <a:srgbClr val="DDC3E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sp>
        <p:nvSpPr>
          <p:cNvPr id="786" name="Google Shape;786;p81"/>
          <p:cNvSpPr/>
          <p:nvPr/>
        </p:nvSpPr>
        <p:spPr>
          <a:xfrm>
            <a:off x="2791365" y="3324382"/>
            <a:ext cx="288000" cy="288000"/>
          </a:xfrm>
          <a:prstGeom prst="rect">
            <a:avLst/>
          </a:prstGeom>
          <a:solidFill>
            <a:srgbClr val="BCBCBC"/>
          </a:solidFill>
          <a:ln cap="flat" cmpd="sng" w="25400">
            <a:solidFill>
              <a:srgbClr val="1B386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sp>
        <p:nvSpPr>
          <p:cNvPr id="787" name="Google Shape;787;p81"/>
          <p:cNvSpPr txBox="1"/>
          <p:nvPr/>
        </p:nvSpPr>
        <p:spPr>
          <a:xfrm>
            <a:off x="3188890" y="2941172"/>
            <a:ext cx="4995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GB" sz="1400" u="none" cap="none" strike="noStrike">
                <a:solidFill>
                  <a:srgbClr val="000000"/>
                </a:solidFill>
                <a:latin typeface="Arial"/>
                <a:ea typeface="Arial"/>
                <a:cs typeface="Arial"/>
                <a:sym typeface="Arial"/>
              </a:rPr>
              <a:t>…</a:t>
            </a:r>
            <a:endParaRPr/>
          </a:p>
        </p:txBody>
      </p:sp>
      <p:cxnSp>
        <p:nvCxnSpPr>
          <p:cNvPr id="788" name="Google Shape;788;p81"/>
          <p:cNvCxnSpPr/>
          <p:nvPr/>
        </p:nvCxnSpPr>
        <p:spPr>
          <a:xfrm>
            <a:off x="3627555" y="3106935"/>
            <a:ext cx="323700" cy="0"/>
          </a:xfrm>
          <a:prstGeom prst="straightConnector1">
            <a:avLst/>
          </a:prstGeom>
          <a:noFill/>
          <a:ln cap="flat" cmpd="sng" w="9525">
            <a:solidFill>
              <a:srgbClr val="000000"/>
            </a:solidFill>
            <a:prstDash val="solid"/>
            <a:round/>
            <a:headEnd len="sm" w="sm" type="none"/>
            <a:tailEnd len="med" w="med" type="triangle"/>
          </a:ln>
        </p:spPr>
      </p:cxnSp>
      <p:sp>
        <p:nvSpPr>
          <p:cNvPr id="789" name="Google Shape;789;p81"/>
          <p:cNvSpPr/>
          <p:nvPr/>
        </p:nvSpPr>
        <p:spPr>
          <a:xfrm>
            <a:off x="4047422" y="2953224"/>
            <a:ext cx="288000" cy="288000"/>
          </a:xfrm>
          <a:prstGeom prst="rect">
            <a:avLst/>
          </a:prstGeom>
          <a:solidFill>
            <a:srgbClr val="FDEBFF"/>
          </a:solidFill>
          <a:ln cap="flat" cmpd="sng" w="25400">
            <a:solidFill>
              <a:srgbClr val="DDC3E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sp>
        <p:nvSpPr>
          <p:cNvPr id="790" name="Google Shape;790;p81"/>
          <p:cNvSpPr/>
          <p:nvPr/>
        </p:nvSpPr>
        <p:spPr>
          <a:xfrm>
            <a:off x="1372567" y="2390436"/>
            <a:ext cx="324000" cy="338400"/>
          </a:xfrm>
          <a:prstGeom prst="mathMultiply">
            <a:avLst>
              <a:gd fmla="val 23520" name="adj1"/>
            </a:avLst>
          </a:pr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sp>
        <p:nvSpPr>
          <p:cNvPr id="791" name="Google Shape;791;p81"/>
          <p:cNvSpPr/>
          <p:nvPr/>
        </p:nvSpPr>
        <p:spPr>
          <a:xfrm>
            <a:off x="1372559" y="3211989"/>
            <a:ext cx="324000" cy="338400"/>
          </a:xfrm>
          <a:prstGeom prst="mathMultiply">
            <a:avLst>
              <a:gd fmla="val 23520" name="adj1"/>
            </a:avLst>
          </a:pr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sp>
        <p:nvSpPr>
          <p:cNvPr id="792" name="Google Shape;792;p81"/>
          <p:cNvSpPr/>
          <p:nvPr/>
        </p:nvSpPr>
        <p:spPr>
          <a:xfrm>
            <a:off x="2157189" y="2591691"/>
            <a:ext cx="324000" cy="338400"/>
          </a:xfrm>
          <a:prstGeom prst="mathMultiply">
            <a:avLst>
              <a:gd fmla="val 23520" name="adj1"/>
            </a:avLst>
          </a:pr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sp>
        <p:nvSpPr>
          <p:cNvPr id="793" name="Google Shape;793;p81"/>
          <p:cNvSpPr/>
          <p:nvPr/>
        </p:nvSpPr>
        <p:spPr>
          <a:xfrm>
            <a:off x="2773383" y="2615336"/>
            <a:ext cx="324000" cy="338400"/>
          </a:xfrm>
          <a:prstGeom prst="mathMultiply">
            <a:avLst>
              <a:gd fmla="val 23520" name="adj1"/>
            </a:avLst>
          </a:pr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sp>
        <p:nvSpPr>
          <p:cNvPr id="794" name="Google Shape;794;p81"/>
          <p:cNvSpPr/>
          <p:nvPr/>
        </p:nvSpPr>
        <p:spPr>
          <a:xfrm>
            <a:off x="2773386" y="3299187"/>
            <a:ext cx="324000" cy="338400"/>
          </a:xfrm>
          <a:prstGeom prst="mathMultiply">
            <a:avLst>
              <a:gd fmla="val 23520" name="adj1"/>
            </a:avLst>
          </a:pr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pic>
        <p:nvPicPr>
          <p:cNvPr descr="✔️ Check Mark - Royalty-Free GIF - Animated Sticker - Free ..." id="795" name="Google Shape;795;p81"/>
          <p:cNvPicPr preferRelativeResize="0"/>
          <p:nvPr/>
        </p:nvPicPr>
        <p:blipFill rotWithShape="1">
          <a:blip r:embed="rId3">
            <a:alphaModFix/>
          </a:blip>
          <a:srcRect b="0" l="0" r="0" t="0"/>
          <a:stretch/>
        </p:blipFill>
        <p:spPr>
          <a:xfrm>
            <a:off x="1341272" y="2690861"/>
            <a:ext cx="397626" cy="397626"/>
          </a:xfrm>
          <a:prstGeom prst="rect">
            <a:avLst/>
          </a:prstGeom>
          <a:noFill/>
          <a:ln>
            <a:noFill/>
          </a:ln>
        </p:spPr>
      </p:pic>
      <p:pic>
        <p:nvPicPr>
          <p:cNvPr descr="✔️ Check Mark - Royalty-Free GIF - Animated Sticker - Free ..." id="796" name="Google Shape;796;p81"/>
          <p:cNvPicPr preferRelativeResize="0"/>
          <p:nvPr/>
        </p:nvPicPr>
        <p:blipFill rotWithShape="1">
          <a:blip r:embed="rId3">
            <a:alphaModFix/>
          </a:blip>
          <a:srcRect b="0" l="0" r="0" t="0"/>
          <a:stretch/>
        </p:blipFill>
        <p:spPr>
          <a:xfrm>
            <a:off x="2095856" y="2896235"/>
            <a:ext cx="397626" cy="397626"/>
          </a:xfrm>
          <a:prstGeom prst="rect">
            <a:avLst/>
          </a:prstGeom>
          <a:noFill/>
          <a:ln>
            <a:noFill/>
          </a:ln>
        </p:spPr>
      </p:pic>
      <p:pic>
        <p:nvPicPr>
          <p:cNvPr descr="✔️ Check Mark - Royalty-Free GIF - Animated Sticker - Free ..." id="797" name="Google Shape;797;p81"/>
          <p:cNvPicPr preferRelativeResize="0"/>
          <p:nvPr/>
        </p:nvPicPr>
        <p:blipFill rotWithShape="1">
          <a:blip r:embed="rId3">
            <a:alphaModFix/>
          </a:blip>
          <a:srcRect b="0" l="0" r="0" t="0"/>
          <a:stretch/>
        </p:blipFill>
        <p:spPr>
          <a:xfrm>
            <a:off x="2736565" y="2896253"/>
            <a:ext cx="397626" cy="397626"/>
          </a:xfrm>
          <a:prstGeom prst="rect">
            <a:avLst/>
          </a:prstGeom>
          <a:noFill/>
          <a:ln>
            <a:noFill/>
          </a:ln>
        </p:spPr>
      </p:pic>
      <p:pic>
        <p:nvPicPr>
          <p:cNvPr descr="✔️ Check Mark - Royalty-Free GIF - Animated Sticker - Free ..." id="798" name="Google Shape;798;p81"/>
          <p:cNvPicPr preferRelativeResize="0"/>
          <p:nvPr/>
        </p:nvPicPr>
        <p:blipFill rotWithShape="1">
          <a:blip r:embed="rId3">
            <a:alphaModFix/>
          </a:blip>
          <a:srcRect b="0" l="0" r="0" t="0"/>
          <a:stretch/>
        </p:blipFill>
        <p:spPr>
          <a:xfrm>
            <a:off x="3991387" y="2849578"/>
            <a:ext cx="397626" cy="397626"/>
          </a:xfrm>
          <a:prstGeom prst="rect">
            <a:avLst/>
          </a:prstGeom>
          <a:noFill/>
          <a:ln>
            <a:noFill/>
          </a:ln>
        </p:spPr>
      </p:pic>
      <p:sp>
        <p:nvSpPr>
          <p:cNvPr id="799" name="Google Shape;799;p8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
        <p:nvSpPr>
          <p:cNvPr id="800" name="Google Shape;800;p81"/>
          <p:cNvSpPr txBox="1"/>
          <p:nvPr/>
        </p:nvSpPr>
        <p:spPr>
          <a:xfrm>
            <a:off x="230200" y="1369900"/>
            <a:ext cx="5703300" cy="47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500">
                <a:solidFill>
                  <a:schemeClr val="dk2"/>
                </a:solidFill>
                <a:latin typeface="Calibri"/>
                <a:ea typeface="Calibri"/>
                <a:cs typeface="Calibri"/>
                <a:sym typeface="Calibri"/>
              </a:rPr>
              <a:t>Transformers, however, can only represent a chain of limited depth.</a:t>
            </a:r>
            <a:endParaRPr b="1" sz="1500">
              <a:solidFill>
                <a:schemeClr val="dk2"/>
              </a:solidFill>
              <a:latin typeface="Calibri"/>
              <a:ea typeface="Calibri"/>
              <a:cs typeface="Calibri"/>
              <a:sym typeface="Calibri"/>
            </a:endParaRPr>
          </a:p>
          <a:p>
            <a:pPr indent="0" lvl="0" marL="0" rtl="0" algn="l">
              <a:spcBef>
                <a:spcPts val="0"/>
              </a:spcBef>
              <a:spcAft>
                <a:spcPts val="0"/>
              </a:spcAft>
              <a:buNone/>
            </a:pPr>
            <a:r>
              <a:rPr b="1" lang="en-GB" sz="1100">
                <a:solidFill>
                  <a:schemeClr val="dk2"/>
                </a:solidFill>
                <a:latin typeface="Calibri"/>
                <a:ea typeface="Calibri"/>
                <a:cs typeface="Calibri"/>
                <a:sym typeface="Calibri"/>
              </a:rPr>
              <a:t>If the reasoning path has length greater than T, the Transformer simply cannot execute it.</a:t>
            </a:r>
            <a:endParaRPr b="1" sz="1100">
              <a:solidFill>
                <a:schemeClr val="dk2"/>
              </a:solidFill>
              <a:latin typeface="Calibri"/>
              <a:ea typeface="Calibri"/>
              <a:cs typeface="Calibri"/>
              <a:sym typeface="Calibri"/>
            </a:endParaRPr>
          </a:p>
          <a:p>
            <a:pPr indent="0" lvl="0" marL="0" rtl="0" algn="l">
              <a:spcBef>
                <a:spcPts val="0"/>
              </a:spcBef>
              <a:spcAft>
                <a:spcPts val="0"/>
              </a:spcAft>
              <a:buNone/>
            </a:pPr>
            <a:r>
              <a:t/>
            </a:r>
            <a:endParaRPr b="1" sz="1500">
              <a:solidFill>
                <a:schemeClr val="dk2"/>
              </a:solidFill>
              <a:latin typeface="Calibri"/>
              <a:ea typeface="Calibri"/>
              <a:cs typeface="Calibri"/>
              <a:sym typeface="Calibri"/>
            </a:endParaRPr>
          </a:p>
          <a:p>
            <a:pPr indent="0" lvl="0" marL="0" rtl="0" algn="l">
              <a:spcBef>
                <a:spcPts val="0"/>
              </a:spcBef>
              <a:spcAft>
                <a:spcPts val="0"/>
              </a:spcAft>
              <a:buNone/>
            </a:pPr>
            <a:r>
              <a:t/>
            </a:r>
            <a:endParaRPr sz="1500">
              <a:solidFill>
                <a:schemeClr val="dk2"/>
              </a:solidFill>
              <a:latin typeface="Calibri"/>
              <a:ea typeface="Calibri"/>
              <a:cs typeface="Calibri"/>
              <a:sym typeface="Calibri"/>
            </a:endParaRPr>
          </a:p>
        </p:txBody>
      </p:sp>
      <p:cxnSp>
        <p:nvCxnSpPr>
          <p:cNvPr id="801" name="Google Shape;801;p81"/>
          <p:cNvCxnSpPr/>
          <p:nvPr/>
        </p:nvCxnSpPr>
        <p:spPr>
          <a:xfrm>
            <a:off x="516639" y="3931858"/>
            <a:ext cx="3657600" cy="9000"/>
          </a:xfrm>
          <a:prstGeom prst="straightConnector1">
            <a:avLst/>
          </a:prstGeom>
          <a:noFill/>
          <a:ln cap="flat" cmpd="sng" w="9525">
            <a:solidFill>
              <a:srgbClr val="741B47"/>
            </a:solidFill>
            <a:prstDash val="solid"/>
            <a:round/>
            <a:headEnd len="med" w="med" type="none"/>
            <a:tailEnd len="med" w="med" type="triangle"/>
          </a:ln>
        </p:spPr>
      </p:cxnSp>
      <p:sp>
        <p:nvSpPr>
          <p:cNvPr id="802" name="Google Shape;802;p81"/>
          <p:cNvSpPr txBox="1"/>
          <p:nvPr/>
        </p:nvSpPr>
        <p:spPr>
          <a:xfrm>
            <a:off x="1746900" y="3928575"/>
            <a:ext cx="920400" cy="196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GB" sz="1000">
                <a:solidFill>
                  <a:srgbClr val="741B47"/>
                </a:solidFill>
              </a:rPr>
              <a:t>Depth (L)</a:t>
            </a:r>
            <a:endParaRPr b="1" sz="1000">
              <a:solidFill>
                <a:srgbClr val="741B47"/>
              </a:solidFill>
            </a:endParaRPr>
          </a:p>
        </p:txBody>
      </p:sp>
      <p:sp>
        <p:nvSpPr>
          <p:cNvPr id="803" name="Google Shape;803;p81"/>
          <p:cNvSpPr txBox="1"/>
          <p:nvPr/>
        </p:nvSpPr>
        <p:spPr>
          <a:xfrm>
            <a:off x="1428000" y="4460550"/>
            <a:ext cx="6288000" cy="261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GB" sz="1000">
                <a:solidFill>
                  <a:srgbClr val="741B47"/>
                </a:solidFill>
              </a:rPr>
              <a:t>L &gt; T</a:t>
            </a:r>
            <a:endParaRPr b="1" sz="1000">
              <a:solidFill>
                <a:srgbClr val="741B47"/>
              </a:solidFill>
            </a:endParaRPr>
          </a:p>
          <a:p>
            <a:pPr indent="0" lvl="0" marL="0" rtl="0" algn="ctr">
              <a:spcBef>
                <a:spcPts val="0"/>
              </a:spcBef>
              <a:spcAft>
                <a:spcPts val="0"/>
              </a:spcAft>
              <a:buNone/>
            </a:pPr>
            <a:r>
              <a:rPr b="1" lang="en-GB" sz="1000">
                <a:solidFill>
                  <a:srgbClr val="741B47"/>
                </a:solidFill>
              </a:rPr>
              <a:t>We need recurrence to unfold computations over time for as many steps as needed.  </a:t>
            </a:r>
            <a:endParaRPr b="1" sz="1000">
              <a:solidFill>
                <a:srgbClr val="741B47"/>
              </a:solidFill>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07" name="Shape 807"/>
        <p:cNvGrpSpPr/>
        <p:nvPr/>
      </p:nvGrpSpPr>
      <p:grpSpPr>
        <a:xfrm>
          <a:off x="0" y="0"/>
          <a:ext cx="0" cy="0"/>
          <a:chOff x="0" y="0"/>
          <a:chExt cx="0" cy="0"/>
        </a:xfrm>
      </p:grpSpPr>
      <p:sp>
        <p:nvSpPr>
          <p:cNvPr id="808" name="Google Shape;808;p8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00000"/>
              </a:lnSpc>
              <a:spcBef>
                <a:spcPts val="0"/>
              </a:spcBef>
              <a:spcAft>
                <a:spcPts val="0"/>
              </a:spcAft>
              <a:buSzPct val="111111"/>
              <a:buNone/>
            </a:pPr>
            <a:r>
              <a:rPr b="1" lang="en-GB">
                <a:latin typeface="Palatino Linotype"/>
                <a:ea typeface="Palatino Linotype"/>
                <a:cs typeface="Palatino Linotype"/>
                <a:sym typeface="Palatino Linotype"/>
              </a:rPr>
              <a:t>Then, why LLMs became so popular for reasoning?</a:t>
            </a:r>
            <a:endParaRPr b="1">
              <a:latin typeface="Palatino Linotype"/>
              <a:ea typeface="Palatino Linotype"/>
              <a:cs typeface="Palatino Linotype"/>
              <a:sym typeface="Palatino Linotype"/>
            </a:endParaRPr>
          </a:p>
          <a:p>
            <a:pPr indent="0" lvl="0" marL="0" rtl="0" algn="l">
              <a:lnSpc>
                <a:spcPct val="100000"/>
              </a:lnSpc>
              <a:spcBef>
                <a:spcPts val="0"/>
              </a:spcBef>
              <a:spcAft>
                <a:spcPts val="0"/>
              </a:spcAft>
              <a:buSzPct val="111111"/>
              <a:buNone/>
            </a:pPr>
            <a:r>
              <a:t/>
            </a:r>
            <a:endParaRPr b="1"/>
          </a:p>
        </p:txBody>
      </p:sp>
      <p:sp>
        <p:nvSpPr>
          <p:cNvPr id="809" name="Google Shape;809;p82"/>
          <p:cNvSpPr txBox="1"/>
          <p:nvPr>
            <p:ph idx="1" type="body"/>
          </p:nvPr>
        </p:nvSpPr>
        <p:spPr>
          <a:xfrm>
            <a:off x="311700" y="1500750"/>
            <a:ext cx="49371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None/>
            </a:pPr>
            <a:r>
              <a:rPr lang="en-GB">
                <a:solidFill>
                  <a:schemeClr val="dk1"/>
                </a:solidFill>
                <a:latin typeface="Palatino Linotype"/>
                <a:ea typeface="Palatino Linotype"/>
                <a:cs typeface="Palatino Linotype"/>
                <a:sym typeface="Palatino Linotype"/>
              </a:rPr>
              <a:t>In practice, autoregressive generation enables recurrence. </a:t>
            </a:r>
            <a:endParaRPr>
              <a:solidFill>
                <a:schemeClr val="dk1"/>
              </a:solidFill>
              <a:latin typeface="Palatino Linotype"/>
              <a:ea typeface="Palatino Linotype"/>
              <a:cs typeface="Palatino Linotype"/>
              <a:sym typeface="Palatino Linotype"/>
            </a:endParaRPr>
          </a:p>
          <a:p>
            <a:pPr indent="0" lvl="0" marL="0" rtl="0" algn="l">
              <a:lnSpc>
                <a:spcPct val="115000"/>
              </a:lnSpc>
              <a:spcBef>
                <a:spcPts val="0"/>
              </a:spcBef>
              <a:spcAft>
                <a:spcPts val="0"/>
              </a:spcAft>
              <a:buNone/>
            </a:pPr>
            <a:r>
              <a:t/>
            </a:r>
            <a:endParaRPr>
              <a:solidFill>
                <a:schemeClr val="dk1"/>
              </a:solidFill>
              <a:latin typeface="Palatino Linotype"/>
              <a:ea typeface="Palatino Linotype"/>
              <a:cs typeface="Palatino Linotype"/>
              <a:sym typeface="Palatino Linotype"/>
            </a:endParaRPr>
          </a:p>
          <a:p>
            <a:pPr indent="0" lvl="0" marL="0" rtl="0" algn="l">
              <a:lnSpc>
                <a:spcPct val="115000"/>
              </a:lnSpc>
              <a:spcBef>
                <a:spcPts val="0"/>
              </a:spcBef>
              <a:spcAft>
                <a:spcPts val="0"/>
              </a:spcAft>
              <a:buNone/>
            </a:pPr>
            <a:r>
              <a:rPr lang="en-GB">
                <a:solidFill>
                  <a:schemeClr val="dk1"/>
                </a:solidFill>
                <a:latin typeface="Palatino Linotype"/>
                <a:ea typeface="Palatino Linotype"/>
                <a:cs typeface="Palatino Linotype"/>
                <a:sym typeface="Palatino Linotype"/>
              </a:rPr>
              <a:t>Researchers recognized this looping behaviour as a proxy for sequential reasoning (Wei et al., NIPS 2022). </a:t>
            </a:r>
            <a:endParaRPr>
              <a:solidFill>
                <a:schemeClr val="dk1"/>
              </a:solidFill>
              <a:latin typeface="Palatino Linotype"/>
              <a:ea typeface="Palatino Linotype"/>
              <a:cs typeface="Palatino Linotype"/>
              <a:sym typeface="Palatino Linotype"/>
            </a:endParaRPr>
          </a:p>
          <a:p>
            <a:pPr indent="0" lvl="0" marL="0" rtl="0" algn="l">
              <a:lnSpc>
                <a:spcPct val="115000"/>
              </a:lnSpc>
              <a:spcBef>
                <a:spcPts val="0"/>
              </a:spcBef>
              <a:spcAft>
                <a:spcPts val="0"/>
              </a:spcAft>
              <a:buNone/>
            </a:pPr>
            <a:r>
              <a:t/>
            </a:r>
            <a:endParaRPr>
              <a:solidFill>
                <a:schemeClr val="dk1"/>
              </a:solidFill>
              <a:latin typeface="Palatino Linotype"/>
              <a:ea typeface="Palatino Linotype"/>
              <a:cs typeface="Palatino Linotype"/>
              <a:sym typeface="Palatino Linotype"/>
            </a:endParaRPr>
          </a:p>
          <a:p>
            <a:pPr indent="0" lvl="0" marL="0" rtl="0" algn="l">
              <a:lnSpc>
                <a:spcPct val="115000"/>
              </a:lnSpc>
              <a:spcBef>
                <a:spcPts val="0"/>
              </a:spcBef>
              <a:spcAft>
                <a:spcPts val="0"/>
              </a:spcAft>
              <a:buNone/>
            </a:pPr>
            <a:r>
              <a:rPr b="1" lang="en-GB">
                <a:solidFill>
                  <a:schemeClr val="dk1"/>
                </a:solidFill>
                <a:latin typeface="Palatino Linotype"/>
                <a:ea typeface="Palatino Linotype"/>
                <a:cs typeface="Palatino Linotype"/>
                <a:sym typeface="Palatino Linotype"/>
              </a:rPr>
              <a:t>Today, most work on reasoning with LLMs focuses on exploiting this inference-time compute (e.g., O1, DeepSeek)</a:t>
            </a:r>
            <a:endParaRPr b="1">
              <a:solidFill>
                <a:schemeClr val="dk1"/>
              </a:solidFill>
              <a:latin typeface="Palatino Linotype"/>
              <a:ea typeface="Palatino Linotype"/>
              <a:cs typeface="Palatino Linotype"/>
              <a:sym typeface="Palatino Linotype"/>
            </a:endParaRPr>
          </a:p>
        </p:txBody>
      </p:sp>
      <p:sp>
        <p:nvSpPr>
          <p:cNvPr id="810" name="Google Shape;810;p8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
        <p:nvSpPr>
          <p:cNvPr id="811" name="Google Shape;811;p82"/>
          <p:cNvSpPr/>
          <p:nvPr/>
        </p:nvSpPr>
        <p:spPr>
          <a:xfrm>
            <a:off x="6322825" y="2070850"/>
            <a:ext cx="2033700" cy="7587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a:solidFill>
                  <a:schemeClr val="lt1"/>
                </a:solidFill>
              </a:rPr>
              <a:t>Autoregressive Language Model</a:t>
            </a:r>
            <a:endParaRPr>
              <a:solidFill>
                <a:schemeClr val="lt1"/>
              </a:solidFill>
            </a:endParaRPr>
          </a:p>
        </p:txBody>
      </p:sp>
      <p:cxnSp>
        <p:nvCxnSpPr>
          <p:cNvPr id="812" name="Google Shape;812;p82"/>
          <p:cNvCxnSpPr>
            <a:stCxn id="811" idx="1"/>
            <a:endCxn id="811" idx="3"/>
          </p:cNvCxnSpPr>
          <p:nvPr/>
        </p:nvCxnSpPr>
        <p:spPr>
          <a:xfrm>
            <a:off x="6322825" y="2450200"/>
            <a:ext cx="2033700" cy="600"/>
          </a:xfrm>
          <a:prstGeom prst="bentConnector5">
            <a:avLst>
              <a:gd fmla="val -11709" name="adj1"/>
              <a:gd fmla="val 102912500" name="adj2"/>
              <a:gd fmla="val 111709" name="adj3"/>
            </a:avLst>
          </a:prstGeom>
          <a:noFill/>
          <a:ln cap="flat" cmpd="sng" w="9525">
            <a:solidFill>
              <a:srgbClr val="666666"/>
            </a:solidFill>
            <a:prstDash val="solid"/>
            <a:round/>
            <a:headEnd len="med" w="med" type="triangle"/>
            <a:tailEnd len="med" w="med" type="none"/>
          </a:ln>
        </p:spPr>
      </p:cxnSp>
      <p:pic>
        <p:nvPicPr>
          <p:cNvPr id="813" name="Google Shape;813;p82"/>
          <p:cNvPicPr preferRelativeResize="0"/>
          <p:nvPr/>
        </p:nvPicPr>
        <p:blipFill>
          <a:blip r:embed="rId3">
            <a:alphaModFix/>
          </a:blip>
          <a:stretch>
            <a:fillRect/>
          </a:stretch>
        </p:blipFill>
        <p:spPr>
          <a:xfrm>
            <a:off x="5788888" y="3184300"/>
            <a:ext cx="3101586" cy="393600"/>
          </a:xfrm>
          <a:prstGeom prst="rect">
            <a:avLst/>
          </a:prstGeom>
          <a:noFill/>
          <a:ln>
            <a:noFill/>
          </a:ln>
        </p:spPr>
      </p:pic>
      <p:pic>
        <p:nvPicPr>
          <p:cNvPr id="814" name="Google Shape;814;p82"/>
          <p:cNvPicPr preferRelativeResize="0"/>
          <p:nvPr/>
        </p:nvPicPr>
        <p:blipFill rotWithShape="1">
          <a:blip r:embed="rId3">
            <a:alphaModFix/>
          </a:blip>
          <a:srcRect b="29076" l="61136" r="34063" t="31250"/>
          <a:stretch/>
        </p:blipFill>
        <p:spPr>
          <a:xfrm>
            <a:off x="5963000" y="2643462"/>
            <a:ext cx="220224" cy="2309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1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1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1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1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D9EEB"/>
        </a:solidFill>
      </p:bgPr>
    </p:bg>
    <p:spTree>
      <p:nvGrpSpPr>
        <p:cNvPr id="818" name="Shape 818"/>
        <p:cNvGrpSpPr/>
        <p:nvPr/>
      </p:nvGrpSpPr>
      <p:grpSpPr>
        <a:xfrm>
          <a:off x="0" y="0"/>
          <a:ext cx="0" cy="0"/>
          <a:chOff x="0" y="0"/>
          <a:chExt cx="0" cy="0"/>
        </a:xfrm>
      </p:grpSpPr>
      <p:sp>
        <p:nvSpPr>
          <p:cNvPr id="819" name="Google Shape;819;p8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b="1" lang="en-GB">
                <a:solidFill>
                  <a:schemeClr val="lt1"/>
                </a:solidFill>
                <a:latin typeface="Palatino Linotype"/>
                <a:ea typeface="Palatino Linotype"/>
                <a:cs typeface="Palatino Linotype"/>
                <a:sym typeface="Palatino Linotype"/>
              </a:rPr>
              <a:t>2. Rise of inference-time approaches</a:t>
            </a:r>
            <a:endParaRPr b="1">
              <a:solidFill>
                <a:srgbClr val="93C47D"/>
              </a:solidFill>
              <a:latin typeface="Palatino Linotype"/>
              <a:ea typeface="Palatino Linotype"/>
              <a:cs typeface="Palatino Linotype"/>
              <a:sym typeface="Palatino Linotype"/>
            </a:endParaRPr>
          </a:p>
        </p:txBody>
      </p:sp>
      <p:sp>
        <p:nvSpPr>
          <p:cNvPr id="820" name="Google Shape;820;p8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24" name="Shape 824"/>
        <p:cNvGrpSpPr/>
        <p:nvPr/>
      </p:nvGrpSpPr>
      <p:grpSpPr>
        <a:xfrm>
          <a:off x="0" y="0"/>
          <a:ext cx="0" cy="0"/>
          <a:chOff x="0" y="0"/>
          <a:chExt cx="0" cy="0"/>
        </a:xfrm>
      </p:grpSpPr>
      <p:sp>
        <p:nvSpPr>
          <p:cNvPr id="825" name="Google Shape;825;p8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00000"/>
              </a:lnSpc>
              <a:spcBef>
                <a:spcPts val="0"/>
              </a:spcBef>
              <a:spcAft>
                <a:spcPts val="0"/>
              </a:spcAft>
              <a:buSzPct val="111111"/>
              <a:buNone/>
            </a:pPr>
            <a:r>
              <a:rPr b="1" lang="en-GB"/>
              <a:t>Chain-of-Thought</a:t>
            </a:r>
            <a:endParaRPr b="1"/>
          </a:p>
          <a:p>
            <a:pPr indent="0" lvl="0" marL="0" rtl="0" algn="ctr">
              <a:lnSpc>
                <a:spcPct val="100000"/>
              </a:lnSpc>
              <a:spcBef>
                <a:spcPts val="0"/>
              </a:spcBef>
              <a:spcAft>
                <a:spcPts val="0"/>
              </a:spcAft>
              <a:buSzPct val="229507"/>
              <a:buNone/>
            </a:pPr>
            <a:r>
              <a:rPr lang="en-GB" sz="1356"/>
              <a:t>(Wei et al., 2022)</a:t>
            </a:r>
            <a:endParaRPr sz="1356"/>
          </a:p>
          <a:p>
            <a:pPr indent="0" lvl="0" marL="0" rtl="0" algn="l">
              <a:lnSpc>
                <a:spcPct val="100000"/>
              </a:lnSpc>
              <a:spcBef>
                <a:spcPts val="0"/>
              </a:spcBef>
              <a:spcAft>
                <a:spcPts val="0"/>
              </a:spcAft>
              <a:buSzPct val="111111"/>
              <a:buNone/>
            </a:pPr>
            <a:r>
              <a:t/>
            </a:r>
            <a:endParaRPr/>
          </a:p>
        </p:txBody>
      </p:sp>
      <p:sp>
        <p:nvSpPr>
          <p:cNvPr id="826" name="Google Shape;826;p8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
        <p:nvSpPr>
          <p:cNvPr id="827" name="Google Shape;827;p8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None/>
            </a:pPr>
            <a:r>
              <a:rPr b="1" lang="en-GB" sz="1500">
                <a:solidFill>
                  <a:schemeClr val="dk1"/>
                </a:solidFill>
              </a:rPr>
              <a:t>Definition: </a:t>
            </a:r>
            <a:endParaRPr b="1" sz="1500">
              <a:solidFill>
                <a:schemeClr val="dk1"/>
              </a:solidFill>
            </a:endParaRPr>
          </a:p>
          <a:p>
            <a:pPr indent="0" lvl="0" marL="0" rtl="0" algn="l">
              <a:lnSpc>
                <a:spcPct val="115000"/>
              </a:lnSpc>
              <a:spcBef>
                <a:spcPts val="0"/>
              </a:spcBef>
              <a:spcAft>
                <a:spcPts val="0"/>
              </a:spcAft>
              <a:buNone/>
            </a:pPr>
            <a:r>
              <a:rPr lang="en-GB" sz="1500">
                <a:solidFill>
                  <a:schemeClr val="dk1"/>
                </a:solidFill>
              </a:rPr>
              <a:t>Generating a series of intermediate reasoning steps to solve a given problem. </a:t>
            </a:r>
            <a:endParaRPr sz="1500">
              <a:solidFill>
                <a:schemeClr val="dk1"/>
              </a:solidFill>
            </a:endParaRPr>
          </a:p>
          <a:p>
            <a:pPr indent="0" lvl="0" marL="0" rtl="0" algn="l">
              <a:lnSpc>
                <a:spcPct val="115000"/>
              </a:lnSpc>
              <a:spcBef>
                <a:spcPts val="0"/>
              </a:spcBef>
              <a:spcAft>
                <a:spcPts val="0"/>
              </a:spcAft>
              <a:buNone/>
            </a:pPr>
            <a:r>
              <a:t/>
            </a:r>
            <a:endParaRPr sz="1500">
              <a:solidFill>
                <a:schemeClr val="dk1"/>
              </a:solidFill>
            </a:endParaRPr>
          </a:p>
          <a:p>
            <a:pPr indent="0" lvl="0" marL="0" rtl="0" algn="l">
              <a:lnSpc>
                <a:spcPct val="115000"/>
              </a:lnSpc>
              <a:spcBef>
                <a:spcPts val="0"/>
              </a:spcBef>
              <a:spcAft>
                <a:spcPts val="0"/>
              </a:spcAft>
              <a:buNone/>
            </a:pPr>
            <a:r>
              <a:t/>
            </a:r>
            <a:endParaRPr sz="1500">
              <a:solidFill>
                <a:schemeClr val="dk1"/>
              </a:solidFill>
            </a:endParaRPr>
          </a:p>
          <a:p>
            <a:pPr indent="0" lvl="0" marL="0" rtl="0" algn="l">
              <a:lnSpc>
                <a:spcPct val="115000"/>
              </a:lnSpc>
              <a:spcBef>
                <a:spcPts val="0"/>
              </a:spcBef>
              <a:spcAft>
                <a:spcPts val="0"/>
              </a:spcAft>
              <a:buNone/>
            </a:pPr>
            <a:r>
              <a:t/>
            </a:r>
            <a:endParaRPr sz="1500">
              <a:solidFill>
                <a:schemeClr val="dk1"/>
              </a:solidFill>
            </a:endParaRPr>
          </a:p>
        </p:txBody>
      </p:sp>
      <p:pic>
        <p:nvPicPr>
          <p:cNvPr id="828" name="Google Shape;828;p84"/>
          <p:cNvPicPr preferRelativeResize="0"/>
          <p:nvPr/>
        </p:nvPicPr>
        <p:blipFill>
          <a:blip r:embed="rId3">
            <a:alphaModFix/>
          </a:blip>
          <a:stretch>
            <a:fillRect/>
          </a:stretch>
        </p:blipFill>
        <p:spPr>
          <a:xfrm>
            <a:off x="1475975" y="1932227"/>
            <a:ext cx="5726623" cy="2910847"/>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32" name="Shape 832"/>
        <p:cNvGrpSpPr/>
        <p:nvPr/>
      </p:nvGrpSpPr>
      <p:grpSpPr>
        <a:xfrm>
          <a:off x="0" y="0"/>
          <a:ext cx="0" cy="0"/>
          <a:chOff x="0" y="0"/>
          <a:chExt cx="0" cy="0"/>
        </a:xfrm>
      </p:grpSpPr>
      <p:sp>
        <p:nvSpPr>
          <p:cNvPr id="833" name="Google Shape;833;p8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00000"/>
              </a:lnSpc>
              <a:spcBef>
                <a:spcPts val="0"/>
              </a:spcBef>
              <a:spcAft>
                <a:spcPts val="0"/>
              </a:spcAft>
              <a:buSzPct val="111111"/>
              <a:buNone/>
            </a:pPr>
            <a:r>
              <a:rPr b="1" lang="en-GB"/>
              <a:t>CoT Reasoning Without Prompting</a:t>
            </a:r>
            <a:endParaRPr b="1"/>
          </a:p>
          <a:p>
            <a:pPr indent="0" lvl="0" marL="0" rtl="0" algn="ctr">
              <a:lnSpc>
                <a:spcPct val="100000"/>
              </a:lnSpc>
              <a:spcBef>
                <a:spcPts val="0"/>
              </a:spcBef>
              <a:spcAft>
                <a:spcPts val="0"/>
              </a:spcAft>
              <a:buSzPct val="229507"/>
              <a:buNone/>
            </a:pPr>
            <a:r>
              <a:rPr lang="en-GB" sz="1356"/>
              <a:t>(Wang &amp; Zhou, 2024)</a:t>
            </a:r>
            <a:endParaRPr sz="1356"/>
          </a:p>
          <a:p>
            <a:pPr indent="0" lvl="0" marL="0" rtl="0" algn="l">
              <a:lnSpc>
                <a:spcPct val="100000"/>
              </a:lnSpc>
              <a:spcBef>
                <a:spcPts val="0"/>
              </a:spcBef>
              <a:spcAft>
                <a:spcPts val="0"/>
              </a:spcAft>
              <a:buSzPct val="111111"/>
              <a:buNone/>
            </a:pPr>
            <a:r>
              <a:t/>
            </a:r>
            <a:endParaRPr/>
          </a:p>
        </p:txBody>
      </p:sp>
      <p:sp>
        <p:nvSpPr>
          <p:cNvPr id="834" name="Google Shape;834;p8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
        <p:nvSpPr>
          <p:cNvPr id="835" name="Google Shape;835;p8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None/>
            </a:pPr>
            <a:r>
              <a:t/>
            </a:r>
            <a:endParaRPr sz="15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t/>
            </a:r>
            <a:endParaRPr sz="15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t/>
            </a:r>
            <a:endParaRPr sz="1500">
              <a:solidFill>
                <a:schemeClr val="dk1"/>
              </a:solidFill>
              <a:latin typeface="Calibri"/>
              <a:ea typeface="Calibri"/>
              <a:cs typeface="Calibri"/>
              <a:sym typeface="Calibri"/>
            </a:endParaRPr>
          </a:p>
        </p:txBody>
      </p:sp>
      <p:sp>
        <p:nvSpPr>
          <p:cNvPr id="836" name="Google Shape;836;p85"/>
          <p:cNvSpPr txBox="1"/>
          <p:nvPr/>
        </p:nvSpPr>
        <p:spPr>
          <a:xfrm>
            <a:off x="77125" y="4706575"/>
            <a:ext cx="8260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000">
                <a:solidFill>
                  <a:srgbClr val="222222"/>
                </a:solidFill>
                <a:highlight>
                  <a:srgbClr val="FFFFFF"/>
                </a:highlight>
              </a:rPr>
              <a:t>Wang, Xuezhi, and Denny Zhou. "Chain-of-thought reasoning without prompting." </a:t>
            </a:r>
            <a:r>
              <a:rPr i="1" lang="en-GB" sz="1000">
                <a:solidFill>
                  <a:srgbClr val="222222"/>
                </a:solidFill>
                <a:highlight>
                  <a:srgbClr val="FFFFFF"/>
                </a:highlight>
              </a:rPr>
              <a:t>NeurIPS </a:t>
            </a:r>
            <a:r>
              <a:rPr lang="en-GB" sz="1000">
                <a:solidFill>
                  <a:srgbClr val="222222"/>
                </a:solidFill>
                <a:highlight>
                  <a:srgbClr val="FFFFFF"/>
                </a:highlight>
              </a:rPr>
              <a:t>2024</a:t>
            </a:r>
            <a:endParaRPr/>
          </a:p>
        </p:txBody>
      </p:sp>
      <p:pic>
        <p:nvPicPr>
          <p:cNvPr id="837" name="Google Shape;837;p85"/>
          <p:cNvPicPr preferRelativeResize="0"/>
          <p:nvPr/>
        </p:nvPicPr>
        <p:blipFill>
          <a:blip r:embed="rId3">
            <a:alphaModFix/>
          </a:blip>
          <a:stretch>
            <a:fillRect/>
          </a:stretch>
        </p:blipFill>
        <p:spPr>
          <a:xfrm>
            <a:off x="0" y="1338252"/>
            <a:ext cx="9144003" cy="2375298"/>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41" name="Shape 841"/>
        <p:cNvGrpSpPr/>
        <p:nvPr/>
      </p:nvGrpSpPr>
      <p:grpSpPr>
        <a:xfrm>
          <a:off x="0" y="0"/>
          <a:ext cx="0" cy="0"/>
          <a:chOff x="0" y="0"/>
          <a:chExt cx="0" cy="0"/>
        </a:xfrm>
      </p:grpSpPr>
      <p:sp>
        <p:nvSpPr>
          <p:cNvPr id="842" name="Google Shape;842;p8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00000"/>
              </a:lnSpc>
              <a:spcBef>
                <a:spcPts val="0"/>
              </a:spcBef>
              <a:spcAft>
                <a:spcPts val="0"/>
              </a:spcAft>
              <a:buSzPct val="111111"/>
              <a:buNone/>
            </a:pPr>
            <a:r>
              <a:rPr b="1" lang="en-GB"/>
              <a:t>CoT Reasoning Without Prompting</a:t>
            </a:r>
            <a:endParaRPr b="1"/>
          </a:p>
          <a:p>
            <a:pPr indent="0" lvl="0" marL="0" rtl="0" algn="ctr">
              <a:lnSpc>
                <a:spcPct val="100000"/>
              </a:lnSpc>
              <a:spcBef>
                <a:spcPts val="0"/>
              </a:spcBef>
              <a:spcAft>
                <a:spcPts val="0"/>
              </a:spcAft>
              <a:buSzPct val="229507"/>
              <a:buNone/>
            </a:pPr>
            <a:r>
              <a:rPr lang="en-GB" sz="1356"/>
              <a:t>(Wang &amp; Zhou, 2024)</a:t>
            </a:r>
            <a:endParaRPr sz="1356"/>
          </a:p>
          <a:p>
            <a:pPr indent="0" lvl="0" marL="0" rtl="0" algn="l">
              <a:lnSpc>
                <a:spcPct val="100000"/>
              </a:lnSpc>
              <a:spcBef>
                <a:spcPts val="0"/>
              </a:spcBef>
              <a:spcAft>
                <a:spcPts val="0"/>
              </a:spcAft>
              <a:buSzPct val="111111"/>
              <a:buNone/>
            </a:pPr>
            <a:r>
              <a:t/>
            </a:r>
            <a:endParaRPr/>
          </a:p>
        </p:txBody>
      </p:sp>
      <p:sp>
        <p:nvSpPr>
          <p:cNvPr id="843" name="Google Shape;843;p8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
        <p:nvSpPr>
          <p:cNvPr id="844" name="Google Shape;844;p86"/>
          <p:cNvSpPr txBox="1"/>
          <p:nvPr>
            <p:ph idx="1" type="body"/>
          </p:nvPr>
        </p:nvSpPr>
        <p:spPr>
          <a:xfrm>
            <a:off x="311700" y="1304875"/>
            <a:ext cx="8520600" cy="3416400"/>
          </a:xfrm>
          <a:prstGeom prst="rect">
            <a:avLst/>
          </a:prstGeom>
          <a:noFill/>
          <a:ln>
            <a:noFill/>
          </a:ln>
        </p:spPr>
        <p:txBody>
          <a:bodyPr anchorCtr="0" anchor="t" bIns="91425" lIns="91425" spcFirstLastPara="1" rIns="91425" wrap="square" tIns="91425">
            <a:normAutofit/>
          </a:bodyPr>
          <a:lstStyle/>
          <a:p>
            <a:pPr indent="0" lvl="0" marL="0" rtl="0" algn="l">
              <a:spcBef>
                <a:spcPts val="0"/>
              </a:spcBef>
              <a:spcAft>
                <a:spcPts val="0"/>
              </a:spcAft>
              <a:buNone/>
            </a:pPr>
            <a:r>
              <a:rPr lang="en-GB" sz="1100">
                <a:solidFill>
                  <a:schemeClr val="dk1"/>
                </a:solidFill>
              </a:rPr>
              <a:t>CoT decoding:</a:t>
            </a:r>
            <a:endParaRPr sz="1100">
              <a:solidFill>
                <a:schemeClr val="dk1"/>
              </a:solidFill>
            </a:endParaRPr>
          </a:p>
          <a:p>
            <a:pPr indent="-298450" lvl="0" marL="457200" rtl="0" algn="l">
              <a:spcBef>
                <a:spcPts val="0"/>
              </a:spcBef>
              <a:spcAft>
                <a:spcPts val="0"/>
              </a:spcAft>
              <a:buClr>
                <a:schemeClr val="dk1"/>
              </a:buClr>
              <a:buSzPts val="1100"/>
              <a:buAutoNum type="arabicParenR"/>
            </a:pPr>
            <a:r>
              <a:rPr lang="en-GB" sz="1100">
                <a:solidFill>
                  <a:schemeClr val="dk1"/>
                </a:solidFill>
              </a:rPr>
              <a:t>branch at the first token into top-k, </a:t>
            </a:r>
            <a:endParaRPr sz="1100">
              <a:solidFill>
                <a:schemeClr val="dk1"/>
              </a:solidFill>
            </a:endParaRPr>
          </a:p>
          <a:p>
            <a:pPr indent="-298450" lvl="0" marL="457200" rtl="0" algn="l">
              <a:spcBef>
                <a:spcPts val="0"/>
              </a:spcBef>
              <a:spcAft>
                <a:spcPts val="0"/>
              </a:spcAft>
              <a:buClr>
                <a:schemeClr val="dk1"/>
              </a:buClr>
              <a:buSzPts val="1100"/>
              <a:buAutoNum type="arabicParenR"/>
            </a:pPr>
            <a:r>
              <a:rPr lang="en-GB" sz="1100">
                <a:solidFill>
                  <a:schemeClr val="dk1"/>
                </a:solidFill>
              </a:rPr>
              <a:t>decode each greedily, </a:t>
            </a:r>
            <a:endParaRPr sz="1100">
              <a:solidFill>
                <a:schemeClr val="dk1"/>
              </a:solidFill>
            </a:endParaRPr>
          </a:p>
          <a:p>
            <a:pPr indent="-298450" lvl="0" marL="457200" rtl="0" algn="l">
              <a:spcBef>
                <a:spcPts val="0"/>
              </a:spcBef>
              <a:spcAft>
                <a:spcPts val="0"/>
              </a:spcAft>
              <a:buClr>
                <a:schemeClr val="dk1"/>
              </a:buClr>
              <a:buSzPts val="1100"/>
              <a:buAutoNum type="arabicParenR"/>
            </a:pPr>
            <a:r>
              <a:rPr lang="en-GB" sz="1100">
                <a:solidFill>
                  <a:schemeClr val="dk1"/>
                </a:solidFill>
              </a:rPr>
              <a:t>then select the path with </a:t>
            </a:r>
            <a:endParaRPr sz="1100">
              <a:solidFill>
                <a:schemeClr val="dk1"/>
              </a:solidFill>
            </a:endParaRPr>
          </a:p>
          <a:p>
            <a:pPr indent="0" lvl="0" marL="457200" rtl="0" algn="l">
              <a:spcBef>
                <a:spcPts val="0"/>
              </a:spcBef>
              <a:spcAft>
                <a:spcPts val="0"/>
              </a:spcAft>
              <a:buNone/>
            </a:pPr>
            <a:r>
              <a:rPr lang="en-GB" sz="1100">
                <a:solidFill>
                  <a:schemeClr val="dk1"/>
                </a:solidFill>
              </a:rPr>
              <a:t>the highest answer confidence </a:t>
            </a:r>
            <a:endParaRPr sz="15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t/>
            </a:r>
            <a:endParaRPr sz="15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t/>
            </a:r>
            <a:endParaRPr sz="1500">
              <a:solidFill>
                <a:schemeClr val="dk1"/>
              </a:solidFill>
              <a:latin typeface="Calibri"/>
              <a:ea typeface="Calibri"/>
              <a:cs typeface="Calibri"/>
              <a:sym typeface="Calibri"/>
            </a:endParaRPr>
          </a:p>
        </p:txBody>
      </p:sp>
      <p:sp>
        <p:nvSpPr>
          <p:cNvPr id="845" name="Google Shape;845;p86"/>
          <p:cNvSpPr txBox="1"/>
          <p:nvPr/>
        </p:nvSpPr>
        <p:spPr>
          <a:xfrm>
            <a:off x="77125" y="4706575"/>
            <a:ext cx="8260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000">
                <a:solidFill>
                  <a:srgbClr val="222222"/>
                </a:solidFill>
                <a:highlight>
                  <a:srgbClr val="FFFFFF"/>
                </a:highlight>
              </a:rPr>
              <a:t>Wang, Xuezhi, and Denny Zhou. "Chain-of-thought reasoning without prompting." </a:t>
            </a:r>
            <a:r>
              <a:rPr i="1" lang="en-GB" sz="1000">
                <a:solidFill>
                  <a:srgbClr val="222222"/>
                </a:solidFill>
                <a:highlight>
                  <a:srgbClr val="FFFFFF"/>
                </a:highlight>
              </a:rPr>
              <a:t>NeurIPS </a:t>
            </a:r>
            <a:r>
              <a:rPr lang="en-GB" sz="1000">
                <a:solidFill>
                  <a:srgbClr val="222222"/>
                </a:solidFill>
                <a:highlight>
                  <a:srgbClr val="FFFFFF"/>
                </a:highlight>
              </a:rPr>
              <a:t>2024</a:t>
            </a:r>
            <a:endParaRPr/>
          </a:p>
        </p:txBody>
      </p:sp>
      <p:pic>
        <p:nvPicPr>
          <p:cNvPr id="846" name="Google Shape;846;p86"/>
          <p:cNvPicPr preferRelativeResize="0"/>
          <p:nvPr/>
        </p:nvPicPr>
        <p:blipFill rotWithShape="1">
          <a:blip r:embed="rId3">
            <a:alphaModFix/>
          </a:blip>
          <a:srcRect b="0" l="36500" r="0" t="0"/>
          <a:stretch/>
        </p:blipFill>
        <p:spPr>
          <a:xfrm>
            <a:off x="3337475" y="1338250"/>
            <a:ext cx="5806525" cy="2375300"/>
          </a:xfrm>
          <a:prstGeom prst="rect">
            <a:avLst/>
          </a:prstGeom>
          <a:noFill/>
          <a:ln>
            <a:noFill/>
          </a:ln>
        </p:spPr>
      </p:pic>
      <p:pic>
        <p:nvPicPr>
          <p:cNvPr id="847" name="Google Shape;847;p86"/>
          <p:cNvPicPr preferRelativeResize="0"/>
          <p:nvPr/>
        </p:nvPicPr>
        <p:blipFill>
          <a:blip r:embed="rId4">
            <a:alphaModFix/>
          </a:blip>
          <a:stretch>
            <a:fillRect/>
          </a:stretch>
        </p:blipFill>
        <p:spPr>
          <a:xfrm>
            <a:off x="1955300" y="3915299"/>
            <a:ext cx="5233401" cy="741950"/>
          </a:xfrm>
          <a:prstGeom prst="rect">
            <a:avLst/>
          </a:prstGeom>
          <a:noFill/>
          <a:ln>
            <a:noFill/>
          </a:ln>
        </p:spPr>
      </p:pic>
      <p:sp>
        <p:nvSpPr>
          <p:cNvPr id="848" name="Google Shape;848;p86"/>
          <p:cNvSpPr/>
          <p:nvPr/>
        </p:nvSpPr>
        <p:spPr>
          <a:xfrm>
            <a:off x="7137025" y="2520400"/>
            <a:ext cx="1552950" cy="1387750"/>
          </a:xfrm>
          <a:custGeom>
            <a:rect b="b" l="l" r="r" t="t"/>
            <a:pathLst>
              <a:path extrusionOk="0" h="55510" w="62118">
                <a:moveTo>
                  <a:pt x="0" y="55510"/>
                </a:moveTo>
                <a:cubicBezTo>
                  <a:pt x="8077" y="50517"/>
                  <a:pt x="38108" y="34804"/>
                  <a:pt x="48461" y="25552"/>
                </a:cubicBezTo>
                <a:cubicBezTo>
                  <a:pt x="58814" y="16300"/>
                  <a:pt x="59842" y="4259"/>
                  <a:pt x="62118" y="0"/>
                </a:cubicBezTo>
              </a:path>
            </a:pathLst>
          </a:custGeom>
          <a:noFill/>
          <a:ln cap="flat" cmpd="sng" w="28575">
            <a:solidFill>
              <a:srgbClr val="FF9900"/>
            </a:solidFill>
            <a:prstDash val="solid"/>
            <a:round/>
            <a:headEnd len="med" w="med" type="none"/>
            <a:tailEnd len="med" w="med" type="stealth"/>
          </a:ln>
        </p:spPr>
      </p:sp>
      <p:sp>
        <p:nvSpPr>
          <p:cNvPr id="849" name="Google Shape;849;p86"/>
          <p:cNvSpPr/>
          <p:nvPr/>
        </p:nvSpPr>
        <p:spPr>
          <a:xfrm>
            <a:off x="7137025" y="3159200"/>
            <a:ext cx="1663088" cy="741984"/>
          </a:xfrm>
          <a:custGeom>
            <a:rect b="b" l="l" r="r" t="t"/>
            <a:pathLst>
              <a:path extrusionOk="0" h="29517" w="64762">
                <a:moveTo>
                  <a:pt x="0" y="29517"/>
                </a:moveTo>
                <a:cubicBezTo>
                  <a:pt x="8885" y="26507"/>
                  <a:pt x="42513" y="16374"/>
                  <a:pt x="53307" y="11454"/>
                </a:cubicBezTo>
                <a:cubicBezTo>
                  <a:pt x="64101" y="6535"/>
                  <a:pt x="62853" y="1909"/>
                  <a:pt x="64762" y="0"/>
                </a:cubicBezTo>
              </a:path>
            </a:pathLst>
          </a:custGeom>
          <a:noFill/>
          <a:ln cap="flat" cmpd="sng" w="28575">
            <a:solidFill>
              <a:srgbClr val="FF9900"/>
            </a:solidFill>
            <a:prstDash val="solid"/>
            <a:round/>
            <a:headEnd len="med" w="med" type="none"/>
            <a:tailEnd len="med" w="med" type="stealth"/>
          </a:ln>
        </p:spPr>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3" name="Shape 853"/>
        <p:cNvGrpSpPr/>
        <p:nvPr/>
      </p:nvGrpSpPr>
      <p:grpSpPr>
        <a:xfrm>
          <a:off x="0" y="0"/>
          <a:ext cx="0" cy="0"/>
          <a:chOff x="0" y="0"/>
          <a:chExt cx="0" cy="0"/>
        </a:xfrm>
      </p:grpSpPr>
      <p:pic>
        <p:nvPicPr>
          <p:cNvPr id="854" name="Google Shape;854;p87"/>
          <p:cNvPicPr preferRelativeResize="0"/>
          <p:nvPr/>
        </p:nvPicPr>
        <p:blipFill>
          <a:blip r:embed="rId3">
            <a:alphaModFix/>
          </a:blip>
          <a:stretch>
            <a:fillRect/>
          </a:stretch>
        </p:blipFill>
        <p:spPr>
          <a:xfrm>
            <a:off x="152400" y="1170125"/>
            <a:ext cx="8839204" cy="3237013"/>
          </a:xfrm>
          <a:prstGeom prst="rect">
            <a:avLst/>
          </a:prstGeom>
          <a:noFill/>
          <a:ln>
            <a:noFill/>
          </a:ln>
        </p:spPr>
      </p:pic>
      <p:sp>
        <p:nvSpPr>
          <p:cNvPr id="855" name="Google Shape;855;p87"/>
          <p:cNvSpPr txBox="1"/>
          <p:nvPr/>
        </p:nvSpPr>
        <p:spPr>
          <a:xfrm>
            <a:off x="152400" y="4651725"/>
            <a:ext cx="62022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000">
                <a:solidFill>
                  <a:srgbClr val="222222"/>
                </a:solidFill>
                <a:highlight>
                  <a:srgbClr val="FFFFFF"/>
                </a:highlight>
              </a:rPr>
              <a:t>Madaan, et al. "Self-refine: Iterative refinement with self-feedback." </a:t>
            </a:r>
            <a:r>
              <a:rPr i="1" lang="en-GB" sz="1000">
                <a:solidFill>
                  <a:srgbClr val="222222"/>
                </a:solidFill>
                <a:highlight>
                  <a:srgbClr val="FFFFFF"/>
                </a:highlight>
              </a:rPr>
              <a:t>NeurIPS </a:t>
            </a:r>
            <a:r>
              <a:rPr lang="en-GB" sz="1000">
                <a:solidFill>
                  <a:srgbClr val="222222"/>
                </a:solidFill>
                <a:highlight>
                  <a:srgbClr val="FFFFFF"/>
                </a:highlight>
              </a:rPr>
              <a:t>2023</a:t>
            </a:r>
            <a:endParaRPr/>
          </a:p>
        </p:txBody>
      </p:sp>
      <p:sp>
        <p:nvSpPr>
          <p:cNvPr id="856" name="Google Shape;856;p8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
        <p:nvSpPr>
          <p:cNvPr id="857" name="Google Shape;857;p8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00000"/>
              </a:lnSpc>
              <a:spcBef>
                <a:spcPts val="0"/>
              </a:spcBef>
              <a:spcAft>
                <a:spcPts val="0"/>
              </a:spcAft>
              <a:buSzPct val="111111"/>
              <a:buNone/>
            </a:pPr>
            <a:r>
              <a:rPr b="1" lang="en-GB"/>
              <a:t>Self-refine</a:t>
            </a:r>
            <a:endParaRPr b="1"/>
          </a:p>
          <a:p>
            <a:pPr indent="0" lvl="0" marL="0" rtl="0" algn="ctr">
              <a:lnSpc>
                <a:spcPct val="100000"/>
              </a:lnSpc>
              <a:spcBef>
                <a:spcPts val="0"/>
              </a:spcBef>
              <a:spcAft>
                <a:spcPts val="0"/>
              </a:spcAft>
              <a:buSzPct val="229507"/>
              <a:buNone/>
            </a:pPr>
            <a:r>
              <a:rPr lang="en-GB" sz="1356"/>
              <a:t>(Madaan, et al., 2023)</a:t>
            </a:r>
            <a:endParaRPr sz="1356"/>
          </a:p>
          <a:p>
            <a:pPr indent="0" lvl="0" marL="0" rtl="0" algn="l">
              <a:lnSpc>
                <a:spcPct val="100000"/>
              </a:lnSpc>
              <a:spcBef>
                <a:spcPts val="0"/>
              </a:spcBef>
              <a:spcAft>
                <a:spcPts val="0"/>
              </a:spcAft>
              <a:buSzPct val="111111"/>
              <a:buNone/>
            </a:pPr>
            <a:r>
              <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1" name="Shape 861"/>
        <p:cNvGrpSpPr/>
        <p:nvPr/>
      </p:nvGrpSpPr>
      <p:grpSpPr>
        <a:xfrm>
          <a:off x="0" y="0"/>
          <a:ext cx="0" cy="0"/>
          <a:chOff x="0" y="0"/>
          <a:chExt cx="0" cy="0"/>
        </a:xfrm>
      </p:grpSpPr>
      <p:sp>
        <p:nvSpPr>
          <p:cNvPr id="862" name="Google Shape;862;p88"/>
          <p:cNvSpPr txBox="1"/>
          <p:nvPr>
            <p:ph type="title"/>
          </p:nvPr>
        </p:nvSpPr>
        <p:spPr>
          <a:xfrm>
            <a:off x="311700" y="445025"/>
            <a:ext cx="3521100" cy="97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GB"/>
              <a:t>Chain-of-thought prompting for IR</a:t>
            </a:r>
            <a:endParaRPr b="1"/>
          </a:p>
        </p:txBody>
      </p:sp>
      <p:pic>
        <p:nvPicPr>
          <p:cNvPr id="863" name="Google Shape;863;p88"/>
          <p:cNvPicPr preferRelativeResize="0"/>
          <p:nvPr/>
        </p:nvPicPr>
        <p:blipFill>
          <a:blip r:embed="rId3">
            <a:alphaModFix/>
          </a:blip>
          <a:stretch>
            <a:fillRect/>
          </a:stretch>
        </p:blipFill>
        <p:spPr>
          <a:xfrm>
            <a:off x="3919175" y="60575"/>
            <a:ext cx="5103124" cy="5022349"/>
          </a:xfrm>
          <a:prstGeom prst="rect">
            <a:avLst/>
          </a:prstGeom>
          <a:noFill/>
          <a:ln>
            <a:noFill/>
          </a:ln>
        </p:spPr>
      </p:pic>
      <p:sp>
        <p:nvSpPr>
          <p:cNvPr id="864" name="Google Shape;864;p88"/>
          <p:cNvSpPr txBox="1"/>
          <p:nvPr/>
        </p:nvSpPr>
        <p:spPr>
          <a:xfrm>
            <a:off x="311700" y="4350500"/>
            <a:ext cx="31719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000">
                <a:solidFill>
                  <a:srgbClr val="222222"/>
                </a:solidFill>
                <a:highlight>
                  <a:srgbClr val="FFFFFF"/>
                </a:highlight>
              </a:rPr>
              <a:t>Trivedi, et al. "Interleaving retrieval with chain-of-thought reasoning for knowledge-intensive multi-step questions." </a:t>
            </a:r>
            <a:r>
              <a:rPr i="1" lang="en-GB" sz="1000">
                <a:solidFill>
                  <a:srgbClr val="222222"/>
                </a:solidFill>
                <a:highlight>
                  <a:srgbClr val="FFFFFF"/>
                </a:highlight>
              </a:rPr>
              <a:t>ACL </a:t>
            </a:r>
            <a:r>
              <a:rPr lang="en-GB" sz="1000">
                <a:solidFill>
                  <a:srgbClr val="222222"/>
                </a:solidFill>
                <a:highlight>
                  <a:srgbClr val="FFFFFF"/>
                </a:highlight>
              </a:rPr>
              <a:t>2023.</a:t>
            </a:r>
            <a:endParaRPr/>
          </a:p>
        </p:txBody>
      </p:sp>
      <p:sp>
        <p:nvSpPr>
          <p:cNvPr id="865" name="Google Shape;865;p8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69" name="Shape 869"/>
        <p:cNvGrpSpPr/>
        <p:nvPr/>
      </p:nvGrpSpPr>
      <p:grpSpPr>
        <a:xfrm>
          <a:off x="0" y="0"/>
          <a:ext cx="0" cy="0"/>
          <a:chOff x="0" y="0"/>
          <a:chExt cx="0" cy="0"/>
        </a:xfrm>
      </p:grpSpPr>
      <p:sp>
        <p:nvSpPr>
          <p:cNvPr id="870" name="Google Shape;870;p89"/>
          <p:cNvSpPr txBox="1"/>
          <p:nvPr>
            <p:ph idx="1" type="body"/>
          </p:nvPr>
        </p:nvSpPr>
        <p:spPr>
          <a:xfrm>
            <a:off x="192250" y="1478763"/>
            <a:ext cx="2478300" cy="2928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GB">
                <a:solidFill>
                  <a:schemeClr val="dk1"/>
                </a:solidFill>
              </a:rPr>
              <a:t>When LLMs </a:t>
            </a:r>
            <a:r>
              <a:rPr b="1" i="1" lang="en-GB">
                <a:solidFill>
                  <a:schemeClr val="dk1"/>
                </a:solidFill>
              </a:rPr>
              <a:t>"</a:t>
            </a:r>
            <a:r>
              <a:rPr b="1" i="1" lang="en-GB">
                <a:solidFill>
                  <a:schemeClr val="dk1"/>
                </a:solidFill>
              </a:rPr>
              <a:t>reason"</a:t>
            </a:r>
            <a:r>
              <a:rPr b="1" lang="en-GB">
                <a:solidFill>
                  <a:schemeClr val="dk1"/>
                </a:solidFill>
              </a:rPr>
              <a:t>:</a:t>
            </a:r>
            <a:endParaRPr b="1">
              <a:solidFill>
                <a:schemeClr val="dk1"/>
              </a:solidFill>
            </a:endParaRPr>
          </a:p>
          <a:p>
            <a:pPr indent="-342900" lvl="0" marL="457200" rtl="0" algn="l">
              <a:lnSpc>
                <a:spcPct val="115000"/>
              </a:lnSpc>
              <a:spcBef>
                <a:spcPts val="0"/>
              </a:spcBef>
              <a:spcAft>
                <a:spcPts val="0"/>
              </a:spcAft>
              <a:buClr>
                <a:schemeClr val="dk1"/>
              </a:buClr>
              <a:buSzPts val="1800"/>
              <a:buChar char="➔"/>
            </a:pPr>
            <a:r>
              <a:rPr b="1" lang="en-GB">
                <a:solidFill>
                  <a:schemeClr val="dk1"/>
                </a:solidFill>
              </a:rPr>
              <a:t>Is it a learned generalizable procedure?</a:t>
            </a:r>
            <a:endParaRPr b="1">
              <a:solidFill>
                <a:schemeClr val="dk1"/>
              </a:solidFill>
            </a:endParaRPr>
          </a:p>
          <a:p>
            <a:pPr indent="-342900" lvl="0" marL="457200" rtl="0" algn="l">
              <a:lnSpc>
                <a:spcPct val="115000"/>
              </a:lnSpc>
              <a:spcBef>
                <a:spcPts val="0"/>
              </a:spcBef>
              <a:spcAft>
                <a:spcPts val="0"/>
              </a:spcAft>
              <a:buClr>
                <a:schemeClr val="dk1"/>
              </a:buClr>
              <a:buSzPts val="1800"/>
              <a:buChar char="➔"/>
            </a:pPr>
            <a:r>
              <a:rPr b="1" lang="en-GB">
                <a:solidFill>
                  <a:schemeClr val="dk1"/>
                </a:solidFill>
              </a:rPr>
              <a:t>Or… is it retrieval?</a:t>
            </a:r>
            <a:endParaRPr>
              <a:solidFill>
                <a:schemeClr val="dk1"/>
              </a:solidFill>
            </a:endParaRPr>
          </a:p>
        </p:txBody>
      </p:sp>
      <p:sp>
        <p:nvSpPr>
          <p:cNvPr id="871" name="Google Shape;871;p8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00000"/>
              </a:lnSpc>
              <a:spcBef>
                <a:spcPts val="0"/>
              </a:spcBef>
              <a:spcAft>
                <a:spcPts val="0"/>
              </a:spcAft>
              <a:buSzPct val="172839"/>
              <a:buNone/>
            </a:pPr>
            <a:r>
              <a:rPr b="1" lang="en-GB"/>
              <a:t>Procedural Knowledge </a:t>
            </a:r>
            <a:r>
              <a:rPr b="1" lang="en-GB"/>
              <a:t>Drives Reasoning in LLMs</a:t>
            </a:r>
            <a:endParaRPr sz="1800">
              <a:solidFill>
                <a:srgbClr val="595959"/>
              </a:solidFill>
            </a:endParaRPr>
          </a:p>
          <a:p>
            <a:pPr indent="0" lvl="0" marL="0" rtl="0" algn="ctr">
              <a:spcBef>
                <a:spcPts val="0"/>
              </a:spcBef>
              <a:spcAft>
                <a:spcPts val="0"/>
              </a:spcAft>
              <a:buSzPct val="229509"/>
              <a:buNone/>
            </a:pPr>
            <a:r>
              <a:rPr lang="en-GB" sz="1356"/>
              <a:t>(Ruis et al., 2025)</a:t>
            </a:r>
            <a:endParaRPr sz="1356"/>
          </a:p>
          <a:p>
            <a:pPr indent="0" lvl="0" marL="0" rtl="0" algn="ctr">
              <a:lnSpc>
                <a:spcPct val="100000"/>
              </a:lnSpc>
              <a:spcBef>
                <a:spcPts val="0"/>
              </a:spcBef>
              <a:spcAft>
                <a:spcPts val="0"/>
              </a:spcAft>
              <a:buSzPct val="111111"/>
              <a:buNone/>
            </a:pPr>
            <a:r>
              <a:t/>
            </a:r>
            <a:endParaRPr/>
          </a:p>
          <a:p>
            <a:pPr indent="0" lvl="0" marL="0" rtl="0" algn="l">
              <a:lnSpc>
                <a:spcPct val="100000"/>
              </a:lnSpc>
              <a:spcBef>
                <a:spcPts val="0"/>
              </a:spcBef>
              <a:spcAft>
                <a:spcPts val="0"/>
              </a:spcAft>
              <a:buSzPct val="111111"/>
              <a:buNone/>
            </a:pPr>
            <a:r>
              <a:t/>
            </a:r>
            <a:endParaRPr>
              <a:solidFill>
                <a:srgbClr val="FF0000"/>
              </a:solidFill>
            </a:endParaRPr>
          </a:p>
        </p:txBody>
      </p:sp>
      <p:sp>
        <p:nvSpPr>
          <p:cNvPr id="872" name="Google Shape;872;p8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
        <p:nvSpPr>
          <p:cNvPr id="873" name="Google Shape;873;p89"/>
          <p:cNvSpPr txBox="1"/>
          <p:nvPr/>
        </p:nvSpPr>
        <p:spPr>
          <a:xfrm>
            <a:off x="77125" y="4706575"/>
            <a:ext cx="8260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000">
                <a:solidFill>
                  <a:srgbClr val="222222"/>
                </a:solidFill>
                <a:highlight>
                  <a:srgbClr val="FFFFFF"/>
                </a:highlight>
              </a:rPr>
              <a:t>Ruis et al. "Procedural Knowledge in Pretraining Drives Reasoning in Large Language Models.". </a:t>
            </a:r>
            <a:r>
              <a:rPr i="1" lang="en-GB" sz="1000">
                <a:solidFill>
                  <a:srgbClr val="222222"/>
                </a:solidFill>
                <a:highlight>
                  <a:srgbClr val="FFFFFF"/>
                </a:highlight>
              </a:rPr>
              <a:t>ICLR 2025</a:t>
            </a:r>
            <a:endParaRPr/>
          </a:p>
        </p:txBody>
      </p:sp>
      <p:grpSp>
        <p:nvGrpSpPr>
          <p:cNvPr id="874" name="Google Shape;874;p89"/>
          <p:cNvGrpSpPr/>
          <p:nvPr/>
        </p:nvGrpSpPr>
        <p:grpSpPr>
          <a:xfrm>
            <a:off x="2670558" y="1223209"/>
            <a:ext cx="6161746" cy="3440021"/>
            <a:chOff x="228800" y="244975"/>
            <a:chExt cx="8353777" cy="4663803"/>
          </a:xfrm>
        </p:grpSpPr>
        <p:pic>
          <p:nvPicPr>
            <p:cNvPr id="875" name="Google Shape;875;p89"/>
            <p:cNvPicPr preferRelativeResize="0"/>
            <p:nvPr/>
          </p:nvPicPr>
          <p:blipFill>
            <a:blip r:embed="rId3">
              <a:alphaModFix/>
            </a:blip>
            <a:stretch>
              <a:fillRect/>
            </a:stretch>
          </p:blipFill>
          <p:spPr>
            <a:xfrm>
              <a:off x="228800" y="244975"/>
              <a:ext cx="8353772" cy="3340693"/>
            </a:xfrm>
            <a:prstGeom prst="rect">
              <a:avLst/>
            </a:prstGeom>
            <a:noFill/>
            <a:ln>
              <a:noFill/>
            </a:ln>
          </p:spPr>
        </p:pic>
        <p:pic>
          <p:nvPicPr>
            <p:cNvPr id="876" name="Google Shape;876;p89"/>
            <p:cNvPicPr preferRelativeResize="0"/>
            <p:nvPr/>
          </p:nvPicPr>
          <p:blipFill>
            <a:blip r:embed="rId4">
              <a:alphaModFix/>
            </a:blip>
            <a:stretch>
              <a:fillRect/>
            </a:stretch>
          </p:blipFill>
          <p:spPr>
            <a:xfrm>
              <a:off x="228800" y="3574951"/>
              <a:ext cx="8353777" cy="1333826"/>
            </a:xfrm>
            <a:prstGeom prst="rect">
              <a:avLst/>
            </a:prstGeom>
            <a:noFill/>
            <a:ln>
              <a:noFill/>
            </a:ln>
          </p:spPr>
        </p:pic>
      </p:gr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80" name="Shape 880"/>
        <p:cNvGrpSpPr/>
        <p:nvPr/>
      </p:nvGrpSpPr>
      <p:grpSpPr>
        <a:xfrm>
          <a:off x="0" y="0"/>
          <a:ext cx="0" cy="0"/>
          <a:chOff x="0" y="0"/>
          <a:chExt cx="0" cy="0"/>
        </a:xfrm>
      </p:grpSpPr>
      <p:sp>
        <p:nvSpPr>
          <p:cNvPr id="881" name="Google Shape;881;p9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00000"/>
              </a:lnSpc>
              <a:spcBef>
                <a:spcPts val="0"/>
              </a:spcBef>
              <a:spcAft>
                <a:spcPts val="0"/>
              </a:spcAft>
              <a:buSzPct val="111111"/>
              <a:buNone/>
            </a:pPr>
            <a:r>
              <a:rPr b="1" lang="en-GB"/>
              <a:t>ReAct: Synergizing Reasoning and Acting</a:t>
            </a:r>
            <a:endParaRPr b="1"/>
          </a:p>
          <a:p>
            <a:pPr indent="0" lvl="0" marL="0" rtl="0" algn="ctr">
              <a:lnSpc>
                <a:spcPct val="100000"/>
              </a:lnSpc>
              <a:spcBef>
                <a:spcPts val="0"/>
              </a:spcBef>
              <a:spcAft>
                <a:spcPts val="0"/>
              </a:spcAft>
              <a:buSzPct val="229507"/>
              <a:buNone/>
            </a:pPr>
            <a:r>
              <a:rPr lang="en-GB" sz="1356"/>
              <a:t>(Yao et al., 2024)</a:t>
            </a:r>
            <a:endParaRPr sz="1356"/>
          </a:p>
          <a:p>
            <a:pPr indent="0" lvl="0" marL="0" rtl="0" algn="l">
              <a:lnSpc>
                <a:spcPct val="100000"/>
              </a:lnSpc>
              <a:spcBef>
                <a:spcPts val="0"/>
              </a:spcBef>
              <a:spcAft>
                <a:spcPts val="0"/>
              </a:spcAft>
              <a:buSzPct val="111111"/>
              <a:buNone/>
            </a:pPr>
            <a:r>
              <a:t/>
            </a:r>
            <a:endParaRPr/>
          </a:p>
        </p:txBody>
      </p:sp>
      <p:sp>
        <p:nvSpPr>
          <p:cNvPr id="882" name="Google Shape;882;p9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
        <p:nvSpPr>
          <p:cNvPr id="883" name="Google Shape;883;p9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None/>
            </a:pPr>
            <a:r>
              <a:t/>
            </a:r>
            <a:endParaRPr sz="15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t/>
            </a:r>
            <a:endParaRPr sz="15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t/>
            </a:r>
            <a:endParaRPr sz="1500">
              <a:solidFill>
                <a:schemeClr val="dk1"/>
              </a:solidFill>
              <a:latin typeface="Calibri"/>
              <a:ea typeface="Calibri"/>
              <a:cs typeface="Calibri"/>
              <a:sym typeface="Calibri"/>
            </a:endParaRPr>
          </a:p>
        </p:txBody>
      </p:sp>
      <p:sp>
        <p:nvSpPr>
          <p:cNvPr id="884" name="Google Shape;884;p90"/>
          <p:cNvSpPr txBox="1"/>
          <p:nvPr/>
        </p:nvSpPr>
        <p:spPr>
          <a:xfrm>
            <a:off x="77125" y="4706575"/>
            <a:ext cx="8260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000">
                <a:solidFill>
                  <a:srgbClr val="222222"/>
                </a:solidFill>
                <a:highlight>
                  <a:srgbClr val="FFFFFF"/>
                </a:highlight>
              </a:rPr>
              <a:t>Yao et al., "ReAct: Synergizing Reasoning and Acting in Language Models" </a:t>
            </a:r>
            <a:r>
              <a:rPr i="1" lang="en-GB" sz="1000">
                <a:solidFill>
                  <a:srgbClr val="222222"/>
                </a:solidFill>
                <a:highlight>
                  <a:srgbClr val="FFFFFF"/>
                </a:highlight>
              </a:rPr>
              <a:t>ICLR </a:t>
            </a:r>
            <a:r>
              <a:rPr lang="en-GB" sz="1000">
                <a:solidFill>
                  <a:srgbClr val="222222"/>
                </a:solidFill>
                <a:highlight>
                  <a:srgbClr val="FFFFFF"/>
                </a:highlight>
              </a:rPr>
              <a:t>2024</a:t>
            </a:r>
            <a:endParaRPr/>
          </a:p>
        </p:txBody>
      </p:sp>
      <p:sp>
        <p:nvSpPr>
          <p:cNvPr id="885" name="Google Shape;885;p90"/>
          <p:cNvSpPr txBox="1"/>
          <p:nvPr/>
        </p:nvSpPr>
        <p:spPr>
          <a:xfrm>
            <a:off x="350250" y="1376850"/>
            <a:ext cx="8334300" cy="1908600"/>
          </a:xfrm>
          <a:prstGeom prst="rect">
            <a:avLst/>
          </a:prstGeom>
          <a:noFill/>
          <a:ln>
            <a:noFill/>
          </a:ln>
        </p:spPr>
        <p:txBody>
          <a:bodyPr anchorCtr="0" anchor="t" bIns="91425" lIns="91425" spcFirstLastPara="1" rIns="91425" wrap="square" tIns="91425">
            <a:spAutoFit/>
          </a:bodyPr>
          <a:lstStyle/>
          <a:p>
            <a:pPr indent="-355600" lvl="0" marL="457200" rtl="0" algn="l">
              <a:lnSpc>
                <a:spcPct val="115000"/>
              </a:lnSpc>
              <a:spcBef>
                <a:spcPts val="0"/>
              </a:spcBef>
              <a:spcAft>
                <a:spcPts val="0"/>
              </a:spcAft>
              <a:buClr>
                <a:schemeClr val="dk1"/>
              </a:buClr>
              <a:buSzPts val="2000"/>
              <a:buChar char="●"/>
            </a:pPr>
            <a:r>
              <a:rPr lang="en-GB" sz="2000">
                <a:solidFill>
                  <a:schemeClr val="dk1"/>
                </a:solidFill>
              </a:rPr>
              <a:t>Interleave reasoning traces </a:t>
            </a:r>
            <a:r>
              <a:rPr i="1" lang="en-GB" sz="2000">
                <a:solidFill>
                  <a:schemeClr val="dk1"/>
                </a:solidFill>
              </a:rPr>
              <a:t>(thought)</a:t>
            </a:r>
            <a:r>
              <a:rPr lang="en-GB" sz="2000">
                <a:solidFill>
                  <a:schemeClr val="dk1"/>
                </a:solidFill>
              </a:rPr>
              <a:t> with actions </a:t>
            </a:r>
            <a:r>
              <a:rPr i="1" lang="en-GB" sz="2000">
                <a:solidFill>
                  <a:schemeClr val="dk1"/>
                </a:solidFill>
              </a:rPr>
              <a:t>(search, lookup, calculate)</a:t>
            </a:r>
            <a:r>
              <a:rPr lang="en-GB" sz="2000">
                <a:solidFill>
                  <a:schemeClr val="dk1"/>
                </a:solidFill>
              </a:rPr>
              <a:t> and </a:t>
            </a:r>
            <a:r>
              <a:rPr i="1" lang="en-GB" sz="2000">
                <a:solidFill>
                  <a:schemeClr val="dk1"/>
                </a:solidFill>
              </a:rPr>
              <a:t>observations</a:t>
            </a:r>
            <a:r>
              <a:rPr lang="en-GB" sz="2000">
                <a:solidFill>
                  <a:schemeClr val="dk1"/>
                </a:solidFill>
              </a:rPr>
              <a:t>.</a:t>
            </a:r>
            <a:endParaRPr sz="2000">
              <a:solidFill>
                <a:schemeClr val="dk1"/>
              </a:solidFill>
            </a:endParaRPr>
          </a:p>
          <a:p>
            <a:pPr indent="-355600" lvl="0" marL="457200" rtl="0" algn="l">
              <a:lnSpc>
                <a:spcPct val="115000"/>
              </a:lnSpc>
              <a:spcBef>
                <a:spcPts val="0"/>
              </a:spcBef>
              <a:spcAft>
                <a:spcPts val="0"/>
              </a:spcAft>
              <a:buClr>
                <a:schemeClr val="dk1"/>
              </a:buClr>
              <a:buSzPts val="2000"/>
              <a:buChar char="●"/>
            </a:pPr>
            <a:r>
              <a:rPr lang="en-GB" sz="2000">
                <a:solidFill>
                  <a:schemeClr val="dk1"/>
                </a:solidFill>
              </a:rPr>
              <a:t>Reasoning doesn't happen in one go. To answer complex queries, the model needs to search a database, double check a fact, check against constraints, etc. </a:t>
            </a:r>
            <a:endParaRPr sz="2000">
              <a:solidFill>
                <a:schemeClr val="dk1"/>
              </a:solidFill>
            </a:endParaRPr>
          </a:p>
        </p:txBody>
      </p:sp>
      <p:sp>
        <p:nvSpPr>
          <p:cNvPr id="886" name="Google Shape;886;p90"/>
          <p:cNvSpPr txBox="1"/>
          <p:nvPr/>
        </p:nvSpPr>
        <p:spPr>
          <a:xfrm>
            <a:off x="311700" y="3486800"/>
            <a:ext cx="8411400" cy="780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chemeClr val="dk1"/>
              </a:buClr>
              <a:buSzPts val="1100"/>
              <a:buFont typeface="Arial"/>
              <a:buNone/>
            </a:pPr>
            <a:r>
              <a:rPr b="1" lang="en-GB" sz="1800">
                <a:solidFill>
                  <a:schemeClr val="dk1"/>
                </a:solidFill>
              </a:rPr>
              <a:t>The precursor of current “agentic” frameworks that use search.</a:t>
            </a:r>
            <a:r>
              <a:rPr lang="en-GB" sz="1800">
                <a:solidFill>
                  <a:schemeClr val="dk1"/>
                </a:solidFill>
              </a:rPr>
              <a:t> It formalizes the idea that reasoning and retrieval are interleaved, not independent.</a:t>
            </a:r>
            <a:endParaRPr sz="1800">
              <a:solidFill>
                <a:schemeClr val="dk2"/>
              </a:solidFill>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90" name="Shape 890"/>
        <p:cNvGrpSpPr/>
        <p:nvPr/>
      </p:nvGrpSpPr>
      <p:grpSpPr>
        <a:xfrm>
          <a:off x="0" y="0"/>
          <a:ext cx="0" cy="0"/>
          <a:chOff x="0" y="0"/>
          <a:chExt cx="0" cy="0"/>
        </a:xfrm>
      </p:grpSpPr>
      <p:sp>
        <p:nvSpPr>
          <p:cNvPr id="891" name="Google Shape;891;p9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00000"/>
              </a:lnSpc>
              <a:spcBef>
                <a:spcPts val="0"/>
              </a:spcBef>
              <a:spcAft>
                <a:spcPts val="0"/>
              </a:spcAft>
              <a:buSzPct val="111111"/>
              <a:buNone/>
            </a:pPr>
            <a:r>
              <a:rPr b="1" lang="en-GB"/>
              <a:t>ReAct: Synergizing Reasoning and Acting</a:t>
            </a:r>
            <a:endParaRPr b="1"/>
          </a:p>
          <a:p>
            <a:pPr indent="0" lvl="0" marL="0" rtl="0" algn="ctr">
              <a:lnSpc>
                <a:spcPct val="100000"/>
              </a:lnSpc>
              <a:spcBef>
                <a:spcPts val="0"/>
              </a:spcBef>
              <a:spcAft>
                <a:spcPts val="0"/>
              </a:spcAft>
              <a:buSzPct val="229507"/>
              <a:buNone/>
            </a:pPr>
            <a:r>
              <a:rPr lang="en-GB" sz="1356"/>
              <a:t>(Yao et al., 2024)</a:t>
            </a:r>
            <a:endParaRPr sz="1356"/>
          </a:p>
          <a:p>
            <a:pPr indent="0" lvl="0" marL="0" rtl="0" algn="l">
              <a:lnSpc>
                <a:spcPct val="100000"/>
              </a:lnSpc>
              <a:spcBef>
                <a:spcPts val="0"/>
              </a:spcBef>
              <a:spcAft>
                <a:spcPts val="0"/>
              </a:spcAft>
              <a:buSzPct val="111111"/>
              <a:buNone/>
            </a:pPr>
            <a:r>
              <a:t/>
            </a:r>
            <a:endParaRPr/>
          </a:p>
        </p:txBody>
      </p:sp>
      <p:sp>
        <p:nvSpPr>
          <p:cNvPr id="892" name="Google Shape;892;p9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
        <p:nvSpPr>
          <p:cNvPr id="893" name="Google Shape;893;p9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None/>
            </a:pPr>
            <a:r>
              <a:t/>
            </a:r>
            <a:endParaRPr sz="15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t/>
            </a:r>
            <a:endParaRPr sz="15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t/>
            </a:r>
            <a:endParaRPr sz="1500">
              <a:solidFill>
                <a:schemeClr val="dk1"/>
              </a:solidFill>
              <a:latin typeface="Calibri"/>
              <a:ea typeface="Calibri"/>
              <a:cs typeface="Calibri"/>
              <a:sym typeface="Calibri"/>
            </a:endParaRPr>
          </a:p>
        </p:txBody>
      </p:sp>
      <p:sp>
        <p:nvSpPr>
          <p:cNvPr id="894" name="Google Shape;894;p91"/>
          <p:cNvSpPr txBox="1"/>
          <p:nvPr/>
        </p:nvSpPr>
        <p:spPr>
          <a:xfrm>
            <a:off x="77125" y="4706575"/>
            <a:ext cx="8260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000">
                <a:solidFill>
                  <a:srgbClr val="222222"/>
                </a:solidFill>
                <a:highlight>
                  <a:srgbClr val="FFFFFF"/>
                </a:highlight>
              </a:rPr>
              <a:t>Yao et al.,</a:t>
            </a:r>
            <a:r>
              <a:rPr lang="en-GB" sz="1000">
                <a:solidFill>
                  <a:srgbClr val="222222"/>
                </a:solidFill>
                <a:highlight>
                  <a:srgbClr val="FFFFFF"/>
                </a:highlight>
              </a:rPr>
              <a:t> "</a:t>
            </a:r>
            <a:r>
              <a:rPr lang="en-GB" sz="1000">
                <a:solidFill>
                  <a:srgbClr val="222222"/>
                </a:solidFill>
                <a:highlight>
                  <a:srgbClr val="FFFFFF"/>
                </a:highlight>
              </a:rPr>
              <a:t>ReAct: Synergizing Reasoning and Acting in Language Models</a:t>
            </a:r>
            <a:r>
              <a:rPr lang="en-GB" sz="1000">
                <a:solidFill>
                  <a:srgbClr val="222222"/>
                </a:solidFill>
                <a:highlight>
                  <a:srgbClr val="FFFFFF"/>
                </a:highlight>
              </a:rPr>
              <a:t>" </a:t>
            </a:r>
            <a:r>
              <a:rPr i="1" lang="en-GB" sz="1000">
                <a:solidFill>
                  <a:srgbClr val="222222"/>
                </a:solidFill>
                <a:highlight>
                  <a:srgbClr val="FFFFFF"/>
                </a:highlight>
              </a:rPr>
              <a:t>ICLR </a:t>
            </a:r>
            <a:r>
              <a:rPr lang="en-GB" sz="1000">
                <a:solidFill>
                  <a:srgbClr val="222222"/>
                </a:solidFill>
                <a:highlight>
                  <a:srgbClr val="FFFFFF"/>
                </a:highlight>
              </a:rPr>
              <a:t>2024</a:t>
            </a:r>
            <a:endParaRPr/>
          </a:p>
        </p:txBody>
      </p:sp>
      <p:pic>
        <p:nvPicPr>
          <p:cNvPr id="895" name="Google Shape;895;p91"/>
          <p:cNvPicPr preferRelativeResize="0"/>
          <p:nvPr/>
        </p:nvPicPr>
        <p:blipFill>
          <a:blip r:embed="rId3">
            <a:alphaModFix/>
          </a:blip>
          <a:stretch>
            <a:fillRect/>
          </a:stretch>
        </p:blipFill>
        <p:spPr>
          <a:xfrm>
            <a:off x="559038" y="1152468"/>
            <a:ext cx="8025923" cy="3560523"/>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D9EEB"/>
        </a:solidFill>
      </p:bgPr>
    </p:bg>
    <p:spTree>
      <p:nvGrpSpPr>
        <p:cNvPr id="899" name="Shape 899"/>
        <p:cNvGrpSpPr/>
        <p:nvPr/>
      </p:nvGrpSpPr>
      <p:grpSpPr>
        <a:xfrm>
          <a:off x="0" y="0"/>
          <a:ext cx="0" cy="0"/>
          <a:chOff x="0" y="0"/>
          <a:chExt cx="0" cy="0"/>
        </a:xfrm>
      </p:grpSpPr>
      <p:sp>
        <p:nvSpPr>
          <p:cNvPr id="900" name="Google Shape;900;p92"/>
          <p:cNvSpPr txBox="1"/>
          <p:nvPr>
            <p:ph type="title"/>
          </p:nvPr>
        </p:nvSpPr>
        <p:spPr>
          <a:xfrm>
            <a:off x="311700" y="2150850"/>
            <a:ext cx="8520600" cy="8418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b="1" lang="en-GB">
                <a:solidFill>
                  <a:schemeClr val="lt1"/>
                </a:solidFill>
                <a:latin typeface="Palatino Linotype"/>
                <a:ea typeface="Palatino Linotype"/>
                <a:cs typeface="Palatino Linotype"/>
                <a:sym typeface="Palatino Linotype"/>
              </a:rPr>
              <a:t>3. Learning to reason with reinforcement learning</a:t>
            </a:r>
            <a:endParaRPr b="1">
              <a:solidFill>
                <a:srgbClr val="93C47D"/>
              </a:solidFill>
              <a:latin typeface="Palatino Linotype"/>
              <a:ea typeface="Palatino Linotype"/>
              <a:cs typeface="Palatino Linotype"/>
              <a:sym typeface="Palatino Linotype"/>
            </a:endParaRPr>
          </a:p>
        </p:txBody>
      </p:sp>
      <p:sp>
        <p:nvSpPr>
          <p:cNvPr id="901" name="Google Shape;901;p9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5" name="Shape 905"/>
        <p:cNvGrpSpPr/>
        <p:nvPr/>
      </p:nvGrpSpPr>
      <p:grpSpPr>
        <a:xfrm>
          <a:off x="0" y="0"/>
          <a:ext cx="0" cy="0"/>
          <a:chOff x="0" y="0"/>
          <a:chExt cx="0" cy="0"/>
        </a:xfrm>
      </p:grpSpPr>
      <p:sp>
        <p:nvSpPr>
          <p:cNvPr id="906" name="Google Shape;906;p9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n-GB"/>
              <a:t>From LLMs to LRMs and Agentic Systems</a:t>
            </a:r>
            <a:endParaRPr b="1"/>
          </a:p>
        </p:txBody>
      </p:sp>
      <p:sp>
        <p:nvSpPr>
          <p:cNvPr id="907" name="Google Shape;907;p93"/>
          <p:cNvSpPr txBox="1"/>
          <p:nvPr/>
        </p:nvSpPr>
        <p:spPr>
          <a:xfrm>
            <a:off x="311725" y="1227475"/>
            <a:ext cx="8520600" cy="738000"/>
          </a:xfrm>
          <a:prstGeom prst="rect">
            <a:avLst/>
          </a:prstGeom>
          <a:solidFill>
            <a:srgbClr val="D9EA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b="1" sz="1800">
              <a:solidFill>
                <a:schemeClr val="dk2"/>
              </a:solidFill>
            </a:endParaRPr>
          </a:p>
          <a:p>
            <a:pPr indent="-342900" lvl="0" marL="457200" rtl="0" algn="l">
              <a:spcBef>
                <a:spcPts val="1000"/>
              </a:spcBef>
              <a:spcAft>
                <a:spcPts val="0"/>
              </a:spcAft>
              <a:buClr>
                <a:schemeClr val="dk2"/>
              </a:buClr>
              <a:buSzPts val="1800"/>
              <a:buAutoNum type="arabicPeriod"/>
            </a:pPr>
            <a:r>
              <a:rPr b="1" lang="en-GB" sz="1800">
                <a:solidFill>
                  <a:schemeClr val="dk2"/>
                </a:solidFill>
              </a:rPr>
              <a:t>RLHF: We can shape LLM’s behaviour with rewards</a:t>
            </a:r>
            <a:endParaRPr b="1" sz="1800">
              <a:solidFill>
                <a:schemeClr val="dk2"/>
              </a:solidFill>
              <a:highlight>
                <a:srgbClr val="C9DAF8"/>
              </a:highlight>
            </a:endParaRPr>
          </a:p>
          <a:p>
            <a:pPr indent="0" lvl="0" marL="0" rtl="0" algn="l">
              <a:spcBef>
                <a:spcPts val="1000"/>
              </a:spcBef>
              <a:spcAft>
                <a:spcPts val="0"/>
              </a:spcAft>
              <a:buNone/>
            </a:pPr>
            <a:r>
              <a:t/>
            </a:r>
            <a:endParaRPr sz="1200">
              <a:solidFill>
                <a:schemeClr val="dk2"/>
              </a:solidFill>
            </a:endParaRPr>
          </a:p>
        </p:txBody>
      </p:sp>
      <p:sp>
        <p:nvSpPr>
          <p:cNvPr id="908" name="Google Shape;908;p93"/>
          <p:cNvSpPr txBox="1"/>
          <p:nvPr/>
        </p:nvSpPr>
        <p:spPr>
          <a:xfrm>
            <a:off x="311725" y="2131550"/>
            <a:ext cx="8520600" cy="738000"/>
          </a:xfrm>
          <a:prstGeom prst="rect">
            <a:avLst/>
          </a:prstGeom>
          <a:solidFill>
            <a:srgbClr val="FFF2CC"/>
          </a:solidFill>
          <a:ln>
            <a:noFill/>
          </a:ln>
        </p:spPr>
        <p:txBody>
          <a:bodyPr anchorCtr="0" anchor="ctr" bIns="91425" lIns="91425" spcFirstLastPara="1" rIns="91425" wrap="square" tIns="91425">
            <a:noAutofit/>
          </a:bodyPr>
          <a:lstStyle/>
          <a:p>
            <a:pPr indent="0" lvl="0" marL="0" rtl="0" algn="l">
              <a:spcBef>
                <a:spcPts val="0"/>
              </a:spcBef>
              <a:spcAft>
                <a:spcPts val="1000"/>
              </a:spcAft>
              <a:buNone/>
            </a:pPr>
            <a:r>
              <a:rPr b="1" lang="en-GB" sz="1800">
                <a:solidFill>
                  <a:schemeClr val="dk2"/>
                </a:solidFill>
              </a:rPr>
              <a:t>2.    LRMs: RL for better reasoning models</a:t>
            </a:r>
            <a:endParaRPr b="1" sz="1800">
              <a:solidFill>
                <a:schemeClr val="dk2"/>
              </a:solidFill>
            </a:endParaRPr>
          </a:p>
        </p:txBody>
      </p:sp>
      <p:sp>
        <p:nvSpPr>
          <p:cNvPr id="909" name="Google Shape;909;p93"/>
          <p:cNvSpPr txBox="1"/>
          <p:nvPr/>
        </p:nvSpPr>
        <p:spPr>
          <a:xfrm>
            <a:off x="311725" y="3035625"/>
            <a:ext cx="8520600" cy="738000"/>
          </a:xfrm>
          <a:prstGeom prst="rect">
            <a:avLst/>
          </a:prstGeom>
          <a:solidFill>
            <a:srgbClr val="C9DAF8"/>
          </a:solidFill>
          <a:ln>
            <a:noFill/>
          </a:ln>
        </p:spPr>
        <p:txBody>
          <a:bodyPr anchorCtr="0" anchor="ctr" bIns="91425" lIns="91425" spcFirstLastPara="1" rIns="91425" wrap="square" tIns="91425">
            <a:noAutofit/>
          </a:bodyPr>
          <a:lstStyle/>
          <a:p>
            <a:pPr indent="0" lvl="0" marL="0" rtl="0" algn="l">
              <a:spcBef>
                <a:spcPts val="0"/>
              </a:spcBef>
              <a:spcAft>
                <a:spcPts val="1000"/>
              </a:spcAft>
              <a:buNone/>
            </a:pPr>
            <a:r>
              <a:rPr b="1" lang="en-GB" sz="1800">
                <a:solidFill>
                  <a:schemeClr val="dk2"/>
                </a:solidFill>
              </a:rPr>
              <a:t>3.    </a:t>
            </a:r>
            <a:r>
              <a:rPr b="1" lang="en-GB" sz="1800">
                <a:solidFill>
                  <a:schemeClr val="dk2"/>
                </a:solidFill>
              </a:rPr>
              <a:t>Agentic LRMs: Learn to search and reason</a:t>
            </a:r>
            <a:endParaRPr b="1" sz="1800">
              <a:solidFill>
                <a:schemeClr val="dk2"/>
              </a:solidFill>
            </a:endParaRPr>
          </a:p>
        </p:txBody>
      </p:sp>
      <p:sp>
        <p:nvSpPr>
          <p:cNvPr id="910" name="Google Shape;910;p93"/>
          <p:cNvSpPr txBox="1"/>
          <p:nvPr/>
        </p:nvSpPr>
        <p:spPr>
          <a:xfrm>
            <a:off x="311725" y="3939700"/>
            <a:ext cx="8520600" cy="738000"/>
          </a:xfrm>
          <a:prstGeom prst="rect">
            <a:avLst/>
          </a:prstGeom>
          <a:solidFill>
            <a:srgbClr val="F4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b="1" sz="1800">
              <a:solidFill>
                <a:schemeClr val="dk2"/>
              </a:solidFill>
            </a:endParaRPr>
          </a:p>
          <a:p>
            <a:pPr indent="0" lvl="0" marL="0" rtl="0" algn="l">
              <a:spcBef>
                <a:spcPts val="1000"/>
              </a:spcBef>
              <a:spcAft>
                <a:spcPts val="0"/>
              </a:spcAft>
              <a:buNone/>
            </a:pPr>
            <a:r>
              <a:rPr b="1" lang="en-GB" sz="1800">
                <a:solidFill>
                  <a:schemeClr val="dk2"/>
                </a:solidFill>
              </a:rPr>
              <a:t>4.    Does RL truly expand reasoning, or just surface it?</a:t>
            </a:r>
            <a:endParaRPr b="1" sz="1800">
              <a:solidFill>
                <a:schemeClr val="dk2"/>
              </a:solidFill>
            </a:endParaRPr>
          </a:p>
          <a:p>
            <a:pPr indent="0" lvl="0" marL="0" rtl="0" algn="l">
              <a:spcBef>
                <a:spcPts val="1000"/>
              </a:spcBef>
              <a:spcAft>
                <a:spcPts val="0"/>
              </a:spcAft>
              <a:buNone/>
            </a:pPr>
            <a:r>
              <a:t/>
            </a:r>
            <a:endParaRPr sz="1200">
              <a:solidFill>
                <a:schemeClr val="dk2"/>
              </a:solidFill>
            </a:endParaRPr>
          </a:p>
        </p:txBody>
      </p:sp>
      <p:sp>
        <p:nvSpPr>
          <p:cNvPr id="911" name="Google Shape;911;p9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15" name="Shape 915"/>
        <p:cNvGrpSpPr/>
        <p:nvPr/>
      </p:nvGrpSpPr>
      <p:grpSpPr>
        <a:xfrm>
          <a:off x="0" y="0"/>
          <a:ext cx="0" cy="0"/>
          <a:chOff x="0" y="0"/>
          <a:chExt cx="0" cy="0"/>
        </a:xfrm>
      </p:grpSpPr>
      <p:pic>
        <p:nvPicPr>
          <p:cNvPr id="916" name="Google Shape;916;p94"/>
          <p:cNvPicPr preferRelativeResize="0"/>
          <p:nvPr/>
        </p:nvPicPr>
        <p:blipFill>
          <a:blip r:embed="rId3">
            <a:alphaModFix/>
          </a:blip>
          <a:stretch>
            <a:fillRect/>
          </a:stretch>
        </p:blipFill>
        <p:spPr>
          <a:xfrm>
            <a:off x="718037" y="3271624"/>
            <a:ext cx="690176" cy="243700"/>
          </a:xfrm>
          <a:prstGeom prst="rect">
            <a:avLst/>
          </a:prstGeom>
          <a:noFill/>
          <a:ln>
            <a:noFill/>
          </a:ln>
        </p:spPr>
      </p:pic>
      <p:sp>
        <p:nvSpPr>
          <p:cNvPr id="917" name="Google Shape;917;p9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00000"/>
              </a:lnSpc>
              <a:spcBef>
                <a:spcPts val="0"/>
              </a:spcBef>
              <a:spcAft>
                <a:spcPts val="0"/>
              </a:spcAft>
              <a:buSzPct val="111111"/>
              <a:buNone/>
            </a:pPr>
            <a:r>
              <a:rPr b="1" lang="en-GB"/>
              <a:t>LLM training stages</a:t>
            </a:r>
            <a:endParaRPr/>
          </a:p>
        </p:txBody>
      </p:sp>
      <p:sp>
        <p:nvSpPr>
          <p:cNvPr id="918" name="Google Shape;918;p9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
        <p:nvSpPr>
          <p:cNvPr id="919" name="Google Shape;919;p94"/>
          <p:cNvSpPr/>
          <p:nvPr/>
        </p:nvSpPr>
        <p:spPr>
          <a:xfrm>
            <a:off x="533925" y="2139250"/>
            <a:ext cx="1058400" cy="7587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a:solidFill>
                  <a:schemeClr val="lt1"/>
                </a:solidFill>
              </a:rPr>
              <a:t>Language Model</a:t>
            </a:r>
            <a:endParaRPr>
              <a:solidFill>
                <a:schemeClr val="lt1"/>
              </a:solidFill>
            </a:endParaRPr>
          </a:p>
        </p:txBody>
      </p:sp>
      <p:cxnSp>
        <p:nvCxnSpPr>
          <p:cNvPr id="920" name="Google Shape;920;p94"/>
          <p:cNvCxnSpPr>
            <a:stCxn id="919" idx="1"/>
            <a:endCxn id="919" idx="3"/>
          </p:cNvCxnSpPr>
          <p:nvPr/>
        </p:nvCxnSpPr>
        <p:spPr>
          <a:xfrm>
            <a:off x="533925" y="2518600"/>
            <a:ext cx="1058400" cy="600"/>
          </a:xfrm>
          <a:prstGeom prst="bentConnector5">
            <a:avLst>
              <a:gd fmla="val -22499" name="adj1"/>
              <a:gd fmla="val 102912500" name="adj2"/>
              <a:gd fmla="val 122499" name="adj3"/>
            </a:avLst>
          </a:prstGeom>
          <a:noFill/>
          <a:ln cap="flat" cmpd="sng" w="9525">
            <a:solidFill>
              <a:srgbClr val="666666"/>
            </a:solidFill>
            <a:prstDash val="solid"/>
            <a:round/>
            <a:headEnd len="med" w="med" type="triangle"/>
            <a:tailEnd len="med" w="med" type="none"/>
          </a:ln>
        </p:spPr>
      </p:cxnSp>
      <p:sp>
        <p:nvSpPr>
          <p:cNvPr id="921" name="Google Shape;921;p94"/>
          <p:cNvSpPr txBox="1"/>
          <p:nvPr/>
        </p:nvSpPr>
        <p:spPr>
          <a:xfrm>
            <a:off x="-31575" y="1245350"/>
            <a:ext cx="2220300" cy="231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GB" sz="1300">
                <a:solidFill>
                  <a:schemeClr val="dk2"/>
                </a:solidFill>
              </a:rPr>
              <a:t>Pre-training</a:t>
            </a:r>
            <a:endParaRPr b="1" sz="1300">
              <a:solidFill>
                <a:schemeClr val="dk2"/>
              </a:solidFill>
            </a:endParaRPr>
          </a:p>
        </p:txBody>
      </p:sp>
      <p:pic>
        <p:nvPicPr>
          <p:cNvPr id="922" name="Google Shape;922;p94"/>
          <p:cNvPicPr preferRelativeResize="0"/>
          <p:nvPr/>
        </p:nvPicPr>
        <p:blipFill>
          <a:blip r:embed="rId4">
            <a:alphaModFix/>
          </a:blip>
          <a:stretch>
            <a:fillRect/>
          </a:stretch>
        </p:blipFill>
        <p:spPr>
          <a:xfrm>
            <a:off x="188075" y="2711838"/>
            <a:ext cx="253545" cy="231000"/>
          </a:xfrm>
          <a:prstGeom prst="rect">
            <a:avLst/>
          </a:prstGeom>
          <a:noFill/>
          <a:ln>
            <a:noFill/>
          </a:ln>
        </p:spPr>
      </p:pic>
      <p:sp>
        <p:nvSpPr>
          <p:cNvPr id="923" name="Google Shape;923;p94"/>
          <p:cNvSpPr txBox="1"/>
          <p:nvPr/>
        </p:nvSpPr>
        <p:spPr>
          <a:xfrm>
            <a:off x="272325" y="3789925"/>
            <a:ext cx="1581600" cy="231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t/>
            </a:r>
            <a:endParaRPr b="1" sz="1100">
              <a:solidFill>
                <a:schemeClr val="dk2"/>
              </a:solidFill>
            </a:endParaRPr>
          </a:p>
        </p:txBody>
      </p:sp>
      <p:sp>
        <p:nvSpPr>
          <p:cNvPr id="924" name="Google Shape;924;p94"/>
          <p:cNvSpPr/>
          <p:nvPr/>
        </p:nvSpPr>
        <p:spPr>
          <a:xfrm>
            <a:off x="0" y="1217913"/>
            <a:ext cx="2220300" cy="2960400"/>
          </a:xfrm>
          <a:prstGeom prst="rect">
            <a:avLst/>
          </a:prstGeom>
          <a:solidFill>
            <a:srgbClr val="9E9E9E">
              <a:alpha val="2625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25" name="Google Shape;925;p94"/>
          <p:cNvSpPr txBox="1"/>
          <p:nvPr/>
        </p:nvSpPr>
        <p:spPr>
          <a:xfrm>
            <a:off x="31425" y="4178325"/>
            <a:ext cx="20634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900">
                <a:solidFill>
                  <a:schemeClr val="dk2"/>
                </a:solidFill>
              </a:rPr>
              <a:t>Goal: </a:t>
            </a:r>
            <a:endParaRPr sz="900">
              <a:solidFill>
                <a:schemeClr val="dk2"/>
              </a:solidFill>
            </a:endParaRPr>
          </a:p>
          <a:p>
            <a:pPr indent="0" lvl="0" marL="0" rtl="0" algn="ctr">
              <a:spcBef>
                <a:spcPts val="0"/>
              </a:spcBef>
              <a:spcAft>
                <a:spcPts val="0"/>
              </a:spcAft>
              <a:buNone/>
            </a:pPr>
            <a:r>
              <a:rPr lang="en-GB" sz="900">
                <a:solidFill>
                  <a:schemeClr val="dk2"/>
                </a:solidFill>
              </a:rPr>
              <a:t>Next token prediction</a:t>
            </a:r>
            <a:endParaRPr sz="900">
              <a:solidFill>
                <a:schemeClr val="dk2"/>
              </a:solidFill>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29" name="Shape 929"/>
        <p:cNvGrpSpPr/>
        <p:nvPr/>
      </p:nvGrpSpPr>
      <p:grpSpPr>
        <a:xfrm>
          <a:off x="0" y="0"/>
          <a:ext cx="0" cy="0"/>
          <a:chOff x="0" y="0"/>
          <a:chExt cx="0" cy="0"/>
        </a:xfrm>
      </p:grpSpPr>
      <p:pic>
        <p:nvPicPr>
          <p:cNvPr id="930" name="Google Shape;930;p95"/>
          <p:cNvPicPr preferRelativeResize="0"/>
          <p:nvPr/>
        </p:nvPicPr>
        <p:blipFill>
          <a:blip r:embed="rId3">
            <a:alphaModFix/>
          </a:blip>
          <a:stretch>
            <a:fillRect/>
          </a:stretch>
        </p:blipFill>
        <p:spPr>
          <a:xfrm>
            <a:off x="718037" y="3271624"/>
            <a:ext cx="690176" cy="243700"/>
          </a:xfrm>
          <a:prstGeom prst="rect">
            <a:avLst/>
          </a:prstGeom>
          <a:noFill/>
          <a:ln>
            <a:noFill/>
          </a:ln>
        </p:spPr>
      </p:pic>
      <p:sp>
        <p:nvSpPr>
          <p:cNvPr id="931" name="Google Shape;931;p9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00000"/>
              </a:lnSpc>
              <a:spcBef>
                <a:spcPts val="0"/>
              </a:spcBef>
              <a:spcAft>
                <a:spcPts val="0"/>
              </a:spcAft>
              <a:buSzPct val="111111"/>
              <a:buNone/>
            </a:pPr>
            <a:r>
              <a:rPr b="1" lang="en-GB"/>
              <a:t>LLM training stages</a:t>
            </a:r>
            <a:endParaRPr/>
          </a:p>
        </p:txBody>
      </p:sp>
      <p:sp>
        <p:nvSpPr>
          <p:cNvPr id="932" name="Google Shape;932;p9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
        <p:nvSpPr>
          <p:cNvPr id="933" name="Google Shape;933;p95"/>
          <p:cNvSpPr txBox="1"/>
          <p:nvPr/>
        </p:nvSpPr>
        <p:spPr>
          <a:xfrm>
            <a:off x="5732825" y="1115175"/>
            <a:ext cx="3411000" cy="2735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GB" sz="1800">
                <a:solidFill>
                  <a:srgbClr val="CC0000"/>
                </a:solidFill>
              </a:rPr>
              <a:t>Limitation</a:t>
            </a:r>
            <a:endParaRPr b="1" sz="1800">
              <a:solidFill>
                <a:srgbClr val="CC0000"/>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rPr lang="en-GB" sz="1800">
                <a:solidFill>
                  <a:schemeClr val="dk2"/>
                </a:solidFill>
              </a:rPr>
              <a:t>Pre-trained LLM is better suited for text completion than task assistance (e.g., instruction following). </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t/>
            </a:r>
            <a:endParaRPr sz="1800">
              <a:solidFill>
                <a:schemeClr val="dk2"/>
              </a:solidFill>
            </a:endParaRPr>
          </a:p>
        </p:txBody>
      </p:sp>
      <p:sp>
        <p:nvSpPr>
          <p:cNvPr id="934" name="Google Shape;934;p95"/>
          <p:cNvSpPr/>
          <p:nvPr/>
        </p:nvSpPr>
        <p:spPr>
          <a:xfrm>
            <a:off x="533925" y="2139250"/>
            <a:ext cx="1058400" cy="7587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a:solidFill>
                  <a:schemeClr val="lt1"/>
                </a:solidFill>
              </a:rPr>
              <a:t>Language Model</a:t>
            </a:r>
            <a:endParaRPr>
              <a:solidFill>
                <a:schemeClr val="lt1"/>
              </a:solidFill>
            </a:endParaRPr>
          </a:p>
        </p:txBody>
      </p:sp>
      <p:cxnSp>
        <p:nvCxnSpPr>
          <p:cNvPr id="935" name="Google Shape;935;p95"/>
          <p:cNvCxnSpPr>
            <a:stCxn id="934" idx="1"/>
            <a:endCxn id="934" idx="3"/>
          </p:cNvCxnSpPr>
          <p:nvPr/>
        </p:nvCxnSpPr>
        <p:spPr>
          <a:xfrm>
            <a:off x="533925" y="2518600"/>
            <a:ext cx="1058400" cy="600"/>
          </a:xfrm>
          <a:prstGeom prst="bentConnector5">
            <a:avLst>
              <a:gd fmla="val -22499" name="adj1"/>
              <a:gd fmla="val 102912500" name="adj2"/>
              <a:gd fmla="val 122499" name="adj3"/>
            </a:avLst>
          </a:prstGeom>
          <a:noFill/>
          <a:ln cap="flat" cmpd="sng" w="9525">
            <a:solidFill>
              <a:srgbClr val="666666"/>
            </a:solidFill>
            <a:prstDash val="solid"/>
            <a:round/>
            <a:headEnd len="med" w="med" type="triangle"/>
            <a:tailEnd len="med" w="med" type="none"/>
          </a:ln>
        </p:spPr>
      </p:cxnSp>
      <p:sp>
        <p:nvSpPr>
          <p:cNvPr id="936" name="Google Shape;936;p95"/>
          <p:cNvSpPr txBox="1"/>
          <p:nvPr/>
        </p:nvSpPr>
        <p:spPr>
          <a:xfrm>
            <a:off x="-31575" y="1245350"/>
            <a:ext cx="2220300" cy="231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GB" sz="1300">
                <a:solidFill>
                  <a:schemeClr val="dk2"/>
                </a:solidFill>
              </a:rPr>
              <a:t>Pre-training</a:t>
            </a:r>
            <a:endParaRPr b="1" sz="1300">
              <a:solidFill>
                <a:schemeClr val="dk2"/>
              </a:solidFill>
            </a:endParaRPr>
          </a:p>
        </p:txBody>
      </p:sp>
      <p:pic>
        <p:nvPicPr>
          <p:cNvPr id="937" name="Google Shape;937;p95"/>
          <p:cNvPicPr preferRelativeResize="0"/>
          <p:nvPr/>
        </p:nvPicPr>
        <p:blipFill>
          <a:blip r:embed="rId4">
            <a:alphaModFix/>
          </a:blip>
          <a:stretch>
            <a:fillRect/>
          </a:stretch>
        </p:blipFill>
        <p:spPr>
          <a:xfrm>
            <a:off x="188075" y="2711838"/>
            <a:ext cx="253545" cy="231000"/>
          </a:xfrm>
          <a:prstGeom prst="rect">
            <a:avLst/>
          </a:prstGeom>
          <a:noFill/>
          <a:ln>
            <a:noFill/>
          </a:ln>
        </p:spPr>
      </p:pic>
      <p:sp>
        <p:nvSpPr>
          <p:cNvPr id="938" name="Google Shape;938;p95"/>
          <p:cNvSpPr txBox="1"/>
          <p:nvPr/>
        </p:nvSpPr>
        <p:spPr>
          <a:xfrm>
            <a:off x="272325" y="3789925"/>
            <a:ext cx="1581600" cy="231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t/>
            </a:r>
            <a:endParaRPr b="1" sz="1100">
              <a:solidFill>
                <a:schemeClr val="dk2"/>
              </a:solidFill>
            </a:endParaRPr>
          </a:p>
        </p:txBody>
      </p:sp>
      <p:sp>
        <p:nvSpPr>
          <p:cNvPr id="939" name="Google Shape;939;p95"/>
          <p:cNvSpPr/>
          <p:nvPr/>
        </p:nvSpPr>
        <p:spPr>
          <a:xfrm>
            <a:off x="0" y="1217913"/>
            <a:ext cx="2220300" cy="2960400"/>
          </a:xfrm>
          <a:prstGeom prst="rect">
            <a:avLst/>
          </a:prstGeom>
          <a:solidFill>
            <a:srgbClr val="9E9E9E">
              <a:alpha val="2625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40" name="Google Shape;940;p95"/>
          <p:cNvSpPr txBox="1"/>
          <p:nvPr/>
        </p:nvSpPr>
        <p:spPr>
          <a:xfrm>
            <a:off x="31425" y="4178325"/>
            <a:ext cx="20634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900">
                <a:solidFill>
                  <a:schemeClr val="dk2"/>
                </a:solidFill>
              </a:rPr>
              <a:t>Goal: </a:t>
            </a:r>
            <a:endParaRPr sz="900">
              <a:solidFill>
                <a:schemeClr val="dk2"/>
              </a:solidFill>
            </a:endParaRPr>
          </a:p>
          <a:p>
            <a:pPr indent="0" lvl="0" marL="0" rtl="0" algn="ctr">
              <a:spcBef>
                <a:spcPts val="0"/>
              </a:spcBef>
              <a:spcAft>
                <a:spcPts val="0"/>
              </a:spcAft>
              <a:buNone/>
            </a:pPr>
            <a:r>
              <a:rPr lang="en-GB" sz="900">
                <a:solidFill>
                  <a:schemeClr val="dk2"/>
                </a:solidFill>
              </a:rPr>
              <a:t>Next token prediction</a:t>
            </a:r>
            <a:endParaRPr sz="900">
              <a:solidFill>
                <a:schemeClr val="dk2"/>
              </a:solidFill>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44" name="Shape 944"/>
        <p:cNvGrpSpPr/>
        <p:nvPr/>
      </p:nvGrpSpPr>
      <p:grpSpPr>
        <a:xfrm>
          <a:off x="0" y="0"/>
          <a:ext cx="0" cy="0"/>
          <a:chOff x="0" y="0"/>
          <a:chExt cx="0" cy="0"/>
        </a:xfrm>
      </p:grpSpPr>
      <p:pic>
        <p:nvPicPr>
          <p:cNvPr id="945" name="Google Shape;945;p96"/>
          <p:cNvPicPr preferRelativeResize="0"/>
          <p:nvPr/>
        </p:nvPicPr>
        <p:blipFill>
          <a:blip r:embed="rId3">
            <a:alphaModFix/>
          </a:blip>
          <a:stretch>
            <a:fillRect/>
          </a:stretch>
        </p:blipFill>
        <p:spPr>
          <a:xfrm>
            <a:off x="718037" y="3271624"/>
            <a:ext cx="690176" cy="243700"/>
          </a:xfrm>
          <a:prstGeom prst="rect">
            <a:avLst/>
          </a:prstGeom>
          <a:noFill/>
          <a:ln>
            <a:noFill/>
          </a:ln>
        </p:spPr>
      </p:pic>
      <p:sp>
        <p:nvSpPr>
          <p:cNvPr id="946" name="Google Shape;946;p9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00000"/>
              </a:lnSpc>
              <a:spcBef>
                <a:spcPts val="0"/>
              </a:spcBef>
              <a:spcAft>
                <a:spcPts val="0"/>
              </a:spcAft>
              <a:buSzPct val="111111"/>
              <a:buNone/>
            </a:pPr>
            <a:r>
              <a:rPr b="1" lang="en-GB"/>
              <a:t>LLM training stages</a:t>
            </a:r>
            <a:endParaRPr/>
          </a:p>
        </p:txBody>
      </p:sp>
      <p:sp>
        <p:nvSpPr>
          <p:cNvPr id="947" name="Google Shape;947;p9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
        <p:nvSpPr>
          <p:cNvPr id="948" name="Google Shape;948;p96"/>
          <p:cNvSpPr txBox="1"/>
          <p:nvPr/>
        </p:nvSpPr>
        <p:spPr>
          <a:xfrm>
            <a:off x="272325" y="3789925"/>
            <a:ext cx="1581600" cy="231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t/>
            </a:r>
            <a:endParaRPr b="1" sz="1100">
              <a:solidFill>
                <a:schemeClr val="dk2"/>
              </a:solidFill>
            </a:endParaRPr>
          </a:p>
        </p:txBody>
      </p:sp>
      <p:sp>
        <p:nvSpPr>
          <p:cNvPr id="949" name="Google Shape;949;p96"/>
          <p:cNvSpPr/>
          <p:nvPr/>
        </p:nvSpPr>
        <p:spPr>
          <a:xfrm>
            <a:off x="2953700" y="2991638"/>
            <a:ext cx="1058400" cy="7587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1300">
                <a:solidFill>
                  <a:schemeClr val="lt1"/>
                </a:solidFill>
              </a:rPr>
              <a:t>Pre-trained LM</a:t>
            </a:r>
            <a:endParaRPr sz="1300">
              <a:solidFill>
                <a:schemeClr val="lt1"/>
              </a:solidFill>
            </a:endParaRPr>
          </a:p>
        </p:txBody>
      </p:sp>
      <p:sp>
        <p:nvSpPr>
          <p:cNvPr id="950" name="Google Shape;950;p96"/>
          <p:cNvSpPr/>
          <p:nvPr/>
        </p:nvSpPr>
        <p:spPr>
          <a:xfrm>
            <a:off x="2372750" y="1215163"/>
            <a:ext cx="2220300" cy="2960400"/>
          </a:xfrm>
          <a:prstGeom prst="rect">
            <a:avLst/>
          </a:prstGeom>
          <a:solidFill>
            <a:srgbClr val="9E9E9E">
              <a:alpha val="2625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51" name="Google Shape;951;p96"/>
          <p:cNvSpPr txBox="1"/>
          <p:nvPr/>
        </p:nvSpPr>
        <p:spPr>
          <a:xfrm>
            <a:off x="2372750" y="1215175"/>
            <a:ext cx="2220300" cy="231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GB" sz="1300">
                <a:solidFill>
                  <a:schemeClr val="dk2"/>
                </a:solidFill>
              </a:rPr>
              <a:t>Supervised Finetuning (SFT)</a:t>
            </a:r>
            <a:endParaRPr b="1" sz="1300">
              <a:solidFill>
                <a:schemeClr val="dk2"/>
              </a:solidFill>
            </a:endParaRPr>
          </a:p>
          <a:p>
            <a:pPr indent="0" lvl="0" marL="0" rtl="0" algn="ctr">
              <a:spcBef>
                <a:spcPts val="0"/>
              </a:spcBef>
              <a:spcAft>
                <a:spcPts val="0"/>
              </a:spcAft>
              <a:buNone/>
            </a:pPr>
            <a:r>
              <a:t/>
            </a:r>
            <a:endParaRPr b="1" sz="1300">
              <a:solidFill>
                <a:schemeClr val="dk2"/>
              </a:solidFill>
            </a:endParaRPr>
          </a:p>
        </p:txBody>
      </p:sp>
      <p:pic>
        <p:nvPicPr>
          <p:cNvPr id="952" name="Google Shape;952;p96"/>
          <p:cNvPicPr preferRelativeResize="0"/>
          <p:nvPr/>
        </p:nvPicPr>
        <p:blipFill rotWithShape="1">
          <a:blip r:embed="rId4">
            <a:alphaModFix/>
          </a:blip>
          <a:srcRect b="0" l="0" r="5060" t="0"/>
          <a:stretch/>
        </p:blipFill>
        <p:spPr>
          <a:xfrm>
            <a:off x="2220300" y="2024375"/>
            <a:ext cx="2586724" cy="758700"/>
          </a:xfrm>
          <a:prstGeom prst="rect">
            <a:avLst/>
          </a:prstGeom>
          <a:noFill/>
          <a:ln>
            <a:noFill/>
          </a:ln>
        </p:spPr>
      </p:pic>
      <p:sp>
        <p:nvSpPr>
          <p:cNvPr id="953" name="Google Shape;953;p96"/>
          <p:cNvSpPr/>
          <p:nvPr/>
        </p:nvSpPr>
        <p:spPr>
          <a:xfrm>
            <a:off x="3356150" y="2783075"/>
            <a:ext cx="253500" cy="210000"/>
          </a:xfrm>
          <a:prstGeom prst="mathPlus">
            <a:avLst>
              <a:gd fmla="val 23520" name="adj1"/>
            </a:avLst>
          </a:prstGeom>
          <a:solidFill>
            <a:srgbClr val="1C458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54" name="Google Shape;954;p96"/>
          <p:cNvSpPr txBox="1"/>
          <p:nvPr/>
        </p:nvSpPr>
        <p:spPr>
          <a:xfrm>
            <a:off x="2451200" y="4178325"/>
            <a:ext cx="20634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900">
                <a:solidFill>
                  <a:schemeClr val="dk2"/>
                </a:solidFill>
              </a:rPr>
              <a:t>Goal: Instruction-following</a:t>
            </a:r>
            <a:endParaRPr sz="900">
              <a:solidFill>
                <a:schemeClr val="dk2"/>
              </a:solidFill>
            </a:endParaRPr>
          </a:p>
        </p:txBody>
      </p:sp>
      <p:sp>
        <p:nvSpPr>
          <p:cNvPr id="955" name="Google Shape;955;p96"/>
          <p:cNvSpPr/>
          <p:nvPr/>
        </p:nvSpPr>
        <p:spPr>
          <a:xfrm>
            <a:off x="533925" y="2139250"/>
            <a:ext cx="1058400" cy="7587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a:solidFill>
                  <a:schemeClr val="lt1"/>
                </a:solidFill>
              </a:rPr>
              <a:t>Language Model</a:t>
            </a:r>
            <a:endParaRPr>
              <a:solidFill>
                <a:schemeClr val="lt1"/>
              </a:solidFill>
            </a:endParaRPr>
          </a:p>
        </p:txBody>
      </p:sp>
      <p:cxnSp>
        <p:nvCxnSpPr>
          <p:cNvPr id="956" name="Google Shape;956;p96"/>
          <p:cNvCxnSpPr>
            <a:stCxn id="955" idx="1"/>
            <a:endCxn id="955" idx="3"/>
          </p:cNvCxnSpPr>
          <p:nvPr/>
        </p:nvCxnSpPr>
        <p:spPr>
          <a:xfrm>
            <a:off x="533925" y="2518600"/>
            <a:ext cx="1058400" cy="600"/>
          </a:xfrm>
          <a:prstGeom prst="bentConnector5">
            <a:avLst>
              <a:gd fmla="val -22499" name="adj1"/>
              <a:gd fmla="val 102912500" name="adj2"/>
              <a:gd fmla="val 122499" name="adj3"/>
            </a:avLst>
          </a:prstGeom>
          <a:noFill/>
          <a:ln cap="flat" cmpd="sng" w="9525">
            <a:solidFill>
              <a:srgbClr val="666666"/>
            </a:solidFill>
            <a:prstDash val="solid"/>
            <a:round/>
            <a:headEnd len="med" w="med" type="triangle"/>
            <a:tailEnd len="med" w="med" type="none"/>
          </a:ln>
        </p:spPr>
      </p:cxnSp>
      <p:sp>
        <p:nvSpPr>
          <p:cNvPr id="957" name="Google Shape;957;p96"/>
          <p:cNvSpPr txBox="1"/>
          <p:nvPr/>
        </p:nvSpPr>
        <p:spPr>
          <a:xfrm>
            <a:off x="-31575" y="1245350"/>
            <a:ext cx="2220300" cy="231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GB" sz="1300">
                <a:solidFill>
                  <a:schemeClr val="dk2"/>
                </a:solidFill>
              </a:rPr>
              <a:t>Pre-training</a:t>
            </a:r>
            <a:endParaRPr b="1" sz="1300">
              <a:solidFill>
                <a:schemeClr val="dk2"/>
              </a:solidFill>
            </a:endParaRPr>
          </a:p>
        </p:txBody>
      </p:sp>
      <p:pic>
        <p:nvPicPr>
          <p:cNvPr id="958" name="Google Shape;958;p96"/>
          <p:cNvPicPr preferRelativeResize="0"/>
          <p:nvPr/>
        </p:nvPicPr>
        <p:blipFill>
          <a:blip r:embed="rId5">
            <a:alphaModFix/>
          </a:blip>
          <a:stretch>
            <a:fillRect/>
          </a:stretch>
        </p:blipFill>
        <p:spPr>
          <a:xfrm>
            <a:off x="188075" y="2711838"/>
            <a:ext cx="253545" cy="231000"/>
          </a:xfrm>
          <a:prstGeom prst="rect">
            <a:avLst/>
          </a:prstGeom>
          <a:noFill/>
          <a:ln>
            <a:noFill/>
          </a:ln>
        </p:spPr>
      </p:pic>
      <p:sp>
        <p:nvSpPr>
          <p:cNvPr id="959" name="Google Shape;959;p96"/>
          <p:cNvSpPr txBox="1"/>
          <p:nvPr/>
        </p:nvSpPr>
        <p:spPr>
          <a:xfrm>
            <a:off x="272325" y="3789925"/>
            <a:ext cx="1581600" cy="231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t/>
            </a:r>
            <a:endParaRPr b="1" sz="1100">
              <a:solidFill>
                <a:schemeClr val="dk2"/>
              </a:solidFill>
            </a:endParaRPr>
          </a:p>
        </p:txBody>
      </p:sp>
      <p:sp>
        <p:nvSpPr>
          <p:cNvPr id="960" name="Google Shape;960;p96"/>
          <p:cNvSpPr/>
          <p:nvPr/>
        </p:nvSpPr>
        <p:spPr>
          <a:xfrm>
            <a:off x="0" y="1215163"/>
            <a:ext cx="2220300" cy="2960400"/>
          </a:xfrm>
          <a:prstGeom prst="rect">
            <a:avLst/>
          </a:prstGeom>
          <a:solidFill>
            <a:srgbClr val="9E9E9E">
              <a:alpha val="2625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61" name="Google Shape;961;p96"/>
          <p:cNvSpPr txBox="1"/>
          <p:nvPr/>
        </p:nvSpPr>
        <p:spPr>
          <a:xfrm>
            <a:off x="31425" y="4178325"/>
            <a:ext cx="20634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900">
                <a:solidFill>
                  <a:schemeClr val="dk2"/>
                </a:solidFill>
              </a:rPr>
              <a:t>Goal: </a:t>
            </a:r>
            <a:endParaRPr sz="900">
              <a:solidFill>
                <a:schemeClr val="dk2"/>
              </a:solidFill>
            </a:endParaRPr>
          </a:p>
          <a:p>
            <a:pPr indent="0" lvl="0" marL="0" rtl="0" algn="ctr">
              <a:spcBef>
                <a:spcPts val="0"/>
              </a:spcBef>
              <a:spcAft>
                <a:spcPts val="0"/>
              </a:spcAft>
              <a:buNone/>
            </a:pPr>
            <a:r>
              <a:rPr lang="en-GB" sz="900">
                <a:solidFill>
                  <a:schemeClr val="dk2"/>
                </a:solidFill>
              </a:rPr>
              <a:t>Next token prediction</a:t>
            </a:r>
            <a:endParaRPr sz="900">
              <a:solidFill>
                <a:schemeClr val="dk2"/>
              </a:solidFill>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65" name="Shape 965"/>
        <p:cNvGrpSpPr/>
        <p:nvPr/>
      </p:nvGrpSpPr>
      <p:grpSpPr>
        <a:xfrm>
          <a:off x="0" y="0"/>
          <a:ext cx="0" cy="0"/>
          <a:chOff x="0" y="0"/>
          <a:chExt cx="0" cy="0"/>
        </a:xfrm>
      </p:grpSpPr>
      <p:pic>
        <p:nvPicPr>
          <p:cNvPr id="966" name="Google Shape;966;p97"/>
          <p:cNvPicPr preferRelativeResize="0"/>
          <p:nvPr/>
        </p:nvPicPr>
        <p:blipFill>
          <a:blip r:embed="rId3">
            <a:alphaModFix/>
          </a:blip>
          <a:stretch>
            <a:fillRect/>
          </a:stretch>
        </p:blipFill>
        <p:spPr>
          <a:xfrm>
            <a:off x="718037" y="3271624"/>
            <a:ext cx="690176" cy="243700"/>
          </a:xfrm>
          <a:prstGeom prst="rect">
            <a:avLst/>
          </a:prstGeom>
          <a:noFill/>
          <a:ln>
            <a:noFill/>
          </a:ln>
        </p:spPr>
      </p:pic>
      <p:sp>
        <p:nvSpPr>
          <p:cNvPr id="967" name="Google Shape;967;p9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00000"/>
              </a:lnSpc>
              <a:spcBef>
                <a:spcPts val="0"/>
              </a:spcBef>
              <a:spcAft>
                <a:spcPts val="0"/>
              </a:spcAft>
              <a:buSzPct val="111111"/>
              <a:buNone/>
            </a:pPr>
            <a:r>
              <a:rPr b="1" lang="en-GB"/>
              <a:t>LLM training stages</a:t>
            </a:r>
            <a:endParaRPr/>
          </a:p>
        </p:txBody>
      </p:sp>
      <p:sp>
        <p:nvSpPr>
          <p:cNvPr id="968" name="Google Shape;968;p9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
        <p:nvSpPr>
          <p:cNvPr id="969" name="Google Shape;969;p97"/>
          <p:cNvSpPr txBox="1"/>
          <p:nvPr/>
        </p:nvSpPr>
        <p:spPr>
          <a:xfrm>
            <a:off x="272325" y="3789925"/>
            <a:ext cx="1581600" cy="231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t/>
            </a:r>
            <a:endParaRPr b="1" sz="1100">
              <a:solidFill>
                <a:schemeClr val="dk2"/>
              </a:solidFill>
            </a:endParaRPr>
          </a:p>
        </p:txBody>
      </p:sp>
      <p:sp>
        <p:nvSpPr>
          <p:cNvPr id="970" name="Google Shape;970;p97"/>
          <p:cNvSpPr/>
          <p:nvPr/>
        </p:nvSpPr>
        <p:spPr>
          <a:xfrm>
            <a:off x="2953700" y="2991638"/>
            <a:ext cx="1058400" cy="7587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1300">
                <a:solidFill>
                  <a:schemeClr val="lt1"/>
                </a:solidFill>
              </a:rPr>
              <a:t>Pre-trained LM</a:t>
            </a:r>
            <a:endParaRPr sz="1300">
              <a:solidFill>
                <a:schemeClr val="lt1"/>
              </a:solidFill>
            </a:endParaRPr>
          </a:p>
        </p:txBody>
      </p:sp>
      <p:sp>
        <p:nvSpPr>
          <p:cNvPr id="971" name="Google Shape;971;p97"/>
          <p:cNvSpPr/>
          <p:nvPr/>
        </p:nvSpPr>
        <p:spPr>
          <a:xfrm>
            <a:off x="2372750" y="1215163"/>
            <a:ext cx="2220300" cy="2960400"/>
          </a:xfrm>
          <a:prstGeom prst="rect">
            <a:avLst/>
          </a:prstGeom>
          <a:solidFill>
            <a:srgbClr val="9E9E9E">
              <a:alpha val="2625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72" name="Google Shape;972;p97"/>
          <p:cNvSpPr txBox="1"/>
          <p:nvPr/>
        </p:nvSpPr>
        <p:spPr>
          <a:xfrm>
            <a:off x="2372750" y="1215175"/>
            <a:ext cx="2220300" cy="231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GB" sz="1300">
                <a:solidFill>
                  <a:schemeClr val="dk2"/>
                </a:solidFill>
              </a:rPr>
              <a:t>Supervised Finetuning (SFT)</a:t>
            </a:r>
            <a:endParaRPr b="1" sz="1300">
              <a:solidFill>
                <a:schemeClr val="dk2"/>
              </a:solidFill>
            </a:endParaRPr>
          </a:p>
          <a:p>
            <a:pPr indent="0" lvl="0" marL="0" rtl="0" algn="ctr">
              <a:spcBef>
                <a:spcPts val="0"/>
              </a:spcBef>
              <a:spcAft>
                <a:spcPts val="0"/>
              </a:spcAft>
              <a:buNone/>
            </a:pPr>
            <a:r>
              <a:t/>
            </a:r>
            <a:endParaRPr b="1" sz="1300">
              <a:solidFill>
                <a:schemeClr val="dk2"/>
              </a:solidFill>
            </a:endParaRPr>
          </a:p>
        </p:txBody>
      </p:sp>
      <p:pic>
        <p:nvPicPr>
          <p:cNvPr id="973" name="Google Shape;973;p97"/>
          <p:cNvPicPr preferRelativeResize="0"/>
          <p:nvPr/>
        </p:nvPicPr>
        <p:blipFill rotWithShape="1">
          <a:blip r:embed="rId4">
            <a:alphaModFix/>
          </a:blip>
          <a:srcRect b="0" l="0" r="5060" t="0"/>
          <a:stretch/>
        </p:blipFill>
        <p:spPr>
          <a:xfrm>
            <a:off x="2220300" y="2024375"/>
            <a:ext cx="2586724" cy="758700"/>
          </a:xfrm>
          <a:prstGeom prst="rect">
            <a:avLst/>
          </a:prstGeom>
          <a:noFill/>
          <a:ln>
            <a:noFill/>
          </a:ln>
        </p:spPr>
      </p:pic>
      <p:sp>
        <p:nvSpPr>
          <p:cNvPr id="974" name="Google Shape;974;p97"/>
          <p:cNvSpPr/>
          <p:nvPr/>
        </p:nvSpPr>
        <p:spPr>
          <a:xfrm>
            <a:off x="3356150" y="2783075"/>
            <a:ext cx="253500" cy="210000"/>
          </a:xfrm>
          <a:prstGeom prst="mathPlus">
            <a:avLst>
              <a:gd fmla="val 23520" name="adj1"/>
            </a:avLst>
          </a:prstGeom>
          <a:solidFill>
            <a:srgbClr val="1C458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75" name="Google Shape;975;p97"/>
          <p:cNvSpPr txBox="1"/>
          <p:nvPr/>
        </p:nvSpPr>
        <p:spPr>
          <a:xfrm>
            <a:off x="2451200" y="4178325"/>
            <a:ext cx="20634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900">
                <a:solidFill>
                  <a:schemeClr val="dk2"/>
                </a:solidFill>
              </a:rPr>
              <a:t>Goal: Instruction-following</a:t>
            </a:r>
            <a:endParaRPr sz="900">
              <a:solidFill>
                <a:schemeClr val="dk2"/>
              </a:solidFill>
            </a:endParaRPr>
          </a:p>
        </p:txBody>
      </p:sp>
      <p:sp>
        <p:nvSpPr>
          <p:cNvPr id="976" name="Google Shape;976;p97"/>
          <p:cNvSpPr txBox="1"/>
          <p:nvPr/>
        </p:nvSpPr>
        <p:spPr>
          <a:xfrm>
            <a:off x="5732825" y="1115175"/>
            <a:ext cx="3411000" cy="2735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GB" sz="1800">
                <a:solidFill>
                  <a:srgbClr val="CC0000"/>
                </a:solidFill>
              </a:rPr>
              <a:t>Limitation</a:t>
            </a:r>
            <a:endParaRPr b="1" sz="1800">
              <a:solidFill>
                <a:srgbClr val="CC0000"/>
              </a:solidFill>
            </a:endParaRPr>
          </a:p>
          <a:p>
            <a:pPr indent="0" lvl="0" marL="0" rtl="0" algn="l">
              <a:spcBef>
                <a:spcPts val="0"/>
              </a:spcBef>
              <a:spcAft>
                <a:spcPts val="0"/>
              </a:spcAft>
              <a:buNone/>
            </a:pPr>
            <a:r>
              <a:t/>
            </a:r>
            <a:endParaRPr sz="1800">
              <a:solidFill>
                <a:schemeClr val="dk2"/>
              </a:solidFill>
            </a:endParaRPr>
          </a:p>
          <a:p>
            <a:pPr indent="-342900" lvl="0" marL="457200" rtl="0" algn="l">
              <a:spcBef>
                <a:spcPts val="0"/>
              </a:spcBef>
              <a:spcAft>
                <a:spcPts val="0"/>
              </a:spcAft>
              <a:buClr>
                <a:schemeClr val="dk2"/>
              </a:buClr>
              <a:buSzPts val="1800"/>
              <a:buAutoNum type="arabicPeriod"/>
            </a:pPr>
            <a:r>
              <a:rPr b="1" lang="en-GB" sz="1800">
                <a:solidFill>
                  <a:schemeClr val="dk2"/>
                </a:solidFill>
              </a:rPr>
              <a:t>Static Behavior:</a:t>
            </a:r>
            <a:r>
              <a:rPr lang="en-GB" sz="1800">
                <a:solidFill>
                  <a:schemeClr val="dk2"/>
                </a:solidFill>
              </a:rPr>
              <a:t> SFT learns from the fixed datasets; missing instance in train set → poor generalization</a:t>
            </a:r>
            <a:endParaRPr sz="1800">
              <a:solidFill>
                <a:schemeClr val="dk2"/>
              </a:solidFill>
            </a:endParaRPr>
          </a:p>
          <a:p>
            <a:pPr indent="-342900" lvl="0" marL="457200" rtl="0" algn="l">
              <a:spcBef>
                <a:spcPts val="0"/>
              </a:spcBef>
              <a:spcAft>
                <a:spcPts val="0"/>
              </a:spcAft>
              <a:buClr>
                <a:schemeClr val="dk2"/>
              </a:buClr>
              <a:buSzPts val="1800"/>
              <a:buAutoNum type="arabicPeriod"/>
            </a:pPr>
            <a:r>
              <a:rPr b="1" lang="en-GB" sz="1800">
                <a:solidFill>
                  <a:schemeClr val="dk2"/>
                </a:solidFill>
              </a:rPr>
              <a:t>No Explicit Preference Modeling</a:t>
            </a:r>
            <a:r>
              <a:rPr lang="en-GB" sz="1800">
                <a:solidFill>
                  <a:schemeClr val="dk2"/>
                </a:solidFill>
              </a:rPr>
              <a:t>: Two coherent responses are equally good even if one is more useful by the user.</a:t>
            </a:r>
            <a:endParaRPr sz="1800">
              <a:solidFill>
                <a:schemeClr val="dk2"/>
              </a:solidFill>
            </a:endParaRPr>
          </a:p>
          <a:p>
            <a:pPr indent="0" lvl="0" marL="0" rtl="0" algn="l">
              <a:spcBef>
                <a:spcPts val="0"/>
              </a:spcBef>
              <a:spcAft>
                <a:spcPts val="0"/>
              </a:spcAft>
              <a:buNone/>
            </a:pPr>
            <a:r>
              <a:t/>
            </a:r>
            <a:endParaRPr sz="1800">
              <a:solidFill>
                <a:schemeClr val="dk2"/>
              </a:solidFill>
            </a:endParaRPr>
          </a:p>
        </p:txBody>
      </p:sp>
      <p:sp>
        <p:nvSpPr>
          <p:cNvPr id="977" name="Google Shape;977;p97"/>
          <p:cNvSpPr/>
          <p:nvPr/>
        </p:nvSpPr>
        <p:spPr>
          <a:xfrm>
            <a:off x="533925" y="2139250"/>
            <a:ext cx="1058400" cy="7587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a:solidFill>
                  <a:schemeClr val="lt1"/>
                </a:solidFill>
              </a:rPr>
              <a:t>Language Model</a:t>
            </a:r>
            <a:endParaRPr>
              <a:solidFill>
                <a:schemeClr val="lt1"/>
              </a:solidFill>
            </a:endParaRPr>
          </a:p>
        </p:txBody>
      </p:sp>
      <p:cxnSp>
        <p:nvCxnSpPr>
          <p:cNvPr id="978" name="Google Shape;978;p97"/>
          <p:cNvCxnSpPr>
            <a:stCxn id="977" idx="1"/>
            <a:endCxn id="977" idx="3"/>
          </p:cNvCxnSpPr>
          <p:nvPr/>
        </p:nvCxnSpPr>
        <p:spPr>
          <a:xfrm>
            <a:off x="533925" y="2518600"/>
            <a:ext cx="1058400" cy="600"/>
          </a:xfrm>
          <a:prstGeom prst="bentConnector5">
            <a:avLst>
              <a:gd fmla="val -22499" name="adj1"/>
              <a:gd fmla="val 102912500" name="adj2"/>
              <a:gd fmla="val 122499" name="adj3"/>
            </a:avLst>
          </a:prstGeom>
          <a:noFill/>
          <a:ln cap="flat" cmpd="sng" w="9525">
            <a:solidFill>
              <a:srgbClr val="666666"/>
            </a:solidFill>
            <a:prstDash val="solid"/>
            <a:round/>
            <a:headEnd len="med" w="med" type="triangle"/>
            <a:tailEnd len="med" w="med" type="none"/>
          </a:ln>
        </p:spPr>
      </p:cxnSp>
      <p:sp>
        <p:nvSpPr>
          <p:cNvPr id="979" name="Google Shape;979;p97"/>
          <p:cNvSpPr txBox="1"/>
          <p:nvPr/>
        </p:nvSpPr>
        <p:spPr>
          <a:xfrm>
            <a:off x="-31575" y="1245350"/>
            <a:ext cx="2220300" cy="231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GB" sz="1300">
                <a:solidFill>
                  <a:schemeClr val="dk2"/>
                </a:solidFill>
              </a:rPr>
              <a:t>Pre-training</a:t>
            </a:r>
            <a:endParaRPr b="1" sz="1300">
              <a:solidFill>
                <a:schemeClr val="dk2"/>
              </a:solidFill>
            </a:endParaRPr>
          </a:p>
        </p:txBody>
      </p:sp>
      <p:pic>
        <p:nvPicPr>
          <p:cNvPr id="980" name="Google Shape;980;p97"/>
          <p:cNvPicPr preferRelativeResize="0"/>
          <p:nvPr/>
        </p:nvPicPr>
        <p:blipFill>
          <a:blip r:embed="rId5">
            <a:alphaModFix/>
          </a:blip>
          <a:stretch>
            <a:fillRect/>
          </a:stretch>
        </p:blipFill>
        <p:spPr>
          <a:xfrm>
            <a:off x="188075" y="2711838"/>
            <a:ext cx="253545" cy="231000"/>
          </a:xfrm>
          <a:prstGeom prst="rect">
            <a:avLst/>
          </a:prstGeom>
          <a:noFill/>
          <a:ln>
            <a:noFill/>
          </a:ln>
        </p:spPr>
      </p:pic>
      <p:sp>
        <p:nvSpPr>
          <p:cNvPr id="981" name="Google Shape;981;p97"/>
          <p:cNvSpPr txBox="1"/>
          <p:nvPr/>
        </p:nvSpPr>
        <p:spPr>
          <a:xfrm>
            <a:off x="272325" y="3789925"/>
            <a:ext cx="1581600" cy="231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t/>
            </a:r>
            <a:endParaRPr b="1" sz="1100">
              <a:solidFill>
                <a:schemeClr val="dk2"/>
              </a:solidFill>
            </a:endParaRPr>
          </a:p>
        </p:txBody>
      </p:sp>
      <p:sp>
        <p:nvSpPr>
          <p:cNvPr id="982" name="Google Shape;982;p97"/>
          <p:cNvSpPr/>
          <p:nvPr/>
        </p:nvSpPr>
        <p:spPr>
          <a:xfrm>
            <a:off x="0" y="1215163"/>
            <a:ext cx="2220300" cy="2960400"/>
          </a:xfrm>
          <a:prstGeom prst="rect">
            <a:avLst/>
          </a:prstGeom>
          <a:solidFill>
            <a:srgbClr val="9E9E9E">
              <a:alpha val="2625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83" name="Google Shape;983;p97"/>
          <p:cNvSpPr txBox="1"/>
          <p:nvPr/>
        </p:nvSpPr>
        <p:spPr>
          <a:xfrm>
            <a:off x="31425" y="4178325"/>
            <a:ext cx="20634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900">
                <a:solidFill>
                  <a:schemeClr val="dk2"/>
                </a:solidFill>
              </a:rPr>
              <a:t>Goal: </a:t>
            </a:r>
            <a:endParaRPr sz="900">
              <a:solidFill>
                <a:schemeClr val="dk2"/>
              </a:solidFill>
            </a:endParaRPr>
          </a:p>
          <a:p>
            <a:pPr indent="0" lvl="0" marL="0" rtl="0" algn="ctr">
              <a:spcBef>
                <a:spcPts val="0"/>
              </a:spcBef>
              <a:spcAft>
                <a:spcPts val="0"/>
              </a:spcAft>
              <a:buNone/>
            </a:pPr>
            <a:r>
              <a:rPr lang="en-GB" sz="900">
                <a:solidFill>
                  <a:schemeClr val="dk2"/>
                </a:solidFill>
              </a:rPr>
              <a:t>Next token prediction</a:t>
            </a:r>
            <a:endParaRPr sz="900">
              <a:solidFill>
                <a:schemeClr val="dk2"/>
              </a:solidFill>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87" name="Shape 987"/>
        <p:cNvGrpSpPr/>
        <p:nvPr/>
      </p:nvGrpSpPr>
      <p:grpSpPr>
        <a:xfrm>
          <a:off x="0" y="0"/>
          <a:ext cx="0" cy="0"/>
          <a:chOff x="0" y="0"/>
          <a:chExt cx="0" cy="0"/>
        </a:xfrm>
      </p:grpSpPr>
      <p:pic>
        <p:nvPicPr>
          <p:cNvPr id="988" name="Google Shape;988;p98"/>
          <p:cNvPicPr preferRelativeResize="0"/>
          <p:nvPr/>
        </p:nvPicPr>
        <p:blipFill>
          <a:blip r:embed="rId3">
            <a:alphaModFix/>
          </a:blip>
          <a:stretch>
            <a:fillRect/>
          </a:stretch>
        </p:blipFill>
        <p:spPr>
          <a:xfrm>
            <a:off x="718037" y="3271624"/>
            <a:ext cx="690176" cy="243700"/>
          </a:xfrm>
          <a:prstGeom prst="rect">
            <a:avLst/>
          </a:prstGeom>
          <a:noFill/>
          <a:ln>
            <a:noFill/>
          </a:ln>
        </p:spPr>
      </p:pic>
      <p:pic>
        <p:nvPicPr>
          <p:cNvPr id="989" name="Google Shape;989;p98"/>
          <p:cNvPicPr preferRelativeResize="0"/>
          <p:nvPr/>
        </p:nvPicPr>
        <p:blipFill>
          <a:blip r:embed="rId4">
            <a:alphaModFix/>
          </a:blip>
          <a:stretch>
            <a:fillRect/>
          </a:stretch>
        </p:blipFill>
        <p:spPr>
          <a:xfrm>
            <a:off x="4964275" y="3099751"/>
            <a:ext cx="1782755" cy="300250"/>
          </a:xfrm>
          <a:prstGeom prst="rect">
            <a:avLst/>
          </a:prstGeom>
          <a:noFill/>
          <a:ln>
            <a:noFill/>
          </a:ln>
        </p:spPr>
      </p:pic>
      <p:sp>
        <p:nvSpPr>
          <p:cNvPr id="990" name="Google Shape;990;p98"/>
          <p:cNvSpPr/>
          <p:nvPr/>
        </p:nvSpPr>
        <p:spPr>
          <a:xfrm>
            <a:off x="4690225" y="1215163"/>
            <a:ext cx="2220300" cy="2960400"/>
          </a:xfrm>
          <a:prstGeom prst="rect">
            <a:avLst/>
          </a:prstGeom>
          <a:solidFill>
            <a:srgbClr val="9E9E9E">
              <a:alpha val="2625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91" name="Google Shape;991;p9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00000"/>
              </a:lnSpc>
              <a:spcBef>
                <a:spcPts val="0"/>
              </a:spcBef>
              <a:spcAft>
                <a:spcPts val="0"/>
              </a:spcAft>
              <a:buSzPct val="111111"/>
              <a:buNone/>
            </a:pPr>
            <a:r>
              <a:rPr b="1" lang="en-GB"/>
              <a:t>LLM training stages</a:t>
            </a:r>
            <a:endParaRPr/>
          </a:p>
        </p:txBody>
      </p:sp>
      <p:sp>
        <p:nvSpPr>
          <p:cNvPr id="992" name="Google Shape;992;p9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
        <p:nvSpPr>
          <p:cNvPr id="993" name="Google Shape;993;p98"/>
          <p:cNvSpPr/>
          <p:nvPr/>
        </p:nvSpPr>
        <p:spPr>
          <a:xfrm>
            <a:off x="533925" y="2139250"/>
            <a:ext cx="1058400" cy="7587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a:solidFill>
                  <a:schemeClr val="lt1"/>
                </a:solidFill>
              </a:rPr>
              <a:t>Language Model</a:t>
            </a:r>
            <a:endParaRPr>
              <a:solidFill>
                <a:schemeClr val="lt1"/>
              </a:solidFill>
            </a:endParaRPr>
          </a:p>
        </p:txBody>
      </p:sp>
      <p:cxnSp>
        <p:nvCxnSpPr>
          <p:cNvPr id="994" name="Google Shape;994;p98"/>
          <p:cNvCxnSpPr>
            <a:stCxn id="993" idx="1"/>
            <a:endCxn id="993" idx="3"/>
          </p:cNvCxnSpPr>
          <p:nvPr/>
        </p:nvCxnSpPr>
        <p:spPr>
          <a:xfrm>
            <a:off x="533925" y="2518600"/>
            <a:ext cx="1058400" cy="600"/>
          </a:xfrm>
          <a:prstGeom prst="bentConnector5">
            <a:avLst>
              <a:gd fmla="val -22499" name="adj1"/>
              <a:gd fmla="val 102912500" name="adj2"/>
              <a:gd fmla="val 122499" name="adj3"/>
            </a:avLst>
          </a:prstGeom>
          <a:noFill/>
          <a:ln cap="flat" cmpd="sng" w="9525">
            <a:solidFill>
              <a:srgbClr val="666666"/>
            </a:solidFill>
            <a:prstDash val="solid"/>
            <a:round/>
            <a:headEnd len="med" w="med" type="triangle"/>
            <a:tailEnd len="med" w="med" type="none"/>
          </a:ln>
        </p:spPr>
      </p:cxnSp>
      <p:sp>
        <p:nvSpPr>
          <p:cNvPr id="995" name="Google Shape;995;p98"/>
          <p:cNvSpPr txBox="1"/>
          <p:nvPr/>
        </p:nvSpPr>
        <p:spPr>
          <a:xfrm>
            <a:off x="-31575" y="1245350"/>
            <a:ext cx="2220300" cy="231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GB" sz="1300">
                <a:solidFill>
                  <a:schemeClr val="dk2"/>
                </a:solidFill>
              </a:rPr>
              <a:t>Pre-training</a:t>
            </a:r>
            <a:endParaRPr b="1" sz="1300">
              <a:solidFill>
                <a:schemeClr val="dk2"/>
              </a:solidFill>
            </a:endParaRPr>
          </a:p>
        </p:txBody>
      </p:sp>
      <p:pic>
        <p:nvPicPr>
          <p:cNvPr id="996" name="Google Shape;996;p98"/>
          <p:cNvPicPr preferRelativeResize="0"/>
          <p:nvPr/>
        </p:nvPicPr>
        <p:blipFill>
          <a:blip r:embed="rId5">
            <a:alphaModFix/>
          </a:blip>
          <a:stretch>
            <a:fillRect/>
          </a:stretch>
        </p:blipFill>
        <p:spPr>
          <a:xfrm>
            <a:off x="188075" y="2711838"/>
            <a:ext cx="253545" cy="231000"/>
          </a:xfrm>
          <a:prstGeom prst="rect">
            <a:avLst/>
          </a:prstGeom>
          <a:noFill/>
          <a:ln>
            <a:noFill/>
          </a:ln>
        </p:spPr>
      </p:pic>
      <p:sp>
        <p:nvSpPr>
          <p:cNvPr id="997" name="Google Shape;997;p98"/>
          <p:cNvSpPr txBox="1"/>
          <p:nvPr/>
        </p:nvSpPr>
        <p:spPr>
          <a:xfrm>
            <a:off x="272325" y="3789925"/>
            <a:ext cx="1581600" cy="231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t/>
            </a:r>
            <a:endParaRPr b="1" sz="1100">
              <a:solidFill>
                <a:schemeClr val="dk2"/>
              </a:solidFill>
            </a:endParaRPr>
          </a:p>
        </p:txBody>
      </p:sp>
      <p:sp>
        <p:nvSpPr>
          <p:cNvPr id="998" name="Google Shape;998;p98"/>
          <p:cNvSpPr/>
          <p:nvPr/>
        </p:nvSpPr>
        <p:spPr>
          <a:xfrm>
            <a:off x="2953700" y="2991638"/>
            <a:ext cx="1058400" cy="7587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1300">
                <a:solidFill>
                  <a:schemeClr val="lt1"/>
                </a:solidFill>
              </a:rPr>
              <a:t>Pre-trained LM</a:t>
            </a:r>
            <a:endParaRPr sz="1300">
              <a:solidFill>
                <a:schemeClr val="lt1"/>
              </a:solidFill>
            </a:endParaRPr>
          </a:p>
        </p:txBody>
      </p:sp>
      <p:sp>
        <p:nvSpPr>
          <p:cNvPr id="999" name="Google Shape;999;p98"/>
          <p:cNvSpPr/>
          <p:nvPr/>
        </p:nvSpPr>
        <p:spPr>
          <a:xfrm>
            <a:off x="2345125" y="1215163"/>
            <a:ext cx="2220300" cy="2960400"/>
          </a:xfrm>
          <a:prstGeom prst="rect">
            <a:avLst/>
          </a:prstGeom>
          <a:solidFill>
            <a:srgbClr val="9E9E9E">
              <a:alpha val="2625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00" name="Google Shape;1000;p98"/>
          <p:cNvSpPr txBox="1"/>
          <p:nvPr/>
        </p:nvSpPr>
        <p:spPr>
          <a:xfrm>
            <a:off x="2372750" y="1215175"/>
            <a:ext cx="2220300" cy="231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GB" sz="1300">
                <a:solidFill>
                  <a:schemeClr val="dk2"/>
                </a:solidFill>
              </a:rPr>
              <a:t>Supervised Finetuning (SFT)</a:t>
            </a:r>
            <a:endParaRPr b="1" sz="1300">
              <a:solidFill>
                <a:schemeClr val="dk2"/>
              </a:solidFill>
            </a:endParaRPr>
          </a:p>
          <a:p>
            <a:pPr indent="0" lvl="0" marL="0" rtl="0" algn="ctr">
              <a:spcBef>
                <a:spcPts val="0"/>
              </a:spcBef>
              <a:spcAft>
                <a:spcPts val="0"/>
              </a:spcAft>
              <a:buNone/>
            </a:pPr>
            <a:r>
              <a:t/>
            </a:r>
            <a:endParaRPr b="1" sz="1300">
              <a:solidFill>
                <a:schemeClr val="dk2"/>
              </a:solidFill>
            </a:endParaRPr>
          </a:p>
        </p:txBody>
      </p:sp>
      <p:pic>
        <p:nvPicPr>
          <p:cNvPr id="1001" name="Google Shape;1001;p98"/>
          <p:cNvPicPr preferRelativeResize="0"/>
          <p:nvPr/>
        </p:nvPicPr>
        <p:blipFill rotWithShape="1">
          <a:blip r:embed="rId6">
            <a:alphaModFix/>
          </a:blip>
          <a:srcRect b="0" l="0" r="5060" t="0"/>
          <a:stretch/>
        </p:blipFill>
        <p:spPr>
          <a:xfrm>
            <a:off x="2189538" y="2024375"/>
            <a:ext cx="2586724" cy="758700"/>
          </a:xfrm>
          <a:prstGeom prst="rect">
            <a:avLst/>
          </a:prstGeom>
          <a:noFill/>
          <a:ln>
            <a:noFill/>
          </a:ln>
        </p:spPr>
      </p:pic>
      <p:sp>
        <p:nvSpPr>
          <p:cNvPr id="1002" name="Google Shape;1002;p98"/>
          <p:cNvSpPr/>
          <p:nvPr/>
        </p:nvSpPr>
        <p:spPr>
          <a:xfrm>
            <a:off x="3356150" y="2783075"/>
            <a:ext cx="253500" cy="210000"/>
          </a:xfrm>
          <a:prstGeom prst="mathPlus">
            <a:avLst>
              <a:gd fmla="val 23520" name="adj1"/>
            </a:avLst>
          </a:prstGeom>
          <a:solidFill>
            <a:srgbClr val="1C458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03" name="Google Shape;1003;p98"/>
          <p:cNvSpPr txBox="1"/>
          <p:nvPr/>
        </p:nvSpPr>
        <p:spPr>
          <a:xfrm>
            <a:off x="2451200" y="4178325"/>
            <a:ext cx="20634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900">
                <a:solidFill>
                  <a:schemeClr val="dk2"/>
                </a:solidFill>
              </a:rPr>
              <a:t>Goal: </a:t>
            </a:r>
            <a:endParaRPr sz="900">
              <a:solidFill>
                <a:schemeClr val="dk2"/>
              </a:solidFill>
            </a:endParaRPr>
          </a:p>
          <a:p>
            <a:pPr indent="0" lvl="0" marL="0" rtl="0" algn="ctr">
              <a:spcBef>
                <a:spcPts val="0"/>
              </a:spcBef>
              <a:spcAft>
                <a:spcPts val="0"/>
              </a:spcAft>
              <a:buNone/>
            </a:pPr>
            <a:r>
              <a:rPr lang="en-GB" sz="900">
                <a:solidFill>
                  <a:schemeClr val="dk2"/>
                </a:solidFill>
              </a:rPr>
              <a:t>Instruction-following</a:t>
            </a:r>
            <a:endParaRPr sz="900">
              <a:solidFill>
                <a:schemeClr val="dk2"/>
              </a:solidFill>
            </a:endParaRPr>
          </a:p>
        </p:txBody>
      </p:sp>
      <p:sp>
        <p:nvSpPr>
          <p:cNvPr id="1004" name="Google Shape;1004;p98"/>
          <p:cNvSpPr/>
          <p:nvPr/>
        </p:nvSpPr>
        <p:spPr>
          <a:xfrm>
            <a:off x="0" y="1215163"/>
            <a:ext cx="2220300" cy="2960400"/>
          </a:xfrm>
          <a:prstGeom prst="rect">
            <a:avLst/>
          </a:prstGeom>
          <a:solidFill>
            <a:srgbClr val="9E9E9E">
              <a:alpha val="2625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05" name="Google Shape;1005;p98"/>
          <p:cNvSpPr txBox="1"/>
          <p:nvPr/>
        </p:nvSpPr>
        <p:spPr>
          <a:xfrm>
            <a:off x="31425" y="4178325"/>
            <a:ext cx="20634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900">
                <a:solidFill>
                  <a:schemeClr val="dk2"/>
                </a:solidFill>
              </a:rPr>
              <a:t>Goal: </a:t>
            </a:r>
            <a:endParaRPr sz="900">
              <a:solidFill>
                <a:schemeClr val="dk2"/>
              </a:solidFill>
            </a:endParaRPr>
          </a:p>
          <a:p>
            <a:pPr indent="0" lvl="0" marL="0" rtl="0" algn="ctr">
              <a:spcBef>
                <a:spcPts val="0"/>
              </a:spcBef>
              <a:spcAft>
                <a:spcPts val="0"/>
              </a:spcAft>
              <a:buNone/>
            </a:pPr>
            <a:r>
              <a:rPr lang="en-GB" sz="900">
                <a:solidFill>
                  <a:schemeClr val="dk2"/>
                </a:solidFill>
              </a:rPr>
              <a:t>Next token prediction</a:t>
            </a:r>
            <a:endParaRPr sz="900">
              <a:solidFill>
                <a:schemeClr val="dk2"/>
              </a:solidFill>
            </a:endParaRPr>
          </a:p>
        </p:txBody>
      </p:sp>
      <p:sp>
        <p:nvSpPr>
          <p:cNvPr id="1006" name="Google Shape;1006;p98"/>
          <p:cNvSpPr txBox="1"/>
          <p:nvPr/>
        </p:nvSpPr>
        <p:spPr>
          <a:xfrm>
            <a:off x="4690238" y="1215175"/>
            <a:ext cx="2220300" cy="231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GB" sz="1300">
                <a:solidFill>
                  <a:schemeClr val="dk2"/>
                </a:solidFill>
              </a:rPr>
              <a:t>Preference Finetuning</a:t>
            </a:r>
            <a:endParaRPr b="1" sz="1300">
              <a:solidFill>
                <a:schemeClr val="dk2"/>
              </a:solidFill>
            </a:endParaRPr>
          </a:p>
          <a:p>
            <a:pPr indent="0" lvl="0" marL="0" rtl="0" algn="ctr">
              <a:spcBef>
                <a:spcPts val="0"/>
              </a:spcBef>
              <a:spcAft>
                <a:spcPts val="0"/>
              </a:spcAft>
              <a:buNone/>
            </a:pPr>
            <a:r>
              <a:rPr b="1" lang="en-GB" sz="1300">
                <a:solidFill>
                  <a:schemeClr val="dk2"/>
                </a:solidFill>
              </a:rPr>
              <a:t>(RLHF)</a:t>
            </a:r>
            <a:endParaRPr b="1" sz="1300">
              <a:solidFill>
                <a:schemeClr val="dk2"/>
              </a:solidFill>
            </a:endParaRPr>
          </a:p>
          <a:p>
            <a:pPr indent="0" lvl="0" marL="0" rtl="0" algn="ctr">
              <a:spcBef>
                <a:spcPts val="0"/>
              </a:spcBef>
              <a:spcAft>
                <a:spcPts val="0"/>
              </a:spcAft>
              <a:buNone/>
            </a:pPr>
            <a:r>
              <a:t/>
            </a:r>
            <a:endParaRPr b="1" sz="1300">
              <a:solidFill>
                <a:schemeClr val="dk2"/>
              </a:solidFill>
            </a:endParaRPr>
          </a:p>
        </p:txBody>
      </p:sp>
      <p:sp>
        <p:nvSpPr>
          <p:cNvPr id="1007" name="Google Shape;1007;p98"/>
          <p:cNvSpPr/>
          <p:nvPr/>
        </p:nvSpPr>
        <p:spPr>
          <a:xfrm>
            <a:off x="5271188" y="2139250"/>
            <a:ext cx="1058400" cy="7587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a:solidFill>
                  <a:schemeClr val="lt1"/>
                </a:solidFill>
              </a:rPr>
              <a:t>SFT Model</a:t>
            </a:r>
            <a:endParaRPr>
              <a:solidFill>
                <a:schemeClr val="lt1"/>
              </a:solidFill>
            </a:endParaRPr>
          </a:p>
        </p:txBody>
      </p:sp>
      <p:sp>
        <p:nvSpPr>
          <p:cNvPr id="1008" name="Google Shape;1008;p98"/>
          <p:cNvSpPr txBox="1"/>
          <p:nvPr/>
        </p:nvSpPr>
        <p:spPr>
          <a:xfrm>
            <a:off x="4823950" y="4178325"/>
            <a:ext cx="2063400" cy="446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Clr>
                <a:schemeClr val="dk1"/>
              </a:buClr>
              <a:buSzPts val="1100"/>
              <a:buFont typeface="Arial"/>
              <a:buNone/>
            </a:pPr>
            <a:r>
              <a:rPr lang="en-GB" sz="900">
                <a:solidFill>
                  <a:schemeClr val="dk2"/>
                </a:solidFill>
              </a:rPr>
              <a:t>Goal: </a:t>
            </a:r>
            <a:r>
              <a:rPr lang="en-GB" sz="800">
                <a:solidFill>
                  <a:schemeClr val="dk2"/>
                </a:solidFill>
              </a:rPr>
              <a:t>Shift the token distribution towards those more aligned to user preference</a:t>
            </a:r>
            <a:endParaRPr sz="800">
              <a:solidFill>
                <a:schemeClr val="dk2"/>
              </a:solidFill>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12" name="Shape 1012"/>
        <p:cNvGrpSpPr/>
        <p:nvPr/>
      </p:nvGrpSpPr>
      <p:grpSpPr>
        <a:xfrm>
          <a:off x="0" y="0"/>
          <a:ext cx="0" cy="0"/>
          <a:chOff x="0" y="0"/>
          <a:chExt cx="0" cy="0"/>
        </a:xfrm>
      </p:grpSpPr>
      <p:sp>
        <p:nvSpPr>
          <p:cNvPr id="1013" name="Google Shape;1013;p99"/>
          <p:cNvSpPr/>
          <p:nvPr/>
        </p:nvSpPr>
        <p:spPr>
          <a:xfrm>
            <a:off x="7007725" y="1215175"/>
            <a:ext cx="2136300" cy="2960400"/>
          </a:xfrm>
          <a:prstGeom prst="rect">
            <a:avLst/>
          </a:prstGeom>
          <a:solidFill>
            <a:srgbClr val="9E9E9E">
              <a:alpha val="2625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014" name="Google Shape;1014;p99"/>
          <p:cNvPicPr preferRelativeResize="0"/>
          <p:nvPr/>
        </p:nvPicPr>
        <p:blipFill>
          <a:blip r:embed="rId3">
            <a:alphaModFix/>
          </a:blip>
          <a:stretch>
            <a:fillRect/>
          </a:stretch>
        </p:blipFill>
        <p:spPr>
          <a:xfrm>
            <a:off x="718037" y="3271624"/>
            <a:ext cx="690176" cy="243700"/>
          </a:xfrm>
          <a:prstGeom prst="rect">
            <a:avLst/>
          </a:prstGeom>
          <a:noFill/>
          <a:ln>
            <a:noFill/>
          </a:ln>
        </p:spPr>
      </p:pic>
      <p:pic>
        <p:nvPicPr>
          <p:cNvPr id="1015" name="Google Shape;1015;p99"/>
          <p:cNvPicPr preferRelativeResize="0"/>
          <p:nvPr/>
        </p:nvPicPr>
        <p:blipFill>
          <a:blip r:embed="rId4">
            <a:alphaModFix/>
          </a:blip>
          <a:stretch>
            <a:fillRect/>
          </a:stretch>
        </p:blipFill>
        <p:spPr>
          <a:xfrm>
            <a:off x="4964275" y="3099751"/>
            <a:ext cx="1782755" cy="300250"/>
          </a:xfrm>
          <a:prstGeom prst="rect">
            <a:avLst/>
          </a:prstGeom>
          <a:noFill/>
          <a:ln>
            <a:noFill/>
          </a:ln>
        </p:spPr>
      </p:pic>
      <p:sp>
        <p:nvSpPr>
          <p:cNvPr id="1016" name="Google Shape;1016;p99"/>
          <p:cNvSpPr/>
          <p:nvPr/>
        </p:nvSpPr>
        <p:spPr>
          <a:xfrm>
            <a:off x="4690225" y="1215163"/>
            <a:ext cx="2220300" cy="2960400"/>
          </a:xfrm>
          <a:prstGeom prst="rect">
            <a:avLst/>
          </a:prstGeom>
          <a:solidFill>
            <a:srgbClr val="9E9E9E">
              <a:alpha val="2625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17" name="Google Shape;1017;p9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00000"/>
              </a:lnSpc>
              <a:spcBef>
                <a:spcPts val="0"/>
              </a:spcBef>
              <a:spcAft>
                <a:spcPts val="0"/>
              </a:spcAft>
              <a:buSzPct val="111111"/>
              <a:buNone/>
            </a:pPr>
            <a:r>
              <a:rPr b="1" lang="en-GB"/>
              <a:t>LLM training stages</a:t>
            </a:r>
            <a:endParaRPr/>
          </a:p>
        </p:txBody>
      </p:sp>
      <p:sp>
        <p:nvSpPr>
          <p:cNvPr id="1018" name="Google Shape;1018;p9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
        <p:nvSpPr>
          <p:cNvPr id="1019" name="Google Shape;1019;p99"/>
          <p:cNvSpPr/>
          <p:nvPr/>
        </p:nvSpPr>
        <p:spPr>
          <a:xfrm>
            <a:off x="533925" y="2139250"/>
            <a:ext cx="1058400" cy="7587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a:solidFill>
                  <a:schemeClr val="lt1"/>
                </a:solidFill>
              </a:rPr>
              <a:t>Language Model</a:t>
            </a:r>
            <a:endParaRPr>
              <a:solidFill>
                <a:schemeClr val="lt1"/>
              </a:solidFill>
            </a:endParaRPr>
          </a:p>
        </p:txBody>
      </p:sp>
      <p:cxnSp>
        <p:nvCxnSpPr>
          <p:cNvPr id="1020" name="Google Shape;1020;p99"/>
          <p:cNvCxnSpPr>
            <a:stCxn id="1019" idx="1"/>
            <a:endCxn id="1019" idx="3"/>
          </p:cNvCxnSpPr>
          <p:nvPr/>
        </p:nvCxnSpPr>
        <p:spPr>
          <a:xfrm>
            <a:off x="533925" y="2518600"/>
            <a:ext cx="1058400" cy="600"/>
          </a:xfrm>
          <a:prstGeom prst="bentConnector5">
            <a:avLst>
              <a:gd fmla="val -22499" name="adj1"/>
              <a:gd fmla="val 102912500" name="adj2"/>
              <a:gd fmla="val 122499" name="adj3"/>
            </a:avLst>
          </a:prstGeom>
          <a:noFill/>
          <a:ln cap="flat" cmpd="sng" w="9525">
            <a:solidFill>
              <a:srgbClr val="666666"/>
            </a:solidFill>
            <a:prstDash val="solid"/>
            <a:round/>
            <a:headEnd len="med" w="med" type="triangle"/>
            <a:tailEnd len="med" w="med" type="none"/>
          </a:ln>
        </p:spPr>
      </p:cxnSp>
      <p:sp>
        <p:nvSpPr>
          <p:cNvPr id="1021" name="Google Shape;1021;p99"/>
          <p:cNvSpPr txBox="1"/>
          <p:nvPr/>
        </p:nvSpPr>
        <p:spPr>
          <a:xfrm>
            <a:off x="-31575" y="1245350"/>
            <a:ext cx="2220300" cy="231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GB" sz="1300">
                <a:solidFill>
                  <a:schemeClr val="dk2"/>
                </a:solidFill>
              </a:rPr>
              <a:t>Pre-training</a:t>
            </a:r>
            <a:endParaRPr b="1" sz="1300">
              <a:solidFill>
                <a:schemeClr val="dk2"/>
              </a:solidFill>
            </a:endParaRPr>
          </a:p>
        </p:txBody>
      </p:sp>
      <p:pic>
        <p:nvPicPr>
          <p:cNvPr id="1022" name="Google Shape;1022;p99"/>
          <p:cNvPicPr preferRelativeResize="0"/>
          <p:nvPr/>
        </p:nvPicPr>
        <p:blipFill>
          <a:blip r:embed="rId5">
            <a:alphaModFix/>
          </a:blip>
          <a:stretch>
            <a:fillRect/>
          </a:stretch>
        </p:blipFill>
        <p:spPr>
          <a:xfrm>
            <a:off x="188075" y="2711838"/>
            <a:ext cx="253545" cy="231000"/>
          </a:xfrm>
          <a:prstGeom prst="rect">
            <a:avLst/>
          </a:prstGeom>
          <a:noFill/>
          <a:ln>
            <a:noFill/>
          </a:ln>
        </p:spPr>
      </p:pic>
      <p:sp>
        <p:nvSpPr>
          <p:cNvPr id="1023" name="Google Shape;1023;p99"/>
          <p:cNvSpPr txBox="1"/>
          <p:nvPr/>
        </p:nvSpPr>
        <p:spPr>
          <a:xfrm>
            <a:off x="272325" y="3789925"/>
            <a:ext cx="1581600" cy="231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t/>
            </a:r>
            <a:endParaRPr b="1" sz="1100">
              <a:solidFill>
                <a:schemeClr val="dk2"/>
              </a:solidFill>
            </a:endParaRPr>
          </a:p>
        </p:txBody>
      </p:sp>
      <p:sp>
        <p:nvSpPr>
          <p:cNvPr id="1024" name="Google Shape;1024;p99"/>
          <p:cNvSpPr/>
          <p:nvPr/>
        </p:nvSpPr>
        <p:spPr>
          <a:xfrm>
            <a:off x="2953700" y="2991638"/>
            <a:ext cx="1058400" cy="7587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1300">
                <a:solidFill>
                  <a:schemeClr val="lt1"/>
                </a:solidFill>
              </a:rPr>
              <a:t>Pre-trained LM</a:t>
            </a:r>
            <a:endParaRPr sz="1300">
              <a:solidFill>
                <a:schemeClr val="lt1"/>
              </a:solidFill>
            </a:endParaRPr>
          </a:p>
        </p:txBody>
      </p:sp>
      <p:sp>
        <p:nvSpPr>
          <p:cNvPr id="1025" name="Google Shape;1025;p99"/>
          <p:cNvSpPr/>
          <p:nvPr/>
        </p:nvSpPr>
        <p:spPr>
          <a:xfrm>
            <a:off x="2345125" y="1215163"/>
            <a:ext cx="2220300" cy="2960400"/>
          </a:xfrm>
          <a:prstGeom prst="rect">
            <a:avLst/>
          </a:prstGeom>
          <a:solidFill>
            <a:srgbClr val="9E9E9E">
              <a:alpha val="2625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26" name="Google Shape;1026;p99"/>
          <p:cNvSpPr txBox="1"/>
          <p:nvPr/>
        </p:nvSpPr>
        <p:spPr>
          <a:xfrm>
            <a:off x="2372750" y="1215175"/>
            <a:ext cx="2220300" cy="231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GB" sz="1300">
                <a:solidFill>
                  <a:schemeClr val="dk2"/>
                </a:solidFill>
              </a:rPr>
              <a:t>Supervised Finetuning (SFT)</a:t>
            </a:r>
            <a:endParaRPr b="1" sz="1300">
              <a:solidFill>
                <a:schemeClr val="dk2"/>
              </a:solidFill>
            </a:endParaRPr>
          </a:p>
          <a:p>
            <a:pPr indent="0" lvl="0" marL="0" rtl="0" algn="ctr">
              <a:spcBef>
                <a:spcPts val="0"/>
              </a:spcBef>
              <a:spcAft>
                <a:spcPts val="0"/>
              </a:spcAft>
              <a:buNone/>
            </a:pPr>
            <a:r>
              <a:t/>
            </a:r>
            <a:endParaRPr b="1" sz="1300">
              <a:solidFill>
                <a:schemeClr val="dk2"/>
              </a:solidFill>
            </a:endParaRPr>
          </a:p>
        </p:txBody>
      </p:sp>
      <p:pic>
        <p:nvPicPr>
          <p:cNvPr id="1027" name="Google Shape;1027;p99"/>
          <p:cNvPicPr preferRelativeResize="0"/>
          <p:nvPr/>
        </p:nvPicPr>
        <p:blipFill rotWithShape="1">
          <a:blip r:embed="rId6">
            <a:alphaModFix/>
          </a:blip>
          <a:srcRect b="0" l="0" r="5060" t="0"/>
          <a:stretch/>
        </p:blipFill>
        <p:spPr>
          <a:xfrm>
            <a:off x="2189538" y="2024375"/>
            <a:ext cx="2586724" cy="758700"/>
          </a:xfrm>
          <a:prstGeom prst="rect">
            <a:avLst/>
          </a:prstGeom>
          <a:noFill/>
          <a:ln>
            <a:noFill/>
          </a:ln>
        </p:spPr>
      </p:pic>
      <p:sp>
        <p:nvSpPr>
          <p:cNvPr id="1028" name="Google Shape;1028;p99"/>
          <p:cNvSpPr/>
          <p:nvPr/>
        </p:nvSpPr>
        <p:spPr>
          <a:xfrm>
            <a:off x="3356150" y="2783075"/>
            <a:ext cx="253500" cy="210000"/>
          </a:xfrm>
          <a:prstGeom prst="mathPlus">
            <a:avLst>
              <a:gd fmla="val 23520" name="adj1"/>
            </a:avLst>
          </a:prstGeom>
          <a:solidFill>
            <a:srgbClr val="1C458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29" name="Google Shape;1029;p99"/>
          <p:cNvSpPr txBox="1"/>
          <p:nvPr/>
        </p:nvSpPr>
        <p:spPr>
          <a:xfrm>
            <a:off x="2451200" y="4178325"/>
            <a:ext cx="20634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900">
                <a:solidFill>
                  <a:schemeClr val="dk2"/>
                </a:solidFill>
              </a:rPr>
              <a:t>Goal: </a:t>
            </a:r>
            <a:endParaRPr sz="900">
              <a:solidFill>
                <a:schemeClr val="dk2"/>
              </a:solidFill>
            </a:endParaRPr>
          </a:p>
          <a:p>
            <a:pPr indent="0" lvl="0" marL="0" rtl="0" algn="ctr">
              <a:spcBef>
                <a:spcPts val="0"/>
              </a:spcBef>
              <a:spcAft>
                <a:spcPts val="0"/>
              </a:spcAft>
              <a:buNone/>
            </a:pPr>
            <a:r>
              <a:rPr lang="en-GB" sz="900">
                <a:solidFill>
                  <a:schemeClr val="dk2"/>
                </a:solidFill>
              </a:rPr>
              <a:t>Instruction-following</a:t>
            </a:r>
            <a:endParaRPr sz="900">
              <a:solidFill>
                <a:schemeClr val="dk2"/>
              </a:solidFill>
            </a:endParaRPr>
          </a:p>
        </p:txBody>
      </p:sp>
      <p:sp>
        <p:nvSpPr>
          <p:cNvPr id="1030" name="Google Shape;1030;p99"/>
          <p:cNvSpPr/>
          <p:nvPr/>
        </p:nvSpPr>
        <p:spPr>
          <a:xfrm>
            <a:off x="0" y="1215163"/>
            <a:ext cx="2220300" cy="2960400"/>
          </a:xfrm>
          <a:prstGeom prst="rect">
            <a:avLst/>
          </a:prstGeom>
          <a:solidFill>
            <a:srgbClr val="9E9E9E">
              <a:alpha val="2625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31" name="Google Shape;1031;p99"/>
          <p:cNvSpPr txBox="1"/>
          <p:nvPr/>
        </p:nvSpPr>
        <p:spPr>
          <a:xfrm>
            <a:off x="31425" y="4178325"/>
            <a:ext cx="20634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900">
                <a:solidFill>
                  <a:schemeClr val="dk2"/>
                </a:solidFill>
              </a:rPr>
              <a:t>Goal: </a:t>
            </a:r>
            <a:endParaRPr sz="900">
              <a:solidFill>
                <a:schemeClr val="dk2"/>
              </a:solidFill>
            </a:endParaRPr>
          </a:p>
          <a:p>
            <a:pPr indent="0" lvl="0" marL="0" rtl="0" algn="ctr">
              <a:spcBef>
                <a:spcPts val="0"/>
              </a:spcBef>
              <a:spcAft>
                <a:spcPts val="0"/>
              </a:spcAft>
              <a:buNone/>
            </a:pPr>
            <a:r>
              <a:rPr lang="en-GB" sz="900">
                <a:solidFill>
                  <a:schemeClr val="dk2"/>
                </a:solidFill>
              </a:rPr>
              <a:t>Next token prediction</a:t>
            </a:r>
            <a:endParaRPr sz="900">
              <a:solidFill>
                <a:schemeClr val="dk2"/>
              </a:solidFill>
            </a:endParaRPr>
          </a:p>
        </p:txBody>
      </p:sp>
      <p:sp>
        <p:nvSpPr>
          <p:cNvPr id="1032" name="Google Shape;1032;p99"/>
          <p:cNvSpPr txBox="1"/>
          <p:nvPr/>
        </p:nvSpPr>
        <p:spPr>
          <a:xfrm>
            <a:off x="4690238" y="1215175"/>
            <a:ext cx="2220300" cy="231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GB" sz="1300">
                <a:solidFill>
                  <a:schemeClr val="dk2"/>
                </a:solidFill>
              </a:rPr>
              <a:t>Preference Finetuning</a:t>
            </a:r>
            <a:endParaRPr b="1" sz="1300">
              <a:solidFill>
                <a:schemeClr val="dk2"/>
              </a:solidFill>
            </a:endParaRPr>
          </a:p>
          <a:p>
            <a:pPr indent="0" lvl="0" marL="0" rtl="0" algn="ctr">
              <a:spcBef>
                <a:spcPts val="0"/>
              </a:spcBef>
              <a:spcAft>
                <a:spcPts val="0"/>
              </a:spcAft>
              <a:buNone/>
            </a:pPr>
            <a:r>
              <a:rPr b="1" lang="en-GB" sz="1300">
                <a:solidFill>
                  <a:schemeClr val="dk2"/>
                </a:solidFill>
              </a:rPr>
              <a:t>(RLHF)</a:t>
            </a:r>
            <a:endParaRPr b="1" sz="1300">
              <a:solidFill>
                <a:schemeClr val="dk2"/>
              </a:solidFill>
            </a:endParaRPr>
          </a:p>
          <a:p>
            <a:pPr indent="0" lvl="0" marL="0" rtl="0" algn="ctr">
              <a:spcBef>
                <a:spcPts val="0"/>
              </a:spcBef>
              <a:spcAft>
                <a:spcPts val="0"/>
              </a:spcAft>
              <a:buNone/>
            </a:pPr>
            <a:r>
              <a:t/>
            </a:r>
            <a:endParaRPr b="1" sz="1300">
              <a:solidFill>
                <a:schemeClr val="dk2"/>
              </a:solidFill>
            </a:endParaRPr>
          </a:p>
        </p:txBody>
      </p:sp>
      <p:sp>
        <p:nvSpPr>
          <p:cNvPr id="1033" name="Google Shape;1033;p99"/>
          <p:cNvSpPr/>
          <p:nvPr/>
        </p:nvSpPr>
        <p:spPr>
          <a:xfrm>
            <a:off x="5271188" y="2139250"/>
            <a:ext cx="1058400" cy="7587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a:solidFill>
                  <a:schemeClr val="lt1"/>
                </a:solidFill>
              </a:rPr>
              <a:t>SFT Model</a:t>
            </a:r>
            <a:endParaRPr>
              <a:solidFill>
                <a:schemeClr val="lt1"/>
              </a:solidFill>
            </a:endParaRPr>
          </a:p>
        </p:txBody>
      </p:sp>
      <p:sp>
        <p:nvSpPr>
          <p:cNvPr id="1034" name="Google Shape;1034;p99"/>
          <p:cNvSpPr txBox="1"/>
          <p:nvPr/>
        </p:nvSpPr>
        <p:spPr>
          <a:xfrm>
            <a:off x="4823950" y="4178325"/>
            <a:ext cx="2063400" cy="446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Clr>
                <a:schemeClr val="dk1"/>
              </a:buClr>
              <a:buSzPts val="1100"/>
              <a:buFont typeface="Arial"/>
              <a:buNone/>
            </a:pPr>
            <a:r>
              <a:rPr lang="en-GB" sz="900">
                <a:solidFill>
                  <a:schemeClr val="dk2"/>
                </a:solidFill>
              </a:rPr>
              <a:t>Goal: </a:t>
            </a:r>
            <a:r>
              <a:rPr lang="en-GB" sz="800">
                <a:solidFill>
                  <a:schemeClr val="dk2"/>
                </a:solidFill>
              </a:rPr>
              <a:t>Shift the token distribution towards those more aligned to user preference</a:t>
            </a:r>
            <a:endParaRPr sz="800">
              <a:solidFill>
                <a:schemeClr val="dk2"/>
              </a:solidFill>
            </a:endParaRPr>
          </a:p>
        </p:txBody>
      </p:sp>
      <p:sp>
        <p:nvSpPr>
          <p:cNvPr id="1035" name="Google Shape;1035;p99"/>
          <p:cNvSpPr txBox="1"/>
          <p:nvPr/>
        </p:nvSpPr>
        <p:spPr>
          <a:xfrm>
            <a:off x="7007725" y="1215175"/>
            <a:ext cx="2220300" cy="231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GB" sz="1300">
                <a:solidFill>
                  <a:srgbClr val="595959"/>
                </a:solidFill>
              </a:rPr>
              <a:t>Reasoning</a:t>
            </a:r>
            <a:r>
              <a:rPr b="1" lang="en-GB" sz="1300">
                <a:solidFill>
                  <a:srgbClr val="595959"/>
                </a:solidFill>
              </a:rPr>
              <a:t> Finetuning</a:t>
            </a:r>
            <a:endParaRPr b="1" sz="1300">
              <a:solidFill>
                <a:srgbClr val="595959"/>
              </a:solidFill>
            </a:endParaRPr>
          </a:p>
          <a:p>
            <a:pPr indent="0" lvl="0" marL="0" rtl="0" algn="ctr">
              <a:spcBef>
                <a:spcPts val="0"/>
              </a:spcBef>
              <a:spcAft>
                <a:spcPts val="0"/>
              </a:spcAft>
              <a:buNone/>
            </a:pPr>
            <a:r>
              <a:rPr b="1" lang="en-GB" sz="1300">
                <a:solidFill>
                  <a:srgbClr val="595959"/>
                </a:solidFill>
              </a:rPr>
              <a:t>(RLVR)</a:t>
            </a:r>
            <a:endParaRPr b="1" sz="1300">
              <a:solidFill>
                <a:srgbClr val="595959"/>
              </a:solidFill>
            </a:endParaRPr>
          </a:p>
          <a:p>
            <a:pPr indent="0" lvl="0" marL="0" rtl="0" algn="ctr">
              <a:spcBef>
                <a:spcPts val="0"/>
              </a:spcBef>
              <a:spcAft>
                <a:spcPts val="0"/>
              </a:spcAft>
              <a:buNone/>
            </a:pPr>
            <a:r>
              <a:t/>
            </a:r>
            <a:endParaRPr b="1" sz="1300">
              <a:solidFill>
                <a:srgbClr val="595959"/>
              </a:solidFill>
            </a:endParaRPr>
          </a:p>
        </p:txBody>
      </p:sp>
      <p:sp>
        <p:nvSpPr>
          <p:cNvPr id="1036" name="Google Shape;1036;p99"/>
          <p:cNvSpPr/>
          <p:nvPr/>
        </p:nvSpPr>
        <p:spPr>
          <a:xfrm>
            <a:off x="7618025" y="2139250"/>
            <a:ext cx="1058400" cy="758700"/>
          </a:xfrm>
          <a:prstGeom prst="rect">
            <a:avLst/>
          </a:prstGeom>
          <a:solidFill>
            <a:srgbClr val="00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a:solidFill>
                  <a:srgbClr val="FFFFFF"/>
                </a:solidFill>
              </a:rPr>
              <a:t>SFT Model</a:t>
            </a:r>
            <a:endParaRPr>
              <a:solidFill>
                <a:srgbClr val="FFFFFF"/>
              </a:solidFill>
            </a:endParaRPr>
          </a:p>
        </p:txBody>
      </p:sp>
      <p:sp>
        <p:nvSpPr>
          <p:cNvPr id="1037" name="Google Shape;1037;p99"/>
          <p:cNvSpPr txBox="1"/>
          <p:nvPr/>
        </p:nvSpPr>
        <p:spPr>
          <a:xfrm>
            <a:off x="7086175" y="4178325"/>
            <a:ext cx="2063400" cy="538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900">
                <a:solidFill>
                  <a:schemeClr val="dk2"/>
                </a:solidFill>
              </a:rPr>
              <a:t>Goal: </a:t>
            </a:r>
            <a:r>
              <a:rPr lang="en-GB" sz="700">
                <a:solidFill>
                  <a:schemeClr val="dk2"/>
                </a:solidFill>
              </a:rPr>
              <a:t>Incentivizing reasoning </a:t>
            </a:r>
            <a:endParaRPr sz="700">
              <a:solidFill>
                <a:schemeClr val="dk2"/>
              </a:solidFill>
            </a:endParaRPr>
          </a:p>
          <a:p>
            <a:pPr indent="0" lvl="0" marL="0" rtl="0" algn="ctr">
              <a:spcBef>
                <a:spcPts val="0"/>
              </a:spcBef>
              <a:spcAft>
                <a:spcPts val="0"/>
              </a:spcAft>
              <a:buNone/>
            </a:pPr>
            <a:r>
              <a:rPr lang="en-GB" sz="700">
                <a:solidFill>
                  <a:schemeClr val="dk2"/>
                </a:solidFill>
              </a:rPr>
              <a:t>(e.g., self-reflection, verification and dynamic strategy adaptation) through RL  </a:t>
            </a:r>
            <a:endParaRPr sz="700">
              <a:solidFill>
                <a:schemeClr val="dk2"/>
              </a:solidFill>
            </a:endParaRPr>
          </a:p>
        </p:txBody>
      </p:sp>
      <p:sp>
        <p:nvSpPr>
          <p:cNvPr id="1038" name="Google Shape;1038;p99"/>
          <p:cNvSpPr txBox="1"/>
          <p:nvPr/>
        </p:nvSpPr>
        <p:spPr>
          <a:xfrm>
            <a:off x="7035325" y="3024650"/>
            <a:ext cx="2063400" cy="692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GB" sz="1100">
                <a:solidFill>
                  <a:schemeClr val="dk2"/>
                </a:solidFill>
              </a:rPr>
              <a:t>One correct answer</a:t>
            </a:r>
            <a:r>
              <a:rPr lang="en-GB" sz="1100">
                <a:solidFill>
                  <a:schemeClr val="dk2"/>
                </a:solidFill>
              </a:rPr>
              <a:t> and </a:t>
            </a:r>
            <a:endParaRPr sz="1100">
              <a:solidFill>
                <a:schemeClr val="dk2"/>
              </a:solidFill>
            </a:endParaRPr>
          </a:p>
          <a:p>
            <a:pPr indent="0" lvl="0" marL="0" rtl="0" algn="ctr">
              <a:spcBef>
                <a:spcPts val="0"/>
              </a:spcBef>
              <a:spcAft>
                <a:spcPts val="0"/>
              </a:spcAft>
              <a:buNone/>
            </a:pPr>
            <a:r>
              <a:rPr b="1" lang="en-GB" sz="1100">
                <a:solidFill>
                  <a:schemeClr val="dk2"/>
                </a:solidFill>
              </a:rPr>
              <a:t>a deterministic</a:t>
            </a:r>
            <a:r>
              <a:rPr lang="en-GB" sz="1100">
                <a:solidFill>
                  <a:schemeClr val="dk2"/>
                </a:solidFill>
              </a:rPr>
              <a:t> way to evaluate the answer </a:t>
            </a:r>
            <a:endParaRPr sz="700"/>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42" name="Shape 1042"/>
        <p:cNvGrpSpPr/>
        <p:nvPr/>
      </p:nvGrpSpPr>
      <p:grpSpPr>
        <a:xfrm>
          <a:off x="0" y="0"/>
          <a:ext cx="0" cy="0"/>
          <a:chOff x="0" y="0"/>
          <a:chExt cx="0" cy="0"/>
        </a:xfrm>
      </p:grpSpPr>
      <p:sp>
        <p:nvSpPr>
          <p:cNvPr id="1043" name="Google Shape;1043;p10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00000"/>
              </a:lnSpc>
              <a:spcBef>
                <a:spcPts val="0"/>
              </a:spcBef>
              <a:spcAft>
                <a:spcPts val="0"/>
              </a:spcAft>
              <a:buSzPct val="111111"/>
              <a:buNone/>
            </a:pPr>
            <a:r>
              <a:rPr b="1" lang="en-GB"/>
              <a:t>RL for Reasoning</a:t>
            </a:r>
            <a:endParaRPr b="1"/>
          </a:p>
          <a:p>
            <a:pPr indent="0" lvl="0" marL="0" rtl="0" algn="ctr">
              <a:lnSpc>
                <a:spcPct val="100000"/>
              </a:lnSpc>
              <a:spcBef>
                <a:spcPts val="0"/>
              </a:spcBef>
              <a:spcAft>
                <a:spcPts val="0"/>
              </a:spcAft>
              <a:buSzPct val="111111"/>
              <a:buNone/>
            </a:pPr>
            <a:r>
              <a:t/>
            </a:r>
            <a:endParaRPr b="1"/>
          </a:p>
          <a:p>
            <a:pPr indent="0" lvl="0" marL="0" rtl="0" algn="ctr">
              <a:lnSpc>
                <a:spcPct val="100000"/>
              </a:lnSpc>
              <a:spcBef>
                <a:spcPts val="0"/>
              </a:spcBef>
              <a:spcAft>
                <a:spcPts val="0"/>
              </a:spcAft>
              <a:buSzPct val="111111"/>
              <a:buNone/>
            </a:pPr>
            <a:r>
              <a:t/>
            </a:r>
            <a:endParaRPr b="1"/>
          </a:p>
        </p:txBody>
      </p:sp>
      <p:sp>
        <p:nvSpPr>
          <p:cNvPr id="1044" name="Google Shape;1044;p10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
        <p:nvSpPr>
          <p:cNvPr id="1045" name="Google Shape;1045;p100"/>
          <p:cNvSpPr txBox="1"/>
          <p:nvPr/>
        </p:nvSpPr>
        <p:spPr>
          <a:xfrm>
            <a:off x="367025" y="1447300"/>
            <a:ext cx="1567200" cy="80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t/>
            </a:r>
            <a:endParaRPr sz="1800">
              <a:solidFill>
                <a:schemeClr val="dk2"/>
              </a:solidFill>
            </a:endParaRPr>
          </a:p>
        </p:txBody>
      </p:sp>
      <p:pic>
        <p:nvPicPr>
          <p:cNvPr id="1046" name="Google Shape;1046;p100"/>
          <p:cNvPicPr preferRelativeResize="0"/>
          <p:nvPr/>
        </p:nvPicPr>
        <p:blipFill rotWithShape="1">
          <a:blip r:embed="rId3">
            <a:alphaModFix/>
          </a:blip>
          <a:srcRect b="0" l="0" r="0" t="67346"/>
          <a:stretch/>
        </p:blipFill>
        <p:spPr>
          <a:xfrm>
            <a:off x="647825" y="2929325"/>
            <a:ext cx="5204827" cy="1733899"/>
          </a:xfrm>
          <a:prstGeom prst="rect">
            <a:avLst/>
          </a:prstGeom>
          <a:noFill/>
          <a:ln>
            <a:noFill/>
          </a:ln>
        </p:spPr>
      </p:pic>
      <p:pic>
        <p:nvPicPr>
          <p:cNvPr id="1047" name="Google Shape;1047;p100"/>
          <p:cNvPicPr preferRelativeResize="0"/>
          <p:nvPr/>
        </p:nvPicPr>
        <p:blipFill rotWithShape="1">
          <a:blip r:embed="rId3">
            <a:alphaModFix/>
          </a:blip>
          <a:srcRect b="76280" l="0" r="0" t="0"/>
          <a:stretch/>
        </p:blipFill>
        <p:spPr>
          <a:xfrm>
            <a:off x="1377525" y="1852625"/>
            <a:ext cx="3745424" cy="906325"/>
          </a:xfrm>
          <a:prstGeom prst="rect">
            <a:avLst/>
          </a:prstGeom>
          <a:noFill/>
          <a:ln>
            <a:noFill/>
          </a:ln>
        </p:spPr>
      </p:pic>
      <p:sp>
        <p:nvSpPr>
          <p:cNvPr id="1048" name="Google Shape;1048;p100"/>
          <p:cNvSpPr/>
          <p:nvPr/>
        </p:nvSpPr>
        <p:spPr>
          <a:xfrm>
            <a:off x="3467125" y="3578975"/>
            <a:ext cx="1066800" cy="137100"/>
          </a:xfrm>
          <a:prstGeom prst="rect">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49" name="Google Shape;1049;p100"/>
          <p:cNvSpPr/>
          <p:nvPr/>
        </p:nvSpPr>
        <p:spPr>
          <a:xfrm>
            <a:off x="3307100" y="3411325"/>
            <a:ext cx="1167600" cy="137100"/>
          </a:xfrm>
          <a:prstGeom prst="rect">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050" name="Google Shape;1050;p100"/>
          <p:cNvPicPr preferRelativeResize="0"/>
          <p:nvPr/>
        </p:nvPicPr>
        <p:blipFill>
          <a:blip r:embed="rId4">
            <a:alphaModFix/>
          </a:blip>
          <a:stretch>
            <a:fillRect/>
          </a:stretch>
        </p:blipFill>
        <p:spPr>
          <a:xfrm>
            <a:off x="5721974" y="1045000"/>
            <a:ext cx="3299172" cy="1606801"/>
          </a:xfrm>
          <a:prstGeom prst="rect">
            <a:avLst/>
          </a:prstGeom>
          <a:noFill/>
          <a:ln>
            <a:noFill/>
          </a:ln>
        </p:spPr>
      </p:pic>
      <p:pic>
        <p:nvPicPr>
          <p:cNvPr id="1051" name="Google Shape;1051;p100"/>
          <p:cNvPicPr preferRelativeResize="0"/>
          <p:nvPr/>
        </p:nvPicPr>
        <p:blipFill>
          <a:blip r:embed="rId5">
            <a:alphaModFix/>
          </a:blip>
          <a:stretch>
            <a:fillRect/>
          </a:stretch>
        </p:blipFill>
        <p:spPr>
          <a:xfrm>
            <a:off x="6005050" y="2997425"/>
            <a:ext cx="2431673" cy="1987574"/>
          </a:xfrm>
          <a:prstGeom prst="rect">
            <a:avLst/>
          </a:prstGeom>
          <a:noFill/>
          <a:ln>
            <a:noFill/>
          </a:ln>
        </p:spPr>
      </p:pic>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55" name="Shape 1055"/>
        <p:cNvGrpSpPr/>
        <p:nvPr/>
      </p:nvGrpSpPr>
      <p:grpSpPr>
        <a:xfrm>
          <a:off x="0" y="0"/>
          <a:ext cx="0" cy="0"/>
          <a:chOff x="0" y="0"/>
          <a:chExt cx="0" cy="0"/>
        </a:xfrm>
      </p:grpSpPr>
      <p:sp>
        <p:nvSpPr>
          <p:cNvPr id="1056" name="Google Shape;1056;p10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00000"/>
              </a:lnSpc>
              <a:spcBef>
                <a:spcPts val="0"/>
              </a:spcBef>
              <a:spcAft>
                <a:spcPts val="0"/>
              </a:spcAft>
              <a:buSzPct val="111111"/>
              <a:buNone/>
            </a:pPr>
            <a:r>
              <a:rPr b="1" lang="en-GB"/>
              <a:t>How to optimize the policy (i.e. LLM)?</a:t>
            </a:r>
            <a:endParaRPr b="1"/>
          </a:p>
          <a:p>
            <a:pPr indent="0" lvl="0" marL="0" rtl="0" algn="ctr">
              <a:spcBef>
                <a:spcPts val="0"/>
              </a:spcBef>
              <a:spcAft>
                <a:spcPts val="0"/>
              </a:spcAft>
              <a:buClr>
                <a:schemeClr val="dk1"/>
              </a:buClr>
              <a:buSzPct val="172839"/>
              <a:buFont typeface="Arial"/>
              <a:buNone/>
            </a:pPr>
            <a:r>
              <a:rPr lang="en-GB" sz="1800">
                <a:solidFill>
                  <a:schemeClr val="dk2"/>
                </a:solidFill>
              </a:rPr>
              <a:t>Choose your algorithm: PPO, GRPO, and DPO</a:t>
            </a:r>
            <a:endParaRPr sz="1800">
              <a:solidFill>
                <a:schemeClr val="dk2"/>
              </a:solidFill>
            </a:endParaRPr>
          </a:p>
          <a:p>
            <a:pPr indent="0" lvl="0" marL="0" rtl="0" algn="ctr">
              <a:lnSpc>
                <a:spcPct val="100000"/>
              </a:lnSpc>
              <a:spcBef>
                <a:spcPts val="0"/>
              </a:spcBef>
              <a:spcAft>
                <a:spcPts val="0"/>
              </a:spcAft>
              <a:buSzPct val="111111"/>
              <a:buNone/>
            </a:pPr>
            <a:r>
              <a:t/>
            </a:r>
            <a:endParaRPr b="1"/>
          </a:p>
          <a:p>
            <a:pPr indent="0" lvl="0" marL="0" rtl="0" algn="ctr">
              <a:lnSpc>
                <a:spcPct val="100000"/>
              </a:lnSpc>
              <a:spcBef>
                <a:spcPts val="0"/>
              </a:spcBef>
              <a:spcAft>
                <a:spcPts val="0"/>
              </a:spcAft>
              <a:buSzPct val="111111"/>
              <a:buNone/>
            </a:pPr>
            <a:r>
              <a:t/>
            </a:r>
            <a:endParaRPr b="1"/>
          </a:p>
        </p:txBody>
      </p:sp>
      <p:sp>
        <p:nvSpPr>
          <p:cNvPr id="1057" name="Google Shape;1057;p10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
        <p:nvSpPr>
          <p:cNvPr id="1058" name="Google Shape;1058;p101"/>
          <p:cNvSpPr txBox="1"/>
          <p:nvPr/>
        </p:nvSpPr>
        <p:spPr>
          <a:xfrm>
            <a:off x="367025" y="1447300"/>
            <a:ext cx="1567200" cy="80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t/>
            </a:r>
            <a:endParaRPr sz="1800">
              <a:solidFill>
                <a:schemeClr val="dk2"/>
              </a:solidFill>
            </a:endParaRPr>
          </a:p>
        </p:txBody>
      </p:sp>
      <p:graphicFrame>
        <p:nvGraphicFramePr>
          <p:cNvPr id="1059" name="Google Shape;1059;p101"/>
          <p:cNvGraphicFramePr/>
          <p:nvPr/>
        </p:nvGraphicFramePr>
        <p:xfrm>
          <a:off x="294900" y="1300850"/>
          <a:ext cx="3000000" cy="3000000"/>
        </p:xfrm>
        <a:graphic>
          <a:graphicData uri="http://schemas.openxmlformats.org/drawingml/2006/table">
            <a:tbl>
              <a:tblPr>
                <a:noFill/>
                <a:tableStyleId>{03DA3CCC-6C51-4AD8-AE2F-F500092601BC}</a:tableStyleId>
              </a:tblPr>
              <a:tblGrid>
                <a:gridCol w="1514850"/>
                <a:gridCol w="1466525"/>
                <a:gridCol w="1268675"/>
                <a:gridCol w="2247325"/>
                <a:gridCol w="1680150"/>
              </a:tblGrid>
              <a:tr h="374200">
                <a:tc>
                  <a:txBody>
                    <a:bodyPr/>
                    <a:lstStyle/>
                    <a:p>
                      <a:pPr indent="0" lvl="0" marL="0" rtl="0" algn="ctr">
                        <a:lnSpc>
                          <a:spcPct val="115000"/>
                        </a:lnSpc>
                        <a:spcBef>
                          <a:spcPts val="0"/>
                        </a:spcBef>
                        <a:spcAft>
                          <a:spcPts val="0"/>
                        </a:spcAft>
                        <a:buNone/>
                      </a:pPr>
                      <a:r>
                        <a:t/>
                      </a:r>
                      <a:endParaRPr b="1" sz="11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100"/>
                        <a:t>REINFORCE</a:t>
                      </a:r>
                      <a:endParaRPr b="1" sz="11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9FC5E8"/>
                    </a:solidFill>
                  </a:tcPr>
                </a:tc>
                <a:tc>
                  <a:txBody>
                    <a:bodyPr/>
                    <a:lstStyle/>
                    <a:p>
                      <a:pPr indent="0" lvl="0" marL="0" rtl="0" algn="ctr">
                        <a:lnSpc>
                          <a:spcPct val="115000"/>
                        </a:lnSpc>
                        <a:spcBef>
                          <a:spcPts val="0"/>
                        </a:spcBef>
                        <a:spcAft>
                          <a:spcPts val="0"/>
                        </a:spcAft>
                        <a:buNone/>
                      </a:pPr>
                      <a:r>
                        <a:rPr b="1" lang="en-GB" sz="1100"/>
                        <a:t>PPO</a:t>
                      </a:r>
                      <a:endParaRPr b="1" sz="11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9FC5E8"/>
                    </a:solidFill>
                  </a:tcPr>
                </a:tc>
                <a:tc>
                  <a:txBody>
                    <a:bodyPr/>
                    <a:lstStyle/>
                    <a:p>
                      <a:pPr indent="0" lvl="0" marL="0" rtl="0" algn="ctr">
                        <a:lnSpc>
                          <a:spcPct val="115000"/>
                        </a:lnSpc>
                        <a:spcBef>
                          <a:spcPts val="0"/>
                        </a:spcBef>
                        <a:spcAft>
                          <a:spcPts val="0"/>
                        </a:spcAft>
                        <a:buNone/>
                      </a:pPr>
                      <a:r>
                        <a:rPr b="1" lang="en-GB" sz="1100"/>
                        <a:t>GRPO</a:t>
                      </a:r>
                      <a:endParaRPr b="1" sz="11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9FC5E8"/>
                    </a:solidFill>
                  </a:tcPr>
                </a:tc>
                <a:tc>
                  <a:txBody>
                    <a:bodyPr/>
                    <a:lstStyle/>
                    <a:p>
                      <a:pPr indent="0" lvl="0" marL="0" rtl="0" algn="ctr">
                        <a:lnSpc>
                          <a:spcPct val="115000"/>
                        </a:lnSpc>
                        <a:spcBef>
                          <a:spcPts val="0"/>
                        </a:spcBef>
                        <a:spcAft>
                          <a:spcPts val="0"/>
                        </a:spcAft>
                        <a:buNone/>
                      </a:pPr>
                      <a:r>
                        <a:rPr b="1" lang="en-GB" sz="1100"/>
                        <a:t>DPO</a:t>
                      </a:r>
                      <a:endParaRPr b="1" sz="11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9FC5E8"/>
                    </a:solidFill>
                  </a:tcPr>
                </a:tc>
              </a:tr>
              <a:tr h="603300">
                <a:tc>
                  <a:txBody>
                    <a:bodyPr/>
                    <a:lstStyle/>
                    <a:p>
                      <a:pPr indent="0" lvl="0" marL="0" rtl="0" algn="l">
                        <a:spcBef>
                          <a:spcPts val="0"/>
                        </a:spcBef>
                        <a:spcAft>
                          <a:spcPts val="0"/>
                        </a:spcAft>
                        <a:buNone/>
                      </a:pPr>
                      <a:r>
                        <a:rPr b="1" lang="en-GB"/>
                        <a:t>Signal</a:t>
                      </a:r>
                      <a:endParaRPr b="1"/>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6FA8DC"/>
                    </a:solidFill>
                  </a:tcPr>
                </a:tc>
                <a:tc>
                  <a:txBody>
                    <a:bodyPr/>
                    <a:lstStyle/>
                    <a:p>
                      <a:pPr indent="0" lvl="0" marL="0" rtl="0" algn="l">
                        <a:spcBef>
                          <a:spcPts val="0"/>
                        </a:spcBef>
                        <a:spcAft>
                          <a:spcPts val="0"/>
                        </a:spcAft>
                        <a:buNone/>
                      </a:pPr>
                      <a:r>
                        <a:rPr lang="en-GB"/>
                        <a:t>Reward</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GB"/>
                        <a:t>Advantage</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GB"/>
                        <a:t>Group-relative advantage</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GB"/>
                        <a:t>Preference pair</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603300">
                <a:tc>
                  <a:txBody>
                    <a:bodyPr/>
                    <a:lstStyle/>
                    <a:p>
                      <a:pPr indent="0" lvl="0" marL="0" rtl="0" algn="l">
                        <a:spcBef>
                          <a:spcPts val="0"/>
                        </a:spcBef>
                        <a:spcAft>
                          <a:spcPts val="0"/>
                        </a:spcAft>
                        <a:buNone/>
                      </a:pPr>
                      <a:r>
                        <a:rPr b="1" lang="en-GB"/>
                        <a:t>Online sampling</a:t>
                      </a:r>
                      <a:endParaRPr b="1"/>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6FA8DC"/>
                    </a:solidFill>
                  </a:tcPr>
                </a:tc>
                <a:tc>
                  <a:txBody>
                    <a:bodyPr/>
                    <a:lstStyle/>
                    <a:p>
                      <a:pPr indent="0" lvl="0" marL="0" rtl="0" algn="l">
                        <a:spcBef>
                          <a:spcPts val="0"/>
                        </a:spcBef>
                        <a:spcAft>
                          <a:spcPts val="0"/>
                        </a:spcAft>
                        <a:buNone/>
                      </a:pPr>
                      <a:r>
                        <a:rPr lang="en-GB"/>
                        <a:t>Yes</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GB"/>
                        <a:t>Yes</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GB"/>
                        <a:t>Yes</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GB"/>
                        <a:t>No</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603300">
                <a:tc>
                  <a:txBody>
                    <a:bodyPr/>
                    <a:lstStyle/>
                    <a:p>
                      <a:pPr indent="0" lvl="0" marL="0" rtl="0" algn="l">
                        <a:spcBef>
                          <a:spcPts val="0"/>
                        </a:spcBef>
                        <a:spcAft>
                          <a:spcPts val="0"/>
                        </a:spcAft>
                        <a:buNone/>
                      </a:pPr>
                      <a:r>
                        <a:rPr b="1" lang="en-GB"/>
                        <a:t>Reward model</a:t>
                      </a:r>
                      <a:endParaRPr b="1"/>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6FA8DC"/>
                    </a:solidFill>
                  </a:tcPr>
                </a:tc>
                <a:tc>
                  <a:txBody>
                    <a:bodyPr/>
                    <a:lstStyle/>
                    <a:p>
                      <a:pPr indent="0" lvl="0" marL="0" rtl="0" algn="l">
                        <a:spcBef>
                          <a:spcPts val="0"/>
                        </a:spcBef>
                        <a:spcAft>
                          <a:spcPts val="0"/>
                        </a:spcAft>
                        <a:buNone/>
                      </a:pPr>
                      <a:r>
                        <a:rPr lang="en-GB"/>
                        <a:t>Optional</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GB"/>
                        <a:t>Often</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GB"/>
                        <a:t>Often</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GB"/>
                        <a:t>No</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603300">
                <a:tc>
                  <a:txBody>
                    <a:bodyPr/>
                    <a:lstStyle/>
                    <a:p>
                      <a:pPr indent="0" lvl="0" marL="0" rtl="0" algn="l">
                        <a:spcBef>
                          <a:spcPts val="0"/>
                        </a:spcBef>
                        <a:spcAft>
                          <a:spcPts val="0"/>
                        </a:spcAft>
                        <a:buNone/>
                      </a:pPr>
                      <a:r>
                        <a:rPr b="1" lang="en-GB"/>
                        <a:t>Critic</a:t>
                      </a:r>
                      <a:endParaRPr b="1"/>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6FA8DC"/>
                    </a:solidFill>
                  </a:tcPr>
                </a:tc>
                <a:tc>
                  <a:txBody>
                    <a:bodyPr/>
                    <a:lstStyle/>
                    <a:p>
                      <a:pPr indent="0" lvl="0" marL="0" rtl="0" algn="l">
                        <a:spcBef>
                          <a:spcPts val="0"/>
                        </a:spcBef>
                        <a:spcAft>
                          <a:spcPts val="0"/>
                        </a:spcAft>
                        <a:buNone/>
                      </a:pPr>
                      <a:r>
                        <a:rPr lang="en-GB"/>
                        <a:t>No</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GB"/>
                        <a:t>Yes</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GB"/>
                        <a:t>No</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GB"/>
                        <a:t>No</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93250">
                <a:tc>
                  <a:txBody>
                    <a:bodyPr/>
                    <a:lstStyle/>
                    <a:p>
                      <a:pPr indent="0" lvl="0" marL="0" rtl="0" algn="l">
                        <a:spcBef>
                          <a:spcPts val="0"/>
                        </a:spcBef>
                        <a:spcAft>
                          <a:spcPts val="0"/>
                        </a:spcAft>
                        <a:buNone/>
                      </a:pPr>
                      <a:r>
                        <a:rPr b="1" lang="en-GB"/>
                        <a:t>Stability</a:t>
                      </a:r>
                      <a:endParaRPr b="1"/>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6FA8DC"/>
                    </a:solidFill>
                  </a:tcPr>
                </a:tc>
                <a:tc>
                  <a:txBody>
                    <a:bodyPr/>
                    <a:lstStyle/>
                    <a:p>
                      <a:pPr indent="0" lvl="0" marL="0" rtl="0" algn="l">
                        <a:spcBef>
                          <a:spcPts val="0"/>
                        </a:spcBef>
                        <a:spcAft>
                          <a:spcPts val="0"/>
                        </a:spcAft>
                        <a:buNone/>
                      </a:pPr>
                      <a:r>
                        <a:rPr lang="en-GB"/>
                        <a:t>Low</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GB"/>
                        <a:t>High</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GB"/>
                        <a:t>High</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GB"/>
                        <a:t>High</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603300">
                <a:tc>
                  <a:txBody>
                    <a:bodyPr/>
                    <a:lstStyle/>
                    <a:p>
                      <a:pPr indent="0" lvl="0" marL="0" rtl="0" algn="l">
                        <a:spcBef>
                          <a:spcPts val="0"/>
                        </a:spcBef>
                        <a:spcAft>
                          <a:spcPts val="0"/>
                        </a:spcAft>
                        <a:buNone/>
                      </a:pPr>
                      <a:r>
                        <a:rPr b="1" lang="en-GB"/>
                        <a:t>LLM use</a:t>
                      </a:r>
                      <a:endParaRPr b="1"/>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6FA8DC"/>
                    </a:solidFill>
                  </a:tcPr>
                </a:tc>
                <a:tc>
                  <a:txBody>
                    <a:bodyPr/>
                    <a:lstStyle/>
                    <a:p>
                      <a:pPr indent="0" lvl="0" marL="0" rtl="0" algn="l">
                        <a:spcBef>
                          <a:spcPts val="0"/>
                        </a:spcBef>
                        <a:spcAft>
                          <a:spcPts val="0"/>
                        </a:spcAft>
                        <a:buNone/>
                      </a:pPr>
                      <a:r>
                        <a:rPr lang="en-GB"/>
                        <a:t>Basic RL baseline</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GB"/>
                        <a:t>RLHF</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GB"/>
                        <a:t>Reasoning RL</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GB"/>
                        <a:t>Preference tuning</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3" name="Shape 1063"/>
        <p:cNvGrpSpPr/>
        <p:nvPr/>
      </p:nvGrpSpPr>
      <p:grpSpPr>
        <a:xfrm>
          <a:off x="0" y="0"/>
          <a:ext cx="0" cy="0"/>
          <a:chOff x="0" y="0"/>
          <a:chExt cx="0" cy="0"/>
        </a:xfrm>
      </p:grpSpPr>
      <p:sp>
        <p:nvSpPr>
          <p:cNvPr id="1064" name="Google Shape;1064;p10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b="1" lang="en-GB" sz="2320"/>
              <a:t>Search-R1: </a:t>
            </a:r>
            <a:r>
              <a:rPr b="1" lang="en-GB" sz="2120"/>
              <a:t>End-to-end RL for interleaved reasoning &amp; search</a:t>
            </a:r>
            <a:endParaRPr b="1" sz="2120"/>
          </a:p>
        </p:txBody>
      </p:sp>
      <p:sp>
        <p:nvSpPr>
          <p:cNvPr id="1065" name="Google Shape;1065;p10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sz="1368"/>
              <a:t>IRCoT/ReAct's interleaving of reasoning + retrieval → Learned end-to-end via RL rather than hand-crafted. </a:t>
            </a:r>
            <a:endParaRPr sz="1368"/>
          </a:p>
          <a:p>
            <a:pPr indent="0" lvl="0" marL="0" rtl="0" algn="l">
              <a:spcBef>
                <a:spcPts val="1200"/>
              </a:spcBef>
              <a:spcAft>
                <a:spcPts val="0"/>
              </a:spcAft>
              <a:buNone/>
            </a:pPr>
            <a:r>
              <a:rPr lang="en-GB" sz="1268"/>
              <a:t>LLM generates tokens → at any step it can emit ⟨search⟩query⟨/search⟩ → retrieval engine returns docs → LLM continues reasoning → final answer → </a:t>
            </a:r>
            <a:r>
              <a:rPr i="1" lang="en-GB" sz="1268"/>
              <a:t>(outcome-based)</a:t>
            </a:r>
            <a:r>
              <a:rPr lang="en-GB" sz="1268"/>
              <a:t> reward signal flows back through entire trajectory.</a:t>
            </a:r>
            <a:endParaRPr sz="1268"/>
          </a:p>
          <a:p>
            <a:pPr indent="0" lvl="0" marL="0" rtl="0" algn="l">
              <a:spcBef>
                <a:spcPts val="1200"/>
              </a:spcBef>
              <a:spcAft>
                <a:spcPts val="1200"/>
              </a:spcAft>
              <a:buNone/>
            </a:pPr>
            <a:r>
              <a:t/>
            </a:r>
            <a:endParaRPr sz="1368"/>
          </a:p>
        </p:txBody>
      </p:sp>
      <p:pic>
        <p:nvPicPr>
          <p:cNvPr id="1066" name="Google Shape;1066;p102"/>
          <p:cNvPicPr preferRelativeResize="0"/>
          <p:nvPr/>
        </p:nvPicPr>
        <p:blipFill>
          <a:blip r:embed="rId3">
            <a:alphaModFix/>
          </a:blip>
          <a:stretch>
            <a:fillRect/>
          </a:stretch>
        </p:blipFill>
        <p:spPr>
          <a:xfrm>
            <a:off x="1549900" y="2273525"/>
            <a:ext cx="5861423" cy="2639201"/>
          </a:xfrm>
          <a:prstGeom prst="rect">
            <a:avLst/>
          </a:prstGeom>
          <a:noFill/>
          <a:ln>
            <a:noFill/>
          </a:ln>
        </p:spPr>
      </p:pic>
      <p:sp>
        <p:nvSpPr>
          <p:cNvPr id="1067" name="Google Shape;1067;p10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1" name="Shape 1071"/>
        <p:cNvGrpSpPr/>
        <p:nvPr/>
      </p:nvGrpSpPr>
      <p:grpSpPr>
        <a:xfrm>
          <a:off x="0" y="0"/>
          <a:ext cx="0" cy="0"/>
          <a:chOff x="0" y="0"/>
          <a:chExt cx="0" cy="0"/>
        </a:xfrm>
      </p:grpSpPr>
      <p:sp>
        <p:nvSpPr>
          <p:cNvPr id="1072" name="Google Shape;1072;p10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b="1" lang="en-GB" sz="2320"/>
              <a:t>Rank-R1: </a:t>
            </a:r>
            <a:r>
              <a:rPr b="1" lang="en-GB" sz="1920"/>
              <a:t>RL-based </a:t>
            </a:r>
            <a:r>
              <a:rPr b="1" lang="en-GB" sz="1920"/>
              <a:t>Reasoning in LLM-based Document Rerankers</a:t>
            </a:r>
            <a:endParaRPr b="1" sz="1920"/>
          </a:p>
        </p:txBody>
      </p:sp>
      <p:sp>
        <p:nvSpPr>
          <p:cNvPr id="1073" name="Google Shape;1073;p103"/>
          <p:cNvSpPr txBox="1"/>
          <p:nvPr>
            <p:ph idx="1" type="body"/>
          </p:nvPr>
        </p:nvSpPr>
        <p:spPr>
          <a:xfrm>
            <a:off x="311700" y="1152475"/>
            <a:ext cx="52887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GB"/>
              <a:t>Apply the training paradigm of DeepSeek-R1 to reranking</a:t>
            </a:r>
            <a:endParaRPr/>
          </a:p>
          <a:p>
            <a:pPr indent="-342900" lvl="0" marL="457200" rtl="0" algn="l">
              <a:spcBef>
                <a:spcPts val="0"/>
              </a:spcBef>
              <a:spcAft>
                <a:spcPts val="0"/>
              </a:spcAft>
              <a:buSzPts val="1800"/>
              <a:buChar char="●"/>
            </a:pPr>
            <a:r>
              <a:rPr lang="en-GB"/>
              <a:t>Model generates a reasoning trace before producing a relevance label (e.g., True or False) </a:t>
            </a:r>
            <a:endParaRPr/>
          </a:p>
          <a:p>
            <a:pPr indent="0" lvl="0" marL="457200" rtl="0" algn="l">
              <a:spcBef>
                <a:spcPts val="1200"/>
              </a:spcBef>
              <a:spcAft>
                <a:spcPts val="0"/>
              </a:spcAft>
              <a:buNone/>
            </a:pPr>
            <a:r>
              <a:rPr lang="en-GB"/>
              <a:t>→ Relevance as a reasoned judgment</a:t>
            </a:r>
            <a:endParaRPr/>
          </a:p>
          <a:p>
            <a:pPr indent="-342900" lvl="0" marL="457200" rtl="0" algn="l">
              <a:spcBef>
                <a:spcPts val="1200"/>
              </a:spcBef>
              <a:spcAft>
                <a:spcPts val="0"/>
              </a:spcAft>
              <a:buSzPts val="1800"/>
              <a:buChar char="●"/>
            </a:pPr>
            <a:r>
              <a:rPr lang="en-GB"/>
              <a:t>Trained with GRPO binary relevance reward *</a:t>
            </a:r>
            <a:endParaRPr/>
          </a:p>
          <a:p>
            <a:pPr indent="-342900" lvl="0" marL="457200" rtl="0" algn="l">
              <a:spcBef>
                <a:spcPts val="0"/>
              </a:spcBef>
              <a:spcAft>
                <a:spcPts val="0"/>
              </a:spcAft>
              <a:buSzPts val="1800"/>
              <a:buChar char="●"/>
            </a:pPr>
            <a:r>
              <a:rPr lang="en-GB"/>
              <a:t>Outperforms supervised rerankers on BRIGHT and BEIR</a:t>
            </a:r>
            <a:endParaRPr/>
          </a:p>
        </p:txBody>
      </p:sp>
      <p:sp>
        <p:nvSpPr>
          <p:cNvPr id="1074" name="Google Shape;1074;p10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pic>
        <p:nvPicPr>
          <p:cNvPr id="1075" name="Google Shape;1075;p103"/>
          <p:cNvPicPr preferRelativeResize="0"/>
          <p:nvPr/>
        </p:nvPicPr>
        <p:blipFill rotWithShape="1">
          <a:blip r:embed="rId3">
            <a:alphaModFix/>
          </a:blip>
          <a:srcRect b="9305" l="0" r="0" t="0"/>
          <a:stretch/>
        </p:blipFill>
        <p:spPr>
          <a:xfrm>
            <a:off x="5798900" y="1152475"/>
            <a:ext cx="2786625" cy="3029824"/>
          </a:xfrm>
          <a:prstGeom prst="rect">
            <a:avLst/>
          </a:prstGeom>
          <a:noFill/>
          <a:ln>
            <a:noFill/>
          </a:ln>
        </p:spPr>
      </p:pic>
      <p:sp>
        <p:nvSpPr>
          <p:cNvPr id="1076" name="Google Shape;1076;p103"/>
          <p:cNvSpPr txBox="1"/>
          <p:nvPr/>
        </p:nvSpPr>
        <p:spPr>
          <a:xfrm>
            <a:off x="152400" y="4651725"/>
            <a:ext cx="6202200" cy="333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lang="en-GB" sz="968">
                <a:solidFill>
                  <a:schemeClr val="dk2"/>
                </a:solidFill>
              </a:rPr>
              <a:t>* </a:t>
            </a:r>
            <a:r>
              <a:rPr lang="en-GB" sz="968">
                <a:solidFill>
                  <a:schemeClr val="dk2"/>
                </a:solidFill>
              </a:rPr>
              <a:t>Reward only if the output matches the reasoning and answering format AND relevance label is correct.  </a:t>
            </a:r>
            <a:endParaRPr sz="1000">
              <a:solidFill>
                <a:srgbClr val="222222"/>
              </a:solidFill>
              <a:highlight>
                <a:srgbClr val="FFFFFF"/>
              </a:highlight>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0" name="Shape 1080"/>
        <p:cNvGrpSpPr/>
        <p:nvPr/>
      </p:nvGrpSpPr>
      <p:grpSpPr>
        <a:xfrm>
          <a:off x="0" y="0"/>
          <a:ext cx="0" cy="0"/>
          <a:chOff x="0" y="0"/>
          <a:chExt cx="0" cy="0"/>
        </a:xfrm>
      </p:grpSpPr>
      <p:sp>
        <p:nvSpPr>
          <p:cNvPr id="1081" name="Google Shape;1081;p10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n-GB"/>
              <a:t>Limits of RL for Reasoning with LLMs</a:t>
            </a:r>
            <a:endParaRPr b="1"/>
          </a:p>
        </p:txBody>
      </p:sp>
      <p:sp>
        <p:nvSpPr>
          <p:cNvPr id="1082" name="Google Shape;1082;p10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i="1" lang="en-GB" sz="1268"/>
              <a:t>Does RLVR teach LLMs genuinely new reasoning abilities?</a:t>
            </a:r>
            <a:endParaRPr b="1" i="1" sz="1268"/>
          </a:p>
          <a:p>
            <a:pPr indent="-309091" lvl="0" marL="457200" rtl="0" algn="l">
              <a:spcBef>
                <a:spcPts val="1200"/>
              </a:spcBef>
              <a:spcAft>
                <a:spcPts val="0"/>
              </a:spcAft>
              <a:buSzPts val="1268"/>
              <a:buChar char="●"/>
            </a:pPr>
            <a:r>
              <a:rPr lang="en-GB" sz="1268"/>
              <a:t>Approach: pass@k (instead of usual greedy)</a:t>
            </a:r>
            <a:endParaRPr sz="1268"/>
          </a:p>
          <a:p>
            <a:pPr indent="-309091" lvl="1" marL="914400" rtl="0" algn="l">
              <a:spcBef>
                <a:spcPts val="0"/>
              </a:spcBef>
              <a:spcAft>
                <a:spcPts val="0"/>
              </a:spcAft>
              <a:buSzPts val="1268"/>
              <a:buChar char="○"/>
            </a:pPr>
            <a:r>
              <a:rPr lang="en-GB" sz="1268"/>
              <a:t>pass@1 = How reliable the model is?</a:t>
            </a:r>
            <a:endParaRPr sz="1268"/>
          </a:p>
          <a:p>
            <a:pPr indent="-309091" lvl="1" marL="914400" rtl="0" algn="l">
              <a:spcBef>
                <a:spcPts val="0"/>
              </a:spcBef>
              <a:spcAft>
                <a:spcPts val="0"/>
              </a:spcAft>
              <a:buSzPts val="1268"/>
              <a:buChar char="○"/>
            </a:pPr>
            <a:r>
              <a:rPr lang="en-GB" sz="1268"/>
              <a:t>pass@k = Can the model solve this problem in any of k attempts?</a:t>
            </a:r>
            <a:endParaRPr sz="1268"/>
          </a:p>
          <a:p>
            <a:pPr indent="0" lvl="0" marL="0" rtl="0" algn="l">
              <a:spcBef>
                <a:spcPts val="1200"/>
              </a:spcBef>
              <a:spcAft>
                <a:spcPts val="0"/>
              </a:spcAft>
              <a:buNone/>
            </a:pPr>
            <a:r>
              <a:t/>
            </a:r>
            <a:endParaRPr b="1" sz="1268"/>
          </a:p>
          <a:p>
            <a:pPr indent="0" lvl="0" marL="0" rtl="0" algn="l">
              <a:spcBef>
                <a:spcPts val="1200"/>
              </a:spcBef>
              <a:spcAft>
                <a:spcPts val="1200"/>
              </a:spcAft>
              <a:buNone/>
            </a:pPr>
            <a:r>
              <a:t/>
            </a:r>
            <a:endParaRPr sz="968"/>
          </a:p>
        </p:txBody>
      </p:sp>
      <p:sp>
        <p:nvSpPr>
          <p:cNvPr id="1083" name="Google Shape;1083;p10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
        <p:nvSpPr>
          <p:cNvPr id="1084" name="Google Shape;1084;p104"/>
          <p:cNvSpPr txBox="1"/>
          <p:nvPr/>
        </p:nvSpPr>
        <p:spPr>
          <a:xfrm>
            <a:off x="139825" y="4738400"/>
            <a:ext cx="8453700" cy="302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lang="en-GB" sz="768">
                <a:solidFill>
                  <a:schemeClr val="dk2"/>
                </a:solidFill>
              </a:rPr>
              <a:t>Does Reinforcement Learning Really Incentivize Reasoning Capacity in LLMs Beyond the Base Model? Yue et al., In AI for Math Workshop @ ICML 2025</a:t>
            </a:r>
            <a:endParaRPr sz="800">
              <a:solidFill>
                <a:srgbClr val="222222"/>
              </a:solidFill>
              <a:highlight>
                <a:srgbClr val="FFFFFF"/>
              </a:highlight>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8" name="Shape 1088"/>
        <p:cNvGrpSpPr/>
        <p:nvPr/>
      </p:nvGrpSpPr>
      <p:grpSpPr>
        <a:xfrm>
          <a:off x="0" y="0"/>
          <a:ext cx="0" cy="0"/>
          <a:chOff x="0" y="0"/>
          <a:chExt cx="0" cy="0"/>
        </a:xfrm>
      </p:grpSpPr>
      <p:sp>
        <p:nvSpPr>
          <p:cNvPr id="1089" name="Google Shape;1089;p10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n-GB"/>
              <a:t>Limits of RL for Reasoning with LLMs</a:t>
            </a:r>
            <a:endParaRPr b="1"/>
          </a:p>
        </p:txBody>
      </p:sp>
      <p:sp>
        <p:nvSpPr>
          <p:cNvPr id="1090" name="Google Shape;1090;p10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i="1" lang="en-GB" sz="1268"/>
              <a:t>RLVR Sharpens but Narrows Reasoning.</a:t>
            </a:r>
            <a:endParaRPr b="1" i="1" sz="1268"/>
          </a:p>
          <a:p>
            <a:pPr indent="0" lvl="0" marL="0" rtl="0" algn="l">
              <a:spcBef>
                <a:spcPts val="1200"/>
              </a:spcBef>
              <a:spcAft>
                <a:spcPts val="0"/>
              </a:spcAft>
              <a:buNone/>
            </a:pPr>
            <a:r>
              <a:t/>
            </a:r>
            <a:endParaRPr sz="1068"/>
          </a:p>
          <a:p>
            <a:pPr indent="0" lvl="0" marL="0" rtl="0" algn="l">
              <a:spcBef>
                <a:spcPts val="1200"/>
              </a:spcBef>
              <a:spcAft>
                <a:spcPts val="0"/>
              </a:spcAft>
              <a:buNone/>
            </a:pPr>
            <a:r>
              <a:t/>
            </a:r>
            <a:endParaRPr sz="968"/>
          </a:p>
          <a:p>
            <a:pPr indent="0" lvl="0" marL="0" rtl="0" algn="l">
              <a:spcBef>
                <a:spcPts val="1200"/>
              </a:spcBef>
              <a:spcAft>
                <a:spcPts val="1200"/>
              </a:spcAft>
              <a:buNone/>
            </a:pPr>
            <a:r>
              <a:t/>
            </a:r>
            <a:endParaRPr sz="968"/>
          </a:p>
        </p:txBody>
      </p:sp>
      <p:sp>
        <p:nvSpPr>
          <p:cNvPr id="1091" name="Google Shape;1091;p10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
        <p:nvSpPr>
          <p:cNvPr id="1092" name="Google Shape;1092;p105"/>
          <p:cNvSpPr txBox="1"/>
          <p:nvPr/>
        </p:nvSpPr>
        <p:spPr>
          <a:xfrm>
            <a:off x="139825" y="4738400"/>
            <a:ext cx="8453700" cy="302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lang="en-GB" sz="768">
                <a:solidFill>
                  <a:schemeClr val="dk2"/>
                </a:solidFill>
              </a:rPr>
              <a:t>Does Reinforcement Learning Really Incentivize Reasoning Capacity in LLMs Beyond the Base Model? Yue et al., In AI for Math Workshop @ ICML 2025</a:t>
            </a:r>
            <a:endParaRPr sz="800">
              <a:solidFill>
                <a:srgbClr val="222222"/>
              </a:solidFill>
              <a:highlight>
                <a:srgbClr val="FFFFFF"/>
              </a:highlight>
            </a:endParaRPr>
          </a:p>
        </p:txBody>
      </p:sp>
      <p:pic>
        <p:nvPicPr>
          <p:cNvPr id="1093" name="Google Shape;1093;p105"/>
          <p:cNvPicPr preferRelativeResize="0"/>
          <p:nvPr/>
        </p:nvPicPr>
        <p:blipFill>
          <a:blip r:embed="rId3">
            <a:alphaModFix/>
          </a:blip>
          <a:stretch>
            <a:fillRect/>
          </a:stretch>
        </p:blipFill>
        <p:spPr>
          <a:xfrm>
            <a:off x="449463" y="1750975"/>
            <a:ext cx="7993526" cy="2430225"/>
          </a:xfrm>
          <a:prstGeom prst="rect">
            <a:avLst/>
          </a:prstGeom>
          <a:noFill/>
          <a:ln>
            <a:noFill/>
          </a:ln>
        </p:spPr>
      </p:pic>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7" name="Shape 1097"/>
        <p:cNvGrpSpPr/>
        <p:nvPr/>
      </p:nvGrpSpPr>
      <p:grpSpPr>
        <a:xfrm>
          <a:off x="0" y="0"/>
          <a:ext cx="0" cy="0"/>
          <a:chOff x="0" y="0"/>
          <a:chExt cx="0" cy="0"/>
        </a:xfrm>
      </p:grpSpPr>
      <p:sp>
        <p:nvSpPr>
          <p:cNvPr id="1098" name="Google Shape;1098;p10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n-GB"/>
              <a:t>Limits of RL for Reasoning with LLMs</a:t>
            </a:r>
            <a:endParaRPr b="1"/>
          </a:p>
        </p:txBody>
      </p:sp>
      <p:sp>
        <p:nvSpPr>
          <p:cNvPr id="1099" name="Google Shape;1099;p10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i="1" lang="en-GB" sz="1268"/>
              <a:t>RLVR yields more reliable but narrower reasoning.</a:t>
            </a:r>
            <a:endParaRPr b="1" i="1" sz="1268"/>
          </a:p>
          <a:p>
            <a:pPr indent="-315441" lvl="0" marL="457200" rtl="0" algn="l">
              <a:spcBef>
                <a:spcPts val="1200"/>
              </a:spcBef>
              <a:spcAft>
                <a:spcPts val="0"/>
              </a:spcAft>
              <a:buSzPts val="1368"/>
              <a:buChar char="●"/>
            </a:pPr>
            <a:r>
              <a:rPr lang="en-GB" sz="1368"/>
              <a:t>At small k: RLVR &gt; Base (better sampling efficiency)</a:t>
            </a:r>
            <a:endParaRPr sz="1368"/>
          </a:p>
          <a:p>
            <a:pPr indent="-315441" lvl="0" marL="457200" rtl="0" algn="l">
              <a:spcBef>
                <a:spcPts val="0"/>
              </a:spcBef>
              <a:spcAft>
                <a:spcPts val="0"/>
              </a:spcAft>
              <a:buSzPts val="1368"/>
              <a:buChar char="●"/>
            </a:pPr>
            <a:r>
              <a:rPr lang="en-GB" sz="1368"/>
              <a:t>At large k: Base &gt; RLVR (broader reasoning coverage)</a:t>
            </a:r>
            <a:endParaRPr sz="1368"/>
          </a:p>
          <a:p>
            <a:pPr indent="-315441" lvl="0" marL="457200" rtl="0" algn="l">
              <a:spcBef>
                <a:spcPts val="0"/>
              </a:spcBef>
              <a:spcAft>
                <a:spcPts val="0"/>
              </a:spcAft>
              <a:buSzPts val="1368"/>
              <a:buChar char="●"/>
            </a:pPr>
            <a:r>
              <a:rPr lang="en-GB" sz="1368"/>
              <a:t>Every correct path in the RLVR model already exists in the base model's distribution</a:t>
            </a:r>
            <a:endParaRPr sz="1368"/>
          </a:p>
          <a:p>
            <a:pPr indent="0" lvl="0" marL="0" rtl="0" algn="l">
              <a:spcBef>
                <a:spcPts val="1200"/>
              </a:spcBef>
              <a:spcAft>
                <a:spcPts val="0"/>
              </a:spcAft>
              <a:buNone/>
            </a:pPr>
            <a:r>
              <a:t/>
            </a:r>
            <a:endParaRPr sz="968"/>
          </a:p>
          <a:p>
            <a:pPr indent="0" lvl="0" marL="0" rtl="0" algn="l">
              <a:spcBef>
                <a:spcPts val="1200"/>
              </a:spcBef>
              <a:spcAft>
                <a:spcPts val="1200"/>
              </a:spcAft>
              <a:buNone/>
            </a:pPr>
            <a:r>
              <a:t/>
            </a:r>
            <a:endParaRPr sz="968"/>
          </a:p>
        </p:txBody>
      </p:sp>
      <p:sp>
        <p:nvSpPr>
          <p:cNvPr id="1100" name="Google Shape;1100;p10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
        <p:nvSpPr>
          <p:cNvPr id="1101" name="Google Shape;1101;p106"/>
          <p:cNvSpPr txBox="1"/>
          <p:nvPr/>
        </p:nvSpPr>
        <p:spPr>
          <a:xfrm>
            <a:off x="139825" y="4738400"/>
            <a:ext cx="8453700" cy="302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lang="en-GB" sz="768">
                <a:solidFill>
                  <a:schemeClr val="dk2"/>
                </a:solidFill>
              </a:rPr>
              <a:t>Does Reinforcement Learning Really Incentivize Reasoning Capacity in LLMs Beyond the Base Model? Yue et al., In AI for Math Workshop @ ICML 2025</a:t>
            </a:r>
            <a:endParaRPr sz="800">
              <a:solidFill>
                <a:srgbClr val="222222"/>
              </a:solidFill>
              <a:highlight>
                <a:srgbClr val="FFFFFF"/>
              </a:highlight>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5" name="Shape 1105"/>
        <p:cNvGrpSpPr/>
        <p:nvPr/>
      </p:nvGrpSpPr>
      <p:grpSpPr>
        <a:xfrm>
          <a:off x="0" y="0"/>
          <a:ext cx="0" cy="0"/>
          <a:chOff x="0" y="0"/>
          <a:chExt cx="0" cy="0"/>
        </a:xfrm>
      </p:grpSpPr>
      <p:sp>
        <p:nvSpPr>
          <p:cNvPr id="1106" name="Google Shape;1106;p10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n-GB"/>
              <a:t>Limits of RL for Reasoning with LLMs</a:t>
            </a:r>
            <a:endParaRPr b="1"/>
          </a:p>
        </p:txBody>
      </p:sp>
      <p:sp>
        <p:nvSpPr>
          <p:cNvPr id="1107" name="Google Shape;1107;p10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i="1" lang="en-GB" sz="1268"/>
              <a:t>RLVR vs Distillation</a:t>
            </a:r>
            <a:endParaRPr b="1" i="1" sz="1268"/>
          </a:p>
          <a:p>
            <a:pPr indent="0" lvl="0" marL="0" rtl="0" algn="l">
              <a:spcBef>
                <a:spcPts val="1200"/>
              </a:spcBef>
              <a:spcAft>
                <a:spcPts val="0"/>
              </a:spcAft>
              <a:buNone/>
            </a:pPr>
            <a:r>
              <a:t/>
            </a:r>
            <a:endParaRPr sz="1068"/>
          </a:p>
          <a:p>
            <a:pPr indent="0" lvl="0" marL="0" rtl="0" algn="l">
              <a:spcBef>
                <a:spcPts val="1200"/>
              </a:spcBef>
              <a:spcAft>
                <a:spcPts val="0"/>
              </a:spcAft>
              <a:buNone/>
            </a:pPr>
            <a:r>
              <a:t/>
            </a:r>
            <a:endParaRPr sz="968"/>
          </a:p>
          <a:p>
            <a:pPr indent="0" lvl="0" marL="0" rtl="0" algn="l">
              <a:spcBef>
                <a:spcPts val="1200"/>
              </a:spcBef>
              <a:spcAft>
                <a:spcPts val="0"/>
              </a:spcAft>
              <a:buNone/>
            </a:pPr>
            <a:r>
              <a:t/>
            </a:r>
            <a:endParaRPr sz="968"/>
          </a:p>
          <a:p>
            <a:pPr indent="0" lvl="0" marL="0" rtl="0" algn="l">
              <a:spcBef>
                <a:spcPts val="1200"/>
              </a:spcBef>
              <a:spcAft>
                <a:spcPts val="1200"/>
              </a:spcAft>
              <a:buNone/>
            </a:pPr>
            <a:r>
              <a:t/>
            </a:r>
            <a:endParaRPr sz="968"/>
          </a:p>
        </p:txBody>
      </p:sp>
      <p:sp>
        <p:nvSpPr>
          <p:cNvPr id="1108" name="Google Shape;1108;p10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
        <p:nvSpPr>
          <p:cNvPr id="1109" name="Google Shape;1109;p107"/>
          <p:cNvSpPr txBox="1"/>
          <p:nvPr/>
        </p:nvSpPr>
        <p:spPr>
          <a:xfrm>
            <a:off x="139825" y="4738400"/>
            <a:ext cx="8453700" cy="302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lang="en-GB" sz="768">
                <a:solidFill>
                  <a:schemeClr val="dk2"/>
                </a:solidFill>
              </a:rPr>
              <a:t>Does Reinforcement Learning Really Incentivize Reasoning Capacity in LLMs Beyond the Base Model? Yue et al., In AI for Math Workshop @ ICML 2025</a:t>
            </a:r>
            <a:endParaRPr sz="800">
              <a:solidFill>
                <a:srgbClr val="222222"/>
              </a:solidFill>
              <a:highlight>
                <a:srgbClr val="FFFFFF"/>
              </a:highlight>
            </a:endParaRPr>
          </a:p>
        </p:txBody>
      </p:sp>
      <p:graphicFrame>
        <p:nvGraphicFramePr>
          <p:cNvPr id="1110" name="Google Shape;1110;p107"/>
          <p:cNvGraphicFramePr/>
          <p:nvPr/>
        </p:nvGraphicFramePr>
        <p:xfrm>
          <a:off x="952500" y="1809750"/>
          <a:ext cx="3000000" cy="3000000"/>
        </p:xfrm>
        <a:graphic>
          <a:graphicData uri="http://schemas.openxmlformats.org/drawingml/2006/table">
            <a:tbl>
              <a:tblPr>
                <a:noFill/>
                <a:tableStyleId>{690008F1-FBFA-4D70-A9C7-EF09C6EBDACE}</a:tableStyleId>
              </a:tblPr>
              <a:tblGrid>
                <a:gridCol w="3619500"/>
                <a:gridCol w="3619500"/>
              </a:tblGrid>
              <a:tr h="381000">
                <a:tc>
                  <a:txBody>
                    <a:bodyPr/>
                    <a:lstStyle/>
                    <a:p>
                      <a:pPr indent="0" lvl="0" marL="0" rtl="0" algn="l">
                        <a:lnSpc>
                          <a:spcPct val="142857"/>
                        </a:lnSpc>
                        <a:spcBef>
                          <a:spcPts val="0"/>
                        </a:spcBef>
                        <a:spcAft>
                          <a:spcPts val="0"/>
                        </a:spcAft>
                        <a:buNone/>
                      </a:pPr>
                      <a:r>
                        <a:rPr b="1" lang="en-GB" sz="1050">
                          <a:solidFill>
                            <a:srgbClr val="242424"/>
                          </a:solidFill>
                        </a:rPr>
                        <a:t>RLVR</a:t>
                      </a:r>
                      <a:endParaRPr b="1" sz="1050">
                        <a:solidFill>
                          <a:srgbClr val="242424"/>
                        </a:solidFill>
                      </a:endParaRPr>
                    </a:p>
                  </a:txBody>
                  <a:tcPr marT="47625" marB="47625" marR="85725" marL="85725">
                    <a:lnR cap="flat" cmpd="sng" w="5300">
                      <a:solidFill>
                        <a:srgbClr val="000000"/>
                      </a:solidFill>
                      <a:prstDash val="solid"/>
                      <a:round/>
                      <a:headEnd len="sm" w="sm" type="none"/>
                      <a:tailEnd len="sm" w="sm" type="none"/>
                    </a:lnR>
                    <a:lnB cap="flat" cmpd="sng" w="5300">
                      <a:solidFill>
                        <a:srgbClr val="000000"/>
                      </a:solidFill>
                      <a:prstDash val="solid"/>
                      <a:round/>
                      <a:headEnd len="sm" w="sm" type="none"/>
                      <a:tailEnd len="sm" w="sm" type="none"/>
                    </a:lnB>
                  </a:tcPr>
                </a:tc>
                <a:tc>
                  <a:txBody>
                    <a:bodyPr/>
                    <a:lstStyle/>
                    <a:p>
                      <a:pPr indent="0" lvl="0" marL="0" rtl="0" algn="l">
                        <a:lnSpc>
                          <a:spcPct val="142857"/>
                        </a:lnSpc>
                        <a:spcBef>
                          <a:spcPts val="0"/>
                        </a:spcBef>
                        <a:spcAft>
                          <a:spcPts val="0"/>
                        </a:spcAft>
                        <a:buNone/>
                      </a:pPr>
                      <a:r>
                        <a:rPr b="1" lang="en-GB" sz="1050">
                          <a:solidFill>
                            <a:srgbClr val="242424"/>
                          </a:solidFill>
                        </a:rPr>
                        <a:t>Distillation</a:t>
                      </a:r>
                      <a:endParaRPr b="1" sz="1050">
                        <a:solidFill>
                          <a:srgbClr val="242424"/>
                        </a:solidFill>
                      </a:endParaRPr>
                    </a:p>
                  </a:txBody>
                  <a:tcPr marT="47625" marB="47625" marR="85725" marL="85725">
                    <a:lnL cap="flat" cmpd="sng" w="5300">
                      <a:solidFill>
                        <a:srgbClr val="000000"/>
                      </a:solidFill>
                      <a:prstDash val="solid"/>
                      <a:round/>
                      <a:headEnd len="sm" w="sm" type="none"/>
                      <a:tailEnd len="sm" w="sm" type="none"/>
                    </a:lnL>
                    <a:lnB cap="flat" cmpd="sng" w="5300">
                      <a:solidFill>
                        <a:srgbClr val="000000"/>
                      </a:solidFill>
                      <a:prstDash val="solid"/>
                      <a:round/>
                      <a:headEnd len="sm" w="sm" type="none"/>
                      <a:tailEnd len="sm" w="sm" type="none"/>
                    </a:lnB>
                  </a:tcPr>
                </a:tc>
              </a:tr>
              <a:tr h="381000">
                <a:tc>
                  <a:txBody>
                    <a:bodyPr/>
                    <a:lstStyle/>
                    <a:p>
                      <a:pPr indent="0" lvl="0" marL="0" rtl="0" algn="l">
                        <a:lnSpc>
                          <a:spcPct val="142857"/>
                        </a:lnSpc>
                        <a:spcBef>
                          <a:spcPts val="0"/>
                        </a:spcBef>
                        <a:spcAft>
                          <a:spcPts val="0"/>
                        </a:spcAft>
                        <a:buNone/>
                      </a:pPr>
                      <a:r>
                        <a:rPr lang="en-GB" sz="1050">
                          <a:solidFill>
                            <a:srgbClr val="242424"/>
                          </a:solidFill>
                        </a:rPr>
                        <a:t>Improves sampling efficiency</a:t>
                      </a:r>
                      <a:endParaRPr sz="1050">
                        <a:solidFill>
                          <a:srgbClr val="242424"/>
                        </a:solidFill>
                      </a:endParaRPr>
                    </a:p>
                  </a:txBody>
                  <a:tcPr marT="47625" marB="47625" marR="85725" marL="85725">
                    <a:lnR cap="flat" cmpd="sng" w="5300">
                      <a:solidFill>
                        <a:srgbClr val="000000"/>
                      </a:solidFill>
                      <a:prstDash val="solid"/>
                      <a:round/>
                      <a:headEnd len="sm" w="sm" type="none"/>
                      <a:tailEnd len="sm" w="sm" type="none"/>
                    </a:lnR>
                    <a:lnT cap="flat" cmpd="sng" w="5300">
                      <a:solidFill>
                        <a:srgbClr val="000000"/>
                      </a:solidFill>
                      <a:prstDash val="solid"/>
                      <a:round/>
                      <a:headEnd len="sm" w="sm" type="none"/>
                      <a:tailEnd len="sm" w="sm" type="none"/>
                    </a:lnT>
                    <a:lnB cap="flat" cmpd="sng" w="5300">
                      <a:solidFill>
                        <a:srgbClr val="000000"/>
                      </a:solidFill>
                      <a:prstDash val="solid"/>
                      <a:round/>
                      <a:headEnd len="sm" w="sm" type="none"/>
                      <a:tailEnd len="sm" w="sm" type="none"/>
                    </a:lnB>
                  </a:tcPr>
                </a:tc>
                <a:tc>
                  <a:txBody>
                    <a:bodyPr/>
                    <a:lstStyle/>
                    <a:p>
                      <a:pPr indent="0" lvl="0" marL="0" rtl="0" algn="l">
                        <a:lnSpc>
                          <a:spcPct val="142857"/>
                        </a:lnSpc>
                        <a:spcBef>
                          <a:spcPts val="0"/>
                        </a:spcBef>
                        <a:spcAft>
                          <a:spcPts val="0"/>
                        </a:spcAft>
                        <a:buNone/>
                      </a:pPr>
                      <a:r>
                        <a:rPr lang="en-GB" sz="1050">
                          <a:solidFill>
                            <a:srgbClr val="242424"/>
                          </a:solidFill>
                        </a:rPr>
                        <a:t>Introduces new reasoning patterns</a:t>
                      </a:r>
                      <a:endParaRPr sz="1050">
                        <a:solidFill>
                          <a:srgbClr val="242424"/>
                        </a:solidFill>
                      </a:endParaRPr>
                    </a:p>
                  </a:txBody>
                  <a:tcPr marT="47625" marB="47625" marR="85725" marL="85725">
                    <a:lnL cap="flat" cmpd="sng" w="5300">
                      <a:solidFill>
                        <a:srgbClr val="000000"/>
                      </a:solidFill>
                      <a:prstDash val="solid"/>
                      <a:round/>
                      <a:headEnd len="sm" w="sm" type="none"/>
                      <a:tailEnd len="sm" w="sm" type="none"/>
                    </a:lnL>
                    <a:lnT cap="flat" cmpd="sng" w="5300">
                      <a:solidFill>
                        <a:srgbClr val="000000"/>
                      </a:solidFill>
                      <a:prstDash val="solid"/>
                      <a:round/>
                      <a:headEnd len="sm" w="sm" type="none"/>
                      <a:tailEnd len="sm" w="sm" type="none"/>
                    </a:lnT>
                    <a:lnB cap="flat" cmpd="sng" w="5300">
                      <a:solidFill>
                        <a:srgbClr val="000000"/>
                      </a:solidFill>
                      <a:prstDash val="solid"/>
                      <a:round/>
                      <a:headEnd len="sm" w="sm" type="none"/>
                      <a:tailEnd len="sm" w="sm" type="none"/>
                    </a:lnB>
                  </a:tcPr>
                </a:tc>
              </a:tr>
              <a:tr h="381000">
                <a:tc>
                  <a:txBody>
                    <a:bodyPr/>
                    <a:lstStyle/>
                    <a:p>
                      <a:pPr indent="0" lvl="0" marL="0" rtl="0" algn="l">
                        <a:lnSpc>
                          <a:spcPct val="142857"/>
                        </a:lnSpc>
                        <a:spcBef>
                          <a:spcPts val="0"/>
                        </a:spcBef>
                        <a:spcAft>
                          <a:spcPts val="0"/>
                        </a:spcAft>
                        <a:buNone/>
                      </a:pPr>
                      <a:r>
                        <a:rPr lang="en-GB" sz="1050">
                          <a:solidFill>
                            <a:srgbClr val="242424"/>
                          </a:solidFill>
                        </a:rPr>
                        <a:t>Bounded by base model</a:t>
                      </a:r>
                      <a:endParaRPr sz="1050">
                        <a:solidFill>
                          <a:srgbClr val="242424"/>
                        </a:solidFill>
                      </a:endParaRPr>
                    </a:p>
                  </a:txBody>
                  <a:tcPr marT="47625" marB="47625" marR="85725" marL="85725">
                    <a:lnR cap="flat" cmpd="sng" w="5300">
                      <a:solidFill>
                        <a:srgbClr val="000000"/>
                      </a:solidFill>
                      <a:prstDash val="solid"/>
                      <a:round/>
                      <a:headEnd len="sm" w="sm" type="none"/>
                      <a:tailEnd len="sm" w="sm" type="none"/>
                    </a:lnR>
                    <a:lnT cap="flat" cmpd="sng" w="5300">
                      <a:solidFill>
                        <a:srgbClr val="000000"/>
                      </a:solidFill>
                      <a:prstDash val="solid"/>
                      <a:round/>
                      <a:headEnd len="sm" w="sm" type="none"/>
                      <a:tailEnd len="sm" w="sm" type="none"/>
                    </a:lnT>
                    <a:lnB cap="flat" cmpd="sng" w="5300">
                      <a:solidFill>
                        <a:srgbClr val="000000"/>
                      </a:solidFill>
                      <a:prstDash val="solid"/>
                      <a:round/>
                      <a:headEnd len="sm" w="sm" type="none"/>
                      <a:tailEnd len="sm" w="sm" type="none"/>
                    </a:lnB>
                  </a:tcPr>
                </a:tc>
                <a:tc>
                  <a:txBody>
                    <a:bodyPr/>
                    <a:lstStyle/>
                    <a:p>
                      <a:pPr indent="0" lvl="0" marL="0" rtl="0" algn="l">
                        <a:lnSpc>
                          <a:spcPct val="142857"/>
                        </a:lnSpc>
                        <a:spcBef>
                          <a:spcPts val="0"/>
                        </a:spcBef>
                        <a:spcAft>
                          <a:spcPts val="0"/>
                        </a:spcAft>
                        <a:buNone/>
                      </a:pPr>
                      <a:r>
                        <a:rPr lang="en-GB" sz="1050">
                          <a:solidFill>
                            <a:srgbClr val="242424"/>
                          </a:solidFill>
                        </a:rPr>
                        <a:t>Can exceed base model</a:t>
                      </a:r>
                      <a:endParaRPr sz="1050">
                        <a:solidFill>
                          <a:srgbClr val="242424"/>
                        </a:solidFill>
                      </a:endParaRPr>
                    </a:p>
                  </a:txBody>
                  <a:tcPr marT="47625" marB="47625" marR="85725" marL="85725">
                    <a:lnL cap="flat" cmpd="sng" w="5300">
                      <a:solidFill>
                        <a:srgbClr val="000000"/>
                      </a:solidFill>
                      <a:prstDash val="solid"/>
                      <a:round/>
                      <a:headEnd len="sm" w="sm" type="none"/>
                      <a:tailEnd len="sm" w="sm" type="none"/>
                    </a:lnL>
                    <a:lnT cap="flat" cmpd="sng" w="5300">
                      <a:solidFill>
                        <a:srgbClr val="000000"/>
                      </a:solidFill>
                      <a:prstDash val="solid"/>
                      <a:round/>
                      <a:headEnd len="sm" w="sm" type="none"/>
                      <a:tailEnd len="sm" w="sm" type="none"/>
                    </a:lnT>
                    <a:lnB cap="flat" cmpd="sng" w="5300">
                      <a:solidFill>
                        <a:srgbClr val="000000"/>
                      </a:solidFill>
                      <a:prstDash val="solid"/>
                      <a:round/>
                      <a:headEnd len="sm" w="sm" type="none"/>
                      <a:tailEnd len="sm" w="sm" type="none"/>
                    </a:lnB>
                  </a:tcPr>
                </a:tc>
              </a:tr>
              <a:tr h="381000">
                <a:tc>
                  <a:txBody>
                    <a:bodyPr/>
                    <a:lstStyle/>
                    <a:p>
                      <a:pPr indent="0" lvl="0" marL="0" rtl="0" algn="l">
                        <a:lnSpc>
                          <a:spcPct val="142857"/>
                        </a:lnSpc>
                        <a:spcBef>
                          <a:spcPts val="0"/>
                        </a:spcBef>
                        <a:spcAft>
                          <a:spcPts val="0"/>
                        </a:spcAft>
                        <a:buNone/>
                      </a:pPr>
                      <a:r>
                        <a:rPr lang="en-GB" sz="1050">
                          <a:solidFill>
                            <a:srgbClr val="242424"/>
                          </a:solidFill>
                        </a:rPr>
                        <a:t>All algorithms (PPO, GRPO, Reinforce++) perform similarly</a:t>
                      </a:r>
                      <a:endParaRPr sz="1050">
                        <a:solidFill>
                          <a:srgbClr val="242424"/>
                        </a:solidFill>
                      </a:endParaRPr>
                    </a:p>
                  </a:txBody>
                  <a:tcPr marT="47625" marB="47625" marR="85725" marL="85725">
                    <a:lnR cap="flat" cmpd="sng" w="5300">
                      <a:solidFill>
                        <a:srgbClr val="000000"/>
                      </a:solidFill>
                      <a:prstDash val="solid"/>
                      <a:round/>
                      <a:headEnd len="sm" w="sm" type="none"/>
                      <a:tailEnd len="sm" w="sm" type="none"/>
                    </a:lnR>
                    <a:lnT cap="flat" cmpd="sng" w="5300">
                      <a:solidFill>
                        <a:srgbClr val="000000"/>
                      </a:solidFill>
                      <a:prstDash val="solid"/>
                      <a:round/>
                      <a:headEnd len="sm" w="sm" type="none"/>
                      <a:tailEnd len="sm" w="sm" type="none"/>
                    </a:lnT>
                  </a:tcPr>
                </a:tc>
                <a:tc>
                  <a:txBody>
                    <a:bodyPr/>
                    <a:lstStyle/>
                    <a:p>
                      <a:pPr indent="0" lvl="0" marL="0" rtl="0" algn="l">
                        <a:lnSpc>
                          <a:spcPct val="142857"/>
                        </a:lnSpc>
                        <a:spcBef>
                          <a:spcPts val="0"/>
                        </a:spcBef>
                        <a:spcAft>
                          <a:spcPts val="0"/>
                        </a:spcAft>
                        <a:buNone/>
                      </a:pPr>
                      <a:r>
                        <a:rPr lang="en-GB" sz="1050">
                          <a:solidFill>
                            <a:srgbClr val="242424"/>
                          </a:solidFill>
                        </a:rPr>
                        <a:t>Transfers knowledge from stronger teacher</a:t>
                      </a:r>
                      <a:endParaRPr sz="1050">
                        <a:solidFill>
                          <a:srgbClr val="242424"/>
                        </a:solidFill>
                      </a:endParaRPr>
                    </a:p>
                  </a:txBody>
                  <a:tcPr marT="47625" marB="47625" marR="85725" marL="85725">
                    <a:lnL cap="flat" cmpd="sng" w="5300">
                      <a:solidFill>
                        <a:srgbClr val="000000"/>
                      </a:solidFill>
                      <a:prstDash val="solid"/>
                      <a:round/>
                      <a:headEnd len="sm" w="sm" type="none"/>
                      <a:tailEnd len="sm" w="sm" type="none"/>
                    </a:lnL>
                    <a:lnT cap="flat" cmpd="sng" w="5300">
                      <a:solidFill>
                        <a:srgbClr val="000000"/>
                      </a:solidFill>
                      <a:prstDash val="solid"/>
                      <a:round/>
                      <a:headEnd len="sm" w="sm" type="none"/>
                      <a:tailEnd len="sm" w="sm" type="none"/>
                    </a:lnT>
                  </a:tcPr>
                </a:tc>
              </a:tr>
            </a:tbl>
          </a:graphicData>
        </a:graphic>
      </p:graphicFrame>
      <p:sp>
        <p:nvSpPr>
          <p:cNvPr id="1111" name="Google Shape;1111;p107"/>
          <p:cNvSpPr txBox="1"/>
          <p:nvPr/>
        </p:nvSpPr>
        <p:spPr>
          <a:xfrm>
            <a:off x="655225" y="3648475"/>
            <a:ext cx="7043700" cy="101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2"/>
                </a:solidFill>
              </a:rPr>
              <a:t>Current RLVR with binary rewards cannot elicit genuinely novel reasoning. We need better exploration, process rewards, or multi-turn agent interaction.</a:t>
            </a:r>
            <a:endParaRPr sz="1800">
              <a:solidFill>
                <a:schemeClr val="dk2"/>
              </a:solidFill>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D9EEB"/>
        </a:solidFill>
      </p:bgPr>
    </p:bg>
    <p:spTree>
      <p:nvGrpSpPr>
        <p:cNvPr id="1115" name="Shape 1115"/>
        <p:cNvGrpSpPr/>
        <p:nvPr/>
      </p:nvGrpSpPr>
      <p:grpSpPr>
        <a:xfrm>
          <a:off x="0" y="0"/>
          <a:ext cx="0" cy="0"/>
          <a:chOff x="0" y="0"/>
          <a:chExt cx="0" cy="0"/>
        </a:xfrm>
      </p:grpSpPr>
      <p:sp>
        <p:nvSpPr>
          <p:cNvPr id="1116" name="Google Shape;1116;p108"/>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b="1" lang="en-GB">
                <a:solidFill>
                  <a:schemeClr val="lt1"/>
                </a:solidFill>
                <a:latin typeface="Palatino Linotype"/>
                <a:ea typeface="Palatino Linotype"/>
                <a:cs typeface="Palatino Linotype"/>
                <a:sym typeface="Palatino Linotype"/>
              </a:rPr>
              <a:t>4. Multi-agentic solutions</a:t>
            </a:r>
            <a:endParaRPr b="1">
              <a:solidFill>
                <a:srgbClr val="93C47D"/>
              </a:solidFill>
              <a:latin typeface="Palatino Linotype"/>
              <a:ea typeface="Palatino Linotype"/>
              <a:cs typeface="Palatino Linotype"/>
              <a:sym typeface="Palatino Linotype"/>
            </a:endParaRPr>
          </a:p>
        </p:txBody>
      </p:sp>
      <p:sp>
        <p:nvSpPr>
          <p:cNvPr id="1117" name="Google Shape;1117;p10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21" name="Shape 1121"/>
        <p:cNvGrpSpPr/>
        <p:nvPr/>
      </p:nvGrpSpPr>
      <p:grpSpPr>
        <a:xfrm>
          <a:off x="0" y="0"/>
          <a:ext cx="0" cy="0"/>
          <a:chOff x="0" y="0"/>
          <a:chExt cx="0" cy="0"/>
        </a:xfrm>
      </p:grpSpPr>
      <p:sp>
        <p:nvSpPr>
          <p:cNvPr id="1122" name="Google Shape;1122;p10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00000"/>
              </a:lnSpc>
              <a:spcBef>
                <a:spcPts val="0"/>
              </a:spcBef>
              <a:spcAft>
                <a:spcPts val="0"/>
              </a:spcAft>
              <a:buSzPct val="197183"/>
              <a:buNone/>
            </a:pPr>
            <a:r>
              <a:rPr b="1" lang="en-GB">
                <a:latin typeface="Palatino Linotype"/>
                <a:ea typeface="Palatino Linotype"/>
                <a:cs typeface="Palatino Linotype"/>
                <a:sym typeface="Palatino Linotype"/>
              </a:rPr>
              <a:t>Multi-Agent Architectures</a:t>
            </a:r>
            <a:endParaRPr sz="1578">
              <a:latin typeface="Palatino Linotype"/>
              <a:ea typeface="Palatino Linotype"/>
              <a:cs typeface="Palatino Linotype"/>
              <a:sym typeface="Palatino Linotype"/>
            </a:endParaRPr>
          </a:p>
          <a:p>
            <a:pPr indent="0" lvl="0" marL="0" rtl="0" algn="l">
              <a:lnSpc>
                <a:spcPct val="100000"/>
              </a:lnSpc>
              <a:spcBef>
                <a:spcPts val="0"/>
              </a:spcBef>
              <a:spcAft>
                <a:spcPts val="0"/>
              </a:spcAft>
              <a:buSzPct val="111111"/>
              <a:buNone/>
            </a:pPr>
            <a:r>
              <a:t/>
            </a:r>
            <a:endParaRPr>
              <a:latin typeface="Palatino Linotype"/>
              <a:ea typeface="Palatino Linotype"/>
              <a:cs typeface="Palatino Linotype"/>
              <a:sym typeface="Palatino Linotype"/>
            </a:endParaRPr>
          </a:p>
        </p:txBody>
      </p:sp>
      <p:sp>
        <p:nvSpPr>
          <p:cNvPr id="1123" name="Google Shape;1123;p10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
        <p:nvSpPr>
          <p:cNvPr id="1124" name="Google Shape;1124;p109"/>
          <p:cNvSpPr txBox="1"/>
          <p:nvPr>
            <p:ph idx="1" type="body"/>
          </p:nvPr>
        </p:nvSpPr>
        <p:spPr>
          <a:xfrm>
            <a:off x="311700" y="1152475"/>
            <a:ext cx="44922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None/>
            </a:pPr>
            <a:r>
              <a:rPr lang="en-GB" sz="1500">
                <a:solidFill>
                  <a:schemeClr val="dk1"/>
                </a:solidFill>
                <a:latin typeface="Palatino Linotype"/>
                <a:ea typeface="Palatino Linotype"/>
                <a:cs typeface="Palatino Linotype"/>
                <a:sym typeface="Palatino Linotype"/>
              </a:rPr>
              <a:t>If a single model's capacity for reasoning has a ceiling, can we go beyond that by distributing a given problem across multiple specialized agents?</a:t>
            </a:r>
            <a:endParaRPr sz="1500">
              <a:solidFill>
                <a:schemeClr val="dk1"/>
              </a:solidFill>
              <a:latin typeface="Palatino Linotype"/>
              <a:ea typeface="Palatino Linotype"/>
              <a:cs typeface="Palatino Linotype"/>
              <a:sym typeface="Palatino Linotype"/>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28" name="Shape 1128"/>
        <p:cNvGrpSpPr/>
        <p:nvPr/>
      </p:nvGrpSpPr>
      <p:grpSpPr>
        <a:xfrm>
          <a:off x="0" y="0"/>
          <a:ext cx="0" cy="0"/>
          <a:chOff x="0" y="0"/>
          <a:chExt cx="0" cy="0"/>
        </a:xfrm>
      </p:grpSpPr>
      <p:sp>
        <p:nvSpPr>
          <p:cNvPr id="1129" name="Google Shape;1129;p11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00000"/>
              </a:lnSpc>
              <a:spcBef>
                <a:spcPts val="0"/>
              </a:spcBef>
              <a:spcAft>
                <a:spcPts val="0"/>
              </a:spcAft>
              <a:buSzPct val="197183"/>
              <a:buNone/>
            </a:pPr>
            <a:r>
              <a:rPr b="1" lang="en-GB">
                <a:latin typeface="Palatino Linotype"/>
                <a:ea typeface="Palatino Linotype"/>
                <a:cs typeface="Palatino Linotype"/>
                <a:sym typeface="Palatino Linotype"/>
              </a:rPr>
              <a:t>Multi-Agent Architectures</a:t>
            </a:r>
            <a:endParaRPr sz="1578">
              <a:latin typeface="Palatino Linotype"/>
              <a:ea typeface="Palatino Linotype"/>
              <a:cs typeface="Palatino Linotype"/>
              <a:sym typeface="Palatino Linotype"/>
            </a:endParaRPr>
          </a:p>
          <a:p>
            <a:pPr indent="0" lvl="0" marL="0" rtl="0" algn="ctr">
              <a:lnSpc>
                <a:spcPct val="100000"/>
              </a:lnSpc>
              <a:spcBef>
                <a:spcPts val="0"/>
              </a:spcBef>
              <a:spcAft>
                <a:spcPts val="0"/>
              </a:spcAft>
              <a:buSzPct val="197183"/>
              <a:buNone/>
            </a:pPr>
            <a:r>
              <a:rPr lang="en-GB" sz="1578">
                <a:latin typeface="Palatino Linotype"/>
                <a:ea typeface="Palatino Linotype"/>
                <a:cs typeface="Palatino Linotype"/>
                <a:sym typeface="Palatino Linotype"/>
              </a:rPr>
              <a:t>Orchestration</a:t>
            </a:r>
            <a:endParaRPr sz="1578">
              <a:latin typeface="Palatino Linotype"/>
              <a:ea typeface="Palatino Linotype"/>
              <a:cs typeface="Palatino Linotype"/>
              <a:sym typeface="Palatino Linotype"/>
            </a:endParaRPr>
          </a:p>
        </p:txBody>
      </p:sp>
      <p:sp>
        <p:nvSpPr>
          <p:cNvPr id="1130" name="Google Shape;1130;p1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
        <p:nvSpPr>
          <p:cNvPr id="1131" name="Google Shape;1131;p110"/>
          <p:cNvSpPr txBox="1"/>
          <p:nvPr>
            <p:ph idx="1" type="body"/>
          </p:nvPr>
        </p:nvSpPr>
        <p:spPr>
          <a:xfrm>
            <a:off x="311700" y="1152475"/>
            <a:ext cx="44922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None/>
            </a:pPr>
            <a:r>
              <a:rPr lang="en-GB" sz="1500">
                <a:solidFill>
                  <a:schemeClr val="dk1"/>
                </a:solidFill>
                <a:latin typeface="Palatino Linotype"/>
                <a:ea typeface="Palatino Linotype"/>
                <a:cs typeface="Palatino Linotype"/>
                <a:sym typeface="Palatino Linotype"/>
              </a:rPr>
              <a:t>If a single model's capacity for reasoning has a ceiling, can we go beyond that by distributing a given problem across multiple specialized agents?</a:t>
            </a:r>
            <a:endParaRPr sz="1500">
              <a:solidFill>
                <a:schemeClr val="dk1"/>
              </a:solidFill>
              <a:latin typeface="Palatino Linotype"/>
              <a:ea typeface="Palatino Linotype"/>
              <a:cs typeface="Palatino Linotype"/>
              <a:sym typeface="Palatino Linotype"/>
            </a:endParaRPr>
          </a:p>
        </p:txBody>
      </p:sp>
      <p:pic>
        <p:nvPicPr>
          <p:cNvPr id="1132" name="Google Shape;1132;p110"/>
          <p:cNvPicPr preferRelativeResize="0"/>
          <p:nvPr/>
        </p:nvPicPr>
        <p:blipFill>
          <a:blip r:embed="rId3">
            <a:alphaModFix/>
          </a:blip>
          <a:stretch>
            <a:fillRect/>
          </a:stretch>
        </p:blipFill>
        <p:spPr>
          <a:xfrm>
            <a:off x="5216775" y="1017725"/>
            <a:ext cx="3372474" cy="3535676"/>
          </a:xfrm>
          <a:prstGeom prst="rect">
            <a:avLst/>
          </a:prstGeom>
          <a:noFill/>
          <a:ln>
            <a:noFill/>
          </a:ln>
        </p:spPr>
      </p:pic>
      <p:sp>
        <p:nvSpPr>
          <p:cNvPr id="1133" name="Google Shape;1133;p110"/>
          <p:cNvSpPr txBox="1"/>
          <p:nvPr/>
        </p:nvSpPr>
        <p:spPr>
          <a:xfrm>
            <a:off x="139825" y="4738400"/>
            <a:ext cx="8453700" cy="302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lang="en-GB" sz="768">
                <a:solidFill>
                  <a:schemeClr val="dk2"/>
                </a:solidFill>
              </a:rPr>
              <a:t>GPTSwarm: Language Agents as Optimizable Graphs.</a:t>
            </a:r>
            <a:r>
              <a:rPr lang="en-GB" sz="768">
                <a:solidFill>
                  <a:schemeClr val="dk2"/>
                </a:solidFill>
              </a:rPr>
              <a:t> Zhuge et al., 2024.</a:t>
            </a:r>
            <a:endParaRPr sz="800">
              <a:solidFill>
                <a:srgbClr val="222222"/>
              </a:solidFill>
              <a:highlight>
                <a:srgbClr val="FFFFFF"/>
              </a:highlight>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37" name="Shape 1137"/>
        <p:cNvGrpSpPr/>
        <p:nvPr/>
      </p:nvGrpSpPr>
      <p:grpSpPr>
        <a:xfrm>
          <a:off x="0" y="0"/>
          <a:ext cx="0" cy="0"/>
          <a:chOff x="0" y="0"/>
          <a:chExt cx="0" cy="0"/>
        </a:xfrm>
      </p:grpSpPr>
      <p:sp>
        <p:nvSpPr>
          <p:cNvPr id="1138" name="Google Shape;1138;p11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00000"/>
              </a:lnSpc>
              <a:spcBef>
                <a:spcPts val="0"/>
              </a:spcBef>
              <a:spcAft>
                <a:spcPts val="0"/>
              </a:spcAft>
              <a:buSzPct val="111111"/>
              <a:buNone/>
            </a:pPr>
            <a:r>
              <a:rPr b="1" lang="en-GB">
                <a:latin typeface="Palatino Linotype"/>
                <a:ea typeface="Palatino Linotype"/>
                <a:cs typeface="Palatino Linotype"/>
                <a:sym typeface="Palatino Linotype"/>
              </a:rPr>
              <a:t>Multi-Agent Architectures</a:t>
            </a:r>
            <a:endParaRPr b="1">
              <a:latin typeface="Palatino Linotype"/>
              <a:ea typeface="Palatino Linotype"/>
              <a:cs typeface="Palatino Linotype"/>
              <a:sym typeface="Palatino Linotype"/>
            </a:endParaRPr>
          </a:p>
          <a:p>
            <a:pPr indent="0" lvl="0" marL="0" rtl="0" algn="ctr">
              <a:spcBef>
                <a:spcPts val="0"/>
              </a:spcBef>
              <a:spcAft>
                <a:spcPts val="0"/>
              </a:spcAft>
              <a:buClr>
                <a:schemeClr val="dk1"/>
              </a:buClr>
              <a:buSzPct val="172839"/>
              <a:buFont typeface="Arial"/>
              <a:buNone/>
            </a:pPr>
            <a:r>
              <a:rPr i="1" lang="en-GB" sz="1800">
                <a:latin typeface="Palatino Linotype"/>
                <a:ea typeface="Palatino Linotype"/>
                <a:cs typeface="Palatino Linotype"/>
                <a:sym typeface="Palatino Linotype"/>
              </a:rPr>
              <a:t>Adaptive Orchestration </a:t>
            </a:r>
            <a:endParaRPr b="1">
              <a:latin typeface="Palatino Linotype"/>
              <a:ea typeface="Palatino Linotype"/>
              <a:cs typeface="Palatino Linotype"/>
              <a:sym typeface="Palatino Linotype"/>
            </a:endParaRPr>
          </a:p>
          <a:p>
            <a:pPr indent="0" lvl="0" marL="0" rtl="0" algn="l">
              <a:lnSpc>
                <a:spcPct val="100000"/>
              </a:lnSpc>
              <a:spcBef>
                <a:spcPts val="0"/>
              </a:spcBef>
              <a:spcAft>
                <a:spcPts val="0"/>
              </a:spcAft>
              <a:buSzPct val="111111"/>
              <a:buNone/>
            </a:pPr>
            <a:r>
              <a:t/>
            </a:r>
            <a:endParaRPr>
              <a:latin typeface="Palatino Linotype"/>
              <a:ea typeface="Palatino Linotype"/>
              <a:cs typeface="Palatino Linotype"/>
              <a:sym typeface="Palatino Linotype"/>
            </a:endParaRPr>
          </a:p>
        </p:txBody>
      </p:sp>
      <p:sp>
        <p:nvSpPr>
          <p:cNvPr id="1139" name="Google Shape;1139;p1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pic>
        <p:nvPicPr>
          <p:cNvPr id="1140" name="Google Shape;1140;p111"/>
          <p:cNvPicPr preferRelativeResize="0"/>
          <p:nvPr/>
        </p:nvPicPr>
        <p:blipFill>
          <a:blip r:embed="rId3">
            <a:alphaModFix/>
          </a:blip>
          <a:stretch>
            <a:fillRect/>
          </a:stretch>
        </p:blipFill>
        <p:spPr>
          <a:xfrm>
            <a:off x="366700" y="1231150"/>
            <a:ext cx="2992225" cy="3137024"/>
          </a:xfrm>
          <a:prstGeom prst="rect">
            <a:avLst/>
          </a:prstGeom>
          <a:noFill/>
          <a:ln>
            <a:noFill/>
          </a:ln>
        </p:spPr>
      </p:pic>
      <p:sp>
        <p:nvSpPr>
          <p:cNvPr id="1141" name="Google Shape;1141;p111"/>
          <p:cNvSpPr txBox="1"/>
          <p:nvPr/>
        </p:nvSpPr>
        <p:spPr>
          <a:xfrm>
            <a:off x="139825" y="4738400"/>
            <a:ext cx="8453700" cy="302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lang="en-GB" sz="768">
                <a:solidFill>
                  <a:schemeClr val="dk2"/>
                </a:solidFill>
              </a:rPr>
              <a:t>Adaptive Orchestration of Modular Generative Information Access Systems. Hoveyda et al., 2025.</a:t>
            </a:r>
            <a:endParaRPr sz="800">
              <a:solidFill>
                <a:srgbClr val="222222"/>
              </a:solidFill>
              <a:highlight>
                <a:srgbClr val="FFFFFF"/>
              </a:highlight>
            </a:endParaRPr>
          </a:p>
        </p:txBody>
      </p:sp>
      <p:pic>
        <p:nvPicPr>
          <p:cNvPr id="1142" name="Google Shape;1142;p111"/>
          <p:cNvPicPr preferRelativeResize="0"/>
          <p:nvPr/>
        </p:nvPicPr>
        <p:blipFill>
          <a:blip r:embed="rId4">
            <a:alphaModFix/>
          </a:blip>
          <a:stretch>
            <a:fillRect/>
          </a:stretch>
        </p:blipFill>
        <p:spPr>
          <a:xfrm>
            <a:off x="3515500" y="1828250"/>
            <a:ext cx="5396429" cy="2194934"/>
          </a:xfrm>
          <a:prstGeom prst="rect">
            <a:avLst/>
          </a:prstGeom>
          <a:noFill/>
          <a:ln>
            <a:noFill/>
          </a:ln>
        </p:spPr>
      </p:pic>
      <p:sp>
        <p:nvSpPr>
          <p:cNvPr id="1143" name="Google Shape;1143;p111"/>
          <p:cNvSpPr txBox="1"/>
          <p:nvPr/>
        </p:nvSpPr>
        <p:spPr>
          <a:xfrm>
            <a:off x="1282725" y="4368175"/>
            <a:ext cx="1224000" cy="195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100">
                <a:solidFill>
                  <a:schemeClr val="dk2"/>
                </a:solidFill>
              </a:rPr>
              <a:t>GPTSwarm</a:t>
            </a:r>
            <a:endParaRPr b="1" sz="1100">
              <a:solidFill>
                <a:schemeClr val="dk2"/>
              </a:solidFill>
            </a:endParaRPr>
          </a:p>
        </p:txBody>
      </p:sp>
      <p:sp>
        <p:nvSpPr>
          <p:cNvPr id="1144" name="Google Shape;1144;p111"/>
          <p:cNvSpPr txBox="1"/>
          <p:nvPr/>
        </p:nvSpPr>
        <p:spPr>
          <a:xfrm>
            <a:off x="6121700" y="4368175"/>
            <a:ext cx="1224000" cy="195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100">
                <a:solidFill>
                  <a:schemeClr val="dk2"/>
                </a:solidFill>
              </a:rPr>
              <a:t>AQA</a:t>
            </a:r>
            <a:endParaRPr b="1" sz="1100">
              <a:solidFill>
                <a:schemeClr val="dk2"/>
              </a:solidFill>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48" name="Shape 1148"/>
        <p:cNvGrpSpPr/>
        <p:nvPr/>
      </p:nvGrpSpPr>
      <p:grpSpPr>
        <a:xfrm>
          <a:off x="0" y="0"/>
          <a:ext cx="0" cy="0"/>
          <a:chOff x="0" y="0"/>
          <a:chExt cx="0" cy="0"/>
        </a:xfrm>
      </p:grpSpPr>
      <p:sp>
        <p:nvSpPr>
          <p:cNvPr id="1149" name="Google Shape;1149;p11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00000"/>
              </a:lnSpc>
              <a:spcBef>
                <a:spcPts val="0"/>
              </a:spcBef>
              <a:spcAft>
                <a:spcPts val="0"/>
              </a:spcAft>
              <a:buSzPct val="111111"/>
              <a:buNone/>
            </a:pPr>
            <a:r>
              <a:rPr b="1" lang="en-GB">
                <a:latin typeface="Palatino Linotype"/>
                <a:ea typeface="Palatino Linotype"/>
                <a:cs typeface="Palatino Linotype"/>
                <a:sym typeface="Palatino Linotype"/>
              </a:rPr>
              <a:t>Multi-Agent Architectures</a:t>
            </a:r>
            <a:endParaRPr b="1">
              <a:latin typeface="Palatino Linotype"/>
              <a:ea typeface="Palatino Linotype"/>
              <a:cs typeface="Palatino Linotype"/>
              <a:sym typeface="Palatino Linotype"/>
            </a:endParaRPr>
          </a:p>
          <a:p>
            <a:pPr indent="0" lvl="0" marL="0" rtl="0" algn="ctr">
              <a:spcBef>
                <a:spcPts val="0"/>
              </a:spcBef>
              <a:spcAft>
                <a:spcPts val="0"/>
              </a:spcAft>
              <a:buClr>
                <a:schemeClr val="dk1"/>
              </a:buClr>
              <a:buSzPct val="172839"/>
              <a:buFont typeface="Arial"/>
              <a:buNone/>
            </a:pPr>
            <a:r>
              <a:rPr i="1" lang="en-GB" sz="1800">
                <a:latin typeface="Palatino Linotype"/>
                <a:ea typeface="Palatino Linotype"/>
                <a:cs typeface="Palatino Linotype"/>
                <a:sym typeface="Palatino Linotype"/>
              </a:rPr>
              <a:t>Adaptive Orchestration </a:t>
            </a:r>
            <a:endParaRPr b="1">
              <a:latin typeface="Palatino Linotype"/>
              <a:ea typeface="Palatino Linotype"/>
              <a:cs typeface="Palatino Linotype"/>
              <a:sym typeface="Palatino Linotype"/>
            </a:endParaRPr>
          </a:p>
          <a:p>
            <a:pPr indent="0" lvl="0" marL="0" rtl="0" algn="l">
              <a:lnSpc>
                <a:spcPct val="100000"/>
              </a:lnSpc>
              <a:spcBef>
                <a:spcPts val="0"/>
              </a:spcBef>
              <a:spcAft>
                <a:spcPts val="0"/>
              </a:spcAft>
              <a:buSzPct val="111111"/>
              <a:buNone/>
            </a:pPr>
            <a:r>
              <a:t/>
            </a:r>
            <a:endParaRPr>
              <a:latin typeface="Palatino Linotype"/>
              <a:ea typeface="Palatino Linotype"/>
              <a:cs typeface="Palatino Linotype"/>
              <a:sym typeface="Palatino Linotype"/>
            </a:endParaRPr>
          </a:p>
        </p:txBody>
      </p:sp>
      <p:sp>
        <p:nvSpPr>
          <p:cNvPr id="1150" name="Google Shape;1150;p1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
        <p:nvSpPr>
          <p:cNvPr id="1151" name="Google Shape;1151;p112"/>
          <p:cNvSpPr txBox="1"/>
          <p:nvPr/>
        </p:nvSpPr>
        <p:spPr>
          <a:xfrm>
            <a:off x="139825" y="4738400"/>
            <a:ext cx="8453700" cy="302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lang="en-GB" sz="768">
                <a:solidFill>
                  <a:schemeClr val="dk2"/>
                </a:solidFill>
              </a:rPr>
              <a:t>Adaptive Orchestration of Modular Generative Information Access Systems. Hoveyda et al., 2025.</a:t>
            </a:r>
            <a:endParaRPr sz="800">
              <a:solidFill>
                <a:srgbClr val="222222"/>
              </a:solidFill>
              <a:highlight>
                <a:srgbClr val="FFFFFF"/>
              </a:highlight>
            </a:endParaRPr>
          </a:p>
        </p:txBody>
      </p:sp>
      <p:pic>
        <p:nvPicPr>
          <p:cNvPr id="1152" name="Google Shape;1152;p112"/>
          <p:cNvPicPr preferRelativeResize="0"/>
          <p:nvPr/>
        </p:nvPicPr>
        <p:blipFill>
          <a:blip r:embed="rId3">
            <a:alphaModFix/>
          </a:blip>
          <a:stretch>
            <a:fillRect/>
          </a:stretch>
        </p:blipFill>
        <p:spPr>
          <a:xfrm>
            <a:off x="709475" y="2346075"/>
            <a:ext cx="3738149" cy="1591750"/>
          </a:xfrm>
          <a:prstGeom prst="rect">
            <a:avLst/>
          </a:prstGeom>
          <a:noFill/>
          <a:ln>
            <a:noFill/>
          </a:ln>
        </p:spPr>
      </p:pic>
      <p:pic>
        <p:nvPicPr>
          <p:cNvPr id="1153" name="Google Shape;1153;p112"/>
          <p:cNvPicPr preferRelativeResize="0"/>
          <p:nvPr/>
        </p:nvPicPr>
        <p:blipFill>
          <a:blip r:embed="rId4">
            <a:alphaModFix/>
          </a:blip>
          <a:stretch>
            <a:fillRect/>
          </a:stretch>
        </p:blipFill>
        <p:spPr>
          <a:xfrm>
            <a:off x="5084725" y="2230425"/>
            <a:ext cx="3077303" cy="1707400"/>
          </a:xfrm>
          <a:prstGeom prst="rect">
            <a:avLst/>
          </a:prstGeom>
          <a:noFill/>
          <a:ln>
            <a:noFill/>
          </a:ln>
        </p:spPr>
      </p:pic>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57" name="Shape 1157"/>
        <p:cNvGrpSpPr/>
        <p:nvPr/>
      </p:nvGrpSpPr>
      <p:grpSpPr>
        <a:xfrm>
          <a:off x="0" y="0"/>
          <a:ext cx="0" cy="0"/>
          <a:chOff x="0" y="0"/>
          <a:chExt cx="0" cy="0"/>
        </a:xfrm>
      </p:grpSpPr>
      <p:sp>
        <p:nvSpPr>
          <p:cNvPr id="1158" name="Google Shape;1158;p11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
        <p:nvSpPr>
          <p:cNvPr id="1159" name="Google Shape;1159;p113"/>
          <p:cNvSpPr txBox="1"/>
          <p:nvPr>
            <p:ph idx="1" type="body"/>
          </p:nvPr>
        </p:nvSpPr>
        <p:spPr>
          <a:xfrm>
            <a:off x="311700" y="1152475"/>
            <a:ext cx="44922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None/>
            </a:pPr>
            <a:r>
              <a:rPr lang="en-GB" sz="1500">
                <a:solidFill>
                  <a:schemeClr val="dk1"/>
                </a:solidFill>
                <a:latin typeface="Calibri"/>
                <a:ea typeface="Calibri"/>
                <a:cs typeface="Calibri"/>
                <a:sym typeface="Calibri"/>
              </a:rPr>
              <a:t>Adaptive Orchestration: </a:t>
            </a:r>
            <a:br>
              <a:rPr lang="en-GB" sz="1500">
                <a:solidFill>
                  <a:schemeClr val="dk1"/>
                </a:solidFill>
                <a:latin typeface="Calibri"/>
                <a:ea typeface="Calibri"/>
                <a:cs typeface="Calibri"/>
                <a:sym typeface="Calibri"/>
              </a:rPr>
            </a:br>
            <a:r>
              <a:rPr lang="en-GB" sz="1500">
                <a:solidFill>
                  <a:schemeClr val="dk1"/>
                </a:solidFill>
                <a:latin typeface="Calibri"/>
                <a:ea typeface="Calibri"/>
                <a:cs typeface="Calibri"/>
                <a:sym typeface="Calibri"/>
              </a:rPr>
              <a:t>Reasoning about what search strategy to execute for a given query. </a:t>
            </a:r>
            <a:endParaRPr sz="15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t/>
            </a:r>
            <a:endParaRPr sz="15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t/>
            </a:r>
            <a:endParaRPr sz="15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t/>
            </a:r>
            <a:endParaRPr sz="1500">
              <a:solidFill>
                <a:schemeClr val="dk1"/>
              </a:solidFill>
              <a:latin typeface="Calibri"/>
              <a:ea typeface="Calibri"/>
              <a:cs typeface="Calibri"/>
              <a:sym typeface="Calibri"/>
            </a:endParaRPr>
          </a:p>
        </p:txBody>
      </p:sp>
      <p:sp>
        <p:nvSpPr>
          <p:cNvPr id="1160" name="Google Shape;1160;p113"/>
          <p:cNvSpPr txBox="1"/>
          <p:nvPr/>
        </p:nvSpPr>
        <p:spPr>
          <a:xfrm>
            <a:off x="139825" y="4738400"/>
            <a:ext cx="8453700" cy="302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lang="en-GB" sz="768">
                <a:solidFill>
                  <a:schemeClr val="dk2"/>
                </a:solidFill>
              </a:rPr>
              <a:t>Multi-agent Architecture Search via Agentic Supernet</a:t>
            </a:r>
            <a:r>
              <a:rPr lang="en-GB" sz="768">
                <a:solidFill>
                  <a:schemeClr val="dk2"/>
                </a:solidFill>
              </a:rPr>
              <a:t>. Zhang et al., 2025.</a:t>
            </a:r>
            <a:endParaRPr sz="800">
              <a:solidFill>
                <a:srgbClr val="222222"/>
              </a:solidFill>
              <a:highlight>
                <a:srgbClr val="FFFFFF"/>
              </a:highlight>
            </a:endParaRPr>
          </a:p>
        </p:txBody>
      </p:sp>
      <p:pic>
        <p:nvPicPr>
          <p:cNvPr id="1161" name="Google Shape;1161;p113"/>
          <p:cNvPicPr preferRelativeResize="0"/>
          <p:nvPr/>
        </p:nvPicPr>
        <p:blipFill>
          <a:blip r:embed="rId3">
            <a:alphaModFix/>
          </a:blip>
          <a:stretch>
            <a:fillRect/>
          </a:stretch>
        </p:blipFill>
        <p:spPr>
          <a:xfrm>
            <a:off x="5323749" y="1152751"/>
            <a:ext cx="3111876" cy="3723549"/>
          </a:xfrm>
          <a:prstGeom prst="rect">
            <a:avLst/>
          </a:prstGeom>
          <a:noFill/>
          <a:ln>
            <a:noFill/>
          </a:ln>
        </p:spPr>
      </p:pic>
      <p:sp>
        <p:nvSpPr>
          <p:cNvPr id="1162" name="Google Shape;1162;p1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00000"/>
              </a:lnSpc>
              <a:spcBef>
                <a:spcPts val="0"/>
              </a:spcBef>
              <a:spcAft>
                <a:spcPts val="0"/>
              </a:spcAft>
              <a:buSzPct val="111111"/>
              <a:buNone/>
            </a:pPr>
            <a:r>
              <a:rPr b="1" lang="en-GB">
                <a:latin typeface="Palatino Linotype"/>
                <a:ea typeface="Palatino Linotype"/>
                <a:cs typeface="Palatino Linotype"/>
                <a:sym typeface="Palatino Linotype"/>
              </a:rPr>
              <a:t>Multi-Agent Architectures</a:t>
            </a:r>
            <a:endParaRPr b="1">
              <a:latin typeface="Palatino Linotype"/>
              <a:ea typeface="Palatino Linotype"/>
              <a:cs typeface="Palatino Linotype"/>
              <a:sym typeface="Palatino Linotype"/>
            </a:endParaRPr>
          </a:p>
          <a:p>
            <a:pPr indent="0" lvl="0" marL="0" rtl="0" algn="ctr">
              <a:spcBef>
                <a:spcPts val="0"/>
              </a:spcBef>
              <a:spcAft>
                <a:spcPts val="0"/>
              </a:spcAft>
              <a:buSzPct val="172839"/>
              <a:buNone/>
            </a:pPr>
            <a:r>
              <a:rPr i="1" lang="en-GB" sz="1800">
                <a:latin typeface="Palatino Linotype"/>
                <a:ea typeface="Palatino Linotype"/>
                <a:cs typeface="Palatino Linotype"/>
                <a:sym typeface="Palatino Linotype"/>
              </a:rPr>
              <a:t>Adaptive Orchestration </a:t>
            </a:r>
            <a:endParaRPr>
              <a:latin typeface="Palatino Linotype"/>
              <a:ea typeface="Palatino Linotype"/>
              <a:cs typeface="Palatino Linotype"/>
              <a:sym typeface="Palatino Linotype"/>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66" name="Shape 1166"/>
        <p:cNvGrpSpPr/>
        <p:nvPr/>
      </p:nvGrpSpPr>
      <p:grpSpPr>
        <a:xfrm>
          <a:off x="0" y="0"/>
          <a:ext cx="0" cy="0"/>
          <a:chOff x="0" y="0"/>
          <a:chExt cx="0" cy="0"/>
        </a:xfrm>
      </p:grpSpPr>
      <p:sp>
        <p:nvSpPr>
          <p:cNvPr id="1167" name="Google Shape;1167;p1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
        <p:nvSpPr>
          <p:cNvPr id="1168" name="Google Shape;1168;p114"/>
          <p:cNvSpPr txBox="1"/>
          <p:nvPr>
            <p:ph idx="1" type="body"/>
          </p:nvPr>
        </p:nvSpPr>
        <p:spPr>
          <a:xfrm>
            <a:off x="311700" y="1152475"/>
            <a:ext cx="44922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None/>
            </a:pPr>
            <a:r>
              <a:rPr lang="en-GB" sz="1500">
                <a:solidFill>
                  <a:schemeClr val="dk1"/>
                </a:solidFill>
                <a:latin typeface="Palatino Linotype"/>
                <a:ea typeface="Palatino Linotype"/>
                <a:cs typeface="Palatino Linotype"/>
                <a:sym typeface="Palatino Linotype"/>
              </a:rPr>
              <a:t>Adaptive Orchestration: </a:t>
            </a:r>
            <a:br>
              <a:rPr lang="en-GB" sz="1500">
                <a:solidFill>
                  <a:schemeClr val="dk1"/>
                </a:solidFill>
                <a:latin typeface="Palatino Linotype"/>
                <a:ea typeface="Palatino Linotype"/>
                <a:cs typeface="Palatino Linotype"/>
                <a:sym typeface="Palatino Linotype"/>
              </a:rPr>
            </a:br>
            <a:r>
              <a:rPr lang="en-GB" sz="1500">
                <a:solidFill>
                  <a:schemeClr val="dk1"/>
                </a:solidFill>
                <a:latin typeface="Palatino Linotype"/>
                <a:ea typeface="Palatino Linotype"/>
                <a:cs typeface="Palatino Linotype"/>
                <a:sym typeface="Palatino Linotype"/>
              </a:rPr>
              <a:t>Reasoning about what search strategy to execute for a given query. </a:t>
            </a:r>
            <a:endParaRPr sz="1500">
              <a:solidFill>
                <a:schemeClr val="dk1"/>
              </a:solidFill>
              <a:latin typeface="Palatino Linotype"/>
              <a:ea typeface="Palatino Linotype"/>
              <a:cs typeface="Palatino Linotype"/>
              <a:sym typeface="Palatino Linotype"/>
            </a:endParaRPr>
          </a:p>
          <a:p>
            <a:pPr indent="0" lvl="0" marL="0" rtl="0" algn="l">
              <a:lnSpc>
                <a:spcPct val="115000"/>
              </a:lnSpc>
              <a:spcBef>
                <a:spcPts val="0"/>
              </a:spcBef>
              <a:spcAft>
                <a:spcPts val="0"/>
              </a:spcAft>
              <a:buNone/>
            </a:pPr>
            <a:r>
              <a:t/>
            </a:r>
            <a:endParaRPr sz="1500">
              <a:solidFill>
                <a:schemeClr val="dk1"/>
              </a:solidFill>
              <a:latin typeface="Palatino Linotype"/>
              <a:ea typeface="Palatino Linotype"/>
              <a:cs typeface="Palatino Linotype"/>
              <a:sym typeface="Palatino Linotype"/>
            </a:endParaRPr>
          </a:p>
          <a:p>
            <a:pPr indent="0" lvl="0" marL="0" rtl="0" algn="l">
              <a:lnSpc>
                <a:spcPct val="115000"/>
              </a:lnSpc>
              <a:spcBef>
                <a:spcPts val="0"/>
              </a:spcBef>
              <a:spcAft>
                <a:spcPts val="0"/>
              </a:spcAft>
              <a:buNone/>
            </a:pPr>
            <a:r>
              <a:t/>
            </a:r>
            <a:endParaRPr sz="1500">
              <a:solidFill>
                <a:schemeClr val="dk1"/>
              </a:solidFill>
              <a:latin typeface="Palatino Linotype"/>
              <a:ea typeface="Palatino Linotype"/>
              <a:cs typeface="Palatino Linotype"/>
              <a:sym typeface="Palatino Linotype"/>
            </a:endParaRPr>
          </a:p>
          <a:p>
            <a:pPr indent="0" lvl="0" marL="0" rtl="0" algn="l">
              <a:lnSpc>
                <a:spcPct val="115000"/>
              </a:lnSpc>
              <a:spcBef>
                <a:spcPts val="0"/>
              </a:spcBef>
              <a:spcAft>
                <a:spcPts val="0"/>
              </a:spcAft>
              <a:buNone/>
            </a:pPr>
            <a:r>
              <a:rPr lang="en-GB" sz="1500">
                <a:solidFill>
                  <a:schemeClr val="dk1"/>
                </a:solidFill>
                <a:latin typeface="Palatino Linotype"/>
                <a:ea typeface="Palatino Linotype"/>
                <a:cs typeface="Palatino Linotype"/>
                <a:sym typeface="Palatino Linotype"/>
              </a:rPr>
              <a:t>Open challenges:</a:t>
            </a:r>
            <a:endParaRPr sz="1500">
              <a:solidFill>
                <a:schemeClr val="dk1"/>
              </a:solidFill>
              <a:latin typeface="Palatino Linotype"/>
              <a:ea typeface="Palatino Linotype"/>
              <a:cs typeface="Palatino Linotype"/>
              <a:sym typeface="Palatino Linotype"/>
            </a:endParaRPr>
          </a:p>
          <a:p>
            <a:pPr indent="-323850" lvl="0" marL="457200" rtl="0" algn="l">
              <a:lnSpc>
                <a:spcPct val="115000"/>
              </a:lnSpc>
              <a:spcBef>
                <a:spcPts val="0"/>
              </a:spcBef>
              <a:spcAft>
                <a:spcPts val="0"/>
              </a:spcAft>
              <a:buClr>
                <a:schemeClr val="dk1"/>
              </a:buClr>
              <a:buSzPts val="1500"/>
              <a:buFont typeface="Palatino Linotype"/>
              <a:buAutoNum type="arabicPeriod"/>
            </a:pPr>
            <a:r>
              <a:rPr lang="en-GB" sz="1500">
                <a:solidFill>
                  <a:schemeClr val="dk1"/>
                </a:solidFill>
                <a:latin typeface="Palatino Linotype"/>
                <a:ea typeface="Palatino Linotype"/>
                <a:cs typeface="Palatino Linotype"/>
                <a:sym typeface="Palatino Linotype"/>
              </a:rPr>
              <a:t>Dynamic routing mid-trajectory</a:t>
            </a:r>
            <a:endParaRPr sz="1500">
              <a:solidFill>
                <a:schemeClr val="dk1"/>
              </a:solidFill>
              <a:latin typeface="Palatino Linotype"/>
              <a:ea typeface="Palatino Linotype"/>
              <a:cs typeface="Palatino Linotype"/>
              <a:sym typeface="Palatino Linotype"/>
            </a:endParaRPr>
          </a:p>
          <a:p>
            <a:pPr indent="-323850" lvl="0" marL="457200" rtl="0" algn="l">
              <a:lnSpc>
                <a:spcPct val="115000"/>
              </a:lnSpc>
              <a:spcBef>
                <a:spcPts val="0"/>
              </a:spcBef>
              <a:spcAft>
                <a:spcPts val="0"/>
              </a:spcAft>
              <a:buClr>
                <a:schemeClr val="dk1"/>
              </a:buClr>
              <a:buSzPts val="1500"/>
              <a:buFont typeface="Palatino Linotype"/>
              <a:buAutoNum type="arabicPeriod"/>
            </a:pPr>
            <a:r>
              <a:rPr lang="en-GB" sz="1500">
                <a:solidFill>
                  <a:schemeClr val="dk1"/>
                </a:solidFill>
                <a:latin typeface="Palatino Linotype"/>
                <a:ea typeface="Palatino Linotype"/>
                <a:cs typeface="Palatino Linotype"/>
                <a:sym typeface="Palatino Linotype"/>
              </a:rPr>
              <a:t>Efficient training </a:t>
            </a:r>
            <a:endParaRPr sz="1500">
              <a:solidFill>
                <a:schemeClr val="dk1"/>
              </a:solidFill>
              <a:latin typeface="Palatino Linotype"/>
              <a:ea typeface="Palatino Linotype"/>
              <a:cs typeface="Palatino Linotype"/>
              <a:sym typeface="Palatino Linotype"/>
            </a:endParaRPr>
          </a:p>
          <a:p>
            <a:pPr indent="-323850" lvl="0" marL="457200" rtl="0" algn="l">
              <a:lnSpc>
                <a:spcPct val="115000"/>
              </a:lnSpc>
              <a:spcBef>
                <a:spcPts val="0"/>
              </a:spcBef>
              <a:spcAft>
                <a:spcPts val="0"/>
              </a:spcAft>
              <a:buClr>
                <a:schemeClr val="dk1"/>
              </a:buClr>
              <a:buSzPts val="1500"/>
              <a:buFont typeface="Palatino Linotype"/>
              <a:buAutoNum type="arabicPeriod"/>
            </a:pPr>
            <a:r>
              <a:rPr lang="en-GB" sz="1500">
                <a:solidFill>
                  <a:schemeClr val="dk1"/>
                </a:solidFill>
                <a:latin typeface="Palatino Linotype"/>
                <a:ea typeface="Palatino Linotype"/>
                <a:cs typeface="Palatino Linotype"/>
                <a:sym typeface="Palatino Linotype"/>
              </a:rPr>
              <a:t>Granularity of node decomposition</a:t>
            </a:r>
            <a:endParaRPr sz="1500">
              <a:solidFill>
                <a:schemeClr val="dk1"/>
              </a:solidFill>
              <a:latin typeface="Palatino Linotype"/>
              <a:ea typeface="Palatino Linotype"/>
              <a:cs typeface="Palatino Linotype"/>
              <a:sym typeface="Palatino Linotype"/>
            </a:endParaRPr>
          </a:p>
          <a:p>
            <a:pPr indent="-323850" lvl="0" marL="457200" rtl="0" algn="l">
              <a:lnSpc>
                <a:spcPct val="115000"/>
              </a:lnSpc>
              <a:spcBef>
                <a:spcPts val="0"/>
              </a:spcBef>
              <a:spcAft>
                <a:spcPts val="0"/>
              </a:spcAft>
              <a:buClr>
                <a:schemeClr val="dk1"/>
              </a:buClr>
              <a:buSzPts val="1500"/>
              <a:buFont typeface="Palatino Linotype"/>
              <a:buAutoNum type="arabicPeriod"/>
            </a:pPr>
            <a:r>
              <a:rPr lang="en-GB" sz="1500">
                <a:solidFill>
                  <a:schemeClr val="dk1"/>
                </a:solidFill>
                <a:latin typeface="Palatino Linotype"/>
                <a:ea typeface="Palatino Linotype"/>
                <a:cs typeface="Palatino Linotype"/>
                <a:sym typeface="Palatino Linotype"/>
              </a:rPr>
              <a:t>Evaluation</a:t>
            </a:r>
            <a:endParaRPr sz="1500">
              <a:solidFill>
                <a:schemeClr val="dk1"/>
              </a:solidFill>
              <a:latin typeface="Palatino Linotype"/>
              <a:ea typeface="Palatino Linotype"/>
              <a:cs typeface="Palatino Linotype"/>
              <a:sym typeface="Palatino Linotype"/>
            </a:endParaRPr>
          </a:p>
          <a:p>
            <a:pPr indent="0" lvl="0" marL="0" rtl="0" algn="l">
              <a:lnSpc>
                <a:spcPct val="115000"/>
              </a:lnSpc>
              <a:spcBef>
                <a:spcPts val="0"/>
              </a:spcBef>
              <a:spcAft>
                <a:spcPts val="0"/>
              </a:spcAft>
              <a:buNone/>
            </a:pPr>
            <a:r>
              <a:t/>
            </a:r>
            <a:endParaRPr sz="1500">
              <a:solidFill>
                <a:schemeClr val="dk1"/>
              </a:solidFill>
              <a:latin typeface="Palatino Linotype"/>
              <a:ea typeface="Palatino Linotype"/>
              <a:cs typeface="Palatino Linotype"/>
              <a:sym typeface="Palatino Linotype"/>
            </a:endParaRPr>
          </a:p>
        </p:txBody>
      </p:sp>
      <p:sp>
        <p:nvSpPr>
          <p:cNvPr id="1169" name="Google Shape;1169;p114"/>
          <p:cNvSpPr txBox="1"/>
          <p:nvPr/>
        </p:nvSpPr>
        <p:spPr>
          <a:xfrm>
            <a:off x="139825" y="4738400"/>
            <a:ext cx="8453700" cy="302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lang="en-GB" sz="768">
                <a:solidFill>
                  <a:schemeClr val="dk2"/>
                </a:solidFill>
              </a:rPr>
              <a:t>Multi-agent Architecture Search via Agentic Supernet. Zhang et al., 2025.</a:t>
            </a:r>
            <a:endParaRPr sz="800">
              <a:solidFill>
                <a:srgbClr val="222222"/>
              </a:solidFill>
              <a:highlight>
                <a:srgbClr val="FFFFFF"/>
              </a:highlight>
            </a:endParaRPr>
          </a:p>
        </p:txBody>
      </p:sp>
      <p:pic>
        <p:nvPicPr>
          <p:cNvPr id="1170" name="Google Shape;1170;p114"/>
          <p:cNvPicPr preferRelativeResize="0"/>
          <p:nvPr/>
        </p:nvPicPr>
        <p:blipFill>
          <a:blip r:embed="rId3">
            <a:alphaModFix/>
          </a:blip>
          <a:stretch>
            <a:fillRect/>
          </a:stretch>
        </p:blipFill>
        <p:spPr>
          <a:xfrm>
            <a:off x="5323749" y="1152751"/>
            <a:ext cx="3111876" cy="3723549"/>
          </a:xfrm>
          <a:prstGeom prst="rect">
            <a:avLst/>
          </a:prstGeom>
          <a:noFill/>
          <a:ln>
            <a:noFill/>
          </a:ln>
        </p:spPr>
      </p:pic>
      <p:sp>
        <p:nvSpPr>
          <p:cNvPr id="1171" name="Google Shape;1171;p11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00000"/>
              </a:lnSpc>
              <a:spcBef>
                <a:spcPts val="0"/>
              </a:spcBef>
              <a:spcAft>
                <a:spcPts val="0"/>
              </a:spcAft>
              <a:buSzPct val="111111"/>
              <a:buNone/>
            </a:pPr>
            <a:r>
              <a:rPr b="1" lang="en-GB">
                <a:latin typeface="Palatino Linotype"/>
                <a:ea typeface="Palatino Linotype"/>
                <a:cs typeface="Palatino Linotype"/>
                <a:sym typeface="Palatino Linotype"/>
              </a:rPr>
              <a:t>Multi-Agent Architectures</a:t>
            </a:r>
            <a:endParaRPr b="1">
              <a:latin typeface="Palatino Linotype"/>
              <a:ea typeface="Palatino Linotype"/>
              <a:cs typeface="Palatino Linotype"/>
              <a:sym typeface="Palatino Linotype"/>
            </a:endParaRPr>
          </a:p>
          <a:p>
            <a:pPr indent="0" lvl="0" marL="0" rtl="0" algn="ctr">
              <a:spcBef>
                <a:spcPts val="0"/>
              </a:spcBef>
              <a:spcAft>
                <a:spcPts val="0"/>
              </a:spcAft>
              <a:buSzPct val="172839"/>
              <a:buNone/>
            </a:pPr>
            <a:r>
              <a:rPr i="1" lang="en-GB" sz="1800">
                <a:latin typeface="Palatino Linotype"/>
                <a:ea typeface="Palatino Linotype"/>
                <a:cs typeface="Palatino Linotype"/>
                <a:sym typeface="Palatino Linotype"/>
              </a:rPr>
              <a:t>Adaptive Orchestration </a:t>
            </a:r>
            <a:endParaRPr>
              <a:latin typeface="Palatino Linotype"/>
              <a:ea typeface="Palatino Linotype"/>
              <a:cs typeface="Palatino Linotype"/>
              <a:sym typeface="Palatino Linotype"/>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75" name="Shape 1175"/>
        <p:cNvGrpSpPr/>
        <p:nvPr/>
      </p:nvGrpSpPr>
      <p:grpSpPr>
        <a:xfrm>
          <a:off x="0" y="0"/>
          <a:ext cx="0" cy="0"/>
          <a:chOff x="0" y="0"/>
          <a:chExt cx="0" cy="0"/>
        </a:xfrm>
      </p:grpSpPr>
      <p:sp>
        <p:nvSpPr>
          <p:cNvPr id="1176" name="Google Shape;1176;p1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GB"/>
              <a:t>‹#›</a:t>
            </a:fld>
            <a:endParaRPr/>
          </a:p>
        </p:txBody>
      </p:sp>
      <p:sp>
        <p:nvSpPr>
          <p:cNvPr id="1177" name="Google Shape;1177;p11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00000"/>
              </a:lnSpc>
              <a:spcBef>
                <a:spcPts val="0"/>
              </a:spcBef>
              <a:spcAft>
                <a:spcPts val="0"/>
              </a:spcAft>
              <a:buSzPct val="111111"/>
              <a:buNone/>
            </a:pPr>
            <a:r>
              <a:rPr b="1" lang="en-GB"/>
              <a:t>Why do multi-agent systems fail?</a:t>
            </a:r>
            <a:endParaRPr/>
          </a:p>
        </p:txBody>
      </p:sp>
      <p:sp>
        <p:nvSpPr>
          <p:cNvPr id="1178" name="Google Shape;1178;p115"/>
          <p:cNvSpPr txBox="1"/>
          <p:nvPr/>
        </p:nvSpPr>
        <p:spPr>
          <a:xfrm>
            <a:off x="139825" y="4738400"/>
            <a:ext cx="8453700" cy="438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Clr>
                <a:schemeClr val="dk1"/>
              </a:buClr>
              <a:buSzPts val="768"/>
              <a:buFont typeface="Palatino Linotype"/>
              <a:buNone/>
            </a:pPr>
            <a:r>
              <a:rPr lang="en-GB" sz="768">
                <a:solidFill>
                  <a:schemeClr val="dk2"/>
                </a:solidFill>
                <a:latin typeface="Palatino Linotype"/>
                <a:ea typeface="Palatino Linotype"/>
                <a:cs typeface="Palatino Linotype"/>
                <a:sym typeface="Palatino Linotype"/>
              </a:rPr>
              <a:t>Why Do Multi-Agent LLM Systems Fail? Cemri et al., 2025.</a:t>
            </a:r>
            <a:br>
              <a:rPr lang="en-GB" sz="768">
                <a:solidFill>
                  <a:schemeClr val="dk2"/>
                </a:solidFill>
                <a:latin typeface="Palatino Linotype"/>
                <a:ea typeface="Palatino Linotype"/>
                <a:cs typeface="Palatino Linotype"/>
                <a:sym typeface="Palatino Linotype"/>
              </a:rPr>
            </a:br>
            <a:r>
              <a:rPr lang="en-GB" sz="768">
                <a:solidFill>
                  <a:schemeClr val="dk2"/>
                </a:solidFill>
                <a:latin typeface="Palatino Linotype"/>
                <a:ea typeface="Palatino Linotype"/>
                <a:cs typeface="Palatino Linotype"/>
                <a:sym typeface="Palatino Linotype"/>
              </a:rPr>
              <a:t>Single-Agent LLMs Outperform Multi-Agent Systems on Multi-Hop Reasoning Under Equal Thinking Token Budgets. Dat Tran and Douwe Kiela. 2026.</a:t>
            </a:r>
            <a:endParaRPr sz="768">
              <a:solidFill>
                <a:schemeClr val="dk2"/>
              </a:solidFill>
              <a:latin typeface="Palatino Linotype"/>
              <a:ea typeface="Palatino Linotype"/>
              <a:cs typeface="Palatino Linotype"/>
              <a:sym typeface="Palatino Linotype"/>
            </a:endParaRPr>
          </a:p>
        </p:txBody>
      </p:sp>
      <p:sp>
        <p:nvSpPr>
          <p:cNvPr id="1179" name="Google Shape;1179;p115"/>
          <p:cNvSpPr/>
          <p:nvPr/>
        </p:nvSpPr>
        <p:spPr>
          <a:xfrm>
            <a:off x="310896" y="1234440"/>
            <a:ext cx="2761500" cy="2423100"/>
          </a:xfrm>
          <a:prstGeom prst="roundRect">
            <a:avLst>
              <a:gd fmla="val 6000" name="adj"/>
            </a:avLst>
          </a:prstGeom>
          <a:solidFill>
            <a:srgbClr val="E8EEF9"/>
          </a:solidFill>
          <a:ln cap="flat" cmpd="sng" w="15875">
            <a:solidFill>
              <a:srgbClr val="3B6FC9"/>
            </a:solidFill>
            <a:prstDash val="solid"/>
            <a:round/>
            <a:headEnd len="sm" w="sm" type="none"/>
            <a:tailEnd len="sm" w="sm" type="none"/>
          </a:ln>
        </p:spPr>
        <p:txBody>
          <a:bodyPr anchorCtr="0" anchor="t" bIns="45700" lIns="128000" spcFirstLastPara="1" rIns="128000" wrap="square" tIns="91425">
            <a:noAutofit/>
          </a:bodyPr>
          <a:lstStyle/>
          <a:p>
            <a:pPr indent="0" lvl="0" marL="0" marR="0" rtl="0" algn="l">
              <a:lnSpc>
                <a:spcPct val="100000"/>
              </a:lnSpc>
              <a:spcBef>
                <a:spcPts val="0"/>
              </a:spcBef>
              <a:spcAft>
                <a:spcPts val="0"/>
              </a:spcAft>
              <a:buNone/>
            </a:pPr>
            <a:r>
              <a:rPr b="1" i="0" lang="en-GB" sz="1500" u="none" cap="none" strike="noStrike">
                <a:solidFill>
                  <a:srgbClr val="3B6FC9"/>
                </a:solidFill>
                <a:latin typeface="Palatino Linotype"/>
                <a:ea typeface="Palatino Linotype"/>
                <a:cs typeface="Palatino Linotype"/>
                <a:sym typeface="Palatino Linotype"/>
              </a:rPr>
              <a:t>Error cascading</a:t>
            </a:r>
            <a:endParaRPr/>
          </a:p>
          <a:p>
            <a:pPr indent="0" lvl="0" marL="0" marR="0" rtl="0" algn="l">
              <a:lnSpc>
                <a:spcPct val="100000"/>
              </a:lnSpc>
              <a:spcBef>
                <a:spcPts val="600"/>
              </a:spcBef>
              <a:spcAft>
                <a:spcPts val="0"/>
              </a:spcAft>
              <a:buNone/>
            </a:pPr>
            <a:r>
              <a:rPr b="0" i="0" lang="en-GB" sz="1150" u="none" cap="none" strike="noStrike">
                <a:solidFill>
                  <a:srgbClr val="333333"/>
                </a:solidFill>
                <a:latin typeface="Palatino Linotype"/>
                <a:ea typeface="Palatino Linotype"/>
                <a:cs typeface="Palatino Linotype"/>
                <a:sym typeface="Palatino Linotype"/>
              </a:rPr>
              <a:t>•  One agent's mistake becomes every agent's context</a:t>
            </a:r>
            <a:endParaRPr/>
          </a:p>
          <a:p>
            <a:pPr indent="0" lvl="0" marL="0" marR="0" rtl="0" algn="l">
              <a:lnSpc>
                <a:spcPct val="100000"/>
              </a:lnSpc>
              <a:spcBef>
                <a:spcPts val="600"/>
              </a:spcBef>
              <a:spcAft>
                <a:spcPts val="0"/>
              </a:spcAft>
              <a:buNone/>
            </a:pPr>
            <a:r>
              <a:rPr b="0" i="0" lang="en-GB" sz="1150" u="none" cap="none" strike="noStrike">
                <a:solidFill>
                  <a:srgbClr val="333333"/>
                </a:solidFill>
                <a:latin typeface="Palatino Linotype"/>
                <a:ea typeface="Palatino Linotype"/>
                <a:cs typeface="Palatino Linotype"/>
                <a:sym typeface="Palatino Linotype"/>
              </a:rPr>
              <a:t>•  Early retrieval errors propagate through the whole chain</a:t>
            </a:r>
            <a:endParaRPr/>
          </a:p>
        </p:txBody>
      </p:sp>
      <p:sp>
        <p:nvSpPr>
          <p:cNvPr id="1180" name="Google Shape;1180;p115"/>
          <p:cNvSpPr/>
          <p:nvPr/>
        </p:nvSpPr>
        <p:spPr>
          <a:xfrm>
            <a:off x="3191256" y="1234440"/>
            <a:ext cx="2761500" cy="2423100"/>
          </a:xfrm>
          <a:prstGeom prst="roundRect">
            <a:avLst>
              <a:gd fmla="val 6000" name="adj"/>
            </a:avLst>
          </a:prstGeom>
          <a:solidFill>
            <a:srgbClr val="FDF0E0"/>
          </a:solidFill>
          <a:ln cap="flat" cmpd="sng" w="15875">
            <a:solidFill>
              <a:srgbClr val="D98E2B"/>
            </a:solidFill>
            <a:prstDash val="solid"/>
            <a:round/>
            <a:headEnd len="sm" w="sm" type="none"/>
            <a:tailEnd len="sm" w="sm" type="none"/>
          </a:ln>
        </p:spPr>
        <p:txBody>
          <a:bodyPr anchorCtr="0" anchor="t" bIns="45700" lIns="128000" spcFirstLastPara="1" rIns="128000" wrap="square" tIns="91425">
            <a:noAutofit/>
          </a:bodyPr>
          <a:lstStyle/>
          <a:p>
            <a:pPr indent="0" lvl="0" marL="0" marR="0" rtl="0" algn="l">
              <a:lnSpc>
                <a:spcPct val="100000"/>
              </a:lnSpc>
              <a:spcBef>
                <a:spcPts val="0"/>
              </a:spcBef>
              <a:spcAft>
                <a:spcPts val="0"/>
              </a:spcAft>
              <a:buNone/>
            </a:pPr>
            <a:r>
              <a:rPr b="1" i="0" lang="en-GB" sz="1500" u="none" cap="none" strike="noStrike">
                <a:solidFill>
                  <a:srgbClr val="D98E2B"/>
                </a:solidFill>
                <a:latin typeface="Palatino Linotype"/>
                <a:ea typeface="Palatino Linotype"/>
                <a:cs typeface="Palatino Linotype"/>
                <a:sym typeface="Palatino Linotype"/>
              </a:rPr>
              <a:t>Coordination overhead</a:t>
            </a:r>
            <a:endParaRPr/>
          </a:p>
          <a:p>
            <a:pPr indent="0" lvl="0" marL="0" marR="0" rtl="0" algn="l">
              <a:lnSpc>
                <a:spcPct val="100000"/>
              </a:lnSpc>
              <a:spcBef>
                <a:spcPts val="600"/>
              </a:spcBef>
              <a:spcAft>
                <a:spcPts val="0"/>
              </a:spcAft>
              <a:buNone/>
            </a:pPr>
            <a:r>
              <a:rPr b="0" i="0" lang="en-GB" sz="1150" u="none" cap="none" strike="noStrike">
                <a:solidFill>
                  <a:srgbClr val="333333"/>
                </a:solidFill>
                <a:latin typeface="Palatino Linotype"/>
                <a:ea typeface="Palatino Linotype"/>
                <a:cs typeface="Palatino Linotype"/>
                <a:sym typeface="Palatino Linotype"/>
              </a:rPr>
              <a:t>•  Inter-agent messages cost latency and tokens</a:t>
            </a:r>
            <a:endParaRPr/>
          </a:p>
          <a:p>
            <a:pPr indent="0" lvl="0" marL="0" marR="0" rtl="0" algn="l">
              <a:lnSpc>
                <a:spcPct val="100000"/>
              </a:lnSpc>
              <a:spcBef>
                <a:spcPts val="600"/>
              </a:spcBef>
              <a:spcAft>
                <a:spcPts val="0"/>
              </a:spcAft>
              <a:buNone/>
            </a:pPr>
            <a:r>
              <a:rPr b="0" i="0" lang="en-GB" sz="1150" u="none" cap="none" strike="noStrike">
                <a:solidFill>
                  <a:srgbClr val="333333"/>
                </a:solidFill>
                <a:latin typeface="Palatino Linotype"/>
                <a:ea typeface="Palatino Linotype"/>
                <a:cs typeface="Palatino Linotype"/>
                <a:sym typeface="Palatino Linotype"/>
              </a:rPr>
              <a:t>•  Agents re-derive shared context (redundant reasoning)</a:t>
            </a:r>
            <a:endParaRPr/>
          </a:p>
          <a:p>
            <a:pPr indent="0" lvl="0" marL="0" marR="0" rtl="0" algn="l">
              <a:lnSpc>
                <a:spcPct val="100000"/>
              </a:lnSpc>
              <a:spcBef>
                <a:spcPts val="600"/>
              </a:spcBef>
              <a:spcAft>
                <a:spcPts val="0"/>
              </a:spcAft>
              <a:buNone/>
            </a:pPr>
            <a:r>
              <a:rPr b="0" i="0" lang="en-GB" sz="1150" u="none" cap="none" strike="noStrike">
                <a:solidFill>
                  <a:srgbClr val="333333"/>
                </a:solidFill>
                <a:latin typeface="Palatino Linotype"/>
                <a:ea typeface="Palatino Linotype"/>
                <a:cs typeface="Palatino Linotype"/>
                <a:sym typeface="Palatino Linotype"/>
              </a:rPr>
              <a:t>•  More agents ≠ better reasoning past a threshold</a:t>
            </a:r>
            <a:endParaRPr/>
          </a:p>
        </p:txBody>
      </p:sp>
      <p:sp>
        <p:nvSpPr>
          <p:cNvPr id="1181" name="Google Shape;1181;p115"/>
          <p:cNvSpPr/>
          <p:nvPr/>
        </p:nvSpPr>
        <p:spPr>
          <a:xfrm>
            <a:off x="6071616" y="1234440"/>
            <a:ext cx="2761500" cy="2423100"/>
          </a:xfrm>
          <a:prstGeom prst="roundRect">
            <a:avLst>
              <a:gd fmla="val 6000" name="adj"/>
            </a:avLst>
          </a:prstGeom>
          <a:solidFill>
            <a:srgbClr val="E9F3E6"/>
          </a:solidFill>
          <a:ln cap="flat" cmpd="sng" w="15875">
            <a:solidFill>
              <a:srgbClr val="6AA84F"/>
            </a:solidFill>
            <a:prstDash val="solid"/>
            <a:round/>
            <a:headEnd len="sm" w="sm" type="none"/>
            <a:tailEnd len="sm" w="sm" type="none"/>
          </a:ln>
        </p:spPr>
        <p:txBody>
          <a:bodyPr anchorCtr="0" anchor="t" bIns="45700" lIns="128000" spcFirstLastPara="1" rIns="128000" wrap="square" tIns="91425">
            <a:noAutofit/>
          </a:bodyPr>
          <a:lstStyle/>
          <a:p>
            <a:pPr indent="0" lvl="0" marL="0" marR="0" rtl="0" algn="l">
              <a:lnSpc>
                <a:spcPct val="100000"/>
              </a:lnSpc>
              <a:spcBef>
                <a:spcPts val="0"/>
              </a:spcBef>
              <a:spcAft>
                <a:spcPts val="0"/>
              </a:spcAft>
              <a:buNone/>
            </a:pPr>
            <a:r>
              <a:rPr b="1" i="0" lang="en-GB" sz="1500" u="none" cap="none" strike="noStrike">
                <a:solidFill>
                  <a:srgbClr val="6AA84F"/>
                </a:solidFill>
                <a:latin typeface="Palatino Linotype"/>
                <a:ea typeface="Palatino Linotype"/>
                <a:cs typeface="Palatino Linotype"/>
                <a:sym typeface="Palatino Linotype"/>
              </a:rPr>
              <a:t>Attribution &amp; verifiability</a:t>
            </a:r>
            <a:endParaRPr/>
          </a:p>
          <a:p>
            <a:pPr indent="0" lvl="0" marL="0" marR="0" rtl="0" algn="l">
              <a:lnSpc>
                <a:spcPct val="100000"/>
              </a:lnSpc>
              <a:spcBef>
                <a:spcPts val="600"/>
              </a:spcBef>
              <a:spcAft>
                <a:spcPts val="0"/>
              </a:spcAft>
              <a:buNone/>
            </a:pPr>
            <a:r>
              <a:rPr b="0" i="0" lang="en-GB" sz="1150" u="none" cap="none" strike="noStrike">
                <a:solidFill>
                  <a:srgbClr val="333333"/>
                </a:solidFill>
                <a:latin typeface="Palatino Linotype"/>
                <a:ea typeface="Palatino Linotype"/>
                <a:cs typeface="Palatino Linotype"/>
                <a:sym typeface="Palatino Linotype"/>
              </a:rPr>
              <a:t>•  Which agent caused the error? Blame is non-trivial</a:t>
            </a:r>
            <a:endParaRPr/>
          </a:p>
          <a:p>
            <a:pPr indent="0" lvl="0" marL="0" marR="0" rtl="0" algn="l">
              <a:lnSpc>
                <a:spcPct val="100000"/>
              </a:lnSpc>
              <a:spcBef>
                <a:spcPts val="600"/>
              </a:spcBef>
              <a:spcAft>
                <a:spcPts val="0"/>
              </a:spcAft>
              <a:buNone/>
            </a:pPr>
            <a:r>
              <a:rPr b="0" i="0" lang="en-GB" sz="1150" u="none" cap="none" strike="noStrike">
                <a:solidFill>
                  <a:srgbClr val="333333"/>
                </a:solidFill>
                <a:latin typeface="Palatino Linotype"/>
                <a:ea typeface="Palatino Linotype"/>
                <a:cs typeface="Palatino Linotype"/>
                <a:sym typeface="Palatino Linotype"/>
              </a:rPr>
              <a:t>•  Trace is distributed → faithfulness harder to check</a:t>
            </a:r>
            <a:endParaRPr/>
          </a:p>
          <a:p>
            <a:pPr indent="0" lvl="0" marL="0" marR="0" rtl="0" algn="l">
              <a:lnSpc>
                <a:spcPct val="100000"/>
              </a:lnSpc>
              <a:spcBef>
                <a:spcPts val="600"/>
              </a:spcBef>
              <a:spcAft>
                <a:spcPts val="0"/>
              </a:spcAft>
              <a:buNone/>
            </a:pPr>
            <a:r>
              <a:rPr b="0" i="0" lang="en-GB" sz="1150" u="none" cap="none" strike="noStrike">
                <a:solidFill>
                  <a:srgbClr val="333333"/>
                </a:solidFill>
                <a:latin typeface="Palatino Linotype"/>
                <a:ea typeface="Palatino Linotype"/>
                <a:cs typeface="Palatino Linotype"/>
                <a:sym typeface="Palatino Linotype"/>
              </a:rPr>
              <a:t>•  Final-stage verifiers alone are insufficient</a:t>
            </a:r>
            <a:endParaRPr/>
          </a:p>
        </p:txBody>
      </p:sp>
      <p:sp>
        <p:nvSpPr>
          <p:cNvPr id="1182" name="Google Shape;1182;p115"/>
          <p:cNvSpPr/>
          <p:nvPr/>
        </p:nvSpPr>
        <p:spPr>
          <a:xfrm>
            <a:off x="310896" y="3858768"/>
            <a:ext cx="8522100" cy="658500"/>
          </a:xfrm>
          <a:prstGeom prst="roundRect">
            <a:avLst>
              <a:gd fmla="val 12000" name="adj"/>
            </a:avLst>
          </a:prstGeom>
          <a:solidFill>
            <a:srgbClr val="F2F2F2"/>
          </a:solidFill>
          <a:ln cap="flat" cmpd="sng" w="9525">
            <a:solidFill>
              <a:srgbClr val="999999"/>
            </a:solidFill>
            <a:prstDash val="solid"/>
            <a:round/>
            <a:headEnd len="sm" w="sm" type="none"/>
            <a:tailEnd len="sm" w="sm" type="none"/>
          </a:ln>
        </p:spPr>
        <p:txBody>
          <a:bodyPr anchorCtr="0" anchor="ctr" bIns="45700" lIns="146300" spcFirstLastPara="1" rIns="146300" wrap="square" tIns="45700">
            <a:noAutofit/>
          </a:bodyPr>
          <a:lstStyle/>
          <a:p>
            <a:pPr indent="0" lvl="0" marL="0" rtl="0" algn="l">
              <a:spcBef>
                <a:spcPts val="0"/>
              </a:spcBef>
              <a:spcAft>
                <a:spcPts val="0"/>
              </a:spcAft>
              <a:buClr>
                <a:schemeClr val="dk1"/>
              </a:buClr>
              <a:buFont typeface="Arial"/>
              <a:buNone/>
            </a:pPr>
            <a:r>
              <a:rPr lang="en-GB" sz="1250">
                <a:solidFill>
                  <a:srgbClr val="333333"/>
                </a:solidFill>
                <a:latin typeface="Palatino Linotype"/>
                <a:ea typeface="Palatino Linotype"/>
                <a:cs typeface="Palatino Linotype"/>
                <a:sym typeface="Palatino Linotype"/>
              </a:rPr>
              <a:t>3 root causes ; </a:t>
            </a:r>
            <a:r>
              <a:rPr b="1" lang="en-GB" sz="1250">
                <a:solidFill>
                  <a:srgbClr val="3B6FC9"/>
                </a:solidFill>
                <a:latin typeface="Palatino Linotype"/>
                <a:ea typeface="Palatino Linotype"/>
                <a:cs typeface="Palatino Linotype"/>
                <a:sym typeface="Palatino Linotype"/>
              </a:rPr>
              <a:t>poor specification · inter-agent misalignment · weak verification</a:t>
            </a:r>
            <a:endParaRPr sz="1250">
              <a:solidFill>
                <a:srgbClr val="333333"/>
              </a:solidFill>
              <a:latin typeface="Palatino Linotype"/>
              <a:ea typeface="Palatino Linotype"/>
              <a:cs typeface="Palatino Linotype"/>
              <a:sym typeface="Palatino Linotype"/>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86" name="Shape 1186"/>
        <p:cNvGrpSpPr/>
        <p:nvPr/>
      </p:nvGrpSpPr>
      <p:grpSpPr>
        <a:xfrm>
          <a:off x="0" y="0"/>
          <a:ext cx="0" cy="0"/>
          <a:chOff x="0" y="0"/>
          <a:chExt cx="0" cy="0"/>
        </a:xfrm>
      </p:grpSpPr>
      <p:sp>
        <p:nvSpPr>
          <p:cNvPr id="1187" name="Google Shape;1187;p1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
        <p:nvSpPr>
          <p:cNvPr id="1188" name="Google Shape;1188;p116"/>
          <p:cNvSpPr txBox="1"/>
          <p:nvPr/>
        </p:nvSpPr>
        <p:spPr>
          <a:xfrm>
            <a:off x="139825" y="4738400"/>
            <a:ext cx="8453700" cy="3030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1200"/>
              </a:spcAft>
              <a:buClr>
                <a:srgbClr val="000000"/>
              </a:buClr>
              <a:buSzPts val="768"/>
              <a:buFont typeface="Palatino Linotype"/>
              <a:buNone/>
            </a:pPr>
            <a:r>
              <a:rPr b="0" i="0" lang="en-GB" sz="768" u="none" cap="none" strike="noStrike">
                <a:solidFill>
                  <a:schemeClr val="dk2"/>
                </a:solidFill>
                <a:latin typeface="Palatino Linotype"/>
                <a:ea typeface="Palatino Linotype"/>
                <a:cs typeface="Palatino Linotype"/>
                <a:sym typeface="Palatino Linotype"/>
              </a:rPr>
              <a:t>Why Do Multi-Agent LLM Systems Fail? Cemri et al., 2025.</a:t>
            </a:r>
            <a:endParaRPr b="0" i="0" sz="800" u="none" cap="none" strike="noStrike">
              <a:solidFill>
                <a:srgbClr val="222222"/>
              </a:solidFill>
              <a:highlight>
                <a:srgbClr val="FFFFFF"/>
              </a:highlight>
              <a:latin typeface="Palatino Linotype"/>
              <a:ea typeface="Palatino Linotype"/>
              <a:cs typeface="Palatino Linotype"/>
              <a:sym typeface="Palatino Linotype"/>
            </a:endParaRPr>
          </a:p>
        </p:txBody>
      </p:sp>
      <p:sp>
        <p:nvSpPr>
          <p:cNvPr id="1189" name="Google Shape;1189;p116"/>
          <p:cNvSpPr/>
          <p:nvPr/>
        </p:nvSpPr>
        <p:spPr>
          <a:xfrm>
            <a:off x="1433650" y="610775"/>
            <a:ext cx="6396900" cy="1471500"/>
          </a:xfrm>
          <a:prstGeom prst="rect">
            <a:avLst/>
          </a:prstGeom>
          <a:solidFill>
            <a:srgbClr val="0C343D"/>
          </a:solidFill>
          <a:ln>
            <a:noFill/>
          </a:ln>
          <a:effectLst>
            <a:outerShdw blurRad="57150" rotWithShape="0" algn="bl" dir="3660000" dist="19050">
              <a:srgbClr val="000000">
                <a:alpha val="58040"/>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Palatino Linotype"/>
              <a:buNone/>
            </a:pPr>
            <a:r>
              <a:rPr b="1" i="0" lang="en-GB" sz="1400" u="none" cap="none" strike="noStrike">
                <a:solidFill>
                  <a:schemeClr val="lt1"/>
                </a:solidFill>
                <a:latin typeface="Palatino Linotype"/>
                <a:ea typeface="Palatino Linotype"/>
                <a:cs typeface="Palatino Linotype"/>
                <a:sym typeface="Palatino Linotype"/>
              </a:rPr>
              <a:t>Limitations of current LLM-based approaches, </a:t>
            </a:r>
            <a:endParaRPr b="1" i="0" sz="1400" u="none" cap="none" strike="noStrike">
              <a:solidFill>
                <a:schemeClr val="lt1"/>
              </a:solidFill>
              <a:latin typeface="Palatino Linotype"/>
              <a:ea typeface="Palatino Linotype"/>
              <a:cs typeface="Palatino Linotype"/>
              <a:sym typeface="Palatino Linotype"/>
            </a:endParaRPr>
          </a:p>
          <a:p>
            <a:pPr indent="0" lvl="0" marL="0" marR="0" rtl="0" algn="ctr">
              <a:lnSpc>
                <a:spcPct val="100000"/>
              </a:lnSpc>
              <a:spcBef>
                <a:spcPts val="0"/>
              </a:spcBef>
              <a:spcAft>
                <a:spcPts val="0"/>
              </a:spcAft>
              <a:buClr>
                <a:srgbClr val="000000"/>
              </a:buClr>
              <a:buSzPts val="1400"/>
              <a:buFont typeface="Palatino Linotype"/>
              <a:buNone/>
            </a:pPr>
            <a:r>
              <a:rPr b="1" i="0" lang="en-GB" sz="1400" u="none" cap="none" strike="noStrike">
                <a:solidFill>
                  <a:schemeClr val="lt1"/>
                </a:solidFill>
                <a:latin typeface="Palatino Linotype"/>
                <a:ea typeface="Palatino Linotype"/>
                <a:cs typeface="Palatino Linotype"/>
                <a:sym typeface="Palatino Linotype"/>
              </a:rPr>
              <a:t>motivate exploring other approaches; </a:t>
            </a:r>
            <a:endParaRPr b="1" i="0" sz="1400" u="none" cap="none" strike="noStrike">
              <a:solidFill>
                <a:schemeClr val="lt1"/>
              </a:solidFill>
              <a:latin typeface="Palatino Linotype"/>
              <a:ea typeface="Palatino Linotype"/>
              <a:cs typeface="Palatino Linotype"/>
              <a:sym typeface="Palatino Linotype"/>
            </a:endParaRPr>
          </a:p>
          <a:p>
            <a:pPr indent="0" lvl="0" marL="0" marR="0" rtl="0" algn="ctr">
              <a:lnSpc>
                <a:spcPct val="100000"/>
              </a:lnSpc>
              <a:spcBef>
                <a:spcPts val="0"/>
              </a:spcBef>
              <a:spcAft>
                <a:spcPts val="0"/>
              </a:spcAft>
              <a:buClr>
                <a:srgbClr val="000000"/>
              </a:buClr>
              <a:buSzPts val="2200"/>
              <a:buFont typeface="Palatino Linotype"/>
              <a:buNone/>
            </a:pPr>
            <a:r>
              <a:rPr b="1" baseline="30000" i="1" lang="en-GB" sz="2200" u="none" cap="none" strike="noStrike">
                <a:solidFill>
                  <a:schemeClr val="lt1"/>
                </a:solidFill>
                <a:latin typeface="Palatino Linotype"/>
                <a:ea typeface="Palatino Linotype"/>
                <a:cs typeface="Palatino Linotype"/>
                <a:sym typeface="Palatino Linotype"/>
              </a:rPr>
              <a:t>Neuro-symbolic, Bayesian, geometric, …</a:t>
            </a:r>
            <a:endParaRPr b="1" i="0" sz="1400" u="none" cap="none" strike="noStrike">
              <a:solidFill>
                <a:schemeClr val="lt1"/>
              </a:solidFill>
              <a:latin typeface="Palatino Linotype"/>
              <a:ea typeface="Palatino Linotype"/>
              <a:cs typeface="Palatino Linotype"/>
              <a:sym typeface="Palatino Linotype"/>
            </a:endParaRPr>
          </a:p>
        </p:txBody>
      </p:sp>
      <p:sp>
        <p:nvSpPr>
          <p:cNvPr id="1190" name="Google Shape;1190;p116"/>
          <p:cNvSpPr txBox="1"/>
          <p:nvPr>
            <p:ph type="title"/>
          </p:nvPr>
        </p:nvSpPr>
        <p:spPr>
          <a:xfrm>
            <a:off x="223650" y="27352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90"/>
              <a:buNone/>
            </a:pPr>
            <a:r>
              <a:rPr b="1" lang="en-GB" sz="2420">
                <a:latin typeface="Palatino Linotype"/>
                <a:ea typeface="Palatino Linotype"/>
                <a:cs typeface="Palatino Linotype"/>
                <a:sym typeface="Palatino Linotype"/>
              </a:rPr>
              <a:t>Coming Up</a:t>
            </a:r>
            <a:r>
              <a:rPr b="1" lang="en-GB" sz="2420">
                <a:latin typeface="Palatino Linotype"/>
                <a:ea typeface="Palatino Linotype"/>
                <a:cs typeface="Palatino Linotype"/>
                <a:sym typeface="Palatino Linotype"/>
              </a:rPr>
              <a:t>: </a:t>
            </a:r>
            <a:endParaRPr b="1" sz="2420">
              <a:latin typeface="Palatino Linotype"/>
              <a:ea typeface="Palatino Linotype"/>
              <a:cs typeface="Palatino Linotype"/>
              <a:sym typeface="Palatino Linotype"/>
            </a:endParaRPr>
          </a:p>
          <a:p>
            <a:pPr indent="-350520" lvl="0" marL="457200" rtl="0" algn="l">
              <a:lnSpc>
                <a:spcPct val="100000"/>
              </a:lnSpc>
              <a:spcBef>
                <a:spcPts val="0"/>
              </a:spcBef>
              <a:spcAft>
                <a:spcPts val="0"/>
              </a:spcAft>
              <a:buSzPts val="1920"/>
              <a:buFont typeface="Palatino Linotype"/>
              <a:buAutoNum type="romanUcPeriod"/>
            </a:pPr>
            <a:r>
              <a:rPr b="1" lang="en-GB" sz="1920">
                <a:latin typeface="Palatino Linotype"/>
                <a:ea typeface="Palatino Linotype"/>
                <a:cs typeface="Palatino Linotype"/>
                <a:sym typeface="Palatino Linotype"/>
              </a:rPr>
              <a:t>Teaching retrievers to reason,</a:t>
            </a:r>
            <a:endParaRPr b="1" sz="1920">
              <a:latin typeface="Palatino Linotype"/>
              <a:ea typeface="Palatino Linotype"/>
              <a:cs typeface="Palatino Linotype"/>
              <a:sym typeface="Palatino Linotype"/>
            </a:endParaRPr>
          </a:p>
          <a:p>
            <a:pPr indent="-350520" lvl="0" marL="457200" rtl="0" algn="l">
              <a:lnSpc>
                <a:spcPct val="100000"/>
              </a:lnSpc>
              <a:spcBef>
                <a:spcPts val="0"/>
              </a:spcBef>
              <a:spcAft>
                <a:spcPts val="0"/>
              </a:spcAft>
              <a:buSzPts val="1920"/>
              <a:buFont typeface="Palatino Linotype"/>
              <a:buAutoNum type="romanUcPeriod"/>
            </a:pPr>
            <a:r>
              <a:rPr b="1" lang="en-GB" sz="1920">
                <a:latin typeface="Palatino Linotype"/>
                <a:ea typeface="Palatino Linotype"/>
                <a:cs typeface="Palatino Linotype"/>
                <a:sym typeface="Palatino Linotype"/>
              </a:rPr>
              <a:t>The division of labor: better agent, or better retriever?</a:t>
            </a:r>
            <a:endParaRPr b="1" sz="1920">
              <a:latin typeface="Palatino Linotype"/>
              <a:ea typeface="Palatino Linotype"/>
              <a:cs typeface="Palatino Linotype"/>
              <a:sym typeface="Palatino Linotype"/>
            </a:endParaRPr>
          </a:p>
          <a:p>
            <a:pPr indent="-350520" lvl="0" marL="457200" rtl="0" algn="l">
              <a:lnSpc>
                <a:spcPct val="100000"/>
              </a:lnSpc>
              <a:spcBef>
                <a:spcPts val="0"/>
              </a:spcBef>
              <a:spcAft>
                <a:spcPts val="0"/>
              </a:spcAft>
              <a:buSzPts val="1920"/>
              <a:buFont typeface="Palatino Linotype"/>
              <a:buAutoNum type="romanUcPeriod"/>
            </a:pPr>
            <a:r>
              <a:rPr b="1" lang="en-GB" sz="1920">
                <a:latin typeface="Palatino Linotype"/>
                <a:ea typeface="Palatino Linotype"/>
                <a:cs typeface="Palatino Linotype"/>
                <a:sym typeface="Palatino Linotype"/>
              </a:rPr>
              <a:t>Neuro-symbolic and structured reasoning,</a:t>
            </a:r>
            <a:endParaRPr b="1" sz="1920">
              <a:latin typeface="Palatino Linotype"/>
              <a:ea typeface="Palatino Linotype"/>
              <a:cs typeface="Palatino Linotype"/>
              <a:sym typeface="Palatino Linotype"/>
            </a:endParaRPr>
          </a:p>
          <a:p>
            <a:pPr indent="-350520" lvl="0" marL="457200" rtl="0" algn="l">
              <a:lnSpc>
                <a:spcPct val="100000"/>
              </a:lnSpc>
              <a:spcBef>
                <a:spcPts val="0"/>
              </a:spcBef>
              <a:spcAft>
                <a:spcPts val="0"/>
              </a:spcAft>
              <a:buSzPts val="1920"/>
              <a:buFont typeface="Palatino Linotype"/>
              <a:buAutoNum type="romanUcPeriod"/>
            </a:pPr>
            <a:r>
              <a:rPr b="1" lang="en-GB" sz="1920">
                <a:latin typeface="Palatino Linotype"/>
                <a:ea typeface="Palatino Linotype"/>
                <a:cs typeface="Palatino Linotype"/>
                <a:sym typeface="Palatino Linotype"/>
              </a:rPr>
              <a:t>Reasoning under uncertainty.</a:t>
            </a:r>
            <a:endParaRPr b="1" sz="1920">
              <a:latin typeface="Palatino Linotype"/>
              <a:ea typeface="Palatino Linotype"/>
              <a:cs typeface="Palatino Linotype"/>
              <a:sym typeface="Palatino Linotype"/>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030A0">
            <a:alpha val="94900"/>
          </a:srgbClr>
        </a:solidFill>
      </p:bgPr>
    </p:bg>
    <p:spTree>
      <p:nvGrpSpPr>
        <p:cNvPr id="1194" name="Shape 1194"/>
        <p:cNvGrpSpPr/>
        <p:nvPr/>
      </p:nvGrpSpPr>
      <p:grpSpPr>
        <a:xfrm>
          <a:off x="0" y="0"/>
          <a:ext cx="0" cy="0"/>
          <a:chOff x="0" y="0"/>
          <a:chExt cx="0" cy="0"/>
        </a:xfrm>
      </p:grpSpPr>
      <p:sp>
        <p:nvSpPr>
          <p:cNvPr id="1195" name="Google Shape;1195;p117"/>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GB">
                <a:solidFill>
                  <a:schemeClr val="lt1"/>
                </a:solidFill>
                <a:latin typeface="Palatino Linotype"/>
                <a:ea typeface="Palatino Linotype"/>
                <a:cs typeface="Palatino Linotype"/>
                <a:sym typeface="Palatino Linotype"/>
              </a:rPr>
              <a:t>Coffee Break</a:t>
            </a:r>
            <a:r>
              <a:rPr lang="en-GB">
                <a:solidFill>
                  <a:schemeClr val="lt1"/>
                </a:solidFill>
                <a:latin typeface="Palatino Linotype"/>
                <a:ea typeface="Palatino Linotype"/>
                <a:cs typeface="Palatino Linotype"/>
                <a:sym typeface="Palatino Linotype"/>
              </a:rPr>
              <a:t> </a:t>
            </a:r>
            <a:endParaRPr>
              <a:solidFill>
                <a:srgbClr val="93C47D"/>
              </a:solidFill>
              <a:latin typeface="Palatino Linotype"/>
              <a:ea typeface="Palatino Linotype"/>
              <a:cs typeface="Palatino Linotype"/>
              <a:sym typeface="Palatino Linotype"/>
            </a:endParaRPr>
          </a:p>
        </p:txBody>
      </p:sp>
      <p:sp>
        <p:nvSpPr>
          <p:cNvPr id="1196" name="Google Shape;1196;p1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83C92"/>
        </a:solidFill>
      </p:bgPr>
    </p:bg>
    <p:spTree>
      <p:nvGrpSpPr>
        <p:cNvPr id="1200" name="Shape 1200"/>
        <p:cNvGrpSpPr/>
        <p:nvPr/>
      </p:nvGrpSpPr>
      <p:grpSpPr>
        <a:xfrm>
          <a:off x="0" y="0"/>
          <a:ext cx="0" cy="0"/>
          <a:chOff x="0" y="0"/>
          <a:chExt cx="0" cy="0"/>
        </a:xfrm>
      </p:grpSpPr>
      <p:sp>
        <p:nvSpPr>
          <p:cNvPr id="1201" name="Google Shape;1201;p118"/>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p>
            <a:pPr indent="-457200" lvl="0" marL="457200" rtl="0" algn="l">
              <a:lnSpc>
                <a:spcPct val="100000"/>
              </a:lnSpc>
              <a:spcBef>
                <a:spcPts val="0"/>
              </a:spcBef>
              <a:spcAft>
                <a:spcPts val="0"/>
              </a:spcAft>
              <a:buClr>
                <a:schemeClr val="lt1"/>
              </a:buClr>
              <a:buSzPts val="3600"/>
              <a:buFont typeface="Palatino Linotype"/>
              <a:buAutoNum type="romanUcPeriod" startAt="3"/>
            </a:pPr>
            <a:r>
              <a:rPr b="1" lang="en-GB">
                <a:solidFill>
                  <a:schemeClr val="lt1"/>
                </a:solidFill>
                <a:latin typeface="Palatino Linotype"/>
                <a:ea typeface="Palatino Linotype"/>
                <a:cs typeface="Palatino Linotype"/>
                <a:sym typeface="Palatino Linotype"/>
              </a:rPr>
              <a:t>Teaching Retrievers to Reason</a:t>
            </a:r>
            <a:endParaRPr b="1">
              <a:solidFill>
                <a:schemeClr val="lt1"/>
              </a:solidFill>
              <a:latin typeface="Palatino Linotype"/>
              <a:ea typeface="Palatino Linotype"/>
              <a:cs typeface="Palatino Linotype"/>
              <a:sym typeface="Palatino Linotype"/>
            </a:endParaRPr>
          </a:p>
        </p:txBody>
      </p:sp>
      <p:sp>
        <p:nvSpPr>
          <p:cNvPr id="1202" name="Google Shape;1202;p1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D9EEB"/>
        </a:solidFill>
      </p:bgPr>
    </p:bg>
    <p:spTree>
      <p:nvGrpSpPr>
        <p:cNvPr id="1206" name="Shape 1206"/>
        <p:cNvGrpSpPr/>
        <p:nvPr/>
      </p:nvGrpSpPr>
      <p:grpSpPr>
        <a:xfrm>
          <a:off x="0" y="0"/>
          <a:ext cx="0" cy="0"/>
          <a:chOff x="0" y="0"/>
          <a:chExt cx="0" cy="0"/>
        </a:xfrm>
      </p:grpSpPr>
      <p:sp>
        <p:nvSpPr>
          <p:cNvPr id="1207" name="Google Shape;1207;p119"/>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p>
            <a:pPr indent="0" lvl="0" marL="0" rtl="0" algn="l">
              <a:lnSpc>
                <a:spcPct val="100000"/>
              </a:lnSpc>
              <a:spcBef>
                <a:spcPts val="0"/>
              </a:spcBef>
              <a:spcAft>
                <a:spcPts val="0"/>
              </a:spcAft>
              <a:buSzPts val="3600"/>
              <a:buNone/>
            </a:pPr>
            <a:r>
              <a:rPr b="1" lang="en-GB">
                <a:solidFill>
                  <a:schemeClr val="lt1"/>
                </a:solidFill>
                <a:latin typeface="Palatino Linotype"/>
                <a:ea typeface="Palatino Linotype"/>
                <a:cs typeface="Palatino Linotype"/>
                <a:sym typeface="Palatino Linotype"/>
              </a:rPr>
              <a:t>1</a:t>
            </a:r>
            <a:r>
              <a:rPr b="1" lang="en-GB">
                <a:solidFill>
                  <a:schemeClr val="lt1"/>
                </a:solidFill>
                <a:latin typeface="Palatino Linotype"/>
                <a:ea typeface="Palatino Linotype"/>
                <a:cs typeface="Palatino Linotype"/>
                <a:sym typeface="Palatino Linotype"/>
              </a:rPr>
              <a:t>. Enhanced training data:</a:t>
            </a:r>
            <a:endParaRPr b="1">
              <a:solidFill>
                <a:srgbClr val="93C47D"/>
              </a:solidFill>
              <a:latin typeface="Palatino Linotype"/>
              <a:ea typeface="Palatino Linotype"/>
              <a:cs typeface="Palatino Linotype"/>
              <a:sym typeface="Palatino Linotype"/>
            </a:endParaRPr>
          </a:p>
        </p:txBody>
      </p:sp>
      <p:sp>
        <p:nvSpPr>
          <p:cNvPr id="1208" name="Google Shape;1208;p1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2" name="Shape 1212"/>
        <p:cNvGrpSpPr/>
        <p:nvPr/>
      </p:nvGrpSpPr>
      <p:grpSpPr>
        <a:xfrm>
          <a:off x="0" y="0"/>
          <a:ext cx="0" cy="0"/>
          <a:chOff x="0" y="0"/>
          <a:chExt cx="0" cy="0"/>
        </a:xfrm>
      </p:grpSpPr>
      <p:sp>
        <p:nvSpPr>
          <p:cNvPr id="1213" name="Google Shape;1213;p12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990"/>
              <a:buNone/>
            </a:pPr>
            <a:r>
              <a:rPr b="1" lang="en-GB"/>
              <a:t>ReasonIR</a:t>
            </a:r>
            <a:endParaRPr b="1" sz="2420"/>
          </a:p>
        </p:txBody>
      </p:sp>
      <p:sp>
        <p:nvSpPr>
          <p:cNvPr id="1214" name="Google Shape;1214;p1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pic>
        <p:nvPicPr>
          <p:cNvPr id="1215" name="Google Shape;1215;p120"/>
          <p:cNvPicPr preferRelativeResize="0"/>
          <p:nvPr/>
        </p:nvPicPr>
        <p:blipFill rotWithShape="1">
          <a:blip r:embed="rId3">
            <a:alphaModFix/>
          </a:blip>
          <a:srcRect b="20414" l="0" r="0" t="0"/>
          <a:stretch/>
        </p:blipFill>
        <p:spPr>
          <a:xfrm>
            <a:off x="3429000" y="1325880"/>
            <a:ext cx="5486403" cy="2176272"/>
          </a:xfrm>
          <a:prstGeom prst="rect">
            <a:avLst/>
          </a:prstGeom>
          <a:noFill/>
          <a:ln>
            <a:noFill/>
          </a:ln>
        </p:spPr>
      </p:pic>
      <p:sp>
        <p:nvSpPr>
          <p:cNvPr id="1216" name="Google Shape;1216;p120"/>
          <p:cNvSpPr txBox="1"/>
          <p:nvPr/>
        </p:nvSpPr>
        <p:spPr>
          <a:xfrm>
            <a:off x="274320" y="1234440"/>
            <a:ext cx="3017400" cy="2354400"/>
          </a:xfrm>
          <a:prstGeom prst="rect">
            <a:avLst/>
          </a:prstGeom>
          <a:noFill/>
          <a:ln>
            <a:noFill/>
          </a:ln>
        </p:spPr>
        <p:txBody>
          <a:bodyPr anchorCtr="0" anchor="t" bIns="45700" lIns="109725" spcFirstLastPara="1" rIns="109725" wrap="square" tIns="73150">
            <a:spAutoFit/>
          </a:bodyPr>
          <a:lstStyle/>
          <a:p>
            <a:pPr indent="0" lvl="0" marL="0" marR="0" rtl="0" algn="l">
              <a:lnSpc>
                <a:spcPct val="100000"/>
              </a:lnSpc>
              <a:spcBef>
                <a:spcPts val="0"/>
              </a:spcBef>
              <a:spcAft>
                <a:spcPts val="0"/>
              </a:spcAft>
              <a:buNone/>
            </a:pPr>
            <a:r>
              <a:rPr b="1" i="0" lang="en-GB" sz="1250" u="none" cap="none" strike="noStrike">
                <a:solidFill>
                  <a:srgbClr val="3B6FC9"/>
                </a:solidFill>
                <a:latin typeface="Palatino Linotype"/>
                <a:ea typeface="Palatino Linotype"/>
                <a:cs typeface="Palatino Linotype"/>
                <a:sym typeface="Palatino Linotype"/>
              </a:rPr>
              <a:t>The </a:t>
            </a:r>
            <a:r>
              <a:rPr b="1" lang="en-GB" sz="1250">
                <a:solidFill>
                  <a:srgbClr val="3B6FC9"/>
                </a:solidFill>
                <a:latin typeface="Palatino Linotype"/>
                <a:ea typeface="Palatino Linotype"/>
                <a:cs typeface="Palatino Linotype"/>
                <a:sym typeface="Palatino Linotype"/>
              </a:rPr>
              <a:t>Assumption</a:t>
            </a:r>
            <a:endParaRPr/>
          </a:p>
          <a:p>
            <a:pPr indent="0" lvl="0" marL="0" marR="0" rtl="0" algn="l">
              <a:lnSpc>
                <a:spcPct val="100000"/>
              </a:lnSpc>
              <a:spcBef>
                <a:spcPts val="400"/>
              </a:spcBef>
              <a:spcAft>
                <a:spcPts val="0"/>
              </a:spcAft>
              <a:buNone/>
            </a:pPr>
            <a:r>
              <a:rPr b="0" i="0" lang="en-GB" sz="1150" u="none" cap="none" strike="noStrike">
                <a:solidFill>
                  <a:srgbClr val="333333"/>
                </a:solidFill>
                <a:latin typeface="Palatino Linotype"/>
                <a:ea typeface="Palatino Linotype"/>
                <a:cs typeface="Palatino Linotype"/>
                <a:sym typeface="Palatino Linotype"/>
              </a:rPr>
              <a:t>•  Reasoning-intensive retrieval fails because of </a:t>
            </a:r>
            <a:r>
              <a:rPr lang="en-GB" sz="1150">
                <a:solidFill>
                  <a:srgbClr val="333333"/>
                </a:solidFill>
                <a:latin typeface="Palatino Linotype"/>
                <a:ea typeface="Palatino Linotype"/>
                <a:cs typeface="Palatino Linotype"/>
                <a:sym typeface="Palatino Linotype"/>
              </a:rPr>
              <a:t>non-representative </a:t>
            </a:r>
            <a:r>
              <a:rPr b="0" i="0" lang="en-GB" sz="1150" u="none" cap="none" strike="noStrike">
                <a:solidFill>
                  <a:srgbClr val="333333"/>
                </a:solidFill>
                <a:latin typeface="Palatino Linotype"/>
                <a:ea typeface="Palatino Linotype"/>
                <a:cs typeface="Palatino Linotype"/>
                <a:sym typeface="Palatino Linotype"/>
              </a:rPr>
              <a:t>training data</a:t>
            </a:r>
            <a:r>
              <a:rPr lang="en-GB" sz="1150">
                <a:solidFill>
                  <a:srgbClr val="333333"/>
                </a:solidFill>
                <a:latin typeface="Palatino Linotype"/>
                <a:ea typeface="Palatino Linotype"/>
                <a:cs typeface="Palatino Linotype"/>
                <a:sym typeface="Palatino Linotype"/>
              </a:rPr>
              <a:t> </a:t>
            </a:r>
            <a:endParaRPr/>
          </a:p>
          <a:p>
            <a:pPr indent="0" lvl="0" marL="0" marR="0" rtl="0" algn="l">
              <a:lnSpc>
                <a:spcPct val="100000"/>
              </a:lnSpc>
              <a:spcBef>
                <a:spcPts val="400"/>
              </a:spcBef>
              <a:spcAft>
                <a:spcPts val="0"/>
              </a:spcAft>
              <a:buNone/>
            </a:pPr>
            <a:r>
              <a:rPr b="0" i="0" lang="en-GB" sz="1150" u="none" cap="none" strike="noStrike">
                <a:solidFill>
                  <a:srgbClr val="333333"/>
                </a:solidFill>
                <a:latin typeface="Palatino Linotype"/>
                <a:ea typeface="Palatino Linotype"/>
                <a:cs typeface="Palatino Linotype"/>
                <a:sym typeface="Palatino Linotype"/>
              </a:rPr>
              <a:t>•  MS MARCO-style pairs teach matching not "helpful for reasoning toward an answer"</a:t>
            </a:r>
            <a:endParaRPr/>
          </a:p>
          <a:p>
            <a:pPr indent="0" lvl="0" marL="0" marR="0" rtl="0" algn="l">
              <a:lnSpc>
                <a:spcPct val="100000"/>
              </a:lnSpc>
              <a:spcBef>
                <a:spcPts val="800"/>
              </a:spcBef>
              <a:spcAft>
                <a:spcPts val="0"/>
              </a:spcAft>
              <a:buNone/>
            </a:pPr>
            <a:r>
              <a:rPr b="1" i="0" lang="en-GB" sz="1250" u="none" cap="none" strike="noStrike">
                <a:solidFill>
                  <a:srgbClr val="3B6FC9"/>
                </a:solidFill>
                <a:latin typeface="Palatino Linotype"/>
                <a:ea typeface="Palatino Linotype"/>
                <a:cs typeface="Palatino Linotype"/>
                <a:sym typeface="Palatino Linotype"/>
              </a:rPr>
              <a:t>The fix</a:t>
            </a:r>
            <a:endParaRPr/>
          </a:p>
          <a:p>
            <a:pPr indent="0" lvl="0" marL="0" marR="0" rtl="0" algn="l">
              <a:lnSpc>
                <a:spcPct val="100000"/>
              </a:lnSpc>
              <a:spcBef>
                <a:spcPts val="400"/>
              </a:spcBef>
              <a:spcAft>
                <a:spcPts val="0"/>
              </a:spcAft>
              <a:buNone/>
            </a:pPr>
            <a:r>
              <a:rPr b="0" i="0" lang="en-GB" sz="1150" u="none" cap="none" strike="noStrike">
                <a:solidFill>
                  <a:srgbClr val="333333"/>
                </a:solidFill>
                <a:latin typeface="Palatino Linotype"/>
                <a:ea typeface="Palatino Linotype"/>
                <a:cs typeface="Palatino Linotype"/>
                <a:sym typeface="Palatino Linotype"/>
              </a:rPr>
              <a:t>•  Synthesize the missing data; train a Llama3.1-8B bi-encoder with a standard contrastive loss</a:t>
            </a:r>
            <a:endParaRPr/>
          </a:p>
        </p:txBody>
      </p:sp>
      <p:sp>
        <p:nvSpPr>
          <p:cNvPr id="1217" name="Google Shape;1217;p120"/>
          <p:cNvSpPr/>
          <p:nvPr/>
        </p:nvSpPr>
        <p:spPr>
          <a:xfrm>
            <a:off x="310896" y="4114800"/>
            <a:ext cx="8522100" cy="502800"/>
          </a:xfrm>
          <a:prstGeom prst="roundRect">
            <a:avLst>
              <a:gd fmla="val 15000" name="adj"/>
            </a:avLst>
          </a:prstGeom>
          <a:solidFill>
            <a:srgbClr val="F2F2F2"/>
          </a:solidFill>
          <a:ln cap="flat" cmpd="sng" w="9525">
            <a:solidFill>
              <a:srgbClr val="999999"/>
            </a:solidFill>
            <a:prstDash val="solid"/>
            <a:round/>
            <a:headEnd len="sm" w="sm" type="none"/>
            <a:tailEnd len="sm" w="sm" type="none"/>
          </a:ln>
        </p:spPr>
        <p:txBody>
          <a:bodyPr anchorCtr="0" anchor="ctr" bIns="45700" lIns="137150" spcFirstLastPara="1" rIns="137150" wrap="square" tIns="45700">
            <a:noAutofit/>
          </a:bodyPr>
          <a:lstStyle/>
          <a:p>
            <a:pPr indent="0" lvl="0" marL="0" marR="0" rtl="0" algn="ctr">
              <a:lnSpc>
                <a:spcPct val="100000"/>
              </a:lnSpc>
              <a:spcBef>
                <a:spcPts val="0"/>
              </a:spcBef>
              <a:spcAft>
                <a:spcPts val="0"/>
              </a:spcAft>
              <a:buNone/>
            </a:pPr>
            <a:r>
              <a:rPr b="0" i="0" lang="en-GB" sz="1250" u="none" cap="none" strike="noStrike">
                <a:solidFill>
                  <a:srgbClr val="333333"/>
                </a:solidFill>
                <a:latin typeface="Palatino Linotype"/>
                <a:ea typeface="Palatino Linotype"/>
                <a:cs typeface="Palatino Linotype"/>
                <a:sym typeface="Palatino Linotype"/>
              </a:rPr>
              <a:t>BRIGHT nDCG@10: 24.4 → 29.9 with query rewriting</a:t>
            </a:r>
            <a:r>
              <a:rPr lang="en-GB" sz="1250">
                <a:solidFill>
                  <a:srgbClr val="333333"/>
                </a:solidFill>
                <a:latin typeface="Palatino Linotype"/>
                <a:ea typeface="Palatino Linotype"/>
                <a:cs typeface="Palatino Linotype"/>
                <a:sym typeface="Palatino Linotype"/>
              </a:rPr>
              <a:t>, </a:t>
            </a:r>
            <a:r>
              <a:rPr b="1" i="0" lang="en-GB" sz="1250" u="none" cap="none" strike="noStrike">
                <a:solidFill>
                  <a:srgbClr val="3B6FC9"/>
                </a:solidFill>
                <a:latin typeface="Palatino Linotype"/>
                <a:ea typeface="Palatino Linotype"/>
                <a:cs typeface="Palatino Linotype"/>
                <a:sym typeface="Palatino Linotype"/>
              </a:rPr>
              <a:t> </a:t>
            </a:r>
            <a:r>
              <a:rPr b="1" lang="en-GB" sz="1250">
                <a:solidFill>
                  <a:srgbClr val="3B6FC9"/>
                </a:solidFill>
                <a:latin typeface="Palatino Linotype"/>
                <a:ea typeface="Palatino Linotype"/>
                <a:cs typeface="Palatino Linotype"/>
                <a:sym typeface="Palatino Linotype"/>
              </a:rPr>
              <a:t>faster</a:t>
            </a:r>
            <a:r>
              <a:rPr b="1" i="0" lang="en-GB" sz="1250" u="none" cap="none" strike="noStrike">
                <a:solidFill>
                  <a:srgbClr val="3B6FC9"/>
                </a:solidFill>
                <a:latin typeface="Palatino Linotype"/>
                <a:ea typeface="Palatino Linotype"/>
                <a:cs typeface="Palatino Linotype"/>
                <a:sym typeface="Palatino Linotype"/>
              </a:rPr>
              <a:t> than LLM rerankers.</a:t>
            </a:r>
            <a:endParaRPr/>
          </a:p>
        </p:txBody>
      </p:sp>
      <p:sp>
        <p:nvSpPr>
          <p:cNvPr id="1218" name="Google Shape;1218;p120"/>
          <p:cNvSpPr txBox="1"/>
          <p:nvPr/>
        </p:nvSpPr>
        <p:spPr>
          <a:xfrm>
            <a:off x="73152" y="4764024"/>
            <a:ext cx="8229600" cy="230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GB" sz="900" u="none" cap="none" strike="noStrike">
                <a:solidFill>
                  <a:srgbClr val="666666"/>
                </a:solidFill>
                <a:latin typeface="Palatino Linotype"/>
                <a:ea typeface="Palatino Linotype"/>
                <a:cs typeface="Palatino Linotype"/>
                <a:sym typeface="Palatino Linotype"/>
              </a:rPr>
              <a:t>Shao et al., "ReasonIR: Training Retrievers for Reasoning Tasks"</a:t>
            </a:r>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2" name="Shape 1222"/>
        <p:cNvGrpSpPr/>
        <p:nvPr/>
      </p:nvGrpSpPr>
      <p:grpSpPr>
        <a:xfrm>
          <a:off x="0" y="0"/>
          <a:ext cx="0" cy="0"/>
          <a:chOff x="0" y="0"/>
          <a:chExt cx="0" cy="0"/>
        </a:xfrm>
      </p:grpSpPr>
      <p:sp>
        <p:nvSpPr>
          <p:cNvPr id="1223" name="Google Shape;1223;p12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00000"/>
              </a:lnSpc>
              <a:spcBef>
                <a:spcPts val="0"/>
              </a:spcBef>
              <a:spcAft>
                <a:spcPts val="0"/>
              </a:spcAft>
              <a:buSzPct val="100000"/>
              <a:buNone/>
            </a:pPr>
            <a:r>
              <a:rPr b="1" lang="en-GB"/>
              <a:t>ReasonIR: the data recipe</a:t>
            </a:r>
            <a:endParaRPr/>
          </a:p>
        </p:txBody>
      </p:sp>
      <p:sp>
        <p:nvSpPr>
          <p:cNvPr id="1224" name="Google Shape;1224;p12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1000"/>
              </a:spcBef>
              <a:spcAft>
                <a:spcPts val="0"/>
              </a:spcAft>
              <a:buSzPts val="1800"/>
              <a:buNone/>
            </a:pPr>
            <a:r>
              <a:rPr b="1" lang="en-GB" sz="1500">
                <a:solidFill>
                  <a:srgbClr val="3B6FC9"/>
                </a:solidFill>
              </a:rPr>
              <a:t>S</a:t>
            </a:r>
            <a:r>
              <a:rPr b="1" lang="en-GB" sz="1500">
                <a:solidFill>
                  <a:srgbClr val="3B6FC9"/>
                </a:solidFill>
              </a:rPr>
              <a:t>ynthetic training data (ReasonIR-Synthesizer, Llama3.1-70B)</a:t>
            </a:r>
            <a:endParaRPr/>
          </a:p>
          <a:p>
            <a:pPr indent="0" lvl="0" marL="0" rtl="0" algn="l">
              <a:lnSpc>
                <a:spcPct val="115000"/>
              </a:lnSpc>
              <a:spcBef>
                <a:spcPts val="500"/>
              </a:spcBef>
              <a:spcAft>
                <a:spcPts val="0"/>
              </a:spcAft>
              <a:buSzPts val="1800"/>
              <a:buNone/>
            </a:pPr>
            <a:r>
              <a:rPr lang="en-GB" sz="1300">
                <a:solidFill>
                  <a:srgbClr val="333333"/>
                </a:solidFill>
              </a:rPr>
              <a:t>•  Varied-length data: 300–2,000-word reasoning-style queries with synthetic positives</a:t>
            </a:r>
            <a:endParaRPr/>
          </a:p>
          <a:p>
            <a:pPr indent="0" lvl="0" marL="0" rtl="0" algn="l">
              <a:lnSpc>
                <a:spcPct val="115000"/>
              </a:lnSpc>
              <a:spcBef>
                <a:spcPts val="500"/>
              </a:spcBef>
              <a:spcAft>
                <a:spcPts val="0"/>
              </a:spcAft>
              <a:buSzPts val="1800"/>
              <a:buNone/>
            </a:pPr>
            <a:r>
              <a:rPr lang="en-GB" sz="1300">
                <a:solidFill>
                  <a:srgbClr val="333333"/>
                </a:solidFill>
              </a:rPr>
              <a:t>•  Hard-query data: reasoning-intensive questions brainstormed from "reasoning-worthy" seed documents</a:t>
            </a:r>
            <a:endParaRPr/>
          </a:p>
          <a:p>
            <a:pPr indent="0" lvl="0" marL="0" rtl="0" algn="l">
              <a:lnSpc>
                <a:spcPct val="115000"/>
              </a:lnSpc>
              <a:spcBef>
                <a:spcPts val="500"/>
              </a:spcBef>
              <a:spcAft>
                <a:spcPts val="0"/>
              </a:spcAft>
              <a:buSzPts val="1800"/>
              <a:buNone/>
            </a:pPr>
            <a:r>
              <a:rPr lang="en-GB" sz="1300">
                <a:solidFill>
                  <a:srgbClr val="333333"/>
                </a:solidFill>
              </a:rPr>
              <a:t>•  Multi-turn LLM-written hard negatives: plausibly related but unhelpful — exactly the BRIGHT failure mode</a:t>
            </a:r>
            <a:endParaRPr/>
          </a:p>
          <a:p>
            <a:pPr indent="0" lvl="0" marL="0" rtl="0" algn="l">
              <a:lnSpc>
                <a:spcPct val="115000"/>
              </a:lnSpc>
              <a:spcBef>
                <a:spcPts val="500"/>
              </a:spcBef>
              <a:spcAft>
                <a:spcPts val="0"/>
              </a:spcAft>
              <a:buSzPts val="1800"/>
              <a:buNone/>
            </a:pPr>
            <a:r>
              <a:rPr lang="en-GB" sz="1300">
                <a:solidFill>
                  <a:srgbClr val="333333"/>
                </a:solidFill>
              </a:rPr>
              <a:t>•  Mixture: ~1.38M public samples + 245k varied-length + 100k hard queries; ablations show the two synergize</a:t>
            </a:r>
            <a:endParaRPr/>
          </a:p>
          <a:p>
            <a:pPr indent="0" lvl="0" marL="0" rtl="0" algn="l">
              <a:lnSpc>
                <a:spcPct val="115000"/>
              </a:lnSpc>
              <a:spcBef>
                <a:spcPts val="1000"/>
              </a:spcBef>
              <a:spcAft>
                <a:spcPts val="0"/>
              </a:spcAft>
              <a:buSzPts val="1800"/>
              <a:buNone/>
            </a:pPr>
            <a:r>
              <a:rPr b="1" lang="en-GB" sz="1500">
                <a:solidFill>
                  <a:srgbClr val="3B6FC9"/>
                </a:solidFill>
              </a:rPr>
              <a:t>Behavior</a:t>
            </a:r>
            <a:endParaRPr/>
          </a:p>
          <a:p>
            <a:pPr indent="0" lvl="0" marL="0" rtl="0" algn="l">
              <a:lnSpc>
                <a:spcPct val="115000"/>
              </a:lnSpc>
              <a:spcBef>
                <a:spcPts val="500"/>
              </a:spcBef>
              <a:spcAft>
                <a:spcPts val="0"/>
              </a:spcAft>
              <a:buSzPts val="1800"/>
              <a:buNone/>
            </a:pPr>
            <a:r>
              <a:rPr lang="en-GB" sz="1300">
                <a:solidFill>
                  <a:srgbClr val="333333"/>
                </a:solidFill>
              </a:rPr>
              <a:t>•  Keeps improving with longer GPT-4 query rewrites while other retrievers plateau; 36.9 nDCG@10 with a Qwen-32B reranker</a:t>
            </a:r>
            <a:endParaRPr/>
          </a:p>
        </p:txBody>
      </p:sp>
      <p:sp>
        <p:nvSpPr>
          <p:cNvPr id="1225" name="Google Shape;1225;p121"/>
          <p:cNvSpPr/>
          <p:nvPr/>
        </p:nvSpPr>
        <p:spPr>
          <a:xfrm>
            <a:off x="310896" y="4041648"/>
            <a:ext cx="8522100" cy="502800"/>
          </a:xfrm>
          <a:prstGeom prst="roundRect">
            <a:avLst>
              <a:gd fmla="val 15000" name="adj"/>
            </a:avLst>
          </a:prstGeom>
          <a:solidFill>
            <a:srgbClr val="F2F2F2"/>
          </a:solidFill>
          <a:ln cap="flat" cmpd="sng" w="9525">
            <a:solidFill>
              <a:srgbClr val="999999"/>
            </a:solidFill>
            <a:prstDash val="solid"/>
            <a:round/>
            <a:headEnd len="sm" w="sm" type="none"/>
            <a:tailEnd len="sm" w="sm" type="none"/>
          </a:ln>
        </p:spPr>
        <p:txBody>
          <a:bodyPr anchorCtr="0" anchor="ctr" bIns="45700" lIns="137150" spcFirstLastPara="1" rIns="137150" wrap="square" tIns="45700">
            <a:noAutofit/>
          </a:bodyPr>
          <a:lstStyle/>
          <a:p>
            <a:pPr indent="0" lvl="0" marL="0" marR="0" rtl="0" algn="ctr">
              <a:lnSpc>
                <a:spcPct val="100000"/>
              </a:lnSpc>
              <a:spcBef>
                <a:spcPts val="0"/>
              </a:spcBef>
              <a:spcAft>
                <a:spcPts val="0"/>
              </a:spcAft>
              <a:buNone/>
            </a:pPr>
            <a:r>
              <a:rPr lang="en-GB" sz="1250">
                <a:solidFill>
                  <a:srgbClr val="333333"/>
                </a:solidFill>
                <a:latin typeface="Palatino Linotype"/>
                <a:ea typeface="Palatino Linotype"/>
                <a:cs typeface="Palatino Linotype"/>
                <a:sym typeface="Palatino Linotype"/>
              </a:rPr>
              <a:t>ReasonIR: </a:t>
            </a:r>
            <a:r>
              <a:rPr b="1" lang="en-GB" sz="1250">
                <a:solidFill>
                  <a:srgbClr val="3B6FC9"/>
                </a:solidFill>
                <a:latin typeface="Palatino Linotype"/>
                <a:ea typeface="Palatino Linotype"/>
                <a:cs typeface="Palatino Linotype"/>
                <a:sym typeface="Palatino Linotype"/>
              </a:rPr>
              <a:t>Enhance</a:t>
            </a:r>
            <a:r>
              <a:rPr b="1" i="0" lang="en-GB" sz="1250" u="none" cap="none" strike="noStrike">
                <a:solidFill>
                  <a:srgbClr val="3B6FC9"/>
                </a:solidFill>
                <a:latin typeface="Palatino Linotype"/>
                <a:ea typeface="Palatino Linotype"/>
                <a:cs typeface="Palatino Linotype"/>
                <a:sym typeface="Palatino Linotype"/>
              </a:rPr>
              <a:t> the training data for reasoning intensive queries.</a:t>
            </a:r>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D9EEB"/>
        </a:solidFill>
      </p:bgPr>
    </p:bg>
    <p:spTree>
      <p:nvGrpSpPr>
        <p:cNvPr id="1229" name="Shape 1229"/>
        <p:cNvGrpSpPr/>
        <p:nvPr/>
      </p:nvGrpSpPr>
      <p:grpSpPr>
        <a:xfrm>
          <a:off x="0" y="0"/>
          <a:ext cx="0" cy="0"/>
          <a:chOff x="0" y="0"/>
          <a:chExt cx="0" cy="0"/>
        </a:xfrm>
      </p:grpSpPr>
      <p:sp>
        <p:nvSpPr>
          <p:cNvPr id="1230" name="Google Shape;1230;p122"/>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p>
            <a:pPr indent="-457200" lvl="0" marL="457200" rtl="0" algn="l">
              <a:lnSpc>
                <a:spcPct val="100000"/>
              </a:lnSpc>
              <a:spcBef>
                <a:spcPts val="0"/>
              </a:spcBef>
              <a:spcAft>
                <a:spcPts val="0"/>
              </a:spcAft>
              <a:buSzPts val="3600"/>
              <a:buNone/>
            </a:pPr>
            <a:r>
              <a:rPr b="1" lang="en-GB">
                <a:solidFill>
                  <a:schemeClr val="lt1"/>
                </a:solidFill>
                <a:latin typeface="Palatino Linotype"/>
                <a:ea typeface="Palatino Linotype"/>
                <a:cs typeface="Palatino Linotype"/>
                <a:sym typeface="Palatino Linotype"/>
              </a:rPr>
              <a:t>2</a:t>
            </a:r>
            <a:r>
              <a:rPr b="1" lang="en-GB">
                <a:solidFill>
                  <a:schemeClr val="lt1"/>
                </a:solidFill>
                <a:latin typeface="Palatino Linotype"/>
                <a:ea typeface="Palatino Linotype"/>
                <a:cs typeface="Palatino Linotype"/>
                <a:sym typeface="Palatino Linotype"/>
              </a:rPr>
              <a:t>. Enhanced Representation Space</a:t>
            </a:r>
            <a:endParaRPr b="1">
              <a:solidFill>
                <a:srgbClr val="93C47D"/>
              </a:solidFill>
              <a:latin typeface="Palatino Linotype"/>
              <a:ea typeface="Palatino Linotype"/>
              <a:cs typeface="Palatino Linotype"/>
              <a:sym typeface="Palatino Linotype"/>
            </a:endParaRPr>
          </a:p>
        </p:txBody>
      </p:sp>
      <p:sp>
        <p:nvSpPr>
          <p:cNvPr id="1231" name="Google Shape;1231;p1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5" name="Shape 1235"/>
        <p:cNvGrpSpPr/>
        <p:nvPr/>
      </p:nvGrpSpPr>
      <p:grpSpPr>
        <a:xfrm>
          <a:off x="0" y="0"/>
          <a:ext cx="0" cy="0"/>
          <a:chOff x="0" y="0"/>
          <a:chExt cx="0" cy="0"/>
        </a:xfrm>
      </p:grpSpPr>
      <p:sp>
        <p:nvSpPr>
          <p:cNvPr id="1236" name="Google Shape;1236;p12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990"/>
              <a:buNone/>
            </a:pPr>
            <a:r>
              <a:rPr b="1" lang="en-GB">
                <a:latin typeface="Palatino Linotype"/>
                <a:ea typeface="Palatino Linotype"/>
                <a:cs typeface="Palatino Linotype"/>
                <a:sym typeface="Palatino Linotype"/>
              </a:rPr>
              <a:t>Set-compositional queries: LogiCoL</a:t>
            </a:r>
            <a:endParaRPr b="1" sz="2320">
              <a:latin typeface="Palatino Linotype"/>
              <a:ea typeface="Palatino Linotype"/>
              <a:cs typeface="Palatino Linotype"/>
              <a:sym typeface="Palatino Linotype"/>
            </a:endParaRPr>
          </a:p>
        </p:txBody>
      </p:sp>
      <p:pic>
        <p:nvPicPr>
          <p:cNvPr id="1237" name="Google Shape;1237;p123"/>
          <p:cNvPicPr preferRelativeResize="0"/>
          <p:nvPr/>
        </p:nvPicPr>
        <p:blipFill rotWithShape="1">
          <a:blip r:embed="rId3">
            <a:alphaModFix/>
          </a:blip>
          <a:srcRect b="0" l="0" r="0" t="0"/>
          <a:stretch/>
        </p:blipFill>
        <p:spPr>
          <a:xfrm>
            <a:off x="4434840" y="1325880"/>
            <a:ext cx="4434839" cy="2551175"/>
          </a:xfrm>
          <a:prstGeom prst="rect">
            <a:avLst/>
          </a:prstGeom>
          <a:noFill/>
          <a:ln>
            <a:noFill/>
          </a:ln>
        </p:spPr>
      </p:pic>
      <p:sp>
        <p:nvSpPr>
          <p:cNvPr id="1238" name="Google Shape;1238;p1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
        <p:nvSpPr>
          <p:cNvPr id="1239" name="Google Shape;1239;p123"/>
          <p:cNvSpPr txBox="1"/>
          <p:nvPr/>
        </p:nvSpPr>
        <p:spPr>
          <a:xfrm>
            <a:off x="274320" y="1234440"/>
            <a:ext cx="3931800" cy="2051700"/>
          </a:xfrm>
          <a:prstGeom prst="rect">
            <a:avLst/>
          </a:prstGeom>
          <a:noFill/>
          <a:ln>
            <a:noFill/>
          </a:ln>
        </p:spPr>
        <p:txBody>
          <a:bodyPr anchorCtr="0" anchor="t" bIns="45700" lIns="109725" spcFirstLastPara="1" rIns="109725" wrap="square" tIns="73150">
            <a:spAutoFit/>
          </a:bodyPr>
          <a:lstStyle/>
          <a:p>
            <a:pPr indent="0" lvl="0" marL="0" marR="0" rtl="0" algn="l">
              <a:lnSpc>
                <a:spcPct val="100000"/>
              </a:lnSpc>
              <a:spcBef>
                <a:spcPts val="0"/>
              </a:spcBef>
              <a:spcAft>
                <a:spcPts val="0"/>
              </a:spcAft>
              <a:buNone/>
            </a:pPr>
            <a:r>
              <a:rPr b="1" i="0" lang="en-GB" sz="1250" u="none" cap="none" strike="noStrike">
                <a:solidFill>
                  <a:srgbClr val="3B6FC9"/>
                </a:solidFill>
                <a:latin typeface="Palatino Linotype"/>
                <a:ea typeface="Palatino Linotype"/>
                <a:cs typeface="Palatino Linotype"/>
                <a:sym typeface="Palatino Linotype"/>
              </a:rPr>
              <a:t>The failure</a:t>
            </a:r>
            <a:endParaRPr>
              <a:latin typeface="Palatino Linotype"/>
              <a:ea typeface="Palatino Linotype"/>
              <a:cs typeface="Palatino Linotype"/>
              <a:sym typeface="Palatino Linotype"/>
            </a:endParaRPr>
          </a:p>
          <a:p>
            <a:pPr indent="0" lvl="0" marL="0" marR="0" rtl="0" algn="l">
              <a:lnSpc>
                <a:spcPct val="100000"/>
              </a:lnSpc>
              <a:spcBef>
                <a:spcPts val="400"/>
              </a:spcBef>
              <a:spcAft>
                <a:spcPts val="0"/>
              </a:spcAft>
              <a:buNone/>
            </a:pPr>
            <a:r>
              <a:rPr i="0" lang="en-GB" sz="1150" u="none" cap="none" strike="noStrike">
                <a:solidFill>
                  <a:srgbClr val="333333"/>
                </a:solidFill>
                <a:latin typeface="Palatino Linotype"/>
                <a:ea typeface="Palatino Linotype"/>
                <a:cs typeface="Palatino Linotype"/>
                <a:sym typeface="Palatino Linotype"/>
              </a:rPr>
              <a:t>•  "A AND B" vs "A NOT B" → nearly identical embeddings</a:t>
            </a:r>
            <a:endParaRPr>
              <a:latin typeface="Palatino Linotype"/>
              <a:ea typeface="Palatino Linotype"/>
              <a:cs typeface="Palatino Linotype"/>
              <a:sym typeface="Palatino Linotype"/>
            </a:endParaRPr>
          </a:p>
          <a:p>
            <a:pPr indent="0" lvl="0" marL="0" marR="0" rtl="0" algn="l">
              <a:lnSpc>
                <a:spcPct val="100000"/>
              </a:lnSpc>
              <a:spcBef>
                <a:spcPts val="400"/>
              </a:spcBef>
              <a:spcAft>
                <a:spcPts val="0"/>
              </a:spcAft>
              <a:buNone/>
            </a:pPr>
            <a:r>
              <a:rPr i="0" lang="en-GB" sz="1150" u="none" cap="none" strike="noStrike">
                <a:solidFill>
                  <a:srgbClr val="333333"/>
                </a:solidFill>
                <a:latin typeface="Palatino Linotype"/>
                <a:ea typeface="Palatino Linotype"/>
                <a:cs typeface="Palatino Linotype"/>
                <a:sym typeface="Palatino Linotype"/>
              </a:rPr>
              <a:t>•  Logical operators are invisible to the encoder</a:t>
            </a:r>
            <a:endParaRPr>
              <a:latin typeface="Palatino Linotype"/>
              <a:ea typeface="Palatino Linotype"/>
              <a:cs typeface="Palatino Linotype"/>
              <a:sym typeface="Palatino Linotype"/>
            </a:endParaRPr>
          </a:p>
          <a:p>
            <a:pPr indent="0" lvl="0" marL="0" marR="0" rtl="0" algn="l">
              <a:lnSpc>
                <a:spcPct val="100000"/>
              </a:lnSpc>
              <a:spcBef>
                <a:spcPts val="800"/>
              </a:spcBef>
              <a:spcAft>
                <a:spcPts val="0"/>
              </a:spcAft>
              <a:buNone/>
            </a:pPr>
            <a:r>
              <a:rPr b="1" i="0" lang="en-GB" sz="1250" u="none" cap="none" strike="noStrike">
                <a:solidFill>
                  <a:srgbClr val="3B6FC9"/>
                </a:solidFill>
                <a:latin typeface="Palatino Linotype"/>
                <a:ea typeface="Palatino Linotype"/>
                <a:cs typeface="Palatino Linotype"/>
                <a:sym typeface="Palatino Linotype"/>
              </a:rPr>
              <a:t>The fix</a:t>
            </a:r>
            <a:endParaRPr>
              <a:latin typeface="Palatino Linotype"/>
              <a:ea typeface="Palatino Linotype"/>
              <a:cs typeface="Palatino Linotype"/>
              <a:sym typeface="Palatino Linotype"/>
            </a:endParaRPr>
          </a:p>
          <a:p>
            <a:pPr indent="0" lvl="0" marL="0" marR="0" rtl="0" algn="l">
              <a:lnSpc>
                <a:spcPct val="100000"/>
              </a:lnSpc>
              <a:spcBef>
                <a:spcPts val="400"/>
              </a:spcBef>
              <a:spcAft>
                <a:spcPts val="0"/>
              </a:spcAft>
              <a:buNone/>
            </a:pPr>
            <a:r>
              <a:rPr i="0" lang="en-GB" sz="1150" u="none" cap="none" strike="noStrike">
                <a:solidFill>
                  <a:srgbClr val="333333"/>
                </a:solidFill>
                <a:latin typeface="Palatino Linotype"/>
                <a:ea typeface="Palatino Linotype"/>
                <a:cs typeface="Palatino Linotype"/>
                <a:sym typeface="Palatino Linotype"/>
              </a:rPr>
              <a:t>•  Compile the logic into the contrastive loss as soft constraints</a:t>
            </a:r>
            <a:endParaRPr>
              <a:latin typeface="Palatino Linotype"/>
              <a:ea typeface="Palatino Linotype"/>
              <a:cs typeface="Palatino Linotype"/>
              <a:sym typeface="Palatino Linotype"/>
            </a:endParaRPr>
          </a:p>
          <a:p>
            <a:pPr indent="0" lvl="0" marL="0" marR="0" rtl="0" algn="l">
              <a:lnSpc>
                <a:spcPct val="100000"/>
              </a:lnSpc>
              <a:spcBef>
                <a:spcPts val="400"/>
              </a:spcBef>
              <a:spcAft>
                <a:spcPts val="0"/>
              </a:spcAft>
              <a:buNone/>
            </a:pPr>
            <a:r>
              <a:rPr i="0" lang="en-GB" sz="1150" u="none" cap="none" strike="noStrike">
                <a:solidFill>
                  <a:srgbClr val="333333"/>
                </a:solidFill>
                <a:latin typeface="Palatino Linotype"/>
                <a:ea typeface="Palatino Linotype"/>
                <a:cs typeface="Palatino Linotype"/>
                <a:sym typeface="Palatino Linotype"/>
              </a:rPr>
              <a:t>•  Batches group logically-related query variants so the model sees the contrast</a:t>
            </a:r>
            <a:endParaRPr>
              <a:latin typeface="Palatino Linotype"/>
              <a:ea typeface="Palatino Linotype"/>
              <a:cs typeface="Palatino Linotype"/>
              <a:sym typeface="Palatino Linotype"/>
            </a:endParaRPr>
          </a:p>
        </p:txBody>
      </p:sp>
      <p:sp>
        <p:nvSpPr>
          <p:cNvPr id="1240" name="Google Shape;1240;p123"/>
          <p:cNvSpPr/>
          <p:nvPr/>
        </p:nvSpPr>
        <p:spPr>
          <a:xfrm>
            <a:off x="310896" y="4114800"/>
            <a:ext cx="8522100" cy="502800"/>
          </a:xfrm>
          <a:prstGeom prst="roundRect">
            <a:avLst>
              <a:gd fmla="val 15000" name="adj"/>
            </a:avLst>
          </a:prstGeom>
          <a:solidFill>
            <a:srgbClr val="F2F2F2"/>
          </a:solidFill>
          <a:ln cap="flat" cmpd="sng" w="9525">
            <a:solidFill>
              <a:srgbClr val="999999"/>
            </a:solidFill>
            <a:prstDash val="solid"/>
            <a:round/>
            <a:headEnd len="sm" w="sm" type="none"/>
            <a:tailEnd len="sm" w="sm" type="none"/>
          </a:ln>
        </p:spPr>
        <p:txBody>
          <a:bodyPr anchorCtr="0" anchor="ctr" bIns="45700" lIns="137150" spcFirstLastPara="1" rIns="137150" wrap="square" tIns="45700">
            <a:noAutofit/>
          </a:bodyPr>
          <a:lstStyle/>
          <a:p>
            <a:pPr indent="0" lvl="0" marL="0" marR="0" rtl="0" algn="ctr">
              <a:lnSpc>
                <a:spcPct val="100000"/>
              </a:lnSpc>
              <a:spcBef>
                <a:spcPts val="0"/>
              </a:spcBef>
              <a:spcAft>
                <a:spcPts val="0"/>
              </a:spcAft>
              <a:buNone/>
            </a:pPr>
            <a:r>
              <a:rPr b="0" i="0" lang="en-GB" sz="1250" u="none" cap="none" strike="noStrike">
                <a:solidFill>
                  <a:srgbClr val="333333"/>
                </a:solidFill>
                <a:latin typeface="Palatino Linotype"/>
                <a:ea typeface="Palatino Linotype"/>
                <a:cs typeface="Palatino Linotype"/>
                <a:sym typeface="Palatino Linotype"/>
              </a:rPr>
              <a:t>Better recall on QUEST and &gt;20% fewer logical violations</a:t>
            </a:r>
            <a:r>
              <a:rPr lang="en-GB" sz="1250">
                <a:solidFill>
                  <a:srgbClr val="333333"/>
                </a:solidFill>
                <a:latin typeface="Palatino Linotype"/>
                <a:ea typeface="Palatino Linotype"/>
                <a:cs typeface="Palatino Linotype"/>
                <a:sym typeface="Palatino Linotype"/>
              </a:rPr>
              <a:t>,</a:t>
            </a:r>
            <a:r>
              <a:rPr b="1" i="0" lang="en-GB" sz="1250" u="none" cap="none" strike="noStrike">
                <a:solidFill>
                  <a:srgbClr val="3B6FC9"/>
                </a:solidFill>
                <a:latin typeface="Palatino Linotype"/>
                <a:ea typeface="Palatino Linotype"/>
                <a:cs typeface="Palatino Linotype"/>
                <a:sym typeface="Palatino Linotype"/>
              </a:rPr>
              <a:t> no reranker, no decomposition at inference.</a:t>
            </a:r>
            <a:endParaRPr/>
          </a:p>
        </p:txBody>
      </p:sp>
      <p:sp>
        <p:nvSpPr>
          <p:cNvPr id="1241" name="Google Shape;1241;p123"/>
          <p:cNvSpPr txBox="1"/>
          <p:nvPr/>
        </p:nvSpPr>
        <p:spPr>
          <a:xfrm>
            <a:off x="73152" y="4764024"/>
            <a:ext cx="8229600" cy="230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GB" sz="900" u="none" cap="none" strike="noStrike">
                <a:solidFill>
                  <a:srgbClr val="666666"/>
                </a:solidFill>
                <a:latin typeface="Palatino Linotype"/>
                <a:ea typeface="Palatino Linotype"/>
                <a:cs typeface="Palatino Linotype"/>
                <a:sym typeface="Palatino Linotype"/>
              </a:rPr>
              <a:t>Shen et al., LogiCoL: Logically-Informed Contrastive Learning for Set-based Dense Retrieval. EMNLP 2025</a:t>
            </a:r>
            <a:r>
              <a:rPr lang="en-GB" sz="900">
                <a:solidFill>
                  <a:srgbClr val="666666"/>
                </a:solidFill>
                <a:latin typeface="Palatino Linotype"/>
                <a:ea typeface="Palatino Linotype"/>
                <a:cs typeface="Palatino Linotype"/>
                <a:sym typeface="Palatino Linotype"/>
              </a:rPr>
              <a:t>.  s</a:t>
            </a:r>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5" name="Shape 1245"/>
        <p:cNvGrpSpPr/>
        <p:nvPr/>
      </p:nvGrpSpPr>
      <p:grpSpPr>
        <a:xfrm>
          <a:off x="0" y="0"/>
          <a:ext cx="0" cy="0"/>
          <a:chOff x="0" y="0"/>
          <a:chExt cx="0" cy="0"/>
        </a:xfrm>
      </p:grpSpPr>
      <p:sp>
        <p:nvSpPr>
          <p:cNvPr id="1246" name="Google Shape;1246;p12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00000"/>
              </a:lnSpc>
              <a:spcBef>
                <a:spcPts val="0"/>
              </a:spcBef>
              <a:spcAft>
                <a:spcPts val="0"/>
              </a:spcAft>
              <a:buSzPct val="100000"/>
              <a:buNone/>
            </a:pPr>
            <a:r>
              <a:rPr b="1" lang="en-GB">
                <a:latin typeface="Palatino Linotype"/>
                <a:ea typeface="Palatino Linotype"/>
                <a:cs typeface="Palatino Linotype"/>
                <a:sym typeface="Palatino Linotype"/>
              </a:rPr>
              <a:t>LogiCoL: logic as a training signal</a:t>
            </a:r>
            <a:endParaRPr>
              <a:latin typeface="Palatino Linotype"/>
              <a:ea typeface="Palatino Linotype"/>
              <a:cs typeface="Palatino Linotype"/>
              <a:sym typeface="Palatino Linotype"/>
            </a:endParaRPr>
          </a:p>
        </p:txBody>
      </p:sp>
      <p:sp>
        <p:nvSpPr>
          <p:cNvPr id="1247" name="Google Shape;1247;p12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1000"/>
              </a:spcBef>
              <a:spcAft>
                <a:spcPts val="0"/>
              </a:spcAft>
              <a:buSzPts val="1800"/>
              <a:buNone/>
            </a:pPr>
            <a:r>
              <a:rPr b="1" lang="en-GB" sz="1500">
                <a:solidFill>
                  <a:srgbClr val="3B6FC9"/>
                </a:solidFill>
                <a:latin typeface="Palatino Linotype"/>
                <a:ea typeface="Palatino Linotype"/>
                <a:cs typeface="Palatino Linotype"/>
                <a:sym typeface="Palatino Linotype"/>
              </a:rPr>
              <a:t>Objective:  L = L_SupCon + 0.1 · L_subset + 0.1 · L_exclusion</a:t>
            </a:r>
            <a:endParaRPr>
              <a:latin typeface="Palatino Linotype"/>
              <a:ea typeface="Palatino Linotype"/>
              <a:cs typeface="Palatino Linotype"/>
              <a:sym typeface="Palatino Linotype"/>
            </a:endParaRPr>
          </a:p>
          <a:p>
            <a:pPr indent="0" lvl="0" marL="0" rtl="0" algn="l">
              <a:lnSpc>
                <a:spcPct val="115000"/>
              </a:lnSpc>
              <a:spcBef>
                <a:spcPts val="500"/>
              </a:spcBef>
              <a:spcAft>
                <a:spcPts val="0"/>
              </a:spcAft>
              <a:buSzPts val="1800"/>
              <a:buNone/>
            </a:pPr>
            <a:r>
              <a:rPr lang="en-GB" sz="1300">
                <a:solidFill>
                  <a:srgbClr val="333333"/>
                </a:solidFill>
                <a:latin typeface="Palatino Linotype"/>
                <a:ea typeface="Palatino Linotype"/>
                <a:cs typeface="Palatino Linotype"/>
                <a:sym typeface="Palatino Linotype"/>
              </a:rPr>
              <a:t>•  Subset consistency (product t-norm): </a:t>
            </a:r>
            <a:br>
              <a:rPr lang="en-GB" sz="1300">
                <a:solidFill>
                  <a:srgbClr val="333333"/>
                </a:solidFill>
                <a:latin typeface="Palatino Linotype"/>
                <a:ea typeface="Palatino Linotype"/>
                <a:cs typeface="Palatino Linotype"/>
                <a:sym typeface="Palatino Linotype"/>
              </a:rPr>
            </a:br>
            <a:r>
              <a:rPr lang="en-GB" sz="1300">
                <a:solidFill>
                  <a:srgbClr val="333333"/>
                </a:solidFill>
                <a:latin typeface="Palatino Linotype"/>
                <a:ea typeface="Palatino Linotype"/>
                <a:cs typeface="Palatino Linotype"/>
                <a:sym typeface="Palatino Linotype"/>
              </a:rPr>
              <a:t>	if answers(q₁) ⊆ answers(q₂), a doc relevant to q₁ must also score high for q₂</a:t>
            </a:r>
            <a:endParaRPr>
              <a:latin typeface="Palatino Linotype"/>
              <a:ea typeface="Palatino Linotype"/>
              <a:cs typeface="Palatino Linotype"/>
              <a:sym typeface="Palatino Linotype"/>
            </a:endParaRPr>
          </a:p>
          <a:p>
            <a:pPr indent="0" lvl="0" marL="0" rtl="0" algn="l">
              <a:lnSpc>
                <a:spcPct val="115000"/>
              </a:lnSpc>
              <a:spcBef>
                <a:spcPts val="500"/>
              </a:spcBef>
              <a:spcAft>
                <a:spcPts val="0"/>
              </a:spcAft>
              <a:buSzPts val="1800"/>
              <a:buNone/>
            </a:pPr>
            <a:r>
              <a:rPr lang="en-GB" sz="1300">
                <a:solidFill>
                  <a:srgbClr val="333333"/>
                </a:solidFill>
                <a:latin typeface="Palatino Linotype"/>
                <a:ea typeface="Palatino Linotype"/>
                <a:cs typeface="Palatino Linotype"/>
                <a:sym typeface="Palatino Linotype"/>
              </a:rPr>
              <a:t>•  Exclusion consistency (symmetric KL): push apart the score distributions of "A AND B" and "A NOT B"</a:t>
            </a:r>
            <a:endParaRPr>
              <a:latin typeface="Palatino Linotype"/>
              <a:ea typeface="Palatino Linotype"/>
              <a:cs typeface="Palatino Linotype"/>
              <a:sym typeface="Palatino Linotype"/>
            </a:endParaRPr>
          </a:p>
          <a:p>
            <a:pPr indent="0" lvl="0" marL="0" rtl="0" algn="l">
              <a:lnSpc>
                <a:spcPct val="115000"/>
              </a:lnSpc>
              <a:spcBef>
                <a:spcPts val="1000"/>
              </a:spcBef>
              <a:spcAft>
                <a:spcPts val="0"/>
              </a:spcAft>
              <a:buSzPts val="1800"/>
              <a:buNone/>
            </a:pPr>
            <a:r>
              <a:rPr b="1" lang="en-GB" sz="1500">
                <a:solidFill>
                  <a:srgbClr val="3B6FC9"/>
                </a:solidFill>
                <a:latin typeface="Palatino Linotype"/>
                <a:ea typeface="Palatino Linotype"/>
                <a:cs typeface="Palatino Linotype"/>
                <a:sym typeface="Palatino Linotype"/>
              </a:rPr>
              <a:t>Training data: QUEST + auto-generated logical variants</a:t>
            </a:r>
            <a:endParaRPr>
              <a:latin typeface="Palatino Linotype"/>
              <a:ea typeface="Palatino Linotype"/>
              <a:cs typeface="Palatino Linotype"/>
              <a:sym typeface="Palatino Linotype"/>
            </a:endParaRPr>
          </a:p>
          <a:p>
            <a:pPr indent="0" lvl="0" marL="0" rtl="0" algn="l">
              <a:lnSpc>
                <a:spcPct val="115000"/>
              </a:lnSpc>
              <a:spcBef>
                <a:spcPts val="500"/>
              </a:spcBef>
              <a:spcAft>
                <a:spcPts val="0"/>
              </a:spcAft>
              <a:buSzPts val="1800"/>
              <a:buNone/>
            </a:pPr>
            <a:r>
              <a:rPr lang="en-GB" sz="1300">
                <a:solidFill>
                  <a:srgbClr val="333333"/>
                </a:solidFill>
                <a:latin typeface="Palatino Linotype"/>
                <a:ea typeface="Palatino Linotype"/>
                <a:cs typeface="Palatino Linotype"/>
                <a:sym typeface="Palatino Linotype"/>
              </a:rPr>
              <a:t>•  Query variants share atomic sub-queries but differ in operators (6.2k train / 11.9k test)</a:t>
            </a:r>
            <a:endParaRPr>
              <a:latin typeface="Palatino Linotype"/>
              <a:ea typeface="Palatino Linotype"/>
              <a:cs typeface="Palatino Linotype"/>
              <a:sym typeface="Palatino Linotype"/>
            </a:endParaRPr>
          </a:p>
          <a:p>
            <a:pPr indent="0" lvl="0" marL="0" rtl="0" algn="l">
              <a:lnSpc>
                <a:spcPct val="115000"/>
              </a:lnSpc>
              <a:spcBef>
                <a:spcPts val="1000"/>
              </a:spcBef>
              <a:spcAft>
                <a:spcPts val="0"/>
              </a:spcAft>
              <a:buSzPts val="1800"/>
              <a:buNone/>
            </a:pPr>
            <a:r>
              <a:rPr b="1" lang="en-GB" sz="1500">
                <a:solidFill>
                  <a:srgbClr val="3B6FC9"/>
                </a:solidFill>
                <a:latin typeface="Palatino Linotype"/>
                <a:ea typeface="Palatino Linotype"/>
                <a:cs typeface="Palatino Linotype"/>
                <a:sym typeface="Palatino Linotype"/>
              </a:rPr>
              <a:t>Results (four ~110M encoders: GTR, Contriever, GTE, E5)</a:t>
            </a:r>
            <a:endParaRPr>
              <a:latin typeface="Palatino Linotype"/>
              <a:ea typeface="Palatino Linotype"/>
              <a:cs typeface="Palatino Linotype"/>
              <a:sym typeface="Palatino Linotype"/>
            </a:endParaRPr>
          </a:p>
          <a:p>
            <a:pPr indent="0" lvl="0" marL="0" rtl="0" algn="l">
              <a:lnSpc>
                <a:spcPct val="115000"/>
              </a:lnSpc>
              <a:spcBef>
                <a:spcPts val="500"/>
              </a:spcBef>
              <a:spcAft>
                <a:spcPts val="0"/>
              </a:spcAft>
              <a:buSzPts val="1800"/>
              <a:buNone/>
            </a:pPr>
            <a:r>
              <a:rPr lang="en-GB" sz="1300">
                <a:solidFill>
                  <a:srgbClr val="333333"/>
                </a:solidFill>
                <a:latin typeface="Palatino Linotype"/>
                <a:ea typeface="Palatino Linotype"/>
                <a:cs typeface="Palatino Linotype"/>
                <a:sym typeface="Palatino Linotype"/>
              </a:rPr>
              <a:t>•  E5: R@100 21.9 vs 19.8, R@1000 50.2 vs 45.5; largest gains on negation queries</a:t>
            </a:r>
            <a:endParaRPr>
              <a:latin typeface="Palatino Linotype"/>
              <a:ea typeface="Palatino Linotype"/>
              <a:cs typeface="Palatino Linotype"/>
              <a:sym typeface="Palatino Linotype"/>
            </a:endParaRPr>
          </a:p>
          <a:p>
            <a:pPr indent="0" lvl="0" marL="0" rtl="0" algn="l">
              <a:lnSpc>
                <a:spcPct val="115000"/>
              </a:lnSpc>
              <a:spcBef>
                <a:spcPts val="500"/>
              </a:spcBef>
              <a:spcAft>
                <a:spcPts val="0"/>
              </a:spcAft>
              <a:buSzPts val="1800"/>
              <a:buNone/>
            </a:pPr>
            <a:r>
              <a:rPr lang="en-GB" sz="1300">
                <a:solidFill>
                  <a:srgbClr val="333333"/>
                </a:solidFill>
                <a:latin typeface="Palatino Linotype"/>
                <a:ea typeface="Palatino Linotype"/>
                <a:cs typeface="Palatino Linotype"/>
                <a:sym typeface="Palatino Linotype"/>
              </a:rPr>
              <a:t>•  Violation rate (excluded docs outranking gold) down &gt;20% across all backbones</a:t>
            </a:r>
            <a:endParaRPr>
              <a:latin typeface="Palatino Linotype"/>
              <a:ea typeface="Palatino Linotype"/>
              <a:cs typeface="Palatino Linotype"/>
              <a:sym typeface="Palatino Linotype"/>
            </a:endParaRPr>
          </a:p>
        </p:txBody>
      </p:sp>
      <p:sp>
        <p:nvSpPr>
          <p:cNvPr id="1248" name="Google Shape;1248;p124"/>
          <p:cNvSpPr/>
          <p:nvPr/>
        </p:nvSpPr>
        <p:spPr>
          <a:xfrm>
            <a:off x="310896" y="4041648"/>
            <a:ext cx="8522100" cy="502800"/>
          </a:xfrm>
          <a:prstGeom prst="roundRect">
            <a:avLst>
              <a:gd fmla="val 15000" name="adj"/>
            </a:avLst>
          </a:prstGeom>
          <a:solidFill>
            <a:srgbClr val="F2F2F2"/>
          </a:solidFill>
          <a:ln cap="flat" cmpd="sng" w="9525">
            <a:solidFill>
              <a:srgbClr val="999999"/>
            </a:solidFill>
            <a:prstDash val="solid"/>
            <a:round/>
            <a:headEnd len="sm" w="sm" type="none"/>
            <a:tailEnd len="sm" w="sm" type="none"/>
          </a:ln>
        </p:spPr>
        <p:txBody>
          <a:bodyPr anchorCtr="0" anchor="ctr" bIns="45700" lIns="137150" spcFirstLastPara="1" rIns="137150" wrap="square" tIns="45700">
            <a:noAutofit/>
          </a:bodyPr>
          <a:lstStyle/>
          <a:p>
            <a:pPr indent="0" lvl="0" marL="0" marR="0" rtl="0" algn="ctr">
              <a:lnSpc>
                <a:spcPct val="100000"/>
              </a:lnSpc>
              <a:spcBef>
                <a:spcPts val="0"/>
              </a:spcBef>
              <a:spcAft>
                <a:spcPts val="0"/>
              </a:spcAft>
              <a:buNone/>
            </a:pPr>
            <a:r>
              <a:rPr b="0" i="0" lang="en-GB" sz="1250" u="none" cap="none" strike="noStrike">
                <a:solidFill>
                  <a:srgbClr val="333333"/>
                </a:solidFill>
                <a:latin typeface="Palatino Linotype"/>
                <a:ea typeface="Palatino Linotype"/>
                <a:cs typeface="Palatino Linotype"/>
                <a:sym typeface="Palatino Linotype"/>
              </a:rPr>
              <a:t>Symbolic structure injected purely through the loss,</a:t>
            </a:r>
            <a:r>
              <a:rPr b="1" i="0" lang="en-GB" sz="1250" u="none" cap="none" strike="noStrike">
                <a:solidFill>
                  <a:srgbClr val="3B6FC9"/>
                </a:solidFill>
                <a:latin typeface="Palatino Linotype"/>
                <a:ea typeface="Palatino Linotype"/>
                <a:cs typeface="Palatino Linotype"/>
                <a:sym typeface="Palatino Linotype"/>
              </a:rPr>
              <a:t> architecture and inference stay a plain bi-encoder.</a:t>
            </a:r>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2" name="Shape 1252"/>
        <p:cNvGrpSpPr/>
        <p:nvPr/>
      </p:nvGrpSpPr>
      <p:grpSpPr>
        <a:xfrm>
          <a:off x="0" y="0"/>
          <a:ext cx="0" cy="0"/>
          <a:chOff x="0" y="0"/>
          <a:chExt cx="0" cy="0"/>
        </a:xfrm>
      </p:grpSpPr>
      <p:sp>
        <p:nvSpPr>
          <p:cNvPr id="1253" name="Google Shape;1253;p12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990"/>
              <a:buNone/>
            </a:pPr>
            <a:r>
              <a:rPr b="1" lang="en-GB"/>
              <a:t>Set-compositional queries: SetComp-LSR</a:t>
            </a:r>
            <a:endParaRPr b="1" sz="2420"/>
          </a:p>
        </p:txBody>
      </p:sp>
      <p:pic>
        <p:nvPicPr>
          <p:cNvPr id="1254" name="Google Shape;1254;p125"/>
          <p:cNvPicPr preferRelativeResize="0"/>
          <p:nvPr/>
        </p:nvPicPr>
        <p:blipFill rotWithShape="1">
          <a:blip r:embed="rId3">
            <a:alphaModFix/>
          </a:blip>
          <a:srcRect b="0" l="0" r="0" t="0"/>
          <a:stretch/>
        </p:blipFill>
        <p:spPr>
          <a:xfrm>
            <a:off x="280950" y="1947900"/>
            <a:ext cx="8582100" cy="2237628"/>
          </a:xfrm>
          <a:prstGeom prst="rect">
            <a:avLst/>
          </a:prstGeom>
          <a:noFill/>
          <a:ln>
            <a:noFill/>
          </a:ln>
        </p:spPr>
      </p:pic>
      <p:sp>
        <p:nvSpPr>
          <p:cNvPr id="1255" name="Google Shape;1255;p12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
        <p:nvSpPr>
          <p:cNvPr id="1256" name="Google Shape;1256;p125"/>
          <p:cNvSpPr txBox="1"/>
          <p:nvPr/>
        </p:nvSpPr>
        <p:spPr>
          <a:xfrm>
            <a:off x="310896" y="1024128"/>
            <a:ext cx="8522100" cy="489600"/>
          </a:xfrm>
          <a:prstGeom prst="rect">
            <a:avLst/>
          </a:prstGeom>
          <a:noFill/>
          <a:ln>
            <a:noFill/>
          </a:ln>
        </p:spPr>
        <p:txBody>
          <a:bodyPr anchorCtr="0" anchor="t" bIns="45700" lIns="109725" spcFirstLastPara="1" rIns="109725" wrap="square" tIns="73150">
            <a:spAutoFit/>
          </a:bodyPr>
          <a:lstStyle/>
          <a:p>
            <a:pPr indent="0" lvl="0" marL="0" marR="0" rtl="0" algn="l">
              <a:lnSpc>
                <a:spcPct val="100000"/>
              </a:lnSpc>
              <a:spcBef>
                <a:spcPts val="0"/>
              </a:spcBef>
              <a:spcAft>
                <a:spcPts val="0"/>
              </a:spcAft>
              <a:buNone/>
            </a:pPr>
            <a:r>
              <a:rPr b="0" i="1" lang="en-GB" sz="1200" u="none" cap="none" strike="noStrike">
                <a:solidFill>
                  <a:srgbClr val="666666"/>
                </a:solidFill>
                <a:latin typeface="Palatino Linotype"/>
                <a:ea typeface="Palatino Linotype"/>
                <a:cs typeface="Palatino Linotype"/>
                <a:sym typeface="Palatino Linotype"/>
              </a:rPr>
              <a:t>Zero-shot alternative to LogiCoL: keep the retriever frozen, and compose sub-query representations with set-theoretic vector algebra (∩, ∪, \) at query time.</a:t>
            </a:r>
            <a:endParaRPr/>
          </a:p>
        </p:txBody>
      </p:sp>
      <p:sp>
        <p:nvSpPr>
          <p:cNvPr id="1257" name="Google Shape;1257;p125"/>
          <p:cNvSpPr/>
          <p:nvPr/>
        </p:nvSpPr>
        <p:spPr>
          <a:xfrm>
            <a:off x="310896" y="4251960"/>
            <a:ext cx="8522100" cy="457200"/>
          </a:xfrm>
          <a:prstGeom prst="roundRect">
            <a:avLst>
              <a:gd fmla="val 15000" name="adj"/>
            </a:avLst>
          </a:prstGeom>
          <a:solidFill>
            <a:srgbClr val="F2F2F2"/>
          </a:solidFill>
          <a:ln cap="flat" cmpd="sng" w="9525">
            <a:solidFill>
              <a:srgbClr val="999999"/>
            </a:solidFill>
            <a:prstDash val="solid"/>
            <a:round/>
            <a:headEnd len="sm" w="sm" type="none"/>
            <a:tailEnd len="sm" w="sm" type="none"/>
          </a:ln>
        </p:spPr>
        <p:txBody>
          <a:bodyPr anchorCtr="0" anchor="ctr" bIns="45700" lIns="137150" spcFirstLastPara="1" rIns="137150" wrap="square" tIns="45700">
            <a:noAutofit/>
          </a:bodyPr>
          <a:lstStyle/>
          <a:p>
            <a:pPr indent="0" lvl="0" marL="0" marR="0" rtl="0" algn="ctr">
              <a:lnSpc>
                <a:spcPct val="100000"/>
              </a:lnSpc>
              <a:spcBef>
                <a:spcPts val="0"/>
              </a:spcBef>
              <a:spcAft>
                <a:spcPts val="0"/>
              </a:spcAft>
              <a:buNone/>
            </a:pPr>
            <a:r>
              <a:rPr b="0" i="0" lang="en-GB" sz="1250" u="none" cap="none" strike="noStrike">
                <a:solidFill>
                  <a:srgbClr val="333333"/>
                </a:solidFill>
                <a:latin typeface="Palatino Linotype"/>
                <a:ea typeface="Palatino Linotype"/>
                <a:cs typeface="Palatino Linotype"/>
                <a:sym typeface="Palatino Linotype"/>
              </a:rPr>
              <a:t>Disentangled negation ≈ 2× nDCG@10 (0.132 → 0.258), beating trained models —</a:t>
            </a:r>
            <a:r>
              <a:rPr b="1" i="0" lang="en-GB" sz="1250" u="none" cap="none" strike="noStrike">
                <a:solidFill>
                  <a:srgbClr val="3B6FC9"/>
                </a:solidFill>
                <a:latin typeface="Palatino Linotype"/>
                <a:ea typeface="Palatino Linotype"/>
                <a:cs typeface="Palatino Linotype"/>
                <a:sym typeface="Palatino Linotype"/>
              </a:rPr>
              <a:t> but intersections stay unsolved, trained or not.</a:t>
            </a:r>
            <a:endParaRPr/>
          </a:p>
        </p:txBody>
      </p:sp>
      <p:sp>
        <p:nvSpPr>
          <p:cNvPr id="1258" name="Google Shape;1258;p125"/>
          <p:cNvSpPr txBox="1"/>
          <p:nvPr/>
        </p:nvSpPr>
        <p:spPr>
          <a:xfrm>
            <a:off x="73152" y="4764024"/>
            <a:ext cx="8229600" cy="230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GB" sz="900" u="none" cap="none" strike="noStrike">
                <a:solidFill>
                  <a:srgbClr val="666666"/>
                </a:solidFill>
                <a:latin typeface="Palatino Linotype"/>
                <a:ea typeface="Palatino Linotype"/>
                <a:cs typeface="Palatino Linotype"/>
                <a:sym typeface="Palatino Linotype"/>
              </a:rPr>
              <a:t>Krasakis, Yates, Kanoulas. Constructing Set-Compositional and Negated Representations for First-Stage Ranking. CIKM 2025.</a:t>
            </a:r>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2" name="Shape 1262"/>
        <p:cNvGrpSpPr/>
        <p:nvPr/>
      </p:nvGrpSpPr>
      <p:grpSpPr>
        <a:xfrm>
          <a:off x="0" y="0"/>
          <a:ext cx="0" cy="0"/>
          <a:chOff x="0" y="0"/>
          <a:chExt cx="0" cy="0"/>
        </a:xfrm>
      </p:grpSpPr>
      <p:sp>
        <p:nvSpPr>
          <p:cNvPr id="1263" name="Google Shape;1263;p1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latin typeface="Palatino Linotype"/>
                <a:ea typeface="Palatino Linotype"/>
                <a:cs typeface="Palatino Linotype"/>
                <a:sym typeface="Palatino Linotype"/>
              </a:rPr>
              <a:t>On generalizability of these approaches (ReasonIR/LogiCoL/SetComp): Enhancing training data may not be as effective as we thought! </a:t>
            </a:r>
            <a:endParaRPr>
              <a:latin typeface="Palatino Linotype"/>
              <a:ea typeface="Palatino Linotype"/>
              <a:cs typeface="Palatino Linotype"/>
              <a:sym typeface="Palatino Linotype"/>
            </a:endParaRPr>
          </a:p>
        </p:txBody>
      </p:sp>
      <p:sp>
        <p:nvSpPr>
          <p:cNvPr id="1264" name="Google Shape;1264;p126"/>
          <p:cNvSpPr txBox="1"/>
          <p:nvPr>
            <p:ph idx="1" type="body"/>
          </p:nvPr>
        </p:nvSpPr>
        <p:spPr>
          <a:xfrm>
            <a:off x="311700" y="4305275"/>
            <a:ext cx="8520600" cy="4644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SzPts val="523"/>
              <a:buNone/>
            </a:pPr>
            <a:r>
              <a:rPr lang="en-GB" sz="1255">
                <a:latin typeface="Palatino Linotype"/>
                <a:ea typeface="Palatino Linotype"/>
                <a:cs typeface="Palatino Linotype"/>
                <a:sym typeface="Palatino Linotype"/>
              </a:rPr>
              <a:t>Check our presentation on Wednesday! </a:t>
            </a:r>
            <a:br>
              <a:rPr lang="en-GB" sz="1255">
                <a:latin typeface="Palatino Linotype"/>
                <a:ea typeface="Palatino Linotype"/>
                <a:cs typeface="Palatino Linotype"/>
                <a:sym typeface="Palatino Linotype"/>
              </a:rPr>
            </a:br>
            <a:r>
              <a:rPr lang="en-GB" sz="1255">
                <a:latin typeface="Palatino Linotype"/>
                <a:ea typeface="Palatino Linotype"/>
                <a:cs typeface="Palatino Linotype"/>
                <a:sym typeface="Palatino Linotype"/>
              </a:rPr>
              <a:t>Session: Efficient Retrieval, Training, and Indexing - 10:30 am - Courtyard 1+2</a:t>
            </a:r>
            <a:endParaRPr sz="1255">
              <a:latin typeface="Palatino Linotype"/>
              <a:ea typeface="Palatino Linotype"/>
              <a:cs typeface="Palatino Linotype"/>
              <a:sym typeface="Palatino Linotype"/>
            </a:endParaRPr>
          </a:p>
        </p:txBody>
      </p:sp>
      <p:sp>
        <p:nvSpPr>
          <p:cNvPr id="1265" name="Google Shape;1265;p12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pic>
        <p:nvPicPr>
          <p:cNvPr id="1266" name="Google Shape;1266;p126"/>
          <p:cNvPicPr preferRelativeResize="0"/>
          <p:nvPr/>
        </p:nvPicPr>
        <p:blipFill rotWithShape="1">
          <a:blip r:embed="rId3">
            <a:alphaModFix/>
          </a:blip>
          <a:srcRect b="2633" l="0" r="0" t="27899"/>
          <a:stretch/>
        </p:blipFill>
        <p:spPr>
          <a:xfrm>
            <a:off x="403450" y="1734975"/>
            <a:ext cx="8337099" cy="2369500"/>
          </a:xfrm>
          <a:prstGeom prst="rect">
            <a:avLst/>
          </a:prstGeom>
          <a:noFill/>
          <a:ln>
            <a:noFill/>
          </a:ln>
        </p:spPr>
      </p:pic>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D9EEB"/>
        </a:solidFill>
      </p:bgPr>
    </p:bg>
    <p:spTree>
      <p:nvGrpSpPr>
        <p:cNvPr id="1270" name="Shape 1270"/>
        <p:cNvGrpSpPr/>
        <p:nvPr/>
      </p:nvGrpSpPr>
      <p:grpSpPr>
        <a:xfrm>
          <a:off x="0" y="0"/>
          <a:ext cx="0" cy="0"/>
          <a:chOff x="0" y="0"/>
          <a:chExt cx="0" cy="0"/>
        </a:xfrm>
      </p:grpSpPr>
      <p:sp>
        <p:nvSpPr>
          <p:cNvPr id="1271" name="Google Shape;1271;p127"/>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b="1" lang="en-GB">
                <a:solidFill>
                  <a:schemeClr val="lt1"/>
                </a:solidFill>
                <a:latin typeface="Palatino Linotype"/>
                <a:ea typeface="Palatino Linotype"/>
                <a:cs typeface="Palatino Linotype"/>
                <a:sym typeface="Palatino Linotype"/>
              </a:rPr>
              <a:t>3. The division of labor:</a:t>
            </a:r>
            <a:br>
              <a:rPr b="1" lang="en-GB">
                <a:solidFill>
                  <a:schemeClr val="lt1"/>
                </a:solidFill>
                <a:latin typeface="Palatino Linotype"/>
                <a:ea typeface="Palatino Linotype"/>
                <a:cs typeface="Palatino Linotype"/>
                <a:sym typeface="Palatino Linotype"/>
              </a:rPr>
            </a:br>
            <a:r>
              <a:rPr b="1" lang="en-GB">
                <a:solidFill>
                  <a:schemeClr val="lt1"/>
                </a:solidFill>
                <a:latin typeface="Palatino Linotype"/>
                <a:ea typeface="Palatino Linotype"/>
                <a:cs typeface="Palatino Linotype"/>
                <a:sym typeface="Palatino Linotype"/>
              </a:rPr>
              <a:t>Better agent, or better retriever?</a:t>
            </a:r>
            <a:endParaRPr b="1">
              <a:solidFill>
                <a:schemeClr val="lt1"/>
              </a:solidFill>
              <a:latin typeface="Palatino Linotype"/>
              <a:ea typeface="Palatino Linotype"/>
              <a:cs typeface="Palatino Linotype"/>
              <a:sym typeface="Palatino Linotype"/>
            </a:endParaRPr>
          </a:p>
        </p:txBody>
      </p:sp>
      <p:sp>
        <p:nvSpPr>
          <p:cNvPr id="1272" name="Google Shape;1272;p12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6" name="Shape 1276"/>
        <p:cNvGrpSpPr/>
        <p:nvPr/>
      </p:nvGrpSpPr>
      <p:grpSpPr>
        <a:xfrm>
          <a:off x="0" y="0"/>
          <a:ext cx="0" cy="0"/>
          <a:chOff x="0" y="0"/>
          <a:chExt cx="0" cy="0"/>
        </a:xfrm>
      </p:grpSpPr>
      <p:sp>
        <p:nvSpPr>
          <p:cNvPr id="1277" name="Google Shape;1277;p12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990"/>
              <a:buNone/>
            </a:pPr>
            <a:r>
              <a:rPr b="1" lang="en-GB"/>
              <a:t>Is Lexical Retrieval Sufficient?</a:t>
            </a:r>
            <a:endParaRPr b="1" sz="2420"/>
          </a:p>
        </p:txBody>
      </p:sp>
      <p:sp>
        <p:nvSpPr>
          <p:cNvPr id="1278" name="Google Shape;1278;p12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pic>
        <p:nvPicPr>
          <p:cNvPr id="1279" name="Google Shape;1279;p128"/>
          <p:cNvPicPr preferRelativeResize="0"/>
          <p:nvPr/>
        </p:nvPicPr>
        <p:blipFill rotWithShape="1">
          <a:blip r:embed="rId3">
            <a:alphaModFix/>
          </a:blip>
          <a:srcRect b="0" l="4224" r="2726" t="5553"/>
          <a:stretch/>
        </p:blipFill>
        <p:spPr>
          <a:xfrm>
            <a:off x="4051250" y="1057750"/>
            <a:ext cx="4969900" cy="3814750"/>
          </a:xfrm>
          <a:prstGeom prst="rect">
            <a:avLst/>
          </a:prstGeom>
          <a:noFill/>
          <a:ln>
            <a:noFill/>
          </a:ln>
        </p:spPr>
      </p:pic>
      <p:sp>
        <p:nvSpPr>
          <p:cNvPr id="1280" name="Google Shape;1280;p128"/>
          <p:cNvSpPr txBox="1"/>
          <p:nvPr/>
        </p:nvSpPr>
        <p:spPr>
          <a:xfrm>
            <a:off x="238175" y="1157600"/>
            <a:ext cx="2903700" cy="1789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Palatino Linotype"/>
              <a:buNone/>
            </a:pPr>
            <a:r>
              <a:rPr b="0" i="0" lang="en-GB" sz="1800" u="none" cap="none" strike="noStrike">
                <a:solidFill>
                  <a:schemeClr val="dk2"/>
                </a:solidFill>
                <a:latin typeface="Palatino Linotype"/>
                <a:ea typeface="Palatino Linotype"/>
                <a:cs typeface="Palatino Linotype"/>
                <a:sym typeface="Palatino Linotype"/>
              </a:rPr>
              <a:t>Does a lexical retriever suffice as large language models (LLMs) become more capable in</a:t>
            </a:r>
            <a:endParaRPr b="0" i="0" sz="1800" u="none" cap="none" strike="noStrike">
              <a:solidFill>
                <a:schemeClr val="dk2"/>
              </a:solidFill>
              <a:latin typeface="Palatino Linotype"/>
              <a:ea typeface="Palatino Linotype"/>
              <a:cs typeface="Palatino Linotype"/>
              <a:sym typeface="Palatino Linotype"/>
            </a:endParaRPr>
          </a:p>
          <a:p>
            <a:pPr indent="0" lvl="0" marL="0" marR="0" rtl="0" algn="l">
              <a:lnSpc>
                <a:spcPct val="100000"/>
              </a:lnSpc>
              <a:spcBef>
                <a:spcPts val="0"/>
              </a:spcBef>
              <a:spcAft>
                <a:spcPts val="0"/>
              </a:spcAft>
              <a:buClr>
                <a:srgbClr val="000000"/>
              </a:buClr>
              <a:buSzPts val="1800"/>
              <a:buFont typeface="Palatino Linotype"/>
              <a:buNone/>
            </a:pPr>
            <a:r>
              <a:rPr b="0" i="0" lang="en-GB" sz="1800" u="none" cap="none" strike="noStrike">
                <a:solidFill>
                  <a:schemeClr val="dk2"/>
                </a:solidFill>
                <a:latin typeface="Palatino Linotype"/>
                <a:ea typeface="Palatino Linotype"/>
                <a:cs typeface="Palatino Linotype"/>
                <a:sym typeface="Palatino Linotype"/>
              </a:rPr>
              <a:t>an agentic loop?</a:t>
            </a:r>
            <a:endParaRPr b="0" i="0" sz="1800" u="none" cap="none" strike="noStrike">
              <a:solidFill>
                <a:schemeClr val="dk2"/>
              </a:solidFill>
              <a:latin typeface="Palatino Linotype"/>
              <a:ea typeface="Palatino Linotype"/>
              <a:cs typeface="Palatino Linotype"/>
              <a:sym typeface="Palatino Linotype"/>
            </a:endParaRPr>
          </a:p>
        </p:txBody>
      </p:sp>
      <p:sp>
        <p:nvSpPr>
          <p:cNvPr id="1281" name="Google Shape;1281;p128"/>
          <p:cNvSpPr txBox="1"/>
          <p:nvPr/>
        </p:nvSpPr>
        <p:spPr>
          <a:xfrm>
            <a:off x="77100" y="4760350"/>
            <a:ext cx="8755200" cy="338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Palatino Linotype"/>
              <a:buNone/>
            </a:pPr>
            <a:r>
              <a:rPr b="0" i="0" lang="en-GB" sz="1000" u="none" cap="none" strike="noStrike">
                <a:solidFill>
                  <a:srgbClr val="222222"/>
                </a:solidFill>
                <a:highlight>
                  <a:srgbClr val="FFFFFF"/>
                </a:highlight>
                <a:latin typeface="Palatino Linotype"/>
                <a:ea typeface="Palatino Linotype"/>
                <a:cs typeface="Palatino Linotype"/>
                <a:sym typeface="Palatino Linotype"/>
              </a:rPr>
              <a:t>Tz-Huan Hsu and Jheng-Hong Yang and Jimmy Lin. "Rethinking Agentic Search with PI-SERINI: Is Lexical Retrieval Sufficient?"</a:t>
            </a:r>
            <a:endParaRPr b="0" i="0" sz="1400" u="none" cap="none" strike="noStrike">
              <a:solidFill>
                <a:srgbClr val="000000"/>
              </a:solidFill>
              <a:latin typeface="Palatino Linotype"/>
              <a:ea typeface="Palatino Linotype"/>
              <a:cs typeface="Palatino Linotype"/>
              <a:sym typeface="Palatino Linotype"/>
            </a:endParaRPr>
          </a:p>
        </p:txBody>
      </p:sp>
      <p:sp>
        <p:nvSpPr>
          <p:cNvPr id="1282" name="Google Shape;1282;p128"/>
          <p:cNvSpPr txBox="1"/>
          <p:nvPr/>
        </p:nvSpPr>
        <p:spPr>
          <a:xfrm>
            <a:off x="237744" y="3063240"/>
            <a:ext cx="3566100" cy="1351500"/>
          </a:xfrm>
          <a:prstGeom prst="rect">
            <a:avLst/>
          </a:prstGeom>
          <a:noFill/>
          <a:ln>
            <a:noFill/>
          </a:ln>
        </p:spPr>
        <p:txBody>
          <a:bodyPr anchorCtr="0" anchor="t" bIns="45700" lIns="109725" spcFirstLastPara="1" rIns="109725" wrap="square" tIns="73150">
            <a:spAutoFit/>
          </a:bodyPr>
          <a:lstStyle/>
          <a:p>
            <a:pPr indent="0" lvl="0" marL="0" marR="0" rtl="0" algn="l">
              <a:lnSpc>
                <a:spcPct val="100000"/>
              </a:lnSpc>
              <a:spcBef>
                <a:spcPts val="0"/>
              </a:spcBef>
              <a:spcAft>
                <a:spcPts val="0"/>
              </a:spcAft>
              <a:buNone/>
            </a:pPr>
            <a:r>
              <a:rPr b="1" i="0" lang="en-GB" sz="1250" u="none" cap="none" strike="noStrike">
                <a:solidFill>
                  <a:srgbClr val="3B6FC9"/>
                </a:solidFill>
                <a:latin typeface="Palatino Linotype"/>
                <a:ea typeface="Palatino Linotype"/>
                <a:cs typeface="Palatino Linotype"/>
                <a:sym typeface="Palatino Linotype"/>
              </a:rPr>
              <a:t>Answer: mostly yes, if configured</a:t>
            </a:r>
            <a:endParaRPr/>
          </a:p>
          <a:p>
            <a:pPr indent="0" lvl="0" marL="0" marR="0" rtl="0" algn="l">
              <a:lnSpc>
                <a:spcPct val="100000"/>
              </a:lnSpc>
              <a:spcBef>
                <a:spcPts val="400"/>
              </a:spcBef>
              <a:spcAft>
                <a:spcPts val="0"/>
              </a:spcAft>
              <a:buNone/>
            </a:pPr>
            <a:r>
              <a:rPr b="0" i="0" lang="en-GB" sz="1150" u="none" cap="none" strike="noStrike">
                <a:solidFill>
                  <a:srgbClr val="333333"/>
                </a:solidFill>
                <a:latin typeface="Palatino Linotype"/>
                <a:ea typeface="Palatino Linotype"/>
                <a:cs typeface="Palatino Linotype"/>
                <a:sym typeface="Palatino Linotype"/>
              </a:rPr>
              <a:t>•  Tuned BM25 (k1=25, b=1) + retrieval depth 1,000 + cached-ranking tools</a:t>
            </a:r>
            <a:endParaRPr/>
          </a:p>
          <a:p>
            <a:pPr indent="0" lvl="0" marL="0" marR="0" rtl="0" algn="l">
              <a:lnSpc>
                <a:spcPct val="100000"/>
              </a:lnSpc>
              <a:spcBef>
                <a:spcPts val="400"/>
              </a:spcBef>
              <a:spcAft>
                <a:spcPts val="0"/>
              </a:spcAft>
              <a:buNone/>
            </a:pPr>
            <a:r>
              <a:rPr b="0" i="0" lang="en-GB" sz="1150" u="none" cap="none" strike="noStrike">
                <a:solidFill>
                  <a:srgbClr val="333333"/>
                </a:solidFill>
                <a:latin typeface="Palatino Linotype"/>
                <a:ea typeface="Palatino Linotype"/>
                <a:cs typeface="Palatino Linotype"/>
                <a:sym typeface="Palatino Linotype"/>
              </a:rPr>
              <a:t>•  gpt-5.5: 83.1% on BrowseComp-Plus, ~95% evidence recall</a:t>
            </a:r>
            <a:endParaRPr/>
          </a:p>
          <a:p>
            <a:pPr indent="0" lvl="0" marL="0" marR="0" rtl="0" algn="l">
              <a:lnSpc>
                <a:spcPct val="100000"/>
              </a:lnSpc>
              <a:spcBef>
                <a:spcPts val="400"/>
              </a:spcBef>
              <a:spcAft>
                <a:spcPts val="0"/>
              </a:spcAft>
              <a:buNone/>
            </a:pPr>
            <a:r>
              <a:rPr b="0" i="0" lang="en-GB" sz="1150" u="none" cap="none" strike="noStrike">
                <a:solidFill>
                  <a:srgbClr val="333333"/>
                </a:solidFill>
                <a:latin typeface="Palatino Linotype"/>
                <a:ea typeface="Palatino Linotype"/>
                <a:cs typeface="Palatino Linotype"/>
                <a:sym typeface="Palatino Linotype"/>
              </a:rPr>
              <a:t>•  Beats dense-retriever agents at 3–10× lower cost</a:t>
            </a:r>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286" name="Shape 1286"/>
        <p:cNvGrpSpPr/>
        <p:nvPr/>
      </p:nvGrpSpPr>
      <p:grpSpPr>
        <a:xfrm>
          <a:off x="0" y="0"/>
          <a:ext cx="0" cy="0"/>
          <a:chOff x="0" y="0"/>
          <a:chExt cx="0" cy="0"/>
        </a:xfrm>
      </p:grpSpPr>
      <p:sp>
        <p:nvSpPr>
          <p:cNvPr id="1287" name="Google Shape;1287;p12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00000"/>
              <a:buNone/>
            </a:pPr>
            <a:r>
              <a:rPr b="1" lang="en-GB"/>
              <a:t>Pi-Serini: why the "dumb" retriever wins</a:t>
            </a:r>
            <a:endParaRPr/>
          </a:p>
        </p:txBody>
      </p:sp>
      <p:sp>
        <p:nvSpPr>
          <p:cNvPr id="1288" name="Google Shape;1288;p129"/>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1000"/>
              </a:spcBef>
              <a:spcAft>
                <a:spcPts val="0"/>
              </a:spcAft>
              <a:buSzPts val="1800"/>
              <a:buNone/>
            </a:pPr>
            <a:r>
              <a:rPr b="1" lang="en-GB" sz="1500">
                <a:solidFill>
                  <a:srgbClr val="3B6FC9"/>
                </a:solidFill>
              </a:rPr>
              <a:t>A deliberately minimal agent</a:t>
            </a:r>
            <a:endParaRPr/>
          </a:p>
          <a:p>
            <a:pPr indent="0" lvl="0" marL="0" rtl="0" algn="l">
              <a:lnSpc>
                <a:spcPct val="115000"/>
              </a:lnSpc>
              <a:spcBef>
                <a:spcPts val="500"/>
              </a:spcBef>
              <a:spcAft>
                <a:spcPts val="0"/>
              </a:spcAft>
              <a:buSzPts val="1800"/>
              <a:buNone/>
            </a:pPr>
            <a:r>
              <a:rPr lang="en-GB" sz="1300">
                <a:solidFill>
                  <a:srgbClr val="333333"/>
                </a:solidFill>
              </a:rPr>
              <a:t>•  ReAct loop + 3 tools: search (BM25, top-1000 cached) · page through the cached ranking · read one document</a:t>
            </a:r>
            <a:endParaRPr/>
          </a:p>
          <a:p>
            <a:pPr indent="0" lvl="0" marL="0" rtl="0" algn="l">
              <a:lnSpc>
                <a:spcPct val="115000"/>
              </a:lnSpc>
              <a:spcBef>
                <a:spcPts val="500"/>
              </a:spcBef>
              <a:spcAft>
                <a:spcPts val="0"/>
              </a:spcAft>
              <a:buSzPts val="1800"/>
              <a:buNone/>
            </a:pPr>
            <a:r>
              <a:rPr lang="en-GB" sz="1300">
                <a:solidFill>
                  <a:srgbClr val="333333"/>
                </a:solidFill>
              </a:rPr>
              <a:t>•  Time budget (300s) instead of an iteration cap; forced answer synthesis at 70% of budget</a:t>
            </a:r>
            <a:endParaRPr/>
          </a:p>
          <a:p>
            <a:pPr indent="0" lvl="0" marL="0" rtl="0" algn="l">
              <a:lnSpc>
                <a:spcPct val="115000"/>
              </a:lnSpc>
              <a:spcBef>
                <a:spcPts val="1000"/>
              </a:spcBef>
              <a:spcAft>
                <a:spcPts val="0"/>
              </a:spcAft>
              <a:buSzPts val="1800"/>
              <a:buNone/>
            </a:pPr>
            <a:r>
              <a:rPr b="1" lang="en-GB" sz="1500">
                <a:solidFill>
                  <a:srgbClr val="3B6FC9"/>
                </a:solidFill>
              </a:rPr>
              <a:t>Where the gains actually come from</a:t>
            </a:r>
            <a:endParaRPr/>
          </a:p>
          <a:p>
            <a:pPr indent="0" lvl="0" marL="0" rtl="0" algn="l">
              <a:lnSpc>
                <a:spcPct val="115000"/>
              </a:lnSpc>
              <a:spcBef>
                <a:spcPts val="500"/>
              </a:spcBef>
              <a:spcAft>
                <a:spcPts val="0"/>
              </a:spcAft>
              <a:buSzPts val="1800"/>
              <a:buNone/>
            </a:pPr>
            <a:r>
              <a:rPr lang="en-GB" sz="1300">
                <a:solidFill>
                  <a:srgbClr val="333333"/>
                </a:solidFill>
              </a:rPr>
              <a:t>•  Tuning BM25 for long documents: accuracy 64.0 → 82.0 (+18.0)</a:t>
            </a:r>
            <a:endParaRPr/>
          </a:p>
          <a:p>
            <a:pPr indent="0" lvl="0" marL="0" rtl="0" algn="l">
              <a:lnSpc>
                <a:spcPct val="115000"/>
              </a:lnSpc>
              <a:spcBef>
                <a:spcPts val="500"/>
              </a:spcBef>
              <a:spcAft>
                <a:spcPts val="0"/>
              </a:spcAft>
              <a:buSzPts val="1800"/>
              <a:buNone/>
            </a:pPr>
            <a:r>
              <a:rPr lang="en-GB" sz="1300">
                <a:solidFill>
                  <a:srgbClr val="333333"/>
                </a:solidFill>
              </a:rPr>
              <a:t>•  Depth k = 5 → 1,000: surfaced evidence recall 70.5 → 95.8 (+25.3)</a:t>
            </a:r>
            <a:endParaRPr/>
          </a:p>
          <a:p>
            <a:pPr indent="0" lvl="0" marL="0" rtl="0" algn="l">
              <a:lnSpc>
                <a:spcPct val="115000"/>
              </a:lnSpc>
              <a:spcBef>
                <a:spcPts val="500"/>
              </a:spcBef>
              <a:spcAft>
                <a:spcPts val="0"/>
              </a:spcAft>
              <a:buSzPts val="1800"/>
              <a:buNone/>
            </a:pPr>
            <a:r>
              <a:rPr lang="en-GB" sz="1300">
                <a:solidFill>
                  <a:srgbClr val="333333"/>
                </a:solidFill>
              </a:rPr>
              <a:t>•  Same LLM (gpt-5), proper config: 74.6% vs 58.3% for the released BM25 baseline</a:t>
            </a:r>
            <a:endParaRPr/>
          </a:p>
        </p:txBody>
      </p:sp>
      <p:sp>
        <p:nvSpPr>
          <p:cNvPr id="1289" name="Google Shape;1289;p129"/>
          <p:cNvSpPr/>
          <p:nvPr/>
        </p:nvSpPr>
        <p:spPr>
          <a:xfrm>
            <a:off x="310896" y="4041648"/>
            <a:ext cx="8522100" cy="502800"/>
          </a:xfrm>
          <a:prstGeom prst="roundRect">
            <a:avLst>
              <a:gd fmla="val 15000" name="adj"/>
            </a:avLst>
          </a:prstGeom>
          <a:solidFill>
            <a:srgbClr val="F2F2F2"/>
          </a:solidFill>
          <a:ln cap="flat" cmpd="sng" w="9525">
            <a:solidFill>
              <a:srgbClr val="999999"/>
            </a:solidFill>
            <a:prstDash val="solid"/>
            <a:round/>
            <a:headEnd len="sm" w="sm" type="none"/>
            <a:tailEnd len="sm" w="sm" type="none"/>
          </a:ln>
        </p:spPr>
        <p:txBody>
          <a:bodyPr anchorCtr="0" anchor="ctr" bIns="45700" lIns="137150" spcFirstLastPara="1" rIns="137150" wrap="square" tIns="45700">
            <a:noAutofit/>
          </a:bodyPr>
          <a:lstStyle/>
          <a:p>
            <a:pPr indent="0" lvl="0" marL="0" marR="0" rtl="0" algn="ctr">
              <a:lnSpc>
                <a:spcPct val="100000"/>
              </a:lnSpc>
              <a:spcBef>
                <a:spcPts val="0"/>
              </a:spcBef>
              <a:spcAft>
                <a:spcPts val="0"/>
              </a:spcAft>
              <a:buNone/>
            </a:pPr>
            <a:r>
              <a:rPr b="0" i="0" lang="en-GB" sz="1250" u="none" cap="none" strike="noStrike">
                <a:solidFill>
                  <a:srgbClr val="333333"/>
                </a:solidFill>
                <a:latin typeface="Palatino Linotype"/>
                <a:ea typeface="Palatino Linotype"/>
                <a:cs typeface="Palatino Linotype"/>
                <a:sym typeface="Palatino Linotype"/>
              </a:rPr>
              <a:t>Caution for the field: untuned lexical baselines inflate dense-retriever gains —</a:t>
            </a:r>
            <a:r>
              <a:rPr b="1" i="0" lang="en-GB" sz="1250" u="none" cap="none" strike="noStrike">
                <a:solidFill>
                  <a:srgbClr val="3B6FC9"/>
                </a:solidFill>
                <a:latin typeface="Palatino Linotype"/>
                <a:ea typeface="Palatino Linotype"/>
                <a:cs typeface="Palatino Linotype"/>
                <a:sym typeface="Palatino Linotype"/>
              </a:rPr>
              <a:t> you may be measuring configuration debt, not semantics.</a:t>
            </a:r>
            <a:endParaRPr/>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3" name="Shape 1293"/>
        <p:cNvGrpSpPr/>
        <p:nvPr/>
      </p:nvGrpSpPr>
      <p:grpSpPr>
        <a:xfrm>
          <a:off x="0" y="0"/>
          <a:ext cx="0" cy="0"/>
          <a:chOff x="0" y="0"/>
          <a:chExt cx="0" cy="0"/>
        </a:xfrm>
      </p:grpSpPr>
      <p:sp>
        <p:nvSpPr>
          <p:cNvPr id="1294" name="Google Shape;1294;p13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990"/>
              <a:buNone/>
            </a:pPr>
            <a:r>
              <a:rPr b="1" lang="en-GB"/>
              <a:t>Is Grep Retrieval Sufficient?</a:t>
            </a:r>
            <a:endParaRPr b="1" sz="2420"/>
          </a:p>
        </p:txBody>
      </p:sp>
      <p:sp>
        <p:nvSpPr>
          <p:cNvPr id="1295" name="Google Shape;1295;p13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
        <p:nvSpPr>
          <p:cNvPr id="1296" name="Google Shape;1296;p130"/>
          <p:cNvSpPr txBox="1"/>
          <p:nvPr/>
        </p:nvSpPr>
        <p:spPr>
          <a:xfrm>
            <a:off x="238175" y="1157600"/>
            <a:ext cx="2903700" cy="1789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Palatino Linotype"/>
              <a:buNone/>
            </a:pPr>
            <a:r>
              <a:rPr b="0" i="0" lang="en-GB" sz="1800" u="none" cap="none" strike="noStrike">
                <a:solidFill>
                  <a:schemeClr val="dk2"/>
                </a:solidFill>
                <a:latin typeface="Palatino Linotype"/>
                <a:ea typeface="Palatino Linotype"/>
                <a:cs typeface="Palatino Linotype"/>
                <a:sym typeface="Palatino Linotype"/>
              </a:rPr>
              <a:t>Learning to retrieve via RL-training LLM agent on DCI. </a:t>
            </a:r>
            <a:endParaRPr b="0" i="0" sz="1800" u="none" cap="none" strike="noStrike">
              <a:solidFill>
                <a:schemeClr val="dk2"/>
              </a:solidFill>
              <a:latin typeface="Palatino Linotype"/>
              <a:ea typeface="Palatino Linotype"/>
              <a:cs typeface="Palatino Linotype"/>
              <a:sym typeface="Palatino Linotype"/>
            </a:endParaRPr>
          </a:p>
        </p:txBody>
      </p:sp>
      <p:sp>
        <p:nvSpPr>
          <p:cNvPr id="1297" name="Google Shape;1297;p130"/>
          <p:cNvSpPr txBox="1"/>
          <p:nvPr/>
        </p:nvSpPr>
        <p:spPr>
          <a:xfrm>
            <a:off x="77100" y="4760350"/>
            <a:ext cx="8755200" cy="338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Palatino Linotype"/>
              <a:buNone/>
            </a:pPr>
            <a:r>
              <a:rPr b="0" i="0" lang="en-GB" sz="1000" u="none" cap="none" strike="noStrike">
                <a:solidFill>
                  <a:srgbClr val="222222"/>
                </a:solidFill>
                <a:highlight>
                  <a:srgbClr val="FFFFFF"/>
                </a:highlight>
                <a:latin typeface="Palatino Linotype"/>
                <a:ea typeface="Palatino Linotype"/>
                <a:cs typeface="Palatino Linotype"/>
                <a:sym typeface="Palatino Linotype"/>
              </a:rPr>
              <a:t>Salemi et al., "Grepseek: Training Search Agents for Direct Corpus Interaction"</a:t>
            </a:r>
            <a:endParaRPr b="0" i="0" sz="1400" u="none" cap="none" strike="noStrike">
              <a:solidFill>
                <a:srgbClr val="000000"/>
              </a:solidFill>
              <a:latin typeface="Palatino Linotype"/>
              <a:ea typeface="Palatino Linotype"/>
              <a:cs typeface="Palatino Linotype"/>
              <a:sym typeface="Palatino Linotype"/>
            </a:endParaRPr>
          </a:p>
        </p:txBody>
      </p:sp>
      <p:pic>
        <p:nvPicPr>
          <p:cNvPr id="1298" name="Google Shape;1298;p130"/>
          <p:cNvPicPr preferRelativeResize="0"/>
          <p:nvPr/>
        </p:nvPicPr>
        <p:blipFill rotWithShape="1">
          <a:blip r:embed="rId3">
            <a:alphaModFix/>
          </a:blip>
          <a:srcRect b="0" l="0" r="0" t="0"/>
          <a:stretch/>
        </p:blipFill>
        <p:spPr>
          <a:xfrm>
            <a:off x="3248175" y="1157600"/>
            <a:ext cx="5697325" cy="2284025"/>
          </a:xfrm>
          <a:prstGeom prst="rect">
            <a:avLst/>
          </a:prstGeom>
          <a:noFill/>
          <a:ln>
            <a:noFill/>
          </a:ln>
        </p:spPr>
      </p:pic>
      <p:sp>
        <p:nvSpPr>
          <p:cNvPr id="1299" name="Google Shape;1299;p130"/>
          <p:cNvSpPr txBox="1"/>
          <p:nvPr/>
        </p:nvSpPr>
        <p:spPr>
          <a:xfrm>
            <a:off x="237744" y="3063240"/>
            <a:ext cx="2907900" cy="1528500"/>
          </a:xfrm>
          <a:prstGeom prst="rect">
            <a:avLst/>
          </a:prstGeom>
          <a:noFill/>
          <a:ln>
            <a:noFill/>
          </a:ln>
        </p:spPr>
        <p:txBody>
          <a:bodyPr anchorCtr="0" anchor="t" bIns="45700" lIns="109725" spcFirstLastPara="1" rIns="109725" wrap="square" tIns="73150">
            <a:spAutoFit/>
          </a:bodyPr>
          <a:lstStyle/>
          <a:p>
            <a:pPr indent="0" lvl="0" marL="0" marR="0" rtl="0" algn="l">
              <a:lnSpc>
                <a:spcPct val="100000"/>
              </a:lnSpc>
              <a:spcBef>
                <a:spcPts val="0"/>
              </a:spcBef>
              <a:spcAft>
                <a:spcPts val="0"/>
              </a:spcAft>
              <a:buNone/>
            </a:pPr>
            <a:r>
              <a:rPr b="1" i="0" lang="en-GB" sz="1250" u="none" cap="none" strike="noStrike">
                <a:solidFill>
                  <a:srgbClr val="3B6FC9"/>
                </a:solidFill>
                <a:latin typeface="Palatino Linotype"/>
                <a:ea typeface="Palatino Linotype"/>
                <a:cs typeface="Palatino Linotype"/>
                <a:sym typeface="Palatino Linotype"/>
              </a:rPr>
              <a:t>How</a:t>
            </a:r>
            <a:endParaRPr/>
          </a:p>
          <a:p>
            <a:pPr indent="0" lvl="0" marL="0" marR="0" rtl="0" algn="l">
              <a:lnSpc>
                <a:spcPct val="100000"/>
              </a:lnSpc>
              <a:spcBef>
                <a:spcPts val="400"/>
              </a:spcBef>
              <a:spcAft>
                <a:spcPts val="0"/>
              </a:spcAft>
              <a:buNone/>
            </a:pPr>
            <a:r>
              <a:rPr b="0" i="0" lang="en-GB" sz="1150" u="none" cap="none" strike="noStrike">
                <a:solidFill>
                  <a:srgbClr val="333333"/>
                </a:solidFill>
                <a:latin typeface="Palatino Linotype"/>
                <a:ea typeface="Palatino Linotype"/>
                <a:cs typeface="Palatino Linotype"/>
                <a:sym typeface="Palatino Linotype"/>
              </a:rPr>
              <a:t>•  No index — agent runs grep</a:t>
            </a:r>
            <a:r>
              <a:rPr lang="en-GB" sz="1150">
                <a:solidFill>
                  <a:srgbClr val="333333"/>
                </a:solidFill>
                <a:latin typeface="Palatino Linotype"/>
                <a:ea typeface="Palatino Linotype"/>
                <a:cs typeface="Palatino Linotype"/>
                <a:sym typeface="Palatino Linotype"/>
              </a:rPr>
              <a:t> </a:t>
            </a:r>
            <a:r>
              <a:rPr b="0" i="0" lang="en-GB" sz="1150" u="none" cap="none" strike="noStrike">
                <a:solidFill>
                  <a:srgbClr val="333333"/>
                </a:solidFill>
                <a:latin typeface="Palatino Linotype"/>
                <a:ea typeface="Palatino Linotype"/>
                <a:cs typeface="Palatino Linotype"/>
                <a:sym typeface="Palatino Linotype"/>
              </a:rPr>
              <a:t>pipelines on the raw corpus</a:t>
            </a:r>
            <a:endParaRPr/>
          </a:p>
          <a:p>
            <a:pPr indent="0" lvl="0" marL="0" marR="0" rtl="0" algn="l">
              <a:lnSpc>
                <a:spcPct val="100000"/>
              </a:lnSpc>
              <a:spcBef>
                <a:spcPts val="400"/>
              </a:spcBef>
              <a:spcAft>
                <a:spcPts val="0"/>
              </a:spcAft>
              <a:buNone/>
            </a:pPr>
            <a:r>
              <a:rPr b="0" i="0" lang="en-GB" sz="1150" u="none" cap="none" strike="noStrike">
                <a:solidFill>
                  <a:srgbClr val="333333"/>
                </a:solidFill>
                <a:latin typeface="Palatino Linotype"/>
                <a:ea typeface="Palatino Linotype"/>
                <a:cs typeface="Palatino Linotype"/>
                <a:sym typeface="Palatino Linotype"/>
              </a:rPr>
              <a:t>•  SFT on synthetic trajectories, then GRPO</a:t>
            </a:r>
            <a:endParaRPr/>
          </a:p>
          <a:p>
            <a:pPr indent="0" lvl="0" marL="0" marR="0" rtl="0" algn="l">
              <a:lnSpc>
                <a:spcPct val="100000"/>
              </a:lnSpc>
              <a:spcBef>
                <a:spcPts val="400"/>
              </a:spcBef>
              <a:spcAft>
                <a:spcPts val="0"/>
              </a:spcAft>
              <a:buNone/>
            </a:pPr>
            <a:r>
              <a:rPr b="0" i="0" lang="en-GB" sz="1150" u="none" cap="none" strike="noStrike">
                <a:solidFill>
                  <a:srgbClr val="333333"/>
                </a:solidFill>
                <a:latin typeface="Palatino Linotype"/>
                <a:ea typeface="Palatino Linotype"/>
                <a:cs typeface="Palatino Linotype"/>
                <a:sym typeface="Palatino Linotype"/>
              </a:rPr>
              <a:t>•  Best micro-avg F1 on 7 QA benchmarks (0.569 vs 0.544)</a:t>
            </a:r>
            <a:endParaRPr/>
          </a:p>
        </p:txBody>
      </p:sp>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83C92"/>
        </a:solidFill>
      </p:bgPr>
    </p:bg>
    <p:spTree>
      <p:nvGrpSpPr>
        <p:cNvPr id="1303" name="Shape 1303"/>
        <p:cNvGrpSpPr/>
        <p:nvPr/>
      </p:nvGrpSpPr>
      <p:grpSpPr>
        <a:xfrm>
          <a:off x="0" y="0"/>
          <a:ext cx="0" cy="0"/>
          <a:chOff x="0" y="0"/>
          <a:chExt cx="0" cy="0"/>
        </a:xfrm>
      </p:grpSpPr>
      <p:sp>
        <p:nvSpPr>
          <p:cNvPr id="1304" name="Google Shape;1304;p131"/>
          <p:cNvSpPr txBox="1"/>
          <p:nvPr>
            <p:ph type="title"/>
          </p:nvPr>
        </p:nvSpPr>
        <p:spPr>
          <a:xfrm>
            <a:off x="311700" y="2150850"/>
            <a:ext cx="8520600" cy="841800"/>
          </a:xfrm>
          <a:prstGeom prst="rect">
            <a:avLst/>
          </a:prstGeom>
        </p:spPr>
        <p:txBody>
          <a:bodyPr anchorCtr="0" anchor="ctr" bIns="91425" lIns="91425" spcFirstLastPara="1" rIns="91425" wrap="square" tIns="91425">
            <a:normAutofit fontScale="90000"/>
          </a:bodyPr>
          <a:lstStyle/>
          <a:p>
            <a:pPr indent="-434340" lvl="0" marL="457200" rtl="0" algn="l">
              <a:spcBef>
                <a:spcPts val="0"/>
              </a:spcBef>
              <a:spcAft>
                <a:spcPts val="0"/>
              </a:spcAft>
              <a:buClr>
                <a:schemeClr val="lt1"/>
              </a:buClr>
              <a:buSzPct val="103185"/>
              <a:buAutoNum type="romanUcPeriod" startAt="4"/>
            </a:pPr>
            <a:r>
              <a:rPr b="1" lang="en-GB">
                <a:solidFill>
                  <a:schemeClr val="lt1"/>
                </a:solidFill>
              </a:rPr>
              <a:t>(Neuro-)</a:t>
            </a:r>
            <a:r>
              <a:rPr b="1" lang="en-GB" sz="3489">
                <a:solidFill>
                  <a:schemeClr val="lt1"/>
                </a:solidFill>
              </a:rPr>
              <a:t>Symbolic </a:t>
            </a:r>
            <a:r>
              <a:rPr b="1" lang="en-GB" sz="3489">
                <a:solidFill>
                  <a:schemeClr val="lt1"/>
                </a:solidFill>
              </a:rPr>
              <a:t>&amp; Structured Reasoning</a:t>
            </a:r>
            <a:endParaRPr b="1" sz="3489">
              <a:solidFill>
                <a:schemeClr val="lt1"/>
              </a:solidFill>
            </a:endParaRPr>
          </a:p>
        </p:txBody>
      </p:sp>
      <p:sp>
        <p:nvSpPr>
          <p:cNvPr id="1305" name="Google Shape;1305;p13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D9EEB"/>
        </a:solidFill>
      </p:bgPr>
    </p:bg>
    <p:spTree>
      <p:nvGrpSpPr>
        <p:cNvPr id="1309" name="Shape 1309"/>
        <p:cNvGrpSpPr/>
        <p:nvPr/>
      </p:nvGrpSpPr>
      <p:grpSpPr>
        <a:xfrm>
          <a:off x="0" y="0"/>
          <a:ext cx="0" cy="0"/>
          <a:chOff x="0" y="0"/>
          <a:chExt cx="0" cy="0"/>
        </a:xfrm>
      </p:grpSpPr>
      <p:sp>
        <p:nvSpPr>
          <p:cNvPr id="1310" name="Google Shape;1310;p132"/>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GB">
                <a:solidFill>
                  <a:schemeClr val="lt1"/>
                </a:solidFill>
                <a:latin typeface="Palatino Linotype"/>
                <a:ea typeface="Palatino Linotype"/>
                <a:cs typeface="Palatino Linotype"/>
                <a:sym typeface="Palatino Linotype"/>
              </a:rPr>
              <a:t>1. </a:t>
            </a:r>
            <a:r>
              <a:rPr lang="en-GB">
                <a:solidFill>
                  <a:schemeClr val="lt1"/>
                </a:solidFill>
                <a:latin typeface="Palatino Linotype"/>
                <a:ea typeface="Palatino Linotype"/>
                <a:cs typeface="Palatino Linotype"/>
                <a:sym typeface="Palatino Linotype"/>
              </a:rPr>
              <a:t>Neuro-Symbolic Reasoning</a:t>
            </a:r>
            <a:endParaRPr>
              <a:solidFill>
                <a:srgbClr val="93C47D"/>
              </a:solidFill>
              <a:latin typeface="Palatino Linotype"/>
              <a:ea typeface="Palatino Linotype"/>
              <a:cs typeface="Palatino Linotype"/>
              <a:sym typeface="Palatino Linotype"/>
            </a:endParaRPr>
          </a:p>
        </p:txBody>
      </p:sp>
      <p:sp>
        <p:nvSpPr>
          <p:cNvPr id="1311" name="Google Shape;1311;p13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5" name="Shape 1315"/>
        <p:cNvGrpSpPr/>
        <p:nvPr/>
      </p:nvGrpSpPr>
      <p:grpSpPr>
        <a:xfrm>
          <a:off x="0" y="0"/>
          <a:ext cx="0" cy="0"/>
          <a:chOff x="0" y="0"/>
          <a:chExt cx="0" cy="0"/>
        </a:xfrm>
      </p:grpSpPr>
      <p:sp>
        <p:nvSpPr>
          <p:cNvPr id="1316" name="Google Shape;1316;p13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
        <p:nvSpPr>
          <p:cNvPr id="1317" name="Google Shape;1317;p133"/>
          <p:cNvSpPr txBox="1"/>
          <p:nvPr>
            <p:ph idx="1" type="body"/>
          </p:nvPr>
        </p:nvSpPr>
        <p:spPr>
          <a:xfrm>
            <a:off x="6729300" y="1132275"/>
            <a:ext cx="2227800" cy="3866400"/>
          </a:xfrm>
          <a:prstGeom prst="rect">
            <a:avLst/>
          </a:prstGeom>
          <a:solidFill>
            <a:srgbClr val="F4CCCC"/>
          </a:solidFill>
          <a:ln>
            <a:noFill/>
          </a:ln>
        </p:spPr>
        <p:txBody>
          <a:bodyPr anchorCtr="0" anchor="t" bIns="91425" lIns="91425" spcFirstLastPara="1" rIns="91425" wrap="square" tIns="91425">
            <a:normAutofit fontScale="62500" lnSpcReduction="20000"/>
          </a:bodyPr>
          <a:lstStyle/>
          <a:p>
            <a:pPr indent="0" lvl="0" marL="0" rtl="0" algn="l">
              <a:spcBef>
                <a:spcPts val="0"/>
              </a:spcBef>
              <a:spcAft>
                <a:spcPts val="0"/>
              </a:spcAft>
              <a:buNone/>
            </a:pPr>
            <a:r>
              <a:rPr lang="en-GB"/>
              <a:t>Characterizing a Semantics for Cognitive Computation</a:t>
            </a:r>
            <a:endParaRPr/>
          </a:p>
          <a:p>
            <a:pPr indent="0" lvl="0" marL="0" rtl="0" algn="l">
              <a:spcBef>
                <a:spcPts val="1200"/>
              </a:spcBef>
              <a:spcAft>
                <a:spcPts val="0"/>
              </a:spcAft>
              <a:buNone/>
            </a:pPr>
            <a:r>
              <a:rPr lang="en-GB"/>
              <a:t>“The aim here is to identify a way of looking at and manipulating commonsense knowledge that is consistent with and can support what we consider to be the two most fundamental aspects of intelligent cognitive behavior: the ability to learn from experience, and the ability to reason from what has been learned. We are therefore seeking a semantics of knowledge that can computationally support the basic phenomena of intelligent behavior."</a:t>
            </a:r>
            <a:endParaRPr/>
          </a:p>
          <a:p>
            <a:pPr indent="0" lvl="0" marL="0" rtl="0" algn="r">
              <a:spcBef>
                <a:spcPts val="1200"/>
              </a:spcBef>
              <a:spcAft>
                <a:spcPts val="1200"/>
              </a:spcAft>
              <a:buNone/>
            </a:pPr>
            <a:r>
              <a:rPr lang="en-GB"/>
              <a:t>Valiant, 2003</a:t>
            </a:r>
            <a:endParaRPr/>
          </a:p>
        </p:txBody>
      </p:sp>
      <p:sp>
        <p:nvSpPr>
          <p:cNvPr id="1318" name="Google Shape;1318;p133"/>
          <p:cNvSpPr txBox="1"/>
          <p:nvPr>
            <p:ph idx="1" type="body"/>
          </p:nvPr>
        </p:nvSpPr>
        <p:spPr>
          <a:xfrm>
            <a:off x="311700" y="3833225"/>
            <a:ext cx="6279600" cy="1165500"/>
          </a:xfrm>
          <a:prstGeom prst="rect">
            <a:avLst/>
          </a:prstGeom>
          <a:solidFill>
            <a:srgbClr val="C9DAF8"/>
          </a:solidFill>
          <a:ln>
            <a:noFill/>
          </a:ln>
        </p:spPr>
        <p:txBody>
          <a:bodyPr anchorCtr="0" anchor="t" bIns="91425" lIns="91425" spcFirstLastPara="1" rIns="91425" wrap="square" tIns="91425">
            <a:normAutofit fontScale="85000"/>
          </a:bodyPr>
          <a:lstStyle/>
          <a:p>
            <a:pPr indent="0" lvl="0" marL="0" rtl="0" algn="l">
              <a:lnSpc>
                <a:spcPct val="100000"/>
              </a:lnSpc>
              <a:spcBef>
                <a:spcPts val="0"/>
              </a:spcBef>
              <a:spcAft>
                <a:spcPts val="0"/>
              </a:spcAft>
              <a:buNone/>
            </a:pPr>
            <a:r>
              <a:rPr b="1" lang="en-GB"/>
              <a:t>Disclaimer about ranking with entity annotations</a:t>
            </a:r>
            <a:endParaRPr/>
          </a:p>
          <a:p>
            <a:pPr indent="0" lvl="0" marL="0" rtl="0" algn="l">
              <a:lnSpc>
                <a:spcPct val="100000"/>
              </a:lnSpc>
              <a:spcBef>
                <a:spcPts val="0"/>
              </a:spcBef>
              <a:spcAft>
                <a:spcPts val="0"/>
              </a:spcAft>
              <a:buNone/>
            </a:pPr>
            <a:r>
              <a:rPr lang="en-GB" sz="1400"/>
              <a:t>The question whether open domain entity linking (annotating documents and queries with their entity mentions) can really help improve the retrieval system’s effectiveness is still an open one. Especially in domain-specific settings, entity annotations are also useful on their own, e.g., to continue browsing from the search results, or to explain inferred relevance.</a:t>
            </a:r>
            <a:endParaRPr sz="1600"/>
          </a:p>
        </p:txBody>
      </p:sp>
      <p:sp>
        <p:nvSpPr>
          <p:cNvPr id="1319" name="Google Shape;1319;p1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n-GB"/>
              <a:t>Neuro Symbolic Computing</a:t>
            </a:r>
            <a:endParaRPr b="1"/>
          </a:p>
        </p:txBody>
      </p:sp>
      <p:sp>
        <p:nvSpPr>
          <p:cNvPr id="1320" name="Google Shape;1320;p133"/>
          <p:cNvSpPr txBox="1"/>
          <p:nvPr>
            <p:ph idx="1" type="body"/>
          </p:nvPr>
        </p:nvSpPr>
        <p:spPr>
          <a:xfrm>
            <a:off x="311700" y="1152475"/>
            <a:ext cx="6279600" cy="1643400"/>
          </a:xfrm>
          <a:prstGeom prst="rect">
            <a:avLst/>
          </a:prstGeom>
          <a:solidFill>
            <a:srgbClr val="D9EAD3"/>
          </a:solidFill>
          <a:ln>
            <a:noFill/>
          </a:ln>
        </p:spPr>
        <p:txBody>
          <a:bodyPr anchorCtr="0" anchor="t" bIns="91425" lIns="91425" spcFirstLastPara="1" rIns="91425" wrap="square" tIns="91425">
            <a:normAutofit lnSpcReduction="20000"/>
          </a:bodyPr>
          <a:lstStyle/>
          <a:p>
            <a:pPr indent="0" lvl="0" marL="0" rtl="0" algn="l">
              <a:lnSpc>
                <a:spcPct val="100000"/>
              </a:lnSpc>
              <a:spcBef>
                <a:spcPts val="0"/>
              </a:spcBef>
              <a:spcAft>
                <a:spcPts val="0"/>
              </a:spcAft>
              <a:buNone/>
            </a:pPr>
            <a:r>
              <a:rPr b="1" lang="en-GB"/>
              <a:t>Neuro Symbolic Computing in ML</a:t>
            </a:r>
            <a:endParaRPr sz="1000">
              <a:solidFill>
                <a:schemeClr val="dk1"/>
              </a:solidFill>
            </a:endParaRPr>
          </a:p>
          <a:p>
            <a:pPr indent="0" lvl="0" marL="0" rtl="0" algn="l">
              <a:lnSpc>
                <a:spcPct val="100000"/>
              </a:lnSpc>
              <a:spcBef>
                <a:spcPts val="0"/>
              </a:spcBef>
              <a:spcAft>
                <a:spcPts val="0"/>
              </a:spcAft>
              <a:buNone/>
            </a:pPr>
            <a:r>
              <a:rPr lang="en-GB" sz="1400"/>
              <a:t>Neuro-symbolic computing aims at integrating two most fundamental cognitive abilities: the ability to learn from the environment, and the ability to reason from what has been learned. Neuro-symbolic machine learning aims to reconcile the advantages of robust learning in neural networks and reasoning and interpretability of symbolic representation.</a:t>
            </a:r>
            <a:endParaRPr sz="1400"/>
          </a:p>
          <a:p>
            <a:pPr indent="0" lvl="0" marL="0" rtl="0" algn="r">
              <a:lnSpc>
                <a:spcPct val="100000"/>
              </a:lnSpc>
              <a:spcBef>
                <a:spcPts val="0"/>
              </a:spcBef>
              <a:spcAft>
                <a:spcPts val="0"/>
              </a:spcAft>
              <a:buNone/>
            </a:pPr>
            <a:br>
              <a:rPr lang="en-GB" sz="1000">
                <a:solidFill>
                  <a:schemeClr val="dk1"/>
                </a:solidFill>
              </a:rPr>
            </a:br>
            <a:r>
              <a:rPr lang="en-GB" sz="1000">
                <a:solidFill>
                  <a:schemeClr val="dk1"/>
                </a:solidFill>
              </a:rPr>
              <a:t>E.g., </a:t>
            </a:r>
            <a:r>
              <a:rPr lang="en-GB" sz="1000" u="sng">
                <a:solidFill>
                  <a:schemeClr val="hlink"/>
                </a:solidFill>
                <a:hlinkClick r:id="rId3"/>
              </a:rPr>
              <a:t>International Conference on Neurosymbolic Learning and Reasoning (NeSy)</a:t>
            </a:r>
            <a:r>
              <a:rPr lang="en-GB" sz="1000">
                <a:solidFill>
                  <a:schemeClr val="dk1"/>
                </a:solidFill>
              </a:rPr>
              <a:t>, since 2005. </a:t>
            </a:r>
            <a:endParaRPr sz="1600"/>
          </a:p>
        </p:txBody>
      </p:sp>
      <p:sp>
        <p:nvSpPr>
          <p:cNvPr id="1321" name="Google Shape;1321;p133"/>
          <p:cNvSpPr txBox="1"/>
          <p:nvPr>
            <p:ph idx="1" type="body"/>
          </p:nvPr>
        </p:nvSpPr>
        <p:spPr>
          <a:xfrm>
            <a:off x="311700" y="2897400"/>
            <a:ext cx="6279600" cy="834300"/>
          </a:xfrm>
          <a:prstGeom prst="rect">
            <a:avLst/>
          </a:prstGeom>
          <a:solidFill>
            <a:srgbClr val="FFF2CC"/>
          </a:solidFill>
          <a:ln>
            <a:noFill/>
          </a:ln>
        </p:spPr>
        <p:txBody>
          <a:bodyPr anchorCtr="0" anchor="t" bIns="91425" lIns="91425" spcFirstLastPara="1" rIns="91425" wrap="square" tIns="91425">
            <a:normAutofit fontScale="92500" lnSpcReduction="10000"/>
          </a:bodyPr>
          <a:lstStyle/>
          <a:p>
            <a:pPr indent="0" lvl="0" marL="0" rtl="0" algn="l">
              <a:lnSpc>
                <a:spcPct val="100000"/>
              </a:lnSpc>
              <a:spcBef>
                <a:spcPts val="0"/>
              </a:spcBef>
              <a:spcAft>
                <a:spcPts val="0"/>
              </a:spcAft>
              <a:buNone/>
            </a:pPr>
            <a:r>
              <a:rPr b="1" lang="en-GB"/>
              <a:t>Neuro Symbolic Computing in IR</a:t>
            </a:r>
            <a:endParaRPr/>
          </a:p>
          <a:p>
            <a:pPr indent="0" lvl="0" marL="0" rtl="0" algn="l">
              <a:lnSpc>
                <a:spcPct val="100000"/>
              </a:lnSpc>
              <a:spcBef>
                <a:spcPts val="0"/>
              </a:spcBef>
              <a:spcAft>
                <a:spcPts val="0"/>
              </a:spcAft>
              <a:buNone/>
            </a:pPr>
            <a:r>
              <a:rPr lang="en-GB" sz="1600"/>
              <a:t>The primary application area for neuro symbolic methods in modern IR has been aimed at integrating knowledge graphs in (dense) retrieval.</a:t>
            </a:r>
            <a:endParaRPr sz="16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1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2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1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5" name="Shape 1325"/>
        <p:cNvGrpSpPr/>
        <p:nvPr/>
      </p:nvGrpSpPr>
      <p:grpSpPr>
        <a:xfrm>
          <a:off x="0" y="0"/>
          <a:ext cx="0" cy="0"/>
          <a:chOff x="0" y="0"/>
          <a:chExt cx="0" cy="0"/>
        </a:xfrm>
      </p:grpSpPr>
      <p:sp>
        <p:nvSpPr>
          <p:cNvPr id="1326" name="Google Shape;1326;p13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n-GB"/>
              <a:t>Knowledge Graphs (KGs) and LLMs</a:t>
            </a:r>
            <a:endParaRPr b="1"/>
          </a:p>
        </p:txBody>
      </p:sp>
      <p:pic>
        <p:nvPicPr>
          <p:cNvPr id="1327" name="Google Shape;1327;p134"/>
          <p:cNvPicPr preferRelativeResize="0"/>
          <p:nvPr/>
        </p:nvPicPr>
        <p:blipFill>
          <a:blip r:embed="rId3">
            <a:alphaModFix/>
          </a:blip>
          <a:stretch>
            <a:fillRect/>
          </a:stretch>
        </p:blipFill>
        <p:spPr>
          <a:xfrm>
            <a:off x="152400" y="1837084"/>
            <a:ext cx="8839200" cy="2299173"/>
          </a:xfrm>
          <a:prstGeom prst="rect">
            <a:avLst/>
          </a:prstGeom>
          <a:noFill/>
          <a:ln>
            <a:noFill/>
          </a:ln>
        </p:spPr>
      </p:pic>
      <p:sp>
        <p:nvSpPr>
          <p:cNvPr id="1328" name="Google Shape;1328;p134"/>
          <p:cNvSpPr txBox="1"/>
          <p:nvPr/>
        </p:nvSpPr>
        <p:spPr>
          <a:xfrm>
            <a:off x="14000" y="4650275"/>
            <a:ext cx="9144000" cy="354000"/>
          </a:xfrm>
          <a:prstGeom prst="rect">
            <a:avLst/>
          </a:prstGeom>
          <a:noFill/>
          <a:ln>
            <a:noFill/>
          </a:ln>
        </p:spPr>
        <p:txBody>
          <a:bodyPr anchorCtr="0" anchor="t" bIns="91425" lIns="91425" spcFirstLastPara="1" rIns="91425" wrap="square" tIns="91425">
            <a:spAutoFit/>
          </a:bodyPr>
          <a:lstStyle/>
          <a:p>
            <a:pPr indent="0" lvl="0" marL="457200" rtl="0" algn="ctr">
              <a:lnSpc>
                <a:spcPct val="115000"/>
              </a:lnSpc>
              <a:spcBef>
                <a:spcPts val="0"/>
              </a:spcBef>
              <a:spcAft>
                <a:spcPts val="0"/>
              </a:spcAft>
              <a:buNone/>
            </a:pPr>
            <a:r>
              <a:rPr lang="en-GB" sz="1000">
                <a:solidFill>
                  <a:schemeClr val="dk1"/>
                </a:solidFill>
              </a:rPr>
              <a:t>Pan et al., “Unifying Large Language Models and Knowledge Graphs: A Roadmap”, </a:t>
            </a:r>
            <a:r>
              <a:rPr lang="en-GB" sz="1100">
                <a:solidFill>
                  <a:schemeClr val="dk1"/>
                </a:solidFill>
              </a:rPr>
              <a:t>IEEE TKDE 36(7):3580-3599, 2024.</a:t>
            </a:r>
            <a:endParaRPr sz="1800">
              <a:solidFill>
                <a:schemeClr val="dk2"/>
              </a:solidFill>
            </a:endParaRPr>
          </a:p>
        </p:txBody>
      </p:sp>
      <p:sp>
        <p:nvSpPr>
          <p:cNvPr id="1329" name="Google Shape;1329;p134"/>
          <p:cNvSpPr/>
          <p:nvPr/>
        </p:nvSpPr>
        <p:spPr>
          <a:xfrm>
            <a:off x="3139875" y="1736275"/>
            <a:ext cx="2994300" cy="24000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30" name="Google Shape;1330;p134"/>
          <p:cNvSpPr/>
          <p:nvPr/>
        </p:nvSpPr>
        <p:spPr>
          <a:xfrm>
            <a:off x="6229075" y="1774300"/>
            <a:ext cx="2603100" cy="23619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1000"/>
                                        <p:tgtEl>
                                          <p:spTgt spid="1329"/>
                                        </p:tgtEl>
                                      </p:cBhvr>
                                    </p:animEffect>
                                    <p:set>
                                      <p:cBhvr>
                                        <p:cTn dur="1" fill="hold">
                                          <p:stCondLst>
                                            <p:cond delay="1000"/>
                                          </p:stCondLst>
                                        </p:cTn>
                                        <p:tgtEl>
                                          <p:spTgt spid="1329"/>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1000"/>
                                        <p:tgtEl>
                                          <p:spTgt spid="1330"/>
                                        </p:tgtEl>
                                      </p:cBhvr>
                                    </p:animEffect>
                                    <p:set>
                                      <p:cBhvr>
                                        <p:cTn dur="1" fill="hold">
                                          <p:stCondLst>
                                            <p:cond delay="1000"/>
                                          </p:stCondLst>
                                        </p:cTn>
                                        <p:tgtEl>
                                          <p:spTgt spid="1330"/>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4" name="Shape 1334"/>
        <p:cNvGrpSpPr/>
        <p:nvPr/>
      </p:nvGrpSpPr>
      <p:grpSpPr>
        <a:xfrm>
          <a:off x="0" y="0"/>
          <a:ext cx="0" cy="0"/>
          <a:chOff x="0" y="0"/>
          <a:chExt cx="0" cy="0"/>
        </a:xfrm>
      </p:grpSpPr>
      <p:pic>
        <p:nvPicPr>
          <p:cNvPr id="1335" name="Google Shape;1335;p135"/>
          <p:cNvPicPr preferRelativeResize="0"/>
          <p:nvPr/>
        </p:nvPicPr>
        <p:blipFill>
          <a:blip r:embed="rId3">
            <a:alphaModFix/>
          </a:blip>
          <a:stretch>
            <a:fillRect/>
          </a:stretch>
        </p:blipFill>
        <p:spPr>
          <a:xfrm>
            <a:off x="3387561" y="0"/>
            <a:ext cx="5756448" cy="5143500"/>
          </a:xfrm>
          <a:prstGeom prst="rect">
            <a:avLst/>
          </a:prstGeom>
          <a:noFill/>
          <a:ln>
            <a:noFill/>
          </a:ln>
        </p:spPr>
      </p:pic>
      <p:sp>
        <p:nvSpPr>
          <p:cNvPr id="1336" name="Google Shape;1336;p135"/>
          <p:cNvSpPr txBox="1"/>
          <p:nvPr>
            <p:ph idx="4294967295" type="title"/>
          </p:nvPr>
        </p:nvSpPr>
        <p:spPr>
          <a:xfrm>
            <a:off x="311700" y="7198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GB"/>
              <a:t>KGs and LLMs</a:t>
            </a:r>
            <a:endParaRPr b="1"/>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0" name="Shape 1340"/>
        <p:cNvGrpSpPr/>
        <p:nvPr/>
      </p:nvGrpSpPr>
      <p:grpSpPr>
        <a:xfrm>
          <a:off x="0" y="0"/>
          <a:ext cx="0" cy="0"/>
          <a:chOff x="0" y="0"/>
          <a:chExt cx="0" cy="0"/>
        </a:xfrm>
      </p:grpSpPr>
      <p:pic>
        <p:nvPicPr>
          <p:cNvPr id="1341" name="Google Shape;1341;p136"/>
          <p:cNvPicPr preferRelativeResize="0"/>
          <p:nvPr/>
        </p:nvPicPr>
        <p:blipFill>
          <a:blip r:embed="rId3">
            <a:alphaModFix/>
          </a:blip>
          <a:stretch>
            <a:fillRect/>
          </a:stretch>
        </p:blipFill>
        <p:spPr>
          <a:xfrm>
            <a:off x="1581321" y="-45225"/>
            <a:ext cx="7562680" cy="5143500"/>
          </a:xfrm>
          <a:prstGeom prst="rect">
            <a:avLst/>
          </a:prstGeom>
          <a:noFill/>
          <a:ln>
            <a:noFill/>
          </a:ln>
        </p:spPr>
      </p:pic>
      <p:sp>
        <p:nvSpPr>
          <p:cNvPr id="1342" name="Google Shape;1342;p136"/>
          <p:cNvSpPr txBox="1"/>
          <p:nvPr>
            <p:ph type="title"/>
          </p:nvPr>
        </p:nvSpPr>
        <p:spPr>
          <a:xfrm>
            <a:off x="311700" y="7198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GB"/>
              <a:t>KGs and LLMs</a:t>
            </a:r>
            <a:endParaRPr b="1"/>
          </a:p>
        </p:txBody>
      </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6" name="Shape 1346"/>
        <p:cNvGrpSpPr/>
        <p:nvPr/>
      </p:nvGrpSpPr>
      <p:grpSpPr>
        <a:xfrm>
          <a:off x="0" y="0"/>
          <a:ext cx="0" cy="0"/>
          <a:chOff x="0" y="0"/>
          <a:chExt cx="0" cy="0"/>
        </a:xfrm>
      </p:grpSpPr>
      <p:sp>
        <p:nvSpPr>
          <p:cNvPr id="1347" name="Google Shape;1347;p13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n-GB"/>
              <a:t>Information Retrieval and Logic</a:t>
            </a:r>
            <a:endParaRPr b="1"/>
          </a:p>
        </p:txBody>
      </p:sp>
      <p:sp>
        <p:nvSpPr>
          <p:cNvPr id="1348" name="Google Shape;1348;p13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GB"/>
              <a:t>In 1986, two papers by Keith van Rijsbergen initiated quite a movement aiming to develop retrieval models grounded in (non-classical) logic, using </a:t>
            </a:r>
            <a:r>
              <a:rPr b="1" lang="en-GB"/>
              <a:t>plausible inference</a:t>
            </a:r>
            <a:r>
              <a:rPr lang="en-GB"/>
              <a:t> instead of a strict inference.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2" name="Shape 1352"/>
        <p:cNvGrpSpPr/>
        <p:nvPr/>
      </p:nvGrpSpPr>
      <p:grpSpPr>
        <a:xfrm>
          <a:off x="0" y="0"/>
          <a:ext cx="0" cy="0"/>
          <a:chOff x="0" y="0"/>
          <a:chExt cx="0" cy="0"/>
        </a:xfrm>
      </p:grpSpPr>
      <p:pic>
        <p:nvPicPr>
          <p:cNvPr id="1353" name="Google Shape;1353;p138"/>
          <p:cNvPicPr preferRelativeResize="0"/>
          <p:nvPr/>
        </p:nvPicPr>
        <p:blipFill>
          <a:blip r:embed="rId3">
            <a:alphaModFix/>
          </a:blip>
          <a:stretch>
            <a:fillRect/>
          </a:stretch>
        </p:blipFill>
        <p:spPr>
          <a:xfrm>
            <a:off x="152400" y="913939"/>
            <a:ext cx="8839199" cy="3315623"/>
          </a:xfrm>
          <a:prstGeom prst="rect">
            <a:avLst/>
          </a:prstGeom>
          <a:noFill/>
          <a:ln>
            <a:noFill/>
          </a:ln>
        </p:spPr>
      </p:pic>
      <p:sp>
        <p:nvSpPr>
          <p:cNvPr id="1354" name="Google Shape;1354;p138"/>
          <p:cNvSpPr/>
          <p:nvPr/>
        </p:nvSpPr>
        <p:spPr>
          <a:xfrm>
            <a:off x="164750" y="2249575"/>
            <a:ext cx="8640300" cy="427800"/>
          </a:xfrm>
          <a:prstGeom prst="rect">
            <a:avLst/>
          </a:prstGeom>
          <a:noFill/>
          <a:ln cap="flat" cmpd="sng" w="38100">
            <a:solidFill>
              <a:srgbClr val="0C5AD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55" name="Google Shape;1355;p138"/>
          <p:cNvSpPr/>
          <p:nvPr/>
        </p:nvSpPr>
        <p:spPr>
          <a:xfrm>
            <a:off x="902425" y="3893750"/>
            <a:ext cx="2444700" cy="335700"/>
          </a:xfrm>
          <a:prstGeom prst="rect">
            <a:avLst/>
          </a:prstGeom>
          <a:noFill/>
          <a:ln cap="flat" cmpd="sng" w="38100">
            <a:solidFill>
              <a:srgbClr val="0C5AD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9" name="Shape 1359"/>
        <p:cNvGrpSpPr/>
        <p:nvPr/>
      </p:nvGrpSpPr>
      <p:grpSpPr>
        <a:xfrm>
          <a:off x="0" y="0"/>
          <a:ext cx="0" cy="0"/>
          <a:chOff x="0" y="0"/>
          <a:chExt cx="0" cy="0"/>
        </a:xfrm>
      </p:grpSpPr>
      <p:sp>
        <p:nvSpPr>
          <p:cNvPr id="1360" name="Google Shape;1360;p13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n-GB"/>
              <a:t>Information Retrieval and Logic</a:t>
            </a:r>
            <a:endParaRPr b="1"/>
          </a:p>
        </p:txBody>
      </p:sp>
      <p:sp>
        <p:nvSpPr>
          <p:cNvPr id="1361" name="Google Shape;1361;p13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In 1986, two papers by Keith van Rijsbergen initiated quite a movement aiming to develop retrieval models grounded in (non-classical) logic, using </a:t>
            </a:r>
            <a:r>
              <a:rPr b="1" lang="en-GB"/>
              <a:t>plausible inference</a:t>
            </a:r>
            <a:r>
              <a:rPr lang="en-GB"/>
              <a:t> instead of a strict inference.</a:t>
            </a:r>
            <a:endParaRPr/>
          </a:p>
          <a:p>
            <a:pPr indent="0" lvl="0" marL="0" rtl="0" algn="l">
              <a:spcBef>
                <a:spcPts val="1200"/>
              </a:spcBef>
              <a:spcAft>
                <a:spcPts val="1200"/>
              </a:spcAft>
              <a:buNone/>
            </a:pPr>
            <a:r>
              <a:rPr lang="en-GB"/>
              <a:t>An extra benefit of such a new theory for information retrieval would be that its formalization using, e.g., situation theory (Huibers et al., 1996) could also serve as a meta-theory for IR; a theory that could help decide questions as whether a retrieval model should be non-monotonic (i.e., relevance estimates may change upon the availability of new information). </a:t>
            </a:r>
            <a:endParaRPr/>
          </a:p>
        </p:txBody>
      </p:sp>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5" name="Shape 1365"/>
        <p:cNvGrpSpPr/>
        <p:nvPr/>
      </p:nvGrpSpPr>
      <p:grpSpPr>
        <a:xfrm>
          <a:off x="0" y="0"/>
          <a:ext cx="0" cy="0"/>
          <a:chOff x="0" y="0"/>
          <a:chExt cx="0" cy="0"/>
        </a:xfrm>
      </p:grpSpPr>
      <p:sp>
        <p:nvSpPr>
          <p:cNvPr id="1366" name="Google Shape;1366;p14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n-GB"/>
              <a:t>Why logic for IR?</a:t>
            </a:r>
            <a:endParaRPr b="1"/>
          </a:p>
        </p:txBody>
      </p:sp>
      <p:sp>
        <p:nvSpPr>
          <p:cNvPr id="1367" name="Google Shape;1367;p14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Consider two users with different ideas of relevance but submitting the same request; they should get different probabilities of relevance. </a:t>
            </a:r>
            <a:endParaRPr/>
          </a:p>
          <a:p>
            <a:pPr indent="0" lvl="0" marL="0" rtl="0" algn="l">
              <a:spcBef>
                <a:spcPts val="1200"/>
              </a:spcBef>
              <a:spcAft>
                <a:spcPts val="0"/>
              </a:spcAft>
              <a:buNone/>
            </a:pPr>
            <a:r>
              <a:rPr lang="en-GB"/>
              <a:t>Van Rijsbergen (1986) proposes to separate the logical implication s → q from the measure of its uncertainty, P(s → q)</a:t>
            </a:r>
            <a:endParaRPr/>
          </a:p>
          <a:p>
            <a:pPr indent="-342900" lvl="0" marL="457200" rtl="0" algn="l">
              <a:spcBef>
                <a:spcPts val="1200"/>
              </a:spcBef>
              <a:spcAft>
                <a:spcPts val="0"/>
              </a:spcAft>
              <a:buSzPts val="1800"/>
              <a:buChar char="●"/>
            </a:pPr>
            <a:r>
              <a:rPr lang="en-GB"/>
              <a:t>separating the process of revising probabilities from the logic, and </a:t>
            </a:r>
            <a:endParaRPr/>
          </a:p>
          <a:p>
            <a:pPr indent="-342900" lvl="0" marL="457200" rtl="0" algn="l">
              <a:spcBef>
                <a:spcPts val="0"/>
              </a:spcBef>
              <a:spcAft>
                <a:spcPts val="0"/>
              </a:spcAft>
              <a:buSzPts val="1800"/>
              <a:buChar char="●"/>
            </a:pPr>
            <a:r>
              <a:rPr lang="en-GB"/>
              <a:t>separating the treatment of relevance from the treatment of documents and request.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6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6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6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67">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1" name="Shape 1371"/>
        <p:cNvGrpSpPr/>
        <p:nvPr/>
      </p:nvGrpSpPr>
      <p:grpSpPr>
        <a:xfrm>
          <a:off x="0" y="0"/>
          <a:ext cx="0" cy="0"/>
          <a:chOff x="0" y="0"/>
          <a:chExt cx="0" cy="0"/>
        </a:xfrm>
      </p:grpSpPr>
      <p:sp>
        <p:nvSpPr>
          <p:cNvPr id="1372" name="Google Shape;1372;p14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n-GB"/>
              <a:t>Why logic for IR?</a:t>
            </a:r>
            <a:endParaRPr b="1"/>
          </a:p>
        </p:txBody>
      </p:sp>
      <p:sp>
        <p:nvSpPr>
          <p:cNvPr id="1373" name="Google Shape;1373;p14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Chiaramella and Chevallet (1992) argue that:</a:t>
            </a:r>
            <a:endParaRPr/>
          </a:p>
          <a:p>
            <a:pPr indent="0" lvl="0" marL="457200" rtl="0" algn="l">
              <a:spcBef>
                <a:spcPts val="1200"/>
              </a:spcBef>
              <a:spcAft>
                <a:spcPts val="0"/>
              </a:spcAft>
              <a:buNone/>
            </a:pPr>
            <a:r>
              <a:rPr lang="en-GB"/>
              <a:t>“The logic model thus shows in a neat way how knowledge bases could be used while processing queries.”</a:t>
            </a:r>
            <a:endParaRPr/>
          </a:p>
          <a:p>
            <a:pPr indent="0" lvl="0" marL="457200" rtl="0" algn="l">
              <a:spcBef>
                <a:spcPts val="1200"/>
              </a:spcBef>
              <a:spcAft>
                <a:spcPts val="1200"/>
              </a:spcAft>
              <a:buNone/>
            </a:pPr>
            <a:r>
              <a:rPr lang="en-GB"/>
              <a:t>“This intrinsic power of logic is the best available way for the integration of recent approaches such as AI and NLP within a coherent, controllable, framework.”</a:t>
            </a:r>
            <a:endParaRPr/>
          </a:p>
        </p:txBody>
      </p:sp>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7" name="Shape 1377"/>
        <p:cNvGrpSpPr/>
        <p:nvPr/>
      </p:nvGrpSpPr>
      <p:grpSpPr>
        <a:xfrm>
          <a:off x="0" y="0"/>
          <a:ext cx="0" cy="0"/>
          <a:chOff x="0" y="0"/>
          <a:chExt cx="0" cy="0"/>
        </a:xfrm>
      </p:grpSpPr>
      <p:sp>
        <p:nvSpPr>
          <p:cNvPr id="1378" name="Google Shape;1378;p14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n-GB"/>
              <a:t>Why logic for IR?</a:t>
            </a:r>
            <a:endParaRPr b="1"/>
          </a:p>
        </p:txBody>
      </p:sp>
      <p:sp>
        <p:nvSpPr>
          <p:cNvPr id="1379" name="Google Shape;1379;p14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Fuhr (2000) introduces a combination of Datalog with probability theory, writing:</a:t>
            </a:r>
            <a:endParaRPr/>
          </a:p>
          <a:p>
            <a:pPr indent="0" lvl="0" marL="457200" rtl="0" algn="l">
              <a:spcBef>
                <a:spcPts val="1200"/>
              </a:spcBef>
              <a:spcAft>
                <a:spcPts val="1200"/>
              </a:spcAft>
              <a:buNone/>
            </a:pPr>
            <a:r>
              <a:rPr lang="en-GB"/>
              <a:t>“This approach allows for easy formulation of specific retrieval models for arbitrary applications, and classical probabilistic IR models can be implemented by specifying the appropriate rules. In comparison to other approaches, the possibility of recursive rules allows for </a:t>
            </a:r>
            <a:r>
              <a:rPr b="1" lang="en-GB"/>
              <a:t>more powerful inferences</a:t>
            </a:r>
            <a:r>
              <a:rPr lang="en-GB"/>
              <a:t>, and predicate logic gives the </a:t>
            </a:r>
            <a:r>
              <a:rPr b="1" lang="en-GB"/>
              <a:t>expressiveness required for multimedia retrieval</a:t>
            </a:r>
            <a:r>
              <a:rPr lang="en-GB"/>
              <a:t>. Furthermore, probabilistic Datalog can be used as a query language for</a:t>
            </a:r>
            <a:r>
              <a:rPr b="1" lang="en-GB"/>
              <a:t> integrated information retrieval and database systems</a:t>
            </a:r>
            <a:r>
              <a:rPr lang="en-GB"/>
              <a:t>.”</a:t>
            </a:r>
            <a:endParaRPr/>
          </a:p>
        </p:txBody>
      </p:sp>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3" name="Shape 1383"/>
        <p:cNvGrpSpPr/>
        <p:nvPr/>
      </p:nvGrpSpPr>
      <p:grpSpPr>
        <a:xfrm>
          <a:off x="0" y="0"/>
          <a:ext cx="0" cy="0"/>
          <a:chOff x="0" y="0"/>
          <a:chExt cx="0" cy="0"/>
        </a:xfrm>
      </p:grpSpPr>
      <p:sp>
        <p:nvSpPr>
          <p:cNvPr id="1384" name="Google Shape;1384;p14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n-GB"/>
              <a:t>More grip on “relevance”?</a:t>
            </a:r>
            <a:endParaRPr b="1"/>
          </a:p>
        </p:txBody>
      </p:sp>
      <p:sp>
        <p:nvSpPr>
          <p:cNvPr id="1385" name="Google Shape;1385;p14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Different relevance criteria:</a:t>
            </a:r>
            <a:endParaRPr/>
          </a:p>
          <a:p>
            <a:pPr indent="-342900" lvl="0" marL="457200" rtl="0" algn="l">
              <a:spcBef>
                <a:spcPts val="1200"/>
              </a:spcBef>
              <a:spcAft>
                <a:spcPts val="0"/>
              </a:spcAft>
              <a:buSzPts val="1800"/>
              <a:buChar char="●"/>
            </a:pPr>
            <a:r>
              <a:rPr lang="en-GB"/>
              <a:t>Topicality: the classic question of </a:t>
            </a:r>
            <a:r>
              <a:rPr b="1" lang="en-GB"/>
              <a:t>aboutness</a:t>
            </a:r>
            <a:endParaRPr b="1"/>
          </a:p>
          <a:p>
            <a:pPr indent="-342900" lvl="0" marL="457200" rtl="0" algn="l">
              <a:spcBef>
                <a:spcPts val="0"/>
              </a:spcBef>
              <a:spcAft>
                <a:spcPts val="0"/>
              </a:spcAft>
              <a:buSzPts val="1800"/>
              <a:buChar char="●"/>
            </a:pPr>
            <a:r>
              <a:rPr lang="en-GB"/>
              <a:t>Readability: can I understand the text?</a:t>
            </a:r>
            <a:endParaRPr/>
          </a:p>
          <a:p>
            <a:pPr indent="-342900" lvl="0" marL="457200" rtl="0" algn="l">
              <a:spcBef>
                <a:spcPts val="0"/>
              </a:spcBef>
              <a:spcAft>
                <a:spcPts val="0"/>
              </a:spcAft>
              <a:buSzPts val="1800"/>
              <a:buChar char="●"/>
            </a:pPr>
            <a:r>
              <a:rPr lang="en-GB"/>
              <a:t>Authoritativeness: can I trust the text?</a:t>
            </a:r>
            <a:endParaRPr/>
          </a:p>
          <a:p>
            <a:pPr indent="-342900" lvl="0" marL="457200" rtl="0" algn="l">
              <a:spcBef>
                <a:spcPts val="0"/>
              </a:spcBef>
              <a:spcAft>
                <a:spcPts val="0"/>
              </a:spcAft>
              <a:buSzPts val="1800"/>
              <a:buChar char="●"/>
            </a:pPr>
            <a:r>
              <a:rPr lang="en-GB"/>
              <a:t>Child-suitability, timeliness, </a:t>
            </a:r>
            <a:r>
              <a:rPr i="1" lang="en-GB"/>
              <a:t>etc</a:t>
            </a:r>
            <a:endParaRPr i="1"/>
          </a:p>
          <a:p>
            <a:pPr indent="0" lvl="0" marL="0" rtl="0" algn="l">
              <a:spcBef>
                <a:spcPts val="1200"/>
              </a:spcBef>
              <a:spcAft>
                <a:spcPts val="1200"/>
              </a:spcAft>
              <a:buNone/>
            </a:pPr>
            <a:r>
              <a:rPr i="1" lang="en-GB"/>
              <a:t>A logical model for IR (e.g., specified as a probabilistic datalog program) would allow us to express the relevance criteria directly in the retrieval model, instead of handling these separately.</a:t>
            </a:r>
            <a:endParaRPr i="1"/>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5">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5">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9" name="Shape 1389"/>
        <p:cNvGrpSpPr/>
        <p:nvPr/>
      </p:nvGrpSpPr>
      <p:grpSpPr>
        <a:xfrm>
          <a:off x="0" y="0"/>
          <a:ext cx="0" cy="0"/>
          <a:chOff x="0" y="0"/>
          <a:chExt cx="0" cy="0"/>
        </a:xfrm>
      </p:grpSpPr>
      <p:sp>
        <p:nvSpPr>
          <p:cNvPr id="1390" name="Google Shape;1390;p14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GB"/>
              <a:t>More grip on “relevance”?</a:t>
            </a:r>
            <a:endParaRPr b="1"/>
          </a:p>
        </p:txBody>
      </p:sp>
      <p:sp>
        <p:nvSpPr>
          <p:cNvPr id="1391" name="Google Shape;1391;p14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Inherently dependent on user, task, context.</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1200"/>
              </a:spcAft>
              <a:buClr>
                <a:schemeClr val="dk1"/>
              </a:buClr>
              <a:buSzPts val="1100"/>
              <a:buFont typeface="Arial"/>
              <a:buNone/>
            </a:pPr>
            <a:r>
              <a:rPr lang="en-GB"/>
              <a:t>With “agentic search” (White, 2024), more of task and context will become part of the “search” than before, not less!</a:t>
            </a:r>
            <a:endParaRPr/>
          </a:p>
        </p:txBody>
      </p:sp>
      <p:pic>
        <p:nvPicPr>
          <p:cNvPr id="1392" name="Google Shape;1392;p144"/>
          <p:cNvPicPr preferRelativeResize="0"/>
          <p:nvPr/>
        </p:nvPicPr>
        <p:blipFill>
          <a:blip r:embed="rId3">
            <a:alphaModFix/>
          </a:blip>
          <a:stretch>
            <a:fillRect/>
          </a:stretch>
        </p:blipFill>
        <p:spPr>
          <a:xfrm>
            <a:off x="1233450" y="1619988"/>
            <a:ext cx="6261600" cy="1903525"/>
          </a:xfrm>
          <a:prstGeom prst="rect">
            <a:avLst/>
          </a:prstGeom>
          <a:noFill/>
          <a:ln>
            <a:noFill/>
          </a:ln>
        </p:spPr>
      </p:pic>
      <p:sp>
        <p:nvSpPr>
          <p:cNvPr id="1393" name="Google Shape;1393;p144"/>
          <p:cNvSpPr/>
          <p:nvPr/>
        </p:nvSpPr>
        <p:spPr>
          <a:xfrm>
            <a:off x="5316575" y="279875"/>
            <a:ext cx="3327000" cy="903000"/>
          </a:xfrm>
          <a:prstGeom prst="cloudCallout">
            <a:avLst>
              <a:gd fmla="val -28572" name="adj1"/>
              <a:gd fmla="val 98654"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t>Really, user goals in natural language only?</a:t>
            </a:r>
            <a:endParaRPr/>
          </a:p>
        </p:txBody>
      </p:sp>
      <p:sp>
        <p:nvSpPr>
          <p:cNvPr id="1394" name="Google Shape;1394;p144"/>
          <p:cNvSpPr txBox="1"/>
          <p:nvPr>
            <p:ph idx="1" type="body"/>
          </p:nvPr>
        </p:nvSpPr>
        <p:spPr>
          <a:xfrm>
            <a:off x="340216" y="3513758"/>
            <a:ext cx="8520600" cy="979200"/>
          </a:xfrm>
          <a:prstGeom prst="rect">
            <a:avLst/>
          </a:prstGeom>
        </p:spPr>
        <p:txBody>
          <a:bodyPr anchorCtr="0" anchor="t" bIns="91425" lIns="91425" spcFirstLastPara="1" rIns="91425" wrap="square" tIns="91425">
            <a:noAutofit/>
          </a:bodyPr>
          <a:lstStyle/>
          <a:p>
            <a:pPr indent="0" lvl="0" marL="0" rtl="0" algn="l">
              <a:lnSpc>
                <a:spcPct val="105000"/>
              </a:lnSpc>
              <a:spcBef>
                <a:spcPts val="0"/>
              </a:spcBef>
              <a:spcAft>
                <a:spcPts val="1200"/>
              </a:spcAft>
              <a:buSzPts val="1018"/>
              <a:buNone/>
            </a:pPr>
            <a:br>
              <a:rPr lang="en-GB"/>
            </a:br>
            <a:r>
              <a:rPr lang="en-GB"/>
              <a:t>                                                      Defining the expected result precisely will be crucial input to drive “search agents” and assess success or failure of intermediate steps.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9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9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9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91">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91">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91">
                                            <p:txEl>
                                              <p:pRg end="5" st="5"/>
                                            </p:txEl>
                                          </p:spTgt>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9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9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9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8" name="Shape 1398"/>
        <p:cNvGrpSpPr/>
        <p:nvPr/>
      </p:nvGrpSpPr>
      <p:grpSpPr>
        <a:xfrm>
          <a:off x="0" y="0"/>
          <a:ext cx="0" cy="0"/>
          <a:chOff x="0" y="0"/>
          <a:chExt cx="0" cy="0"/>
        </a:xfrm>
      </p:grpSpPr>
      <p:sp>
        <p:nvSpPr>
          <p:cNvPr id="1399" name="Google Shape;1399;p14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n-GB"/>
              <a:t>Abductive Reasoning</a:t>
            </a:r>
            <a:endParaRPr b="1"/>
          </a:p>
        </p:txBody>
      </p:sp>
      <p:sp>
        <p:nvSpPr>
          <p:cNvPr id="1400" name="Google Shape;1400;p145"/>
          <p:cNvSpPr txBox="1"/>
          <p:nvPr>
            <p:ph idx="1" type="body"/>
          </p:nvPr>
        </p:nvSpPr>
        <p:spPr>
          <a:xfrm>
            <a:off x="311700" y="1152475"/>
            <a:ext cx="8520600" cy="313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A logical framework could enable a new type of reasoning </a:t>
            </a:r>
            <a:r>
              <a:rPr lang="en-GB"/>
              <a:t>to assess relevance, different </a:t>
            </a:r>
            <a:r>
              <a:rPr lang="en-GB"/>
              <a:t>from classic deduction (databases) and inference (classic IR), known as abduction (the </a:t>
            </a:r>
            <a:r>
              <a:rPr lang="en-GB" u="sng">
                <a:solidFill>
                  <a:schemeClr val="accent5"/>
                </a:solidFill>
                <a:hlinkClick r:id="rId3">
                  <a:extLst>
                    <a:ext uri="{A12FA001-AC4F-418D-AE19-62706E023703}">
                      <ahyp:hlinkClr val="tx"/>
                    </a:ext>
                  </a:extLst>
                </a:hlinkClick>
              </a:rPr>
              <a:t>“Sherlock Holmes Solving Methodology”</a:t>
            </a:r>
            <a:r>
              <a:rPr lang="en-GB"/>
              <a:t>)</a:t>
            </a:r>
            <a:r>
              <a:rPr lang="en-GB"/>
              <a:t>.</a:t>
            </a:r>
            <a:endParaRPr/>
          </a:p>
          <a:p>
            <a:pPr indent="0" lvl="0" marL="0" rtl="0" algn="l">
              <a:spcBef>
                <a:spcPts val="1200"/>
              </a:spcBef>
              <a:spcAft>
                <a:spcPts val="0"/>
              </a:spcAft>
              <a:buNone/>
            </a:pPr>
            <a:r>
              <a:rPr lang="en-GB"/>
              <a:t>Abductive reasoning may be more appropriate in the context of incomplete knowledge, that is inherent to all “true” information retrieval tasks (beyond Q&amp;A).</a:t>
            </a:r>
            <a:endParaRPr/>
          </a:p>
          <a:p>
            <a:pPr indent="0" lvl="0" marL="0" rtl="0" algn="l">
              <a:spcBef>
                <a:spcPts val="1200"/>
              </a:spcBef>
              <a:spcAft>
                <a:spcPts val="1200"/>
              </a:spcAft>
              <a:buNone/>
            </a:pPr>
            <a:r>
              <a:rPr lang="en-GB"/>
              <a:t>E.g., p</a:t>
            </a:r>
            <a:r>
              <a:rPr lang="en-GB"/>
              <a:t>romising</a:t>
            </a:r>
            <a:r>
              <a:rPr lang="en-GB"/>
              <a:t> for modelling relevance feedback, </a:t>
            </a:r>
            <a:r>
              <a:rPr lang="en-GB"/>
              <a:t>where</a:t>
            </a:r>
            <a:r>
              <a:rPr lang="en-GB"/>
              <a:t> the reasoning process constructs</a:t>
            </a:r>
            <a:r>
              <a:rPr lang="en-GB"/>
              <a:t> an “explanation” — a descriptive representation or subset of features — that best accounts for why the user marked a subset of documents as relevant.</a:t>
            </a:r>
            <a:endParaRPr/>
          </a:p>
        </p:txBody>
      </p:sp>
      <p:sp>
        <p:nvSpPr>
          <p:cNvPr id="1401" name="Google Shape;1401;p145"/>
          <p:cNvSpPr txBox="1"/>
          <p:nvPr/>
        </p:nvSpPr>
        <p:spPr>
          <a:xfrm>
            <a:off x="311700" y="4291147"/>
            <a:ext cx="8520600" cy="646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GB" sz="1000">
                <a:solidFill>
                  <a:schemeClr val="dk2"/>
                </a:solidFill>
              </a:rPr>
              <a:t>Ian </a:t>
            </a:r>
            <a:r>
              <a:rPr lang="en-GB" sz="1000">
                <a:solidFill>
                  <a:schemeClr val="dk2"/>
                </a:solidFill>
              </a:rPr>
              <a:t>Ruthven</a:t>
            </a:r>
            <a:r>
              <a:rPr lang="en-GB" sz="1000">
                <a:solidFill>
                  <a:schemeClr val="dk2"/>
                </a:solidFill>
              </a:rPr>
              <a:t>, Mounia Lalmas, and Keith van Rijsbergen. 2001. Empirical investigations on query modification using abductive explanations. In Proceedings of the 24th annual international ACM SIGIR conference on Research and development in information retrieval (SIGIR '01). </a:t>
            </a:r>
            <a:endParaRPr sz="1000">
              <a:solidFill>
                <a:schemeClr val="dk2"/>
              </a:solidFill>
            </a:endParaRPr>
          </a:p>
          <a:p>
            <a:pPr indent="0" lvl="0" marL="0" rtl="0" algn="r">
              <a:spcBef>
                <a:spcPts val="0"/>
              </a:spcBef>
              <a:spcAft>
                <a:spcPts val="0"/>
              </a:spcAft>
              <a:buNone/>
            </a:pPr>
            <a:r>
              <a:rPr lang="en-GB" sz="1000" u="sng">
                <a:solidFill>
                  <a:schemeClr val="hlink"/>
                </a:solidFill>
                <a:hlinkClick r:id="rId4"/>
              </a:rPr>
              <a:t>DOI: 10.1145/383952.383986</a:t>
            </a:r>
            <a:endParaRPr sz="1000">
              <a:solidFill>
                <a:schemeClr val="dk2"/>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0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0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00">
                                            <p:txEl>
                                              <p:pRg end="2" st="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5" name="Shape 1405"/>
        <p:cNvGrpSpPr/>
        <p:nvPr/>
      </p:nvGrpSpPr>
      <p:grpSpPr>
        <a:xfrm>
          <a:off x="0" y="0"/>
          <a:ext cx="0" cy="0"/>
          <a:chOff x="0" y="0"/>
          <a:chExt cx="0" cy="0"/>
        </a:xfrm>
      </p:grpSpPr>
      <p:sp>
        <p:nvSpPr>
          <p:cNvPr id="1406" name="Google Shape;1406;p14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SzPts val="990"/>
              <a:buNone/>
            </a:pPr>
            <a:r>
              <a:rPr b="1" lang="en-GB" sz="2420"/>
              <a:t>LINC: Logical Inference via Neurosymbolic Computation</a:t>
            </a:r>
            <a:endParaRPr b="1" sz="2420"/>
          </a:p>
        </p:txBody>
      </p:sp>
      <p:sp>
        <p:nvSpPr>
          <p:cNvPr id="1407" name="Google Shape;1407;p146"/>
          <p:cNvSpPr txBox="1"/>
          <p:nvPr>
            <p:ph idx="1" type="body"/>
          </p:nvPr>
        </p:nvSpPr>
        <p:spPr>
          <a:xfrm>
            <a:off x="311700" y="1152475"/>
            <a:ext cx="8520600" cy="1781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A two-step neurosymbolic process for logical reasoning:</a:t>
            </a:r>
            <a:endParaRPr/>
          </a:p>
          <a:p>
            <a:pPr indent="0" lvl="0" marL="0" rtl="0" algn="l">
              <a:spcBef>
                <a:spcPts val="1200"/>
              </a:spcBef>
              <a:spcAft>
                <a:spcPts val="0"/>
              </a:spcAft>
              <a:buNone/>
            </a:pPr>
            <a:r>
              <a:rPr lang="en-GB"/>
              <a:t>Convert natural language premises and desired conclusion into first-order logic.</a:t>
            </a:r>
            <a:endParaRPr/>
          </a:p>
          <a:p>
            <a:pPr indent="0" lvl="0" marL="0" rtl="0" algn="l">
              <a:spcBef>
                <a:spcPts val="1200"/>
              </a:spcBef>
              <a:spcAft>
                <a:spcPts val="1200"/>
              </a:spcAft>
              <a:buNone/>
            </a:pPr>
            <a:r>
              <a:rPr lang="en-GB"/>
              <a:t>Let a symbolic FOL theorem prover algorithmically determine the truth value of the conclusion given the formalized premises.</a:t>
            </a:r>
            <a:endParaRPr/>
          </a:p>
        </p:txBody>
      </p:sp>
      <p:sp>
        <p:nvSpPr>
          <p:cNvPr id="1408" name="Google Shape;1408;p146"/>
          <p:cNvSpPr txBox="1"/>
          <p:nvPr/>
        </p:nvSpPr>
        <p:spPr>
          <a:xfrm>
            <a:off x="311700" y="2933875"/>
            <a:ext cx="8520600" cy="780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Clr>
                <a:schemeClr val="dk1"/>
              </a:buClr>
              <a:buSzPts val="1100"/>
              <a:buFont typeface="Arial"/>
              <a:buNone/>
            </a:pPr>
            <a:r>
              <a:rPr lang="en-GB" sz="1800">
                <a:solidFill>
                  <a:schemeClr val="dk2"/>
                </a:solidFill>
              </a:rPr>
              <a:t>In practice, they try 10 different attempted formulations from step 1 and apply a third majority voting step.</a:t>
            </a:r>
            <a:endParaRPr sz="1800">
              <a:solidFill>
                <a:schemeClr val="dk2"/>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0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2" name="Shape 1412"/>
        <p:cNvGrpSpPr/>
        <p:nvPr/>
      </p:nvGrpSpPr>
      <p:grpSpPr>
        <a:xfrm>
          <a:off x="0" y="0"/>
          <a:ext cx="0" cy="0"/>
          <a:chOff x="0" y="0"/>
          <a:chExt cx="0" cy="0"/>
        </a:xfrm>
      </p:grpSpPr>
      <p:sp>
        <p:nvSpPr>
          <p:cNvPr id="1413" name="Google Shape;1413;p14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b="1" lang="en-GB" sz="2420"/>
              <a:t>LINC: Logical Inference via Neurosymbolic Computation</a:t>
            </a:r>
            <a:endParaRPr b="1" sz="2420"/>
          </a:p>
          <a:p>
            <a:pPr indent="0" lvl="0" marL="0" rtl="0" algn="l">
              <a:spcBef>
                <a:spcPts val="0"/>
              </a:spcBef>
              <a:spcAft>
                <a:spcPts val="0"/>
              </a:spcAft>
              <a:buSzPts val="990"/>
              <a:buNone/>
            </a:pPr>
            <a:r>
              <a:t/>
            </a:r>
            <a:endParaRPr sz="2520"/>
          </a:p>
        </p:txBody>
      </p:sp>
      <p:sp>
        <p:nvSpPr>
          <p:cNvPr id="1414" name="Google Shape;1414;p14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415" name="Google Shape;1415;p147"/>
          <p:cNvPicPr preferRelativeResize="0"/>
          <p:nvPr/>
        </p:nvPicPr>
        <p:blipFill>
          <a:blip r:embed="rId3">
            <a:alphaModFix/>
          </a:blip>
          <a:stretch>
            <a:fillRect/>
          </a:stretch>
        </p:blipFill>
        <p:spPr>
          <a:xfrm>
            <a:off x="0" y="1016922"/>
            <a:ext cx="9143999" cy="3883166"/>
          </a:xfrm>
          <a:prstGeom prst="rect">
            <a:avLst/>
          </a:prstGeom>
          <a:noFill/>
          <a:ln>
            <a:noFill/>
          </a:ln>
        </p:spPr>
      </p:pic>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9" name="Shape 1419"/>
        <p:cNvGrpSpPr/>
        <p:nvPr/>
      </p:nvGrpSpPr>
      <p:grpSpPr>
        <a:xfrm>
          <a:off x="0" y="0"/>
          <a:ext cx="0" cy="0"/>
          <a:chOff x="0" y="0"/>
          <a:chExt cx="0" cy="0"/>
        </a:xfrm>
      </p:grpSpPr>
      <p:sp>
        <p:nvSpPr>
          <p:cNvPr id="1420" name="Google Shape;1420;p14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b="1" lang="en-GB" sz="2420"/>
              <a:t>LINC: Logical Inference via Neurosymbolic Computation</a:t>
            </a:r>
            <a:endParaRPr b="1" sz="2420"/>
          </a:p>
          <a:p>
            <a:pPr indent="0" lvl="0" marL="0" rtl="0" algn="ctr">
              <a:spcBef>
                <a:spcPts val="0"/>
              </a:spcBef>
              <a:spcAft>
                <a:spcPts val="0"/>
              </a:spcAft>
              <a:buSzPts val="990"/>
              <a:buNone/>
            </a:pPr>
            <a:r>
              <a:t/>
            </a:r>
            <a:endParaRPr b="1" sz="2420"/>
          </a:p>
        </p:txBody>
      </p:sp>
      <p:sp>
        <p:nvSpPr>
          <p:cNvPr id="1421" name="Google Shape;1421;p14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422" name="Google Shape;1422;p148"/>
          <p:cNvPicPr preferRelativeResize="0"/>
          <p:nvPr/>
        </p:nvPicPr>
        <p:blipFill>
          <a:blip r:embed="rId3">
            <a:alphaModFix/>
          </a:blip>
          <a:stretch>
            <a:fillRect/>
          </a:stretch>
        </p:blipFill>
        <p:spPr>
          <a:xfrm>
            <a:off x="0" y="968752"/>
            <a:ext cx="9143999" cy="3896631"/>
          </a:xfrm>
          <a:prstGeom prst="rect">
            <a:avLst/>
          </a:prstGeom>
          <a:noFill/>
          <a:ln>
            <a:noFill/>
          </a:ln>
        </p:spPr>
      </p:pic>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6" name="Shape 1426"/>
        <p:cNvGrpSpPr/>
        <p:nvPr/>
      </p:nvGrpSpPr>
      <p:grpSpPr>
        <a:xfrm>
          <a:off x="0" y="0"/>
          <a:ext cx="0" cy="0"/>
          <a:chOff x="0" y="0"/>
          <a:chExt cx="0" cy="0"/>
        </a:xfrm>
      </p:grpSpPr>
      <p:sp>
        <p:nvSpPr>
          <p:cNvPr id="1427" name="Google Shape;1427;p14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n-GB"/>
              <a:t>Failure Modes comparison</a:t>
            </a:r>
            <a:endParaRPr b="1"/>
          </a:p>
          <a:p>
            <a:pPr indent="0" lvl="0" marL="0" rtl="0" algn="ctr">
              <a:spcBef>
                <a:spcPts val="0"/>
              </a:spcBef>
              <a:spcAft>
                <a:spcPts val="0"/>
              </a:spcAft>
              <a:buNone/>
            </a:pPr>
            <a:r>
              <a:t/>
            </a:r>
            <a:endParaRPr b="1"/>
          </a:p>
        </p:txBody>
      </p:sp>
      <p:sp>
        <p:nvSpPr>
          <p:cNvPr id="1428" name="Google Shape;1428;p149"/>
          <p:cNvSpPr txBox="1"/>
          <p:nvPr/>
        </p:nvSpPr>
        <p:spPr>
          <a:xfrm>
            <a:off x="311300" y="1004023"/>
            <a:ext cx="8520600" cy="1560600"/>
          </a:xfrm>
          <a:prstGeom prst="rect">
            <a:avLst/>
          </a:prstGeom>
          <a:solidFill>
            <a:srgbClr val="FFF2CC"/>
          </a:solidFill>
          <a:ln>
            <a:noFill/>
          </a:ln>
        </p:spPr>
        <p:txBody>
          <a:bodyPr anchorCtr="0" anchor="t" bIns="91425" lIns="91425" spcFirstLastPara="1" rIns="91425" wrap="square" tIns="91425">
            <a:normAutofit lnSpcReduction="20000"/>
          </a:bodyPr>
          <a:lstStyle/>
          <a:p>
            <a:pPr indent="0" lvl="0" marL="0" rtl="0" algn="l">
              <a:lnSpc>
                <a:spcPct val="115000"/>
              </a:lnSpc>
              <a:spcBef>
                <a:spcPts val="0"/>
              </a:spcBef>
              <a:spcAft>
                <a:spcPts val="0"/>
              </a:spcAft>
              <a:buNone/>
            </a:pPr>
            <a:r>
              <a:rPr lang="en-GB" sz="1800">
                <a:solidFill>
                  <a:schemeClr val="dk2"/>
                </a:solidFill>
              </a:rPr>
              <a:t>L1: FOL fails to capture implicit information not mentioned in the premises.</a:t>
            </a:r>
            <a:endParaRPr sz="1800">
              <a:solidFill>
                <a:schemeClr val="dk2"/>
              </a:solidFill>
            </a:endParaRPr>
          </a:p>
          <a:p>
            <a:pPr indent="0" lvl="0" marL="0" rtl="0" algn="l">
              <a:lnSpc>
                <a:spcPct val="115000"/>
              </a:lnSpc>
              <a:spcBef>
                <a:spcPts val="1200"/>
              </a:spcBef>
              <a:spcAft>
                <a:spcPts val="0"/>
              </a:spcAft>
              <a:buNone/>
            </a:pPr>
            <a:r>
              <a:rPr lang="en-GB" sz="1800">
                <a:solidFill>
                  <a:schemeClr val="dk2"/>
                </a:solidFill>
              </a:rPr>
              <a:t>L2: FOL fails to capture information explicitly mentioned in the premises due to the choice of representation.</a:t>
            </a:r>
            <a:endParaRPr sz="1800">
              <a:solidFill>
                <a:schemeClr val="dk2"/>
              </a:solidFill>
            </a:endParaRPr>
          </a:p>
          <a:p>
            <a:pPr indent="0" lvl="0" marL="0" rtl="0" algn="l">
              <a:lnSpc>
                <a:spcPct val="115000"/>
              </a:lnSpc>
              <a:spcBef>
                <a:spcPts val="1200"/>
              </a:spcBef>
              <a:spcAft>
                <a:spcPts val="1200"/>
              </a:spcAft>
              <a:buNone/>
            </a:pPr>
            <a:r>
              <a:rPr lang="en-GB" sz="1800">
                <a:solidFill>
                  <a:schemeClr val="dk2"/>
                </a:solidFill>
              </a:rPr>
              <a:t>L3: FOL contains syntax errors.</a:t>
            </a:r>
            <a:endParaRPr>
              <a:solidFill>
                <a:srgbClr val="595959"/>
              </a:solidFill>
            </a:endParaRPr>
          </a:p>
        </p:txBody>
      </p:sp>
      <p:sp>
        <p:nvSpPr>
          <p:cNvPr id="1429" name="Google Shape;1429;p149"/>
          <p:cNvSpPr txBox="1"/>
          <p:nvPr/>
        </p:nvSpPr>
        <p:spPr>
          <a:xfrm>
            <a:off x="311700" y="2730599"/>
            <a:ext cx="8520600" cy="1325700"/>
          </a:xfrm>
          <a:prstGeom prst="rect">
            <a:avLst/>
          </a:prstGeom>
          <a:solidFill>
            <a:srgbClr val="D9EAD3"/>
          </a:solidFill>
          <a:ln>
            <a:noFill/>
          </a:ln>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GB" sz="1800">
                <a:solidFill>
                  <a:srgbClr val="595959"/>
                </a:solidFill>
              </a:rPr>
              <a:t>C1: CoT concludes something different than it suggests.</a:t>
            </a:r>
            <a:endParaRPr sz="1800">
              <a:solidFill>
                <a:srgbClr val="595959"/>
              </a:solidFill>
            </a:endParaRPr>
          </a:p>
          <a:p>
            <a:pPr indent="0" lvl="0" marL="0" rtl="0" algn="l">
              <a:spcBef>
                <a:spcPts val="0"/>
              </a:spcBef>
              <a:spcAft>
                <a:spcPts val="0"/>
              </a:spcAft>
              <a:buNone/>
            </a:pPr>
            <a:r>
              <a:t/>
            </a:r>
            <a:endParaRPr sz="1800">
              <a:solidFill>
                <a:srgbClr val="595959"/>
              </a:solidFill>
            </a:endParaRPr>
          </a:p>
          <a:p>
            <a:pPr indent="0" lvl="0" marL="0" rtl="0" algn="l">
              <a:spcBef>
                <a:spcPts val="0"/>
              </a:spcBef>
              <a:spcAft>
                <a:spcPts val="0"/>
              </a:spcAft>
              <a:buNone/>
            </a:pPr>
            <a:r>
              <a:rPr lang="en-GB" sz="1800">
                <a:solidFill>
                  <a:srgbClr val="595959"/>
                </a:solidFill>
              </a:rPr>
              <a:t>C2: CoT makes incorrect logical deductions.</a:t>
            </a:r>
            <a:endParaRPr sz="1800">
              <a:solidFill>
                <a:srgbClr val="595959"/>
              </a:solidFill>
            </a:endParaRPr>
          </a:p>
          <a:p>
            <a:pPr indent="0" lvl="0" marL="0" rtl="0" algn="l">
              <a:spcBef>
                <a:spcPts val="0"/>
              </a:spcBef>
              <a:spcAft>
                <a:spcPts val="0"/>
              </a:spcAft>
              <a:buNone/>
            </a:pPr>
            <a:r>
              <a:t/>
            </a:r>
            <a:endParaRPr sz="1800">
              <a:solidFill>
                <a:srgbClr val="595959"/>
              </a:solidFill>
            </a:endParaRPr>
          </a:p>
          <a:p>
            <a:pPr indent="0" lvl="0" marL="0" rtl="0" algn="l">
              <a:spcBef>
                <a:spcPts val="0"/>
              </a:spcBef>
              <a:spcAft>
                <a:spcPts val="0"/>
              </a:spcAft>
              <a:buNone/>
            </a:pPr>
            <a:r>
              <a:rPr lang="en-GB" sz="1800">
                <a:solidFill>
                  <a:srgbClr val="595959"/>
                </a:solidFill>
              </a:rPr>
              <a:t>C3: CoT fails to find complex paths of reasoning.</a:t>
            </a:r>
            <a:endParaRPr sz="1800">
              <a:solidFill>
                <a:srgbClr val="595959"/>
              </a:solidFill>
            </a:endParaRPr>
          </a:p>
        </p:txBody>
      </p:sp>
      <p:sp>
        <p:nvSpPr>
          <p:cNvPr id="1430" name="Google Shape;1430;p149"/>
          <p:cNvSpPr txBox="1"/>
          <p:nvPr/>
        </p:nvSpPr>
        <p:spPr>
          <a:xfrm>
            <a:off x="311700" y="4222274"/>
            <a:ext cx="8520600" cy="720300"/>
          </a:xfrm>
          <a:prstGeom prst="rect">
            <a:avLst/>
          </a:prstGeom>
          <a:solidFill>
            <a:srgbClr val="C9DA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GB" sz="1800">
                <a:solidFill>
                  <a:srgbClr val="595959"/>
                </a:solidFill>
              </a:rPr>
              <a:t>LINC and CoT mispredict on different examples, and mispredictions of in-context reasoning baselines are more similar to each other than to LINC.</a:t>
            </a:r>
            <a:endParaRPr sz="1800">
              <a:solidFill>
                <a:srgbClr val="595959"/>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2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3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4" name="Shape 1434"/>
        <p:cNvGrpSpPr/>
        <p:nvPr/>
      </p:nvGrpSpPr>
      <p:grpSpPr>
        <a:xfrm>
          <a:off x="0" y="0"/>
          <a:ext cx="0" cy="0"/>
          <a:chOff x="0" y="0"/>
          <a:chExt cx="0" cy="0"/>
        </a:xfrm>
      </p:grpSpPr>
      <p:sp>
        <p:nvSpPr>
          <p:cNvPr id="1435" name="Google Shape;1435;p15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n-GB"/>
              <a:t>Theorem Proving for IR?</a:t>
            </a:r>
            <a:endParaRPr b="1"/>
          </a:p>
        </p:txBody>
      </p:sp>
      <p:sp>
        <p:nvSpPr>
          <p:cNvPr id="1436" name="Google Shape;1436;p15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Imagine a </a:t>
            </a:r>
            <a:r>
              <a:rPr b="1" lang="en-GB"/>
              <a:t>Logician</a:t>
            </a:r>
            <a:r>
              <a:rPr lang="en-GB"/>
              <a:t> who knows Probabilistic Prolog.</a:t>
            </a:r>
            <a:endParaRPr/>
          </a:p>
          <a:p>
            <a:pPr indent="0" lvl="0" marL="0" rtl="0" algn="l">
              <a:spcBef>
                <a:spcPts val="1200"/>
              </a:spcBef>
              <a:spcAft>
                <a:spcPts val="0"/>
              </a:spcAft>
              <a:buNone/>
            </a:pPr>
            <a:r>
              <a:rPr lang="en-GB"/>
              <a:t>She answers the complex entity-seeking queries from the QUEST dataset (sets of Wikipedia entities defined through combinations of set-theoretic operations, intersection, union, and difference).</a:t>
            </a:r>
            <a:endParaRPr/>
          </a:p>
          <a:p>
            <a:pPr indent="0" lvl="0" marL="0" rtl="0" algn="l">
              <a:spcBef>
                <a:spcPts val="1200"/>
              </a:spcBef>
              <a:spcAft>
                <a:spcPts val="1200"/>
              </a:spcAft>
              <a:buNone/>
            </a:pPr>
            <a:r>
              <a:rPr lang="en-GB"/>
              <a:t>The Logician consults the </a:t>
            </a:r>
            <a:r>
              <a:rPr b="1" lang="en-GB"/>
              <a:t>Oracle, </a:t>
            </a:r>
            <a:r>
              <a:rPr lang="en-GB"/>
              <a:t>an LLM that estimates the plausibility of the facts stated in the ProbLog programme. </a:t>
            </a:r>
            <a:r>
              <a:rPr i="1" lang="en-GB"/>
              <a:t>Note that the Oracle could be wrong!</a:t>
            </a:r>
            <a:endParaRPr/>
          </a:p>
        </p:txBody>
      </p:sp>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0" name="Shape 1440"/>
        <p:cNvGrpSpPr/>
        <p:nvPr/>
      </p:nvGrpSpPr>
      <p:grpSpPr>
        <a:xfrm>
          <a:off x="0" y="0"/>
          <a:ext cx="0" cy="0"/>
          <a:chOff x="0" y="0"/>
          <a:chExt cx="0" cy="0"/>
        </a:xfrm>
      </p:grpSpPr>
      <p:sp>
        <p:nvSpPr>
          <p:cNvPr id="1441" name="Google Shape;1441;p151"/>
          <p:cNvSpPr txBox="1"/>
          <p:nvPr>
            <p:ph type="title"/>
          </p:nvPr>
        </p:nvSpPr>
        <p:spPr>
          <a:xfrm>
            <a:off x="311700" y="445025"/>
            <a:ext cx="8520600" cy="5727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b="1" lang="en-GB"/>
              <a:t>OrLog</a:t>
            </a:r>
            <a:endParaRPr b="1"/>
          </a:p>
        </p:txBody>
      </p:sp>
      <p:pic>
        <p:nvPicPr>
          <p:cNvPr id="1442" name="Google Shape;1442;p151"/>
          <p:cNvPicPr preferRelativeResize="0"/>
          <p:nvPr/>
        </p:nvPicPr>
        <p:blipFill>
          <a:blip r:embed="rId3">
            <a:alphaModFix/>
          </a:blip>
          <a:stretch>
            <a:fillRect/>
          </a:stretch>
        </p:blipFill>
        <p:spPr>
          <a:xfrm>
            <a:off x="1082875" y="1061275"/>
            <a:ext cx="6984900" cy="3811789"/>
          </a:xfrm>
          <a:prstGeom prst="rect">
            <a:avLst/>
          </a:prstGeom>
          <a:noFill/>
          <a:ln>
            <a:noFill/>
          </a:ln>
        </p:spPr>
      </p:pic>
      <p:sp>
        <p:nvSpPr>
          <p:cNvPr id="1443" name="Google Shape;1443;p15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7" name="Shape 1447"/>
        <p:cNvGrpSpPr/>
        <p:nvPr/>
      </p:nvGrpSpPr>
      <p:grpSpPr>
        <a:xfrm>
          <a:off x="0" y="0"/>
          <a:ext cx="0" cy="0"/>
          <a:chOff x="0" y="0"/>
          <a:chExt cx="0" cy="0"/>
        </a:xfrm>
      </p:grpSpPr>
      <p:sp>
        <p:nvSpPr>
          <p:cNvPr id="1448" name="Google Shape;1448;p15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n-GB"/>
              <a:t>OrLog results</a:t>
            </a:r>
            <a:endParaRPr b="1"/>
          </a:p>
          <a:p>
            <a:pPr indent="0" lvl="0" marL="0" rtl="0" algn="ctr">
              <a:spcBef>
                <a:spcPts val="0"/>
              </a:spcBef>
              <a:spcAft>
                <a:spcPts val="0"/>
              </a:spcAft>
              <a:buNone/>
            </a:pPr>
            <a:r>
              <a:t/>
            </a:r>
            <a:endParaRPr b="1"/>
          </a:p>
        </p:txBody>
      </p:sp>
      <p:sp>
        <p:nvSpPr>
          <p:cNvPr id="1449" name="Google Shape;1449;p152"/>
          <p:cNvSpPr txBox="1"/>
          <p:nvPr/>
        </p:nvSpPr>
        <p:spPr>
          <a:xfrm>
            <a:off x="311700" y="1197466"/>
            <a:ext cx="8520600" cy="828600"/>
          </a:xfrm>
          <a:prstGeom prst="rect">
            <a:avLst/>
          </a:prstGeom>
          <a:solidFill>
            <a:srgbClr val="FFF2CC"/>
          </a:solid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None/>
            </a:pPr>
            <a:r>
              <a:rPr lang="en-GB" sz="1800">
                <a:solidFill>
                  <a:schemeClr val="dk2"/>
                </a:solidFill>
              </a:rPr>
              <a:t>OrLog consistently improves top-rank results and shows its largest advantages on disjunctive structures, where the LLM treats disjunctive constraints as conjunction.</a:t>
            </a:r>
            <a:endParaRPr sz="1800">
              <a:solidFill>
                <a:schemeClr val="dk2"/>
              </a:solidFill>
            </a:endParaRPr>
          </a:p>
        </p:txBody>
      </p:sp>
      <p:sp>
        <p:nvSpPr>
          <p:cNvPr id="1450" name="Google Shape;1450;p152"/>
          <p:cNvSpPr txBox="1"/>
          <p:nvPr/>
        </p:nvSpPr>
        <p:spPr>
          <a:xfrm>
            <a:off x="311700" y="2205837"/>
            <a:ext cx="8520600" cy="2078700"/>
          </a:xfrm>
          <a:prstGeom prst="rect">
            <a:avLst/>
          </a:prstGeom>
          <a:solidFill>
            <a:srgbClr val="D9EAD3"/>
          </a:solid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None/>
            </a:pPr>
            <a:r>
              <a:rPr lang="en-GB" sz="1800">
                <a:solidFill>
                  <a:schemeClr val="dk2"/>
                </a:solidFill>
              </a:rPr>
              <a:t>End-to-end LLM reasoning uses 6-10 times more tokens than OrLog:</a:t>
            </a:r>
            <a:endParaRPr sz="1800">
              <a:solidFill>
                <a:schemeClr val="dk2"/>
              </a:solidFill>
            </a:endParaRPr>
          </a:p>
          <a:p>
            <a:pPr indent="0" lvl="0" marL="0" rtl="0" algn="l">
              <a:lnSpc>
                <a:spcPct val="115000"/>
              </a:lnSpc>
              <a:spcBef>
                <a:spcPts val="1200"/>
              </a:spcBef>
              <a:spcAft>
                <a:spcPts val="0"/>
              </a:spcAft>
              <a:buNone/>
            </a:pPr>
            <a:r>
              <a:rPr lang="en-GB" sz="1800">
                <a:solidFill>
                  <a:schemeClr val="dk2"/>
                </a:solidFill>
              </a:rPr>
              <a:t>(i) decoding-free predicate plausibility estimation (a single forward pass per predicate)</a:t>
            </a:r>
            <a:endParaRPr sz="1800">
              <a:solidFill>
                <a:schemeClr val="dk2"/>
              </a:solidFill>
            </a:endParaRPr>
          </a:p>
          <a:p>
            <a:pPr indent="0" lvl="0" marL="0" rtl="0" algn="l">
              <a:lnSpc>
                <a:spcPct val="115000"/>
              </a:lnSpc>
              <a:spcBef>
                <a:spcPts val="1200"/>
              </a:spcBef>
              <a:spcAft>
                <a:spcPts val="1200"/>
              </a:spcAft>
              <a:buNone/>
            </a:pPr>
            <a:r>
              <a:rPr lang="en-GB" sz="1800">
                <a:solidFill>
                  <a:schemeClr val="dk2"/>
                </a:solidFill>
              </a:rPr>
              <a:t>(ii) one-off query parsing with composition delegated to ProbLog, whose runtime and computational cost are negligible relative to an LLM call.</a:t>
            </a:r>
            <a:endParaRPr sz="1800">
              <a:solidFill>
                <a:schemeClr val="dk2"/>
              </a:solidFill>
            </a:endParaRPr>
          </a:p>
        </p:txBody>
      </p:sp>
      <p:sp>
        <p:nvSpPr>
          <p:cNvPr id="1451" name="Google Shape;1451;p152"/>
          <p:cNvSpPr txBox="1"/>
          <p:nvPr/>
        </p:nvSpPr>
        <p:spPr>
          <a:xfrm>
            <a:off x="311700" y="4435765"/>
            <a:ext cx="8520600" cy="646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GB" sz="1000">
                <a:solidFill>
                  <a:schemeClr val="dk2"/>
                </a:solidFill>
              </a:rPr>
              <a:t>Mohanna Hoveyda, Jelle Piepenbrock, Arjen P. de Vries, Maarten de Rijke, and Faegheh Hasibi. 2026. OrLog: Resolving Complex Queries with LLMs and Probabilistic Reasoning. In Advances in Information Retrieval: 48th European Conference on Information Retrieval, ECIR 2026, Delft, NL. </a:t>
            </a:r>
            <a:r>
              <a:rPr lang="en-GB" sz="1000" u="sng">
                <a:solidFill>
                  <a:schemeClr val="hlink"/>
                </a:solidFill>
                <a:hlinkClick r:id="rId3"/>
              </a:rPr>
              <a:t>doi: 10.1007/978-3-032-21289-4_7</a:t>
            </a:r>
            <a:endParaRPr sz="1000">
              <a:solidFill>
                <a:schemeClr val="dk2"/>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5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4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5" name="Shape 1455"/>
        <p:cNvGrpSpPr/>
        <p:nvPr/>
      </p:nvGrpSpPr>
      <p:grpSpPr>
        <a:xfrm>
          <a:off x="0" y="0"/>
          <a:ext cx="0" cy="0"/>
          <a:chOff x="0" y="0"/>
          <a:chExt cx="0" cy="0"/>
        </a:xfrm>
      </p:grpSpPr>
      <p:sp>
        <p:nvSpPr>
          <p:cNvPr id="1456" name="Google Shape;1456;p153"/>
          <p:cNvSpPr txBox="1"/>
          <p:nvPr>
            <p:ph type="title"/>
          </p:nvPr>
        </p:nvSpPr>
        <p:spPr>
          <a:xfrm>
            <a:off x="311700" y="445025"/>
            <a:ext cx="8520600" cy="57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SzPts val="990"/>
              <a:buNone/>
            </a:pPr>
            <a:r>
              <a:rPr b="1" lang="en-GB" sz="3040"/>
              <a:t>ProbLog vs LLM for Probabilistic Reasoning</a:t>
            </a:r>
            <a:endParaRPr b="1" sz="3040"/>
          </a:p>
        </p:txBody>
      </p:sp>
      <p:sp>
        <p:nvSpPr>
          <p:cNvPr id="1457" name="Google Shape;1457;p15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pic>
        <p:nvPicPr>
          <p:cNvPr id="1458" name="Google Shape;1458;p153"/>
          <p:cNvPicPr preferRelativeResize="0"/>
          <p:nvPr/>
        </p:nvPicPr>
        <p:blipFill>
          <a:blip r:embed="rId3">
            <a:alphaModFix/>
          </a:blip>
          <a:stretch>
            <a:fillRect/>
          </a:stretch>
        </p:blipFill>
        <p:spPr>
          <a:xfrm>
            <a:off x="152400" y="1098775"/>
            <a:ext cx="3789994" cy="3820975"/>
          </a:xfrm>
          <a:prstGeom prst="rect">
            <a:avLst/>
          </a:prstGeom>
          <a:noFill/>
          <a:ln>
            <a:noFill/>
          </a:ln>
        </p:spPr>
      </p:pic>
      <p:pic>
        <p:nvPicPr>
          <p:cNvPr id="1459" name="Google Shape;1459;p153"/>
          <p:cNvPicPr preferRelativeResize="0"/>
          <p:nvPr/>
        </p:nvPicPr>
        <p:blipFill>
          <a:blip r:embed="rId4">
            <a:alphaModFix/>
          </a:blip>
          <a:stretch>
            <a:fillRect/>
          </a:stretch>
        </p:blipFill>
        <p:spPr>
          <a:xfrm>
            <a:off x="3726125" y="1204725"/>
            <a:ext cx="5228349" cy="35564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5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3" name="Shape 1463"/>
        <p:cNvGrpSpPr/>
        <p:nvPr/>
      </p:nvGrpSpPr>
      <p:grpSpPr>
        <a:xfrm>
          <a:off x="0" y="0"/>
          <a:ext cx="0" cy="0"/>
          <a:chOff x="0" y="0"/>
          <a:chExt cx="0" cy="0"/>
        </a:xfrm>
      </p:grpSpPr>
      <p:sp>
        <p:nvSpPr>
          <p:cNvPr id="1464" name="Google Shape;1464;p154"/>
          <p:cNvSpPr txBox="1"/>
          <p:nvPr>
            <p:ph type="title"/>
          </p:nvPr>
        </p:nvSpPr>
        <p:spPr>
          <a:xfrm>
            <a:off x="311700" y="445025"/>
            <a:ext cx="8520600" cy="57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SzPts val="990"/>
              <a:buNone/>
            </a:pPr>
            <a:r>
              <a:rPr b="1" lang="en-GB" sz="3040"/>
              <a:t>ProbLog vs LLM for Probabilistic Reasoning</a:t>
            </a:r>
            <a:endParaRPr b="1" sz="3040"/>
          </a:p>
        </p:txBody>
      </p:sp>
      <p:sp>
        <p:nvSpPr>
          <p:cNvPr id="1465" name="Google Shape;1465;p15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pic>
        <p:nvPicPr>
          <p:cNvPr id="1466" name="Google Shape;1466;p154"/>
          <p:cNvPicPr preferRelativeResize="0"/>
          <p:nvPr/>
        </p:nvPicPr>
        <p:blipFill>
          <a:blip r:embed="rId3">
            <a:alphaModFix/>
          </a:blip>
          <a:stretch>
            <a:fillRect/>
          </a:stretch>
        </p:blipFill>
        <p:spPr>
          <a:xfrm>
            <a:off x="259425" y="1110650"/>
            <a:ext cx="8167657" cy="3795904"/>
          </a:xfrm>
          <a:prstGeom prst="rect">
            <a:avLst/>
          </a:prstGeom>
          <a:noFill/>
          <a:ln>
            <a:noFill/>
          </a:ln>
        </p:spPr>
      </p:pic>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0" name="Shape 1470"/>
        <p:cNvGrpSpPr/>
        <p:nvPr/>
      </p:nvGrpSpPr>
      <p:grpSpPr>
        <a:xfrm>
          <a:off x="0" y="0"/>
          <a:ext cx="0" cy="0"/>
          <a:chOff x="0" y="0"/>
          <a:chExt cx="0" cy="0"/>
        </a:xfrm>
      </p:grpSpPr>
      <p:sp>
        <p:nvSpPr>
          <p:cNvPr id="1471" name="Google Shape;1471;p15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n-GB"/>
              <a:t>Wrapping up Part 4.1</a:t>
            </a:r>
            <a:endParaRPr b="1"/>
          </a:p>
        </p:txBody>
      </p:sp>
      <p:sp>
        <p:nvSpPr>
          <p:cNvPr id="1472" name="Google Shape;1472;p155"/>
          <p:cNvSpPr txBox="1"/>
          <p:nvPr/>
        </p:nvSpPr>
        <p:spPr>
          <a:xfrm>
            <a:off x="311725" y="1227475"/>
            <a:ext cx="8520600" cy="738000"/>
          </a:xfrm>
          <a:prstGeom prst="rect">
            <a:avLst/>
          </a:prstGeom>
          <a:solidFill>
            <a:srgbClr val="D9EAD3"/>
          </a:solidFill>
          <a:ln>
            <a:noFill/>
          </a:ln>
        </p:spPr>
        <p:txBody>
          <a:bodyPr anchorCtr="0" anchor="ctr" bIns="91425" lIns="91425" spcFirstLastPara="1" rIns="91425" wrap="square" tIns="91425">
            <a:noAutofit/>
          </a:bodyPr>
          <a:lstStyle/>
          <a:p>
            <a:pPr indent="0" lvl="0" marL="0" rtl="0" algn="l">
              <a:spcBef>
                <a:spcPts val="0"/>
              </a:spcBef>
              <a:spcAft>
                <a:spcPts val="1000"/>
              </a:spcAft>
              <a:buNone/>
            </a:pPr>
            <a:r>
              <a:rPr b="1" lang="en-GB" sz="1800">
                <a:solidFill>
                  <a:schemeClr val="dk2"/>
                </a:solidFill>
              </a:rPr>
              <a:t>Neuro-Symbolic Computing</a:t>
            </a:r>
            <a:br>
              <a:rPr b="1" lang="en-GB" sz="1800">
                <a:solidFill>
                  <a:schemeClr val="dk2"/>
                </a:solidFill>
                <a:highlight>
                  <a:srgbClr val="C9DAF8"/>
                </a:highlight>
              </a:rPr>
            </a:br>
            <a:r>
              <a:rPr lang="en-GB">
                <a:solidFill>
                  <a:schemeClr val="dk2"/>
                </a:solidFill>
              </a:rPr>
              <a:t>Reconciles the advantages of robust learning in neural networks and reasoning and interpretability of symbolic representation.</a:t>
            </a:r>
            <a:endParaRPr b="1" sz="1800">
              <a:solidFill>
                <a:schemeClr val="dk2"/>
              </a:solidFill>
              <a:highlight>
                <a:srgbClr val="C9DAF8"/>
              </a:highlight>
            </a:endParaRPr>
          </a:p>
        </p:txBody>
      </p:sp>
      <p:sp>
        <p:nvSpPr>
          <p:cNvPr id="1473" name="Google Shape;1473;p155"/>
          <p:cNvSpPr txBox="1"/>
          <p:nvPr/>
        </p:nvSpPr>
        <p:spPr>
          <a:xfrm>
            <a:off x="311725" y="2131550"/>
            <a:ext cx="8520600" cy="738000"/>
          </a:xfrm>
          <a:prstGeom prst="rect">
            <a:avLst/>
          </a:prstGeom>
          <a:solidFill>
            <a:srgbClr val="D9EAD3"/>
          </a:solidFill>
          <a:ln>
            <a:noFill/>
          </a:ln>
        </p:spPr>
        <p:txBody>
          <a:bodyPr anchorCtr="0" anchor="ctr" bIns="91425" lIns="91425" spcFirstLastPara="1" rIns="91425" wrap="square" tIns="91425">
            <a:noAutofit/>
          </a:bodyPr>
          <a:lstStyle/>
          <a:p>
            <a:pPr indent="0" lvl="0" marL="0" rtl="0" algn="l">
              <a:spcBef>
                <a:spcPts val="0"/>
              </a:spcBef>
              <a:spcAft>
                <a:spcPts val="1000"/>
              </a:spcAft>
              <a:buNone/>
            </a:pPr>
            <a:r>
              <a:rPr b="1" lang="en-GB" sz="1800">
                <a:solidFill>
                  <a:schemeClr val="dk2"/>
                </a:solidFill>
              </a:rPr>
              <a:t>KGs and LLMs</a:t>
            </a:r>
            <a:br>
              <a:rPr b="1" lang="en-GB" sz="1800">
                <a:solidFill>
                  <a:schemeClr val="dk2"/>
                </a:solidFill>
              </a:rPr>
            </a:br>
            <a:r>
              <a:rPr lang="en-GB" sz="1200">
                <a:solidFill>
                  <a:schemeClr val="dk2"/>
                </a:solidFill>
              </a:rPr>
              <a:t>The amount of research that mixes knowledge graphs and large language models is tremendous, but has as yet not had a lot of impact on our field specifically.</a:t>
            </a:r>
            <a:endParaRPr sz="1200">
              <a:solidFill>
                <a:schemeClr val="dk2"/>
              </a:solidFill>
            </a:endParaRPr>
          </a:p>
        </p:txBody>
      </p:sp>
      <p:sp>
        <p:nvSpPr>
          <p:cNvPr id="1474" name="Google Shape;1474;p155"/>
          <p:cNvSpPr txBox="1"/>
          <p:nvPr/>
        </p:nvSpPr>
        <p:spPr>
          <a:xfrm>
            <a:off x="311725" y="3035625"/>
            <a:ext cx="8520600" cy="738000"/>
          </a:xfrm>
          <a:prstGeom prst="rect">
            <a:avLst/>
          </a:prstGeom>
          <a:solidFill>
            <a:srgbClr val="D9EAD3"/>
          </a:solidFill>
          <a:ln>
            <a:noFill/>
          </a:ln>
        </p:spPr>
        <p:txBody>
          <a:bodyPr anchorCtr="0" anchor="ctr" bIns="91425" lIns="91425" spcFirstLastPara="1" rIns="91425" wrap="square" tIns="91425">
            <a:noAutofit/>
          </a:bodyPr>
          <a:lstStyle/>
          <a:p>
            <a:pPr indent="0" lvl="0" marL="0" rtl="0" algn="l">
              <a:spcBef>
                <a:spcPts val="0"/>
              </a:spcBef>
              <a:spcAft>
                <a:spcPts val="1000"/>
              </a:spcAft>
              <a:buNone/>
            </a:pPr>
            <a:r>
              <a:rPr b="1" lang="en-GB" sz="1800">
                <a:solidFill>
                  <a:schemeClr val="dk2"/>
                </a:solidFill>
              </a:rPr>
              <a:t>Logic and IR</a:t>
            </a:r>
            <a:br>
              <a:rPr b="1" lang="en-GB" sz="1800">
                <a:solidFill>
                  <a:schemeClr val="dk2"/>
                </a:solidFill>
              </a:rPr>
            </a:br>
            <a:r>
              <a:rPr lang="en-GB" sz="1200">
                <a:solidFill>
                  <a:schemeClr val="dk2"/>
                </a:solidFill>
              </a:rPr>
              <a:t>The idea to apply (non-classical) logics to improve information retrieval has a  long history in the field. Modelling information access symbolically may have many advantages. Will we manage to finally take up this huge challenge again?</a:t>
            </a:r>
            <a:endParaRPr sz="1200">
              <a:solidFill>
                <a:schemeClr val="dk2"/>
              </a:solidFill>
            </a:endParaRPr>
          </a:p>
        </p:txBody>
      </p:sp>
      <p:sp>
        <p:nvSpPr>
          <p:cNvPr id="1475" name="Google Shape;1475;p155"/>
          <p:cNvSpPr txBox="1"/>
          <p:nvPr/>
        </p:nvSpPr>
        <p:spPr>
          <a:xfrm>
            <a:off x="311725" y="3939700"/>
            <a:ext cx="8520600" cy="738000"/>
          </a:xfrm>
          <a:prstGeom prst="rect">
            <a:avLst/>
          </a:prstGeom>
          <a:solidFill>
            <a:srgbClr val="D9EAD3"/>
          </a:solidFill>
          <a:ln>
            <a:noFill/>
          </a:ln>
        </p:spPr>
        <p:txBody>
          <a:bodyPr anchorCtr="0" anchor="ctr" bIns="91425" lIns="91425" spcFirstLastPara="1" rIns="91425" wrap="square" tIns="91425">
            <a:noAutofit/>
          </a:bodyPr>
          <a:lstStyle/>
          <a:p>
            <a:pPr indent="0" lvl="0" marL="0" rtl="0" algn="l">
              <a:spcBef>
                <a:spcPts val="0"/>
              </a:spcBef>
              <a:spcAft>
                <a:spcPts val="1000"/>
              </a:spcAft>
              <a:buNone/>
            </a:pPr>
            <a:r>
              <a:rPr b="1" lang="en-GB" sz="1800">
                <a:solidFill>
                  <a:schemeClr val="dk2"/>
                </a:solidFill>
              </a:rPr>
              <a:t>LLMs &amp; Probabilistic Logic Programming</a:t>
            </a:r>
            <a:br>
              <a:rPr b="1" lang="en-GB" sz="1800">
                <a:solidFill>
                  <a:schemeClr val="dk2"/>
                </a:solidFill>
              </a:rPr>
            </a:br>
            <a:r>
              <a:rPr lang="en-GB" sz="1200">
                <a:solidFill>
                  <a:schemeClr val="dk2"/>
                </a:solidFill>
              </a:rPr>
              <a:t>LLMs can turn complex questions into probabilistic logic programs and provide the probability estimates needed for a solver like ProbLog to provide the answer, more accurately and at a lower cost.</a:t>
            </a:r>
            <a:endParaRPr sz="1200">
              <a:solidFill>
                <a:schemeClr val="dk2"/>
              </a:solidFill>
            </a:endParaRPr>
          </a:p>
        </p:txBody>
      </p:sp>
      <p:sp>
        <p:nvSpPr>
          <p:cNvPr id="1476" name="Google Shape;1476;p15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7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7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7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83C92"/>
        </a:solidFill>
      </p:bgPr>
    </p:bg>
    <p:spTree>
      <p:nvGrpSpPr>
        <p:cNvPr id="1480" name="Shape 1480"/>
        <p:cNvGrpSpPr/>
        <p:nvPr/>
      </p:nvGrpSpPr>
      <p:grpSpPr>
        <a:xfrm>
          <a:off x="0" y="0"/>
          <a:ext cx="0" cy="0"/>
          <a:chOff x="0" y="0"/>
          <a:chExt cx="0" cy="0"/>
        </a:xfrm>
      </p:grpSpPr>
      <p:sp>
        <p:nvSpPr>
          <p:cNvPr id="1481" name="Google Shape;1481;p156"/>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457200" lvl="0" marL="457200" rtl="0" algn="l">
              <a:spcBef>
                <a:spcPts val="0"/>
              </a:spcBef>
              <a:spcAft>
                <a:spcPts val="0"/>
              </a:spcAft>
              <a:buClr>
                <a:schemeClr val="lt1"/>
              </a:buClr>
              <a:buSzPts val="3600"/>
              <a:buAutoNum type="romanUcPeriod" startAt="5"/>
            </a:pPr>
            <a:r>
              <a:rPr b="1" lang="en-GB">
                <a:solidFill>
                  <a:schemeClr val="lt1"/>
                </a:solidFill>
              </a:rPr>
              <a:t>Reasoning Under Uncertainty</a:t>
            </a:r>
            <a:endParaRPr b="1" sz="3489">
              <a:solidFill>
                <a:schemeClr val="lt1"/>
              </a:solidFill>
            </a:endParaRPr>
          </a:p>
        </p:txBody>
      </p:sp>
      <p:sp>
        <p:nvSpPr>
          <p:cNvPr id="1482" name="Google Shape;1482;p15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6" name="Shape 1486"/>
        <p:cNvGrpSpPr/>
        <p:nvPr/>
      </p:nvGrpSpPr>
      <p:grpSpPr>
        <a:xfrm>
          <a:off x="0" y="0"/>
          <a:ext cx="0" cy="0"/>
          <a:chOff x="0" y="0"/>
          <a:chExt cx="0" cy="0"/>
        </a:xfrm>
      </p:grpSpPr>
      <p:sp>
        <p:nvSpPr>
          <p:cNvPr id="1487" name="Google Shape;1487;p15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b="1" lang="en-GB" sz="2820">
                <a:latin typeface="Palatino Linotype"/>
                <a:ea typeface="Palatino Linotype"/>
                <a:cs typeface="Palatino Linotype"/>
                <a:sym typeface="Palatino Linotype"/>
              </a:rPr>
              <a:t>Outline</a:t>
            </a:r>
            <a:endParaRPr b="1" sz="2820">
              <a:latin typeface="Palatino Linotype"/>
              <a:ea typeface="Palatino Linotype"/>
              <a:cs typeface="Palatino Linotype"/>
              <a:sym typeface="Palatino Linotype"/>
            </a:endParaRPr>
          </a:p>
        </p:txBody>
      </p:sp>
      <p:sp>
        <p:nvSpPr>
          <p:cNvPr id="1488" name="Google Shape;1488;p15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GB" sz="2000">
                <a:solidFill>
                  <a:schemeClr val="dk1"/>
                </a:solidFill>
                <a:latin typeface="Palatino Linotype"/>
                <a:ea typeface="Palatino Linotype"/>
                <a:cs typeface="Palatino Linotype"/>
                <a:sym typeface="Palatino Linotype"/>
              </a:rPr>
              <a:t>What we have seen so far</a:t>
            </a:r>
            <a:endParaRPr sz="2000">
              <a:solidFill>
                <a:schemeClr val="dk1"/>
              </a:solidFill>
              <a:latin typeface="Palatino Linotype"/>
              <a:ea typeface="Palatino Linotype"/>
              <a:cs typeface="Palatino Linotype"/>
              <a:sym typeface="Palatino Linotype"/>
            </a:endParaRPr>
          </a:p>
          <a:p>
            <a:pPr indent="-355600" lvl="0" marL="457200" rtl="0" algn="l">
              <a:spcBef>
                <a:spcPts val="1200"/>
              </a:spcBef>
              <a:spcAft>
                <a:spcPts val="0"/>
              </a:spcAft>
              <a:buClr>
                <a:schemeClr val="dk1"/>
              </a:buClr>
              <a:buSzPts val="2000"/>
              <a:buFont typeface="Palatino Linotype"/>
              <a:buChar char="●"/>
            </a:pPr>
            <a:r>
              <a:rPr lang="en-GB" sz="2000">
                <a:solidFill>
                  <a:schemeClr val="dk1"/>
                </a:solidFill>
                <a:latin typeface="Palatino Linotype"/>
                <a:ea typeface="Palatino Linotype"/>
                <a:cs typeface="Palatino Linotype"/>
                <a:sym typeface="Palatino Linotype"/>
              </a:rPr>
              <a:t>Reasoning as a multi-step inference strategy (e.g., CoT, "thinking")</a:t>
            </a:r>
            <a:endParaRPr sz="2000">
              <a:solidFill>
                <a:schemeClr val="dk1"/>
              </a:solidFill>
              <a:latin typeface="Palatino Linotype"/>
              <a:ea typeface="Palatino Linotype"/>
              <a:cs typeface="Palatino Linotype"/>
              <a:sym typeface="Palatino Linotype"/>
            </a:endParaRPr>
          </a:p>
          <a:p>
            <a:pPr indent="-355600" lvl="0" marL="457200" rtl="0" algn="l">
              <a:spcBef>
                <a:spcPts val="0"/>
              </a:spcBef>
              <a:spcAft>
                <a:spcPts val="0"/>
              </a:spcAft>
              <a:buClr>
                <a:schemeClr val="dk1"/>
              </a:buClr>
              <a:buSzPts val="2000"/>
              <a:buFont typeface="Palatino Linotype"/>
              <a:buChar char="●"/>
            </a:pPr>
            <a:r>
              <a:rPr lang="en-GB" sz="2000">
                <a:solidFill>
                  <a:schemeClr val="dk1"/>
                </a:solidFill>
                <a:latin typeface="Palatino Linotype"/>
                <a:ea typeface="Palatino Linotype"/>
                <a:cs typeface="Palatino Linotype"/>
                <a:sym typeface="Palatino Linotype"/>
              </a:rPr>
              <a:t>Learning-to-reason on static information with grounded signals and gradient-based model updates</a:t>
            </a:r>
            <a:endParaRPr sz="2000">
              <a:solidFill>
                <a:schemeClr val="dk1"/>
              </a:solidFill>
              <a:latin typeface="Palatino Linotype"/>
              <a:ea typeface="Palatino Linotype"/>
              <a:cs typeface="Palatino Linotype"/>
              <a:sym typeface="Palatino Linotype"/>
            </a:endParaRPr>
          </a:p>
          <a:p>
            <a:pPr indent="0" lvl="0" marL="0" rtl="0" algn="l">
              <a:spcBef>
                <a:spcPts val="1200"/>
              </a:spcBef>
              <a:spcAft>
                <a:spcPts val="0"/>
              </a:spcAft>
              <a:buNone/>
            </a:pPr>
            <a:r>
              <a:rPr lang="en-GB" sz="2000">
                <a:solidFill>
                  <a:schemeClr val="dk1"/>
                </a:solidFill>
                <a:latin typeface="Palatino Linotype"/>
                <a:ea typeface="Palatino Linotype"/>
                <a:cs typeface="Palatino Linotype"/>
                <a:sym typeface="Palatino Linotype"/>
              </a:rPr>
              <a:t>What this session discusses</a:t>
            </a:r>
            <a:endParaRPr sz="2000">
              <a:solidFill>
                <a:schemeClr val="dk1"/>
              </a:solidFill>
              <a:latin typeface="Palatino Linotype"/>
              <a:ea typeface="Palatino Linotype"/>
              <a:cs typeface="Palatino Linotype"/>
              <a:sym typeface="Palatino Linotype"/>
            </a:endParaRPr>
          </a:p>
          <a:p>
            <a:pPr indent="-355600" lvl="0" marL="457200" rtl="0" algn="l">
              <a:spcBef>
                <a:spcPts val="1200"/>
              </a:spcBef>
              <a:spcAft>
                <a:spcPts val="0"/>
              </a:spcAft>
              <a:buClr>
                <a:schemeClr val="dk1"/>
              </a:buClr>
              <a:buSzPts val="2000"/>
              <a:buFont typeface="Palatino Linotype"/>
              <a:buChar char="●"/>
            </a:pPr>
            <a:r>
              <a:rPr lang="en-GB" sz="2000">
                <a:solidFill>
                  <a:schemeClr val="dk1"/>
                </a:solidFill>
                <a:latin typeface="Palatino Linotype"/>
                <a:ea typeface="Palatino Linotype"/>
                <a:cs typeface="Palatino Linotype"/>
                <a:sym typeface="Palatino Linotype"/>
              </a:rPr>
              <a:t>U</a:t>
            </a:r>
            <a:r>
              <a:rPr lang="en-GB" sz="2000">
                <a:solidFill>
                  <a:schemeClr val="dk1"/>
                </a:solidFill>
                <a:latin typeface="Palatino Linotype"/>
                <a:ea typeface="Palatino Linotype"/>
                <a:cs typeface="Palatino Linotype"/>
                <a:sym typeface="Palatino Linotype"/>
              </a:rPr>
              <a:t>ncertainty as the control variable of retrieval, and search agents</a:t>
            </a:r>
            <a:endParaRPr sz="2000">
              <a:solidFill>
                <a:schemeClr val="dk1"/>
              </a:solidFill>
              <a:latin typeface="Palatino Linotype"/>
              <a:ea typeface="Palatino Linotype"/>
              <a:cs typeface="Palatino Linotype"/>
              <a:sym typeface="Palatino Linotype"/>
            </a:endParaRPr>
          </a:p>
          <a:p>
            <a:pPr indent="-355600" lvl="0" marL="457200" rtl="0" algn="l">
              <a:spcBef>
                <a:spcPts val="0"/>
              </a:spcBef>
              <a:spcAft>
                <a:spcPts val="0"/>
              </a:spcAft>
              <a:buClr>
                <a:schemeClr val="dk1"/>
              </a:buClr>
              <a:buSzPts val="2000"/>
              <a:buFont typeface="Palatino Linotype"/>
              <a:buChar char="●"/>
            </a:pPr>
            <a:r>
              <a:rPr lang="en-GB" sz="2000">
                <a:solidFill>
                  <a:schemeClr val="dk1"/>
                </a:solidFill>
                <a:latin typeface="Palatino Linotype"/>
                <a:ea typeface="Palatino Linotype"/>
                <a:cs typeface="Palatino Linotype"/>
                <a:sym typeface="Palatino Linotype"/>
              </a:rPr>
              <a:t>Bayesian reasoning as a framework to navigate uncertainty</a:t>
            </a:r>
            <a:endParaRPr sz="2000">
              <a:solidFill>
                <a:schemeClr val="dk1"/>
              </a:solidFill>
              <a:latin typeface="Palatino Linotype"/>
              <a:ea typeface="Palatino Linotype"/>
              <a:cs typeface="Palatino Linotype"/>
              <a:sym typeface="Palatino Linotype"/>
            </a:endParaRPr>
          </a:p>
          <a:p>
            <a:pPr indent="-355600" lvl="0" marL="457200" rtl="0" algn="l">
              <a:spcBef>
                <a:spcPts val="0"/>
              </a:spcBef>
              <a:spcAft>
                <a:spcPts val="0"/>
              </a:spcAft>
              <a:buClr>
                <a:schemeClr val="dk1"/>
              </a:buClr>
              <a:buSzPts val="2000"/>
              <a:buFont typeface="Palatino Linotype"/>
              <a:buChar char="●"/>
            </a:pPr>
            <a:r>
              <a:rPr lang="en-GB" sz="2000">
                <a:solidFill>
                  <a:schemeClr val="dk1"/>
                </a:solidFill>
                <a:latin typeface="Palatino Linotype"/>
                <a:ea typeface="Palatino Linotype"/>
                <a:cs typeface="Palatino Linotype"/>
                <a:sym typeface="Palatino Linotype"/>
              </a:rPr>
              <a:t>Act based on current “belief” and updating a model's beliefs via observation</a:t>
            </a:r>
            <a:endParaRPr sz="2300">
              <a:solidFill>
                <a:schemeClr val="dk1"/>
              </a:solidFill>
              <a:latin typeface="Palatino Linotype"/>
              <a:ea typeface="Palatino Linotype"/>
              <a:cs typeface="Palatino Linotype"/>
              <a:sym typeface="Palatino Linotype"/>
            </a:endParaRPr>
          </a:p>
        </p:txBody>
      </p:sp>
      <p:sp>
        <p:nvSpPr>
          <p:cNvPr id="1489" name="Google Shape;1489;p15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493" name="Shape 1493"/>
        <p:cNvGrpSpPr/>
        <p:nvPr/>
      </p:nvGrpSpPr>
      <p:grpSpPr>
        <a:xfrm>
          <a:off x="0" y="0"/>
          <a:ext cx="0" cy="0"/>
          <a:chOff x="0" y="0"/>
          <a:chExt cx="0" cy="0"/>
        </a:xfrm>
      </p:grpSpPr>
      <p:sp>
        <p:nvSpPr>
          <p:cNvPr id="1494" name="Google Shape;1494;p15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990"/>
              <a:buNone/>
            </a:pPr>
            <a:r>
              <a:rPr b="1" lang="en-GB"/>
              <a:t>Why Bayesian methods show up in LLM work</a:t>
            </a:r>
            <a:endParaRPr b="1" sz="2820"/>
          </a:p>
        </p:txBody>
      </p:sp>
      <p:sp>
        <p:nvSpPr>
          <p:cNvPr id="1495" name="Google Shape;1495;p15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lnSpcReduction="10000"/>
          </a:bodyPr>
          <a:lstStyle/>
          <a:p>
            <a:pPr indent="-355600" lvl="0" marL="457200" rtl="0" algn="l">
              <a:lnSpc>
                <a:spcPct val="115000"/>
              </a:lnSpc>
              <a:spcBef>
                <a:spcPts val="0"/>
              </a:spcBef>
              <a:spcAft>
                <a:spcPts val="0"/>
              </a:spcAft>
              <a:buClr>
                <a:schemeClr val="dk1"/>
              </a:buClr>
              <a:buSzPts val="2000"/>
              <a:buChar char="●"/>
            </a:pPr>
            <a:r>
              <a:rPr lang="en-GB" sz="2000">
                <a:solidFill>
                  <a:schemeClr val="dk1"/>
                </a:solidFill>
              </a:rPr>
              <a:t>LLMs are powerful but overconfident, poorly calibrated and brittle in multi-step reasoning</a:t>
            </a:r>
            <a:endParaRPr sz="2000">
              <a:solidFill>
                <a:schemeClr val="dk1"/>
              </a:solidFill>
            </a:endParaRPr>
          </a:p>
          <a:p>
            <a:pPr indent="-355600" lvl="0" marL="457200" rtl="0" algn="l">
              <a:lnSpc>
                <a:spcPct val="115000"/>
              </a:lnSpc>
              <a:spcBef>
                <a:spcPts val="0"/>
              </a:spcBef>
              <a:spcAft>
                <a:spcPts val="0"/>
              </a:spcAft>
              <a:buClr>
                <a:schemeClr val="dk1"/>
              </a:buClr>
              <a:buSzPts val="2000"/>
              <a:buChar char="●"/>
            </a:pPr>
            <a:r>
              <a:rPr lang="en-GB" sz="2000">
                <a:solidFill>
                  <a:schemeClr val="dk1"/>
                </a:solidFill>
              </a:rPr>
              <a:t>The </a:t>
            </a:r>
            <a:r>
              <a:rPr b="1" lang="en-GB" sz="2000">
                <a:solidFill>
                  <a:schemeClr val="dk1"/>
                </a:solidFill>
              </a:rPr>
              <a:t>papers discussed in this section</a:t>
            </a:r>
            <a:r>
              <a:rPr lang="en-GB" sz="2000">
                <a:solidFill>
                  <a:schemeClr val="dk1"/>
                </a:solidFill>
              </a:rPr>
              <a:t> </a:t>
            </a:r>
            <a:r>
              <a:rPr i="1" lang="en-GB" sz="1600">
                <a:solidFill>
                  <a:schemeClr val="dk1"/>
                </a:solidFill>
              </a:rPr>
              <a:t>(next slide)</a:t>
            </a:r>
            <a:r>
              <a:rPr lang="en-GB" sz="2000">
                <a:solidFill>
                  <a:schemeClr val="dk1"/>
                </a:solidFill>
              </a:rPr>
              <a:t> introduce</a:t>
            </a:r>
            <a:endParaRPr sz="2000">
              <a:solidFill>
                <a:schemeClr val="dk1"/>
              </a:solidFill>
            </a:endParaRPr>
          </a:p>
          <a:p>
            <a:pPr indent="-342900" lvl="1" marL="914400" rtl="0" algn="l">
              <a:lnSpc>
                <a:spcPct val="115000"/>
              </a:lnSpc>
              <a:spcBef>
                <a:spcPts val="0"/>
              </a:spcBef>
              <a:spcAft>
                <a:spcPts val="0"/>
              </a:spcAft>
              <a:buClr>
                <a:schemeClr val="dk1"/>
              </a:buClr>
              <a:buSzPts val="1800"/>
              <a:buChar char="○"/>
            </a:pPr>
            <a:r>
              <a:rPr lang="en-GB" sz="1800">
                <a:solidFill>
                  <a:schemeClr val="dk1"/>
                </a:solidFill>
              </a:rPr>
              <a:t>explicit beliefs</a:t>
            </a:r>
            <a:endParaRPr sz="1800">
              <a:solidFill>
                <a:schemeClr val="dk1"/>
              </a:solidFill>
            </a:endParaRPr>
          </a:p>
          <a:p>
            <a:pPr indent="-342900" lvl="1" marL="914400" rtl="0" algn="l">
              <a:lnSpc>
                <a:spcPct val="115000"/>
              </a:lnSpc>
              <a:spcBef>
                <a:spcPts val="0"/>
              </a:spcBef>
              <a:spcAft>
                <a:spcPts val="0"/>
              </a:spcAft>
              <a:buClr>
                <a:schemeClr val="dk1"/>
              </a:buClr>
              <a:buSzPts val="1800"/>
              <a:buChar char="○"/>
            </a:pPr>
            <a:r>
              <a:rPr lang="en-GB" sz="1800">
                <a:solidFill>
                  <a:schemeClr val="dk1"/>
                </a:solidFill>
              </a:rPr>
              <a:t>principled updating</a:t>
            </a:r>
            <a:endParaRPr sz="1800">
              <a:solidFill>
                <a:schemeClr val="dk1"/>
              </a:solidFill>
            </a:endParaRPr>
          </a:p>
          <a:p>
            <a:pPr indent="-342900" lvl="1" marL="914400" rtl="0" algn="l">
              <a:lnSpc>
                <a:spcPct val="115000"/>
              </a:lnSpc>
              <a:spcBef>
                <a:spcPts val="0"/>
              </a:spcBef>
              <a:spcAft>
                <a:spcPts val="0"/>
              </a:spcAft>
              <a:buClr>
                <a:schemeClr val="dk1"/>
              </a:buClr>
              <a:buSzPts val="1800"/>
              <a:buChar char="○"/>
            </a:pPr>
            <a:r>
              <a:rPr lang="en-GB" sz="1800">
                <a:solidFill>
                  <a:schemeClr val="dk1"/>
                </a:solidFill>
              </a:rPr>
              <a:t>decision-making under uncertainty</a:t>
            </a:r>
            <a:endParaRPr sz="1800">
              <a:solidFill>
                <a:schemeClr val="dk1"/>
              </a:solidFill>
            </a:endParaRPr>
          </a:p>
          <a:p>
            <a:pPr indent="0" lvl="0" marL="0" rtl="0" algn="l">
              <a:lnSpc>
                <a:spcPct val="115000"/>
              </a:lnSpc>
              <a:spcBef>
                <a:spcPts val="1200"/>
              </a:spcBef>
              <a:spcAft>
                <a:spcPts val="0"/>
              </a:spcAft>
              <a:buSzPts val="1800"/>
              <a:buNone/>
            </a:pPr>
            <a:r>
              <a:rPr b="1" lang="en-GB" sz="2000">
                <a:solidFill>
                  <a:schemeClr val="dk1"/>
                </a:solidFill>
              </a:rPr>
              <a:t>Question:</a:t>
            </a:r>
            <a:r>
              <a:rPr lang="en-GB" sz="2000">
                <a:solidFill>
                  <a:schemeClr val="dk1"/>
                </a:solidFill>
              </a:rPr>
              <a:t> Where do we plug Bayesian methodology into the LLM training?</a:t>
            </a:r>
            <a:endParaRPr sz="2000">
              <a:solidFill>
                <a:schemeClr val="dk1"/>
              </a:solidFill>
            </a:endParaRPr>
          </a:p>
          <a:p>
            <a:pPr indent="0" lvl="0" marL="0" rtl="0" algn="l">
              <a:lnSpc>
                <a:spcPct val="115000"/>
              </a:lnSpc>
              <a:spcBef>
                <a:spcPts val="1200"/>
              </a:spcBef>
              <a:spcAft>
                <a:spcPts val="1200"/>
              </a:spcAft>
              <a:buSzPts val="1800"/>
              <a:buNone/>
            </a:pPr>
            <a:r>
              <a:t/>
            </a:r>
            <a:endParaRPr sz="2000">
              <a:solidFill>
                <a:schemeClr val="dk1"/>
              </a:solidFill>
            </a:endParaRPr>
          </a:p>
        </p:txBody>
      </p:sp>
      <p:sp>
        <p:nvSpPr>
          <p:cNvPr id="1496" name="Google Shape;1496;p15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GB"/>
              <a:t>‹#›</a:t>
            </a:fld>
            <a:endParaRPr/>
          </a:p>
        </p:txBody>
      </p:sp>
    </p:spTree>
  </p:cSld>
  <p:clrMapOvr>
    <a:masterClrMapping/>
  </p:clrMapOvr>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0" name="Shape 1500"/>
        <p:cNvGrpSpPr/>
        <p:nvPr/>
      </p:nvGrpSpPr>
      <p:grpSpPr>
        <a:xfrm>
          <a:off x="0" y="0"/>
          <a:ext cx="0" cy="0"/>
          <a:chOff x="0" y="0"/>
          <a:chExt cx="0" cy="0"/>
        </a:xfrm>
      </p:grpSpPr>
      <p:sp>
        <p:nvSpPr>
          <p:cNvPr id="1501" name="Google Shape;1501;p15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b="1" lang="en-GB" sz="2820"/>
              <a:t>Reasoning Under Uncertainty</a:t>
            </a:r>
            <a:endParaRPr b="1" sz="2820"/>
          </a:p>
        </p:txBody>
      </p:sp>
      <p:sp>
        <p:nvSpPr>
          <p:cNvPr id="1502" name="Google Shape;1502;p159"/>
          <p:cNvSpPr txBox="1"/>
          <p:nvPr>
            <p:ph idx="1" type="body"/>
          </p:nvPr>
        </p:nvSpPr>
        <p:spPr>
          <a:xfrm>
            <a:off x="311700" y="1924975"/>
            <a:ext cx="4260300" cy="2060100"/>
          </a:xfrm>
          <a:prstGeom prst="rect">
            <a:avLst/>
          </a:prstGeom>
        </p:spPr>
        <p:txBody>
          <a:bodyPr anchorCtr="0" anchor="t" bIns="91425" lIns="91425" spcFirstLastPara="1" rIns="91425" wrap="square" tIns="91425">
            <a:normAutofit/>
          </a:bodyPr>
          <a:lstStyle/>
          <a:p>
            <a:pPr indent="-355600" lvl="0" marL="457200" rtl="0" algn="l">
              <a:spcBef>
                <a:spcPts val="0"/>
              </a:spcBef>
              <a:spcAft>
                <a:spcPts val="0"/>
              </a:spcAft>
              <a:buClr>
                <a:schemeClr val="dk1"/>
              </a:buClr>
              <a:buSzPts val="2000"/>
              <a:buChar char="●"/>
            </a:pPr>
            <a:r>
              <a:rPr lang="en-GB" sz="2000">
                <a:solidFill>
                  <a:schemeClr val="dk1"/>
                </a:solidFill>
              </a:rPr>
              <a:t>Step 1: Choose the </a:t>
            </a:r>
            <a:r>
              <a:rPr lang="en-GB" sz="2000" u="sng">
                <a:solidFill>
                  <a:schemeClr val="dk1"/>
                </a:solidFill>
              </a:rPr>
              <a:t>uncertain object</a:t>
            </a:r>
            <a:endParaRPr sz="2000" u="sng">
              <a:solidFill>
                <a:schemeClr val="dk1"/>
              </a:solidFill>
            </a:endParaRPr>
          </a:p>
          <a:p>
            <a:pPr indent="-355600" lvl="0" marL="457200" rtl="0" algn="l">
              <a:spcBef>
                <a:spcPts val="0"/>
              </a:spcBef>
              <a:spcAft>
                <a:spcPts val="0"/>
              </a:spcAft>
              <a:buClr>
                <a:schemeClr val="dk1"/>
              </a:buClr>
              <a:buSzPts val="2000"/>
              <a:buChar char="●"/>
            </a:pPr>
            <a:r>
              <a:rPr lang="en-GB" sz="2000">
                <a:solidFill>
                  <a:schemeClr val="dk1"/>
                </a:solidFill>
              </a:rPr>
              <a:t>Step 2: Approximate a posterior over it</a:t>
            </a:r>
            <a:endParaRPr sz="2000">
              <a:solidFill>
                <a:schemeClr val="dk1"/>
              </a:solidFill>
            </a:endParaRPr>
          </a:p>
          <a:p>
            <a:pPr indent="-355600" lvl="0" marL="457200" rtl="0" algn="l">
              <a:spcBef>
                <a:spcPts val="0"/>
              </a:spcBef>
              <a:spcAft>
                <a:spcPts val="0"/>
              </a:spcAft>
              <a:buClr>
                <a:schemeClr val="dk1"/>
              </a:buClr>
              <a:buSzPts val="2000"/>
              <a:buChar char="●"/>
            </a:pPr>
            <a:r>
              <a:rPr lang="en-GB" sz="2000">
                <a:solidFill>
                  <a:schemeClr val="dk1"/>
                </a:solidFill>
              </a:rPr>
              <a:t>Step 3: Use that posterior to act</a:t>
            </a:r>
            <a:endParaRPr sz="2000">
              <a:solidFill>
                <a:schemeClr val="dk1"/>
              </a:solidFill>
            </a:endParaRPr>
          </a:p>
        </p:txBody>
      </p:sp>
      <p:sp>
        <p:nvSpPr>
          <p:cNvPr id="1503" name="Google Shape;1503;p15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
        <p:nvSpPr>
          <p:cNvPr id="1504" name="Google Shape;1504;p159"/>
          <p:cNvSpPr txBox="1"/>
          <p:nvPr>
            <p:ph idx="1" type="body"/>
          </p:nvPr>
        </p:nvSpPr>
        <p:spPr>
          <a:xfrm>
            <a:off x="4760850" y="1246825"/>
            <a:ext cx="42603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b="1">
              <a:solidFill>
                <a:schemeClr val="dk1"/>
              </a:solidFill>
            </a:endParaRPr>
          </a:p>
          <a:p>
            <a:pPr indent="0" lvl="0" marL="0" rtl="0" algn="l">
              <a:spcBef>
                <a:spcPts val="1200"/>
              </a:spcBef>
              <a:spcAft>
                <a:spcPts val="0"/>
              </a:spcAft>
              <a:buNone/>
            </a:pPr>
            <a:r>
              <a:rPr b="1" lang="en-GB">
                <a:solidFill>
                  <a:schemeClr val="dk1"/>
                </a:solidFill>
              </a:rPr>
              <a:t>Examples of </a:t>
            </a:r>
            <a:r>
              <a:rPr b="1" lang="en-GB">
                <a:solidFill>
                  <a:schemeClr val="dk1"/>
                </a:solidFill>
              </a:rPr>
              <a:t>Uncertain Objects</a:t>
            </a:r>
            <a:endParaRPr b="1">
              <a:solidFill>
                <a:schemeClr val="dk1"/>
              </a:solidFill>
            </a:endParaRPr>
          </a:p>
          <a:p>
            <a:pPr indent="-342900" lvl="0" marL="457200" rtl="0" algn="l">
              <a:spcBef>
                <a:spcPts val="1200"/>
              </a:spcBef>
              <a:spcAft>
                <a:spcPts val="0"/>
              </a:spcAft>
              <a:buClr>
                <a:schemeClr val="dk1"/>
              </a:buClr>
              <a:buSzPts val="1800"/>
              <a:buChar char="●"/>
            </a:pPr>
            <a:r>
              <a:rPr lang="en-GB">
                <a:solidFill>
                  <a:schemeClr val="dk1"/>
                </a:solidFill>
              </a:rPr>
              <a:t>hypothesis support (AutoDiscovery)</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reasoning uncertainty (Reasoning in Flux)</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Supporting evidence in RAG</a:t>
            </a:r>
            <a:endParaRPr>
              <a:solidFill>
                <a:schemeClr val="dk1"/>
              </a:solidFill>
            </a:endParaRPr>
          </a:p>
          <a:p>
            <a:pPr indent="0" lvl="0" marL="0" rtl="0" algn="l">
              <a:spcBef>
                <a:spcPts val="1200"/>
              </a:spcBef>
              <a:spcAft>
                <a:spcPts val="1200"/>
              </a:spcAft>
              <a:buNone/>
            </a:pPr>
            <a:r>
              <a:t/>
            </a:r>
            <a:endParaRPr>
              <a:solidFill>
                <a:schemeClr val="dk1"/>
              </a:solidFill>
            </a:endParaRPr>
          </a:p>
        </p:txBody>
      </p:sp>
      <p:sp>
        <p:nvSpPr>
          <p:cNvPr id="1505" name="Google Shape;1505;p159"/>
          <p:cNvSpPr txBox="1"/>
          <p:nvPr/>
        </p:nvSpPr>
        <p:spPr>
          <a:xfrm>
            <a:off x="105550" y="4324525"/>
            <a:ext cx="82605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000">
                <a:solidFill>
                  <a:srgbClr val="222222"/>
                </a:solidFill>
                <a:highlight>
                  <a:srgbClr val="FFFFFF"/>
                </a:highlight>
              </a:rPr>
              <a:t>Reasoning in Flux (Yin et al., 2024)</a:t>
            </a:r>
            <a:endParaRPr sz="1000">
              <a:solidFill>
                <a:srgbClr val="222222"/>
              </a:solidFill>
              <a:highlight>
                <a:srgbClr val="FFFFFF"/>
              </a:highlight>
            </a:endParaRPr>
          </a:p>
          <a:p>
            <a:pPr indent="0" lvl="0" marL="0" rtl="0" algn="l">
              <a:spcBef>
                <a:spcPts val="0"/>
              </a:spcBef>
              <a:spcAft>
                <a:spcPts val="0"/>
              </a:spcAft>
              <a:buNone/>
            </a:pPr>
            <a:r>
              <a:rPr lang="en-GB" sz="1000">
                <a:solidFill>
                  <a:srgbClr val="222222"/>
                </a:solidFill>
                <a:highlight>
                  <a:srgbClr val="FFFFFF"/>
                </a:highlight>
              </a:rPr>
              <a:t>AutoDiscovery (Agarwal et al., 2025)</a:t>
            </a:r>
            <a:endParaRPr sz="1000">
              <a:solidFill>
                <a:srgbClr val="222222"/>
              </a:solidFill>
              <a:highlight>
                <a:srgbClr val="FFFFFF"/>
              </a:highlight>
            </a:endParaRPr>
          </a:p>
          <a:p>
            <a:pPr indent="0" lvl="0" marL="0" rtl="0" algn="l">
              <a:spcBef>
                <a:spcPts val="0"/>
              </a:spcBef>
              <a:spcAft>
                <a:spcPts val="0"/>
              </a:spcAft>
              <a:buNone/>
            </a:pPr>
            <a:r>
              <a:t/>
            </a:r>
            <a:endParaRPr sz="1000">
              <a:solidFill>
                <a:srgbClr val="222222"/>
              </a:solidFill>
              <a:highlight>
                <a:srgbClr val="FFFFFF"/>
              </a:highlight>
            </a:endParaRPr>
          </a:p>
        </p:txBody>
      </p:sp>
    </p:spTree>
  </p:cSld>
  <p:clrMapOvr>
    <a:masterClrMapping/>
  </p:clrMapOvr>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9" name="Shape 1509"/>
        <p:cNvGrpSpPr/>
        <p:nvPr/>
      </p:nvGrpSpPr>
      <p:grpSpPr>
        <a:xfrm>
          <a:off x="0" y="0"/>
          <a:ext cx="0" cy="0"/>
          <a:chOff x="0" y="0"/>
          <a:chExt cx="0" cy="0"/>
        </a:xfrm>
      </p:grpSpPr>
      <p:sp>
        <p:nvSpPr>
          <p:cNvPr id="1510" name="Google Shape;1510;p16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b="1" lang="en-GB" sz="2820"/>
              <a:t>Bayes as a control signal</a:t>
            </a:r>
            <a:endParaRPr b="1" sz="2820"/>
          </a:p>
        </p:txBody>
      </p:sp>
      <p:sp>
        <p:nvSpPr>
          <p:cNvPr id="1511" name="Google Shape;1511;p160"/>
          <p:cNvSpPr txBox="1"/>
          <p:nvPr>
            <p:ph idx="1" type="body"/>
          </p:nvPr>
        </p:nvSpPr>
        <p:spPr>
          <a:xfrm>
            <a:off x="335175" y="1171423"/>
            <a:ext cx="4083000" cy="3728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GB" sz="2000">
                <a:solidFill>
                  <a:schemeClr val="dk1"/>
                </a:solidFill>
              </a:rPr>
              <a:t>Reasoning in Flux </a:t>
            </a:r>
            <a:r>
              <a:rPr lang="en-GB" sz="2000">
                <a:solidFill>
                  <a:schemeClr val="dk1"/>
                </a:solidFill>
              </a:rPr>
              <a:t>(Yin et al., 2024)</a:t>
            </a:r>
            <a:endParaRPr b="1" sz="2000">
              <a:solidFill>
                <a:schemeClr val="dk1"/>
              </a:solidFill>
            </a:endParaRPr>
          </a:p>
          <a:p>
            <a:pPr indent="-355600" lvl="0" marL="457200" rtl="0" algn="l">
              <a:spcBef>
                <a:spcPts val="1200"/>
              </a:spcBef>
              <a:spcAft>
                <a:spcPts val="0"/>
              </a:spcAft>
              <a:buClr>
                <a:schemeClr val="dk1"/>
              </a:buClr>
              <a:buSzPts val="2000"/>
              <a:buChar char="●"/>
            </a:pPr>
            <a:r>
              <a:rPr lang="en-GB" sz="2000">
                <a:solidFill>
                  <a:schemeClr val="dk1"/>
                </a:solidFill>
              </a:rPr>
              <a:t>Tracks token-level uncertainty during CoT</a:t>
            </a:r>
            <a:endParaRPr sz="2000">
              <a:solidFill>
                <a:schemeClr val="dk1"/>
              </a:solidFill>
            </a:endParaRPr>
          </a:p>
          <a:p>
            <a:pPr indent="-355600" lvl="0" marL="457200" rtl="0" algn="l">
              <a:spcBef>
                <a:spcPts val="0"/>
              </a:spcBef>
              <a:spcAft>
                <a:spcPts val="0"/>
              </a:spcAft>
              <a:buClr>
                <a:schemeClr val="dk1"/>
              </a:buClr>
              <a:buSzPts val="2000"/>
              <a:buChar char="●"/>
            </a:pPr>
            <a:r>
              <a:rPr lang="en-GB" sz="2000">
                <a:solidFill>
                  <a:schemeClr val="dk1"/>
                </a:solidFill>
              </a:rPr>
              <a:t>When uncertainty jumps, it backtracks</a:t>
            </a:r>
            <a:endParaRPr sz="2000">
              <a:solidFill>
                <a:schemeClr val="dk1"/>
              </a:solidFill>
            </a:endParaRPr>
          </a:p>
          <a:p>
            <a:pPr indent="-355600" lvl="0" marL="457200" rtl="0" algn="l">
              <a:spcBef>
                <a:spcPts val="0"/>
              </a:spcBef>
              <a:spcAft>
                <a:spcPts val="0"/>
              </a:spcAft>
              <a:buClr>
                <a:schemeClr val="dk1"/>
              </a:buClr>
              <a:buSzPts val="2000"/>
              <a:buChar char="●"/>
            </a:pPr>
            <a:r>
              <a:rPr lang="en-GB" sz="2000">
                <a:solidFill>
                  <a:schemeClr val="dk1"/>
                </a:solidFill>
              </a:rPr>
              <a:t>Then injects "reasoning clues" to repair the chain</a:t>
            </a:r>
            <a:endParaRPr b="1" sz="2000">
              <a:solidFill>
                <a:schemeClr val="dk1"/>
              </a:solidFill>
            </a:endParaRPr>
          </a:p>
        </p:txBody>
      </p:sp>
      <p:sp>
        <p:nvSpPr>
          <p:cNvPr id="1512" name="Google Shape;1512;p16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grpSp>
        <p:nvGrpSpPr>
          <p:cNvPr id="1513" name="Google Shape;1513;p160"/>
          <p:cNvGrpSpPr/>
          <p:nvPr/>
        </p:nvGrpSpPr>
        <p:grpSpPr>
          <a:xfrm>
            <a:off x="4572007" y="1097327"/>
            <a:ext cx="3879617" cy="3802781"/>
            <a:chOff x="152400" y="1170125"/>
            <a:chExt cx="4290662" cy="4205686"/>
          </a:xfrm>
        </p:grpSpPr>
        <p:pic>
          <p:nvPicPr>
            <p:cNvPr id="1514" name="Google Shape;1514;p160"/>
            <p:cNvPicPr preferRelativeResize="0"/>
            <p:nvPr/>
          </p:nvPicPr>
          <p:blipFill>
            <a:blip r:embed="rId3">
              <a:alphaModFix/>
            </a:blip>
            <a:stretch>
              <a:fillRect/>
            </a:stretch>
          </p:blipFill>
          <p:spPr>
            <a:xfrm>
              <a:off x="152400" y="1170125"/>
              <a:ext cx="4290662" cy="2614622"/>
            </a:xfrm>
            <a:prstGeom prst="rect">
              <a:avLst/>
            </a:prstGeom>
            <a:noFill/>
            <a:ln>
              <a:noFill/>
            </a:ln>
          </p:spPr>
        </p:pic>
        <p:pic>
          <p:nvPicPr>
            <p:cNvPr id="1515" name="Google Shape;1515;p160"/>
            <p:cNvPicPr preferRelativeResize="0"/>
            <p:nvPr/>
          </p:nvPicPr>
          <p:blipFill>
            <a:blip r:embed="rId4">
              <a:alphaModFix/>
            </a:blip>
            <a:stretch>
              <a:fillRect/>
            </a:stretch>
          </p:blipFill>
          <p:spPr>
            <a:xfrm>
              <a:off x="152400" y="3777280"/>
              <a:ext cx="4290652" cy="1598531"/>
            </a:xfrm>
            <a:prstGeom prst="rect">
              <a:avLst/>
            </a:prstGeom>
            <a:noFill/>
            <a:ln>
              <a:noFill/>
            </a:ln>
          </p:spPr>
        </p:pic>
      </p:grpSp>
    </p:spTree>
  </p:cSld>
  <p:clrMapOvr>
    <a:masterClrMapping/>
  </p:clrMapOvr>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9" name="Shape 1519"/>
        <p:cNvGrpSpPr/>
        <p:nvPr/>
      </p:nvGrpSpPr>
      <p:grpSpPr>
        <a:xfrm>
          <a:off x="0" y="0"/>
          <a:ext cx="0" cy="0"/>
          <a:chOff x="0" y="0"/>
          <a:chExt cx="0" cy="0"/>
        </a:xfrm>
      </p:grpSpPr>
      <p:sp>
        <p:nvSpPr>
          <p:cNvPr id="1520" name="Google Shape;1520;p16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00000"/>
              <a:buNone/>
            </a:pPr>
            <a:r>
              <a:rPr b="1" lang="en-GB"/>
              <a:t>Does UQ methods generalize to RAG? (Spoiler: no)</a:t>
            </a:r>
            <a:endParaRPr/>
          </a:p>
        </p:txBody>
      </p:sp>
      <p:sp>
        <p:nvSpPr>
          <p:cNvPr id="1521" name="Google Shape;1521;p161"/>
          <p:cNvSpPr txBox="1"/>
          <p:nvPr>
            <p:ph idx="1" type="body"/>
          </p:nvPr>
        </p:nvSpPr>
        <p:spPr>
          <a:xfrm>
            <a:off x="311700" y="1152475"/>
            <a:ext cx="37221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1000"/>
              </a:spcBef>
              <a:spcAft>
                <a:spcPts val="0"/>
              </a:spcAft>
              <a:buSzPts val="1800"/>
              <a:buNone/>
            </a:pPr>
            <a:r>
              <a:rPr b="1" lang="en-GB" sz="1500">
                <a:solidFill>
                  <a:srgbClr val="3B6FC9"/>
                </a:solidFill>
              </a:rPr>
              <a:t>An axiomatic analysis (Soudani, Kanoulas, Hasibi. Findings of ACL 2025)</a:t>
            </a:r>
            <a:endParaRPr/>
          </a:p>
          <a:p>
            <a:pPr indent="0" lvl="0" marL="0" rtl="0" algn="l">
              <a:lnSpc>
                <a:spcPct val="115000"/>
              </a:lnSpc>
              <a:spcBef>
                <a:spcPts val="500"/>
              </a:spcBef>
              <a:spcAft>
                <a:spcPts val="0"/>
              </a:spcAft>
              <a:buSzPts val="1800"/>
              <a:buNone/>
            </a:pPr>
            <a:r>
              <a:rPr lang="en-GB" sz="1300">
                <a:solidFill>
                  <a:srgbClr val="333333"/>
                </a:solidFill>
              </a:rPr>
              <a:t>•  Five formal axioms any uncertainty estimator should satisfy once retrieved evidence enters the prompt</a:t>
            </a:r>
            <a:endParaRPr/>
          </a:p>
          <a:p>
            <a:pPr indent="0" lvl="0" marL="0" rtl="0" algn="l">
              <a:lnSpc>
                <a:spcPct val="115000"/>
              </a:lnSpc>
              <a:spcBef>
                <a:spcPts val="500"/>
              </a:spcBef>
              <a:spcAft>
                <a:spcPts val="0"/>
              </a:spcAft>
              <a:buSzPts val="1800"/>
              <a:buNone/>
            </a:pPr>
            <a:r>
              <a:rPr lang="en-GB" sz="1300">
                <a:solidFill>
                  <a:srgbClr val="333333"/>
                </a:solidFill>
              </a:rPr>
              <a:t>•  No existing method satisfies them all — estimators report LOW uncertainty in RAG whether or not the context is relevant</a:t>
            </a:r>
            <a:endParaRPr/>
          </a:p>
          <a:p>
            <a:pPr indent="0" lvl="0" marL="0" rtl="0" algn="l">
              <a:lnSpc>
                <a:spcPct val="115000"/>
              </a:lnSpc>
              <a:spcBef>
                <a:spcPts val="500"/>
              </a:spcBef>
              <a:spcAft>
                <a:spcPts val="0"/>
              </a:spcAft>
              <a:buSzPts val="1800"/>
              <a:buNone/>
            </a:pPr>
            <a:r>
              <a:rPr lang="en-GB" sz="1300">
                <a:solidFill>
                  <a:srgbClr val="333333"/>
                </a:solidFill>
              </a:rPr>
              <a:t>•  Simple fix: calibrate uncertainty scores with context-relevance signals</a:t>
            </a:r>
            <a:endParaRPr/>
          </a:p>
          <a:p>
            <a:pPr indent="0" lvl="0" marL="0" rtl="0" algn="l">
              <a:lnSpc>
                <a:spcPct val="115000"/>
              </a:lnSpc>
              <a:spcBef>
                <a:spcPts val="500"/>
              </a:spcBef>
              <a:spcAft>
                <a:spcPts val="0"/>
              </a:spcAft>
              <a:buSzPts val="1800"/>
              <a:buNone/>
            </a:pPr>
            <a:r>
              <a:t/>
            </a:r>
            <a:endParaRPr/>
          </a:p>
        </p:txBody>
      </p:sp>
      <p:pic>
        <p:nvPicPr>
          <p:cNvPr id="1522" name="Google Shape;1522;p161"/>
          <p:cNvPicPr preferRelativeResize="0"/>
          <p:nvPr/>
        </p:nvPicPr>
        <p:blipFill>
          <a:blip r:embed="rId3">
            <a:alphaModFix/>
          </a:blip>
          <a:stretch>
            <a:fillRect/>
          </a:stretch>
        </p:blipFill>
        <p:spPr>
          <a:xfrm>
            <a:off x="4033775" y="1318551"/>
            <a:ext cx="5110226" cy="2811025"/>
          </a:xfrm>
          <a:prstGeom prst="rect">
            <a:avLst/>
          </a:prstGeom>
          <a:noFill/>
          <a:ln>
            <a:noFill/>
          </a:ln>
        </p:spPr>
      </p:pic>
    </p:spTree>
  </p:cSld>
  <p:clrMapOvr>
    <a:masterClrMapping/>
  </p:clrMapOvr>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6" name="Shape 1526"/>
        <p:cNvGrpSpPr/>
        <p:nvPr/>
      </p:nvGrpSpPr>
      <p:grpSpPr>
        <a:xfrm>
          <a:off x="0" y="0"/>
          <a:ext cx="0" cy="0"/>
          <a:chOff x="0" y="0"/>
          <a:chExt cx="0" cy="0"/>
        </a:xfrm>
      </p:grpSpPr>
      <p:sp>
        <p:nvSpPr>
          <p:cNvPr id="1527" name="Google Shape;1527;p16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00000"/>
              <a:buNone/>
            </a:pPr>
            <a:r>
              <a:rPr b="1" lang="en-GB"/>
              <a:t>Uncertainty as the control signal of search agents</a:t>
            </a:r>
            <a:endParaRPr/>
          </a:p>
        </p:txBody>
      </p:sp>
      <p:sp>
        <p:nvSpPr>
          <p:cNvPr id="1528" name="Google Shape;1528;p16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1000"/>
              </a:spcBef>
              <a:spcAft>
                <a:spcPts val="0"/>
              </a:spcAft>
              <a:buSzPts val="1800"/>
              <a:buNone/>
            </a:pPr>
            <a:r>
              <a:rPr b="1" lang="en-GB" sz="1500">
                <a:solidFill>
                  <a:srgbClr val="3B6FC9"/>
                </a:solidFill>
              </a:rPr>
              <a:t>R2C: UQ for retrieval-augmented reasoning (Soudani, Zamani, Hasibi, 2025)</a:t>
            </a:r>
            <a:endParaRPr/>
          </a:p>
          <a:p>
            <a:pPr indent="0" lvl="0" marL="0" rtl="0" algn="l">
              <a:lnSpc>
                <a:spcPct val="115000"/>
              </a:lnSpc>
              <a:spcBef>
                <a:spcPts val="500"/>
              </a:spcBef>
              <a:spcAft>
                <a:spcPts val="0"/>
              </a:spcAft>
              <a:buSzPts val="1800"/>
              <a:buNone/>
            </a:pPr>
            <a:r>
              <a:rPr lang="en-GB" sz="1300">
                <a:solidFill>
                  <a:srgbClr val="333333"/>
                </a:solidFill>
              </a:rPr>
              <a:t>•  Perturb intermediate reasoning steps (rewrite query, critique, re-validate) and measure outcome consistency</a:t>
            </a:r>
            <a:endParaRPr/>
          </a:p>
          <a:p>
            <a:pPr indent="0" lvl="0" marL="0" rtl="0" algn="l">
              <a:lnSpc>
                <a:spcPct val="115000"/>
              </a:lnSpc>
              <a:spcBef>
                <a:spcPts val="500"/>
              </a:spcBef>
              <a:spcAft>
                <a:spcPts val="0"/>
              </a:spcAft>
              <a:buSzPts val="1800"/>
              <a:buNone/>
            </a:pPr>
            <a:r>
              <a:rPr lang="en-GB" sz="1300">
                <a:solidFill>
                  <a:srgbClr val="333333"/>
                </a:solidFill>
              </a:rPr>
              <a:t>•  &gt;5% AUROC over strong UQ baselines; drives abstention and model selection</a:t>
            </a:r>
            <a:endParaRPr/>
          </a:p>
          <a:p>
            <a:pPr indent="0" lvl="0" marL="0" rtl="0" algn="l">
              <a:lnSpc>
                <a:spcPct val="115000"/>
              </a:lnSpc>
              <a:spcBef>
                <a:spcPts val="300"/>
              </a:spcBef>
              <a:spcAft>
                <a:spcPts val="0"/>
              </a:spcAft>
              <a:buSzPts val="1800"/>
              <a:buNone/>
            </a:pPr>
            <a:r>
              <a:t/>
            </a:r>
            <a:endParaRPr/>
          </a:p>
        </p:txBody>
      </p:sp>
      <p:sp>
        <p:nvSpPr>
          <p:cNvPr id="1529" name="Google Shape;1529;p162"/>
          <p:cNvSpPr/>
          <p:nvPr/>
        </p:nvSpPr>
        <p:spPr>
          <a:xfrm>
            <a:off x="310946" y="4568873"/>
            <a:ext cx="8522100" cy="567000"/>
          </a:xfrm>
          <a:prstGeom prst="roundRect">
            <a:avLst>
              <a:gd fmla="val 15000" name="adj"/>
            </a:avLst>
          </a:prstGeom>
          <a:solidFill>
            <a:srgbClr val="F2F2F2"/>
          </a:solidFill>
          <a:ln cap="flat" cmpd="sng" w="9525">
            <a:solidFill>
              <a:srgbClr val="999999"/>
            </a:solidFill>
            <a:prstDash val="solid"/>
            <a:round/>
            <a:headEnd len="sm" w="sm" type="none"/>
            <a:tailEnd len="sm" w="sm" type="none"/>
          </a:ln>
        </p:spPr>
        <p:txBody>
          <a:bodyPr anchorCtr="0" anchor="ctr" bIns="45700" lIns="137150" spcFirstLastPara="1" rIns="137150" wrap="square" tIns="45700">
            <a:noAutofit/>
          </a:bodyPr>
          <a:lstStyle/>
          <a:p>
            <a:pPr indent="0" lvl="0" marL="0" marR="0" rtl="0" algn="ctr">
              <a:lnSpc>
                <a:spcPct val="100000"/>
              </a:lnSpc>
              <a:spcBef>
                <a:spcPts val="0"/>
              </a:spcBef>
              <a:spcAft>
                <a:spcPts val="0"/>
              </a:spcAft>
              <a:buNone/>
            </a:pPr>
            <a:r>
              <a:rPr b="0" i="0" lang="en-GB" sz="1250" u="none" cap="none" strike="noStrike">
                <a:solidFill>
                  <a:srgbClr val="333333"/>
                </a:solidFill>
                <a:latin typeface="Palatino Linotype"/>
                <a:ea typeface="Palatino Linotype"/>
                <a:cs typeface="Palatino Linotype"/>
                <a:sym typeface="Palatino Linotype"/>
              </a:rPr>
              <a:t>Step 3 of the lens, applied to IR:</a:t>
            </a:r>
            <a:r>
              <a:rPr b="1" i="0" lang="en-GB" sz="1250" u="none" cap="none" strike="noStrike">
                <a:solidFill>
                  <a:srgbClr val="3B6FC9"/>
                </a:solidFill>
                <a:latin typeface="Palatino Linotype"/>
                <a:ea typeface="Palatino Linotype"/>
                <a:cs typeface="Palatino Linotype"/>
                <a:sym typeface="Palatino Linotype"/>
              </a:rPr>
              <a:t> the posterior decides when to retrieve, when to stop, and when to abstain.</a:t>
            </a:r>
            <a:endParaRPr/>
          </a:p>
        </p:txBody>
      </p:sp>
      <p:pic>
        <p:nvPicPr>
          <p:cNvPr id="1530" name="Google Shape;1530;p162"/>
          <p:cNvPicPr preferRelativeResize="0"/>
          <p:nvPr/>
        </p:nvPicPr>
        <p:blipFill>
          <a:blip r:embed="rId3">
            <a:alphaModFix/>
          </a:blip>
          <a:stretch>
            <a:fillRect/>
          </a:stretch>
        </p:blipFill>
        <p:spPr>
          <a:xfrm>
            <a:off x="2178825" y="2122700"/>
            <a:ext cx="4570998" cy="2446176"/>
          </a:xfrm>
          <a:prstGeom prst="rect">
            <a:avLst/>
          </a:prstGeom>
          <a:noFill/>
          <a:ln>
            <a:noFill/>
          </a:ln>
        </p:spPr>
      </p:pic>
    </p:spTree>
  </p:cSld>
  <p:clrMapOvr>
    <a:masterClrMapping/>
  </p:clrMapOvr>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4" name="Shape 1534"/>
        <p:cNvGrpSpPr/>
        <p:nvPr/>
      </p:nvGrpSpPr>
      <p:grpSpPr>
        <a:xfrm>
          <a:off x="0" y="0"/>
          <a:ext cx="0" cy="0"/>
          <a:chOff x="0" y="0"/>
          <a:chExt cx="0" cy="0"/>
        </a:xfrm>
      </p:grpSpPr>
      <p:sp>
        <p:nvSpPr>
          <p:cNvPr id="1535" name="Google Shape;1535;p16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b="1" lang="en-GB" sz="2820"/>
              <a:t>Takeaways</a:t>
            </a:r>
            <a:endParaRPr b="1" sz="2820"/>
          </a:p>
        </p:txBody>
      </p:sp>
      <p:sp>
        <p:nvSpPr>
          <p:cNvPr id="1536" name="Google Shape;1536;p16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55600" lvl="0" marL="457200" rtl="0" algn="l">
              <a:spcBef>
                <a:spcPts val="0"/>
              </a:spcBef>
              <a:spcAft>
                <a:spcPts val="0"/>
              </a:spcAft>
              <a:buClr>
                <a:schemeClr val="dk1"/>
              </a:buClr>
              <a:buSzPts val="2000"/>
              <a:buChar char="●"/>
            </a:pPr>
            <a:r>
              <a:rPr lang="en-GB" sz="2000">
                <a:solidFill>
                  <a:schemeClr val="dk1"/>
                </a:solidFill>
              </a:rPr>
              <a:t>R</a:t>
            </a:r>
            <a:r>
              <a:rPr lang="en-GB" sz="2000">
                <a:solidFill>
                  <a:schemeClr val="dk1"/>
                </a:solidFill>
              </a:rPr>
              <a:t>easoning under uncertainty with LLMs means</a:t>
            </a:r>
            <a:endParaRPr sz="2000">
              <a:solidFill>
                <a:schemeClr val="dk1"/>
              </a:solidFill>
            </a:endParaRPr>
          </a:p>
          <a:p>
            <a:pPr indent="-355600" lvl="1" marL="914400" rtl="0" algn="l">
              <a:spcBef>
                <a:spcPts val="0"/>
              </a:spcBef>
              <a:spcAft>
                <a:spcPts val="0"/>
              </a:spcAft>
              <a:buClr>
                <a:schemeClr val="dk1"/>
              </a:buClr>
              <a:buSzPts val="2000"/>
              <a:buChar char="○"/>
            </a:pPr>
            <a:r>
              <a:rPr lang="en-GB" sz="2000">
                <a:solidFill>
                  <a:schemeClr val="dk1"/>
                </a:solidFill>
              </a:rPr>
              <a:t>choosing what is uncertain</a:t>
            </a:r>
            <a:endParaRPr sz="2000">
              <a:solidFill>
                <a:schemeClr val="dk1"/>
              </a:solidFill>
            </a:endParaRPr>
          </a:p>
          <a:p>
            <a:pPr indent="-355600" lvl="1" marL="914400" rtl="0" algn="l">
              <a:spcBef>
                <a:spcPts val="0"/>
              </a:spcBef>
              <a:spcAft>
                <a:spcPts val="0"/>
              </a:spcAft>
              <a:buClr>
                <a:schemeClr val="dk1"/>
              </a:buClr>
              <a:buSzPts val="2000"/>
              <a:buChar char="○"/>
            </a:pPr>
            <a:r>
              <a:rPr lang="en-GB" sz="2000">
                <a:solidFill>
                  <a:schemeClr val="dk1"/>
                </a:solidFill>
              </a:rPr>
              <a:t>approximating a posterior</a:t>
            </a:r>
            <a:endParaRPr sz="2000">
              <a:solidFill>
                <a:schemeClr val="dk1"/>
              </a:solidFill>
            </a:endParaRPr>
          </a:p>
          <a:p>
            <a:pPr indent="-355600" lvl="1" marL="914400" rtl="0" algn="l">
              <a:spcBef>
                <a:spcPts val="0"/>
              </a:spcBef>
              <a:spcAft>
                <a:spcPts val="0"/>
              </a:spcAft>
              <a:buClr>
                <a:schemeClr val="dk1"/>
              </a:buClr>
              <a:buSzPts val="2000"/>
              <a:buChar char="○"/>
            </a:pPr>
            <a:r>
              <a:rPr lang="en-GB" sz="2000">
                <a:solidFill>
                  <a:schemeClr val="dk1"/>
                </a:solidFill>
              </a:rPr>
              <a:t>using it to make better decisions</a:t>
            </a:r>
            <a:endParaRPr sz="2000">
              <a:solidFill>
                <a:schemeClr val="dk1"/>
              </a:solidFill>
            </a:endParaRPr>
          </a:p>
          <a:p>
            <a:pPr indent="-355600" lvl="0" marL="457200" rtl="0" algn="l">
              <a:spcBef>
                <a:spcPts val="0"/>
              </a:spcBef>
              <a:spcAft>
                <a:spcPts val="0"/>
              </a:spcAft>
              <a:buClr>
                <a:schemeClr val="dk1"/>
              </a:buClr>
              <a:buSzPts val="2000"/>
              <a:buChar char="●"/>
            </a:pPr>
            <a:r>
              <a:rPr lang="en-GB" sz="2000">
                <a:solidFill>
                  <a:schemeClr val="dk1"/>
                </a:solidFill>
              </a:rPr>
              <a:t>The papers in this tutorial use UE methods to</a:t>
            </a:r>
            <a:endParaRPr sz="2000">
              <a:solidFill>
                <a:schemeClr val="dk1"/>
              </a:solidFill>
            </a:endParaRPr>
          </a:p>
          <a:p>
            <a:pPr indent="-355600" lvl="1" marL="914400" rtl="0" algn="l">
              <a:spcBef>
                <a:spcPts val="0"/>
              </a:spcBef>
              <a:spcAft>
                <a:spcPts val="0"/>
              </a:spcAft>
              <a:buClr>
                <a:schemeClr val="dk1"/>
              </a:buClr>
              <a:buSzPts val="2000"/>
              <a:buChar char="○"/>
            </a:pPr>
            <a:r>
              <a:rPr lang="en-GB" sz="2000">
                <a:solidFill>
                  <a:schemeClr val="dk1"/>
                </a:solidFill>
              </a:rPr>
              <a:t>explore better</a:t>
            </a:r>
            <a:endParaRPr sz="2000">
              <a:solidFill>
                <a:schemeClr val="dk1"/>
              </a:solidFill>
            </a:endParaRPr>
          </a:p>
          <a:p>
            <a:pPr indent="-355600" lvl="1" marL="914400" rtl="0" algn="l">
              <a:spcBef>
                <a:spcPts val="0"/>
              </a:spcBef>
              <a:spcAft>
                <a:spcPts val="0"/>
              </a:spcAft>
              <a:buClr>
                <a:schemeClr val="dk1"/>
              </a:buClr>
              <a:buSzPts val="2000"/>
              <a:buChar char="○"/>
            </a:pPr>
            <a:r>
              <a:rPr lang="en-GB" sz="2000">
                <a:solidFill>
                  <a:schemeClr val="dk1"/>
                </a:solidFill>
              </a:rPr>
              <a:t>predict more reliably</a:t>
            </a:r>
            <a:endParaRPr sz="2000">
              <a:solidFill>
                <a:schemeClr val="dk1"/>
              </a:solidFill>
            </a:endParaRPr>
          </a:p>
          <a:p>
            <a:pPr indent="-355600" lvl="1" marL="914400" rtl="0" algn="l">
              <a:spcBef>
                <a:spcPts val="0"/>
              </a:spcBef>
              <a:spcAft>
                <a:spcPts val="0"/>
              </a:spcAft>
              <a:buClr>
                <a:schemeClr val="dk1"/>
              </a:buClr>
              <a:buSzPts val="2000"/>
              <a:buChar char="○"/>
            </a:pPr>
            <a:r>
              <a:rPr lang="en-GB" sz="2000">
                <a:solidFill>
                  <a:schemeClr val="dk1"/>
                </a:solidFill>
              </a:rPr>
              <a:t>"repair" reasoning</a:t>
            </a:r>
            <a:endParaRPr sz="2000">
              <a:solidFill>
                <a:schemeClr val="dk1"/>
              </a:solidFill>
            </a:endParaRPr>
          </a:p>
          <a:p>
            <a:pPr indent="-355600" lvl="1" marL="914400" rtl="0" algn="l">
              <a:spcBef>
                <a:spcPts val="0"/>
              </a:spcBef>
              <a:spcAft>
                <a:spcPts val="0"/>
              </a:spcAft>
              <a:buClr>
                <a:schemeClr val="dk1"/>
              </a:buClr>
              <a:buSzPts val="2000"/>
              <a:buChar char="○"/>
            </a:pPr>
            <a:r>
              <a:rPr lang="en-GB" sz="2000">
                <a:solidFill>
                  <a:schemeClr val="dk1"/>
                </a:solidFill>
              </a:rPr>
              <a:t>update beliefs</a:t>
            </a:r>
            <a:endParaRPr sz="2000">
              <a:solidFill>
                <a:schemeClr val="dk1"/>
              </a:solidFill>
            </a:endParaRPr>
          </a:p>
          <a:p>
            <a:pPr indent="-355600" lvl="1" marL="914400" rtl="0" algn="l">
              <a:spcBef>
                <a:spcPts val="0"/>
              </a:spcBef>
              <a:spcAft>
                <a:spcPts val="0"/>
              </a:spcAft>
              <a:buClr>
                <a:schemeClr val="dk1"/>
              </a:buClr>
              <a:buSzPts val="2000"/>
              <a:buChar char="○"/>
            </a:pPr>
            <a:r>
              <a:rPr lang="en-GB" sz="2000">
                <a:solidFill>
                  <a:schemeClr val="dk1"/>
                </a:solidFill>
              </a:rPr>
              <a:t>fine-tune with calibrated uncertainty</a:t>
            </a:r>
            <a:endParaRPr sz="2000">
              <a:solidFill>
                <a:schemeClr val="dk1"/>
              </a:solidFill>
            </a:endParaRPr>
          </a:p>
        </p:txBody>
      </p:sp>
      <p:sp>
        <p:nvSpPr>
          <p:cNvPr id="1537" name="Google Shape;1537;p16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1" name="Shape 1541"/>
        <p:cNvGrpSpPr/>
        <p:nvPr/>
      </p:nvGrpSpPr>
      <p:grpSpPr>
        <a:xfrm>
          <a:off x="0" y="0"/>
          <a:ext cx="0" cy="0"/>
          <a:chOff x="0" y="0"/>
          <a:chExt cx="0" cy="0"/>
        </a:xfrm>
      </p:grpSpPr>
      <p:sp>
        <p:nvSpPr>
          <p:cNvPr id="1542" name="Google Shape;1542;p164"/>
          <p:cNvSpPr txBox="1"/>
          <p:nvPr>
            <p:ph type="title"/>
          </p:nvPr>
        </p:nvSpPr>
        <p:spPr>
          <a:xfrm>
            <a:off x="311700" y="511326"/>
            <a:ext cx="8520600" cy="8418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600"/>
              <a:buNone/>
            </a:pPr>
            <a:r>
              <a:rPr b="1" lang="en-GB" sz="2800"/>
              <a:t>Bottom line</a:t>
            </a:r>
            <a:endParaRPr b="1" sz="2800"/>
          </a:p>
        </p:txBody>
      </p:sp>
      <p:sp>
        <p:nvSpPr>
          <p:cNvPr id="1543" name="Google Shape;1543;p164"/>
          <p:cNvSpPr txBox="1"/>
          <p:nvPr>
            <p:ph type="title"/>
          </p:nvPr>
        </p:nvSpPr>
        <p:spPr>
          <a:xfrm>
            <a:off x="311700" y="1353125"/>
            <a:ext cx="8520600" cy="6954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Clr>
                <a:schemeClr val="dk1"/>
              </a:buClr>
              <a:buSzPts val="1100"/>
              <a:buFont typeface="Palatino Linotype"/>
              <a:buNone/>
            </a:pPr>
            <a:r>
              <a:rPr i="1" lang="en-GB" sz="2000"/>
              <a:t>Can Bayesian methods enhance the reasoning capabilities of LLMs?</a:t>
            </a:r>
            <a:endParaRPr i="1" sz="2000"/>
          </a:p>
        </p:txBody>
      </p:sp>
      <p:pic>
        <p:nvPicPr>
          <p:cNvPr id="1544" name="Google Shape;1544;p164" title="the-office.gif"/>
          <p:cNvPicPr preferRelativeResize="0"/>
          <p:nvPr/>
        </p:nvPicPr>
        <p:blipFill rotWithShape="1">
          <a:blip r:embed="rId3">
            <a:alphaModFix/>
          </a:blip>
          <a:srcRect b="0" l="0" r="0" t="0"/>
          <a:stretch/>
        </p:blipFill>
        <p:spPr>
          <a:xfrm>
            <a:off x="2783150" y="2676425"/>
            <a:ext cx="3577701" cy="1934200"/>
          </a:xfrm>
          <a:prstGeom prst="rect">
            <a:avLst/>
          </a:prstGeom>
          <a:noFill/>
          <a:ln>
            <a:noFill/>
          </a:ln>
        </p:spPr>
      </p:pic>
      <p:sp>
        <p:nvSpPr>
          <p:cNvPr id="1545" name="Google Shape;1545;p164"/>
          <p:cNvSpPr txBox="1"/>
          <p:nvPr>
            <p:ph type="title"/>
          </p:nvPr>
        </p:nvSpPr>
        <p:spPr>
          <a:xfrm>
            <a:off x="311700" y="2095800"/>
            <a:ext cx="8520600" cy="4815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600"/>
              <a:buNone/>
            </a:pPr>
            <a:r>
              <a:rPr i="1" lang="en-GB" sz="2000"/>
              <a:t>Probably</a:t>
            </a:r>
            <a:endParaRPr i="1" sz="2000"/>
          </a:p>
        </p:txBody>
      </p:sp>
      <p:sp>
        <p:nvSpPr>
          <p:cNvPr id="1546" name="Google Shape;1546;p16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GB"/>
              <a:t>‹#›</a:t>
            </a:fld>
            <a:endParaRPr/>
          </a:p>
        </p:txBody>
      </p:sp>
    </p:spTree>
  </p:cSld>
  <p:clrMapOvr>
    <a:masterClrMapping/>
  </p:clrMapOvr>
</p:sld>
</file>

<file path=ppt/slides/slide1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83C92"/>
        </a:solidFill>
      </p:bgPr>
    </p:bg>
    <p:spTree>
      <p:nvGrpSpPr>
        <p:cNvPr id="1550" name="Shape 1550"/>
        <p:cNvGrpSpPr/>
        <p:nvPr/>
      </p:nvGrpSpPr>
      <p:grpSpPr>
        <a:xfrm>
          <a:off x="0" y="0"/>
          <a:ext cx="0" cy="0"/>
          <a:chOff x="0" y="0"/>
          <a:chExt cx="0" cy="0"/>
        </a:xfrm>
      </p:grpSpPr>
      <p:sp>
        <p:nvSpPr>
          <p:cNvPr id="1551" name="Google Shape;1551;p165"/>
          <p:cNvSpPr txBox="1"/>
          <p:nvPr>
            <p:ph type="title"/>
          </p:nvPr>
        </p:nvSpPr>
        <p:spPr>
          <a:xfrm>
            <a:off x="311700" y="2150850"/>
            <a:ext cx="8520600" cy="8418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b="1" lang="en-GB">
                <a:solidFill>
                  <a:schemeClr val="lt1"/>
                </a:solidFill>
              </a:rPr>
              <a:t>5. Bridging current methods/challenges </a:t>
            </a:r>
            <a:endParaRPr b="1">
              <a:solidFill>
                <a:schemeClr val="lt1"/>
              </a:solidFill>
            </a:endParaRPr>
          </a:p>
          <a:p>
            <a:pPr indent="0" lvl="0" marL="0" rtl="0" algn="l">
              <a:spcBef>
                <a:spcPts val="0"/>
              </a:spcBef>
              <a:spcAft>
                <a:spcPts val="0"/>
              </a:spcAft>
              <a:buNone/>
            </a:pPr>
            <a:r>
              <a:rPr b="1" lang="en-GB">
                <a:solidFill>
                  <a:schemeClr val="lt1"/>
                </a:solidFill>
              </a:rPr>
              <a:t>&amp; future directions</a:t>
            </a:r>
            <a:endParaRPr b="1" sz="3489">
              <a:solidFill>
                <a:srgbClr val="93C47D"/>
              </a:solidFill>
            </a:endParaRPr>
          </a:p>
        </p:txBody>
      </p:sp>
      <p:sp>
        <p:nvSpPr>
          <p:cNvPr id="1552" name="Google Shape;1552;p16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D9EEB"/>
        </a:solidFill>
      </p:bgPr>
    </p:bg>
    <p:spTree>
      <p:nvGrpSpPr>
        <p:cNvPr id="1556" name="Shape 1556"/>
        <p:cNvGrpSpPr/>
        <p:nvPr/>
      </p:nvGrpSpPr>
      <p:grpSpPr>
        <a:xfrm>
          <a:off x="0" y="0"/>
          <a:ext cx="0" cy="0"/>
          <a:chOff x="0" y="0"/>
          <a:chExt cx="0" cy="0"/>
        </a:xfrm>
      </p:grpSpPr>
      <p:sp>
        <p:nvSpPr>
          <p:cNvPr id="1557" name="Google Shape;1557;p166"/>
          <p:cNvSpPr txBox="1"/>
          <p:nvPr>
            <p:ph type="title"/>
          </p:nvPr>
        </p:nvSpPr>
        <p:spPr>
          <a:xfrm>
            <a:off x="311700" y="2150850"/>
            <a:ext cx="8520600" cy="8418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n-GB">
                <a:solidFill>
                  <a:schemeClr val="lt1"/>
                </a:solidFill>
              </a:rPr>
              <a:t>Comparative analysis of existing reasoning paradigms along key dimensions:</a:t>
            </a:r>
            <a:r>
              <a:rPr lang="en-GB">
                <a:solidFill>
                  <a:schemeClr val="lt1"/>
                </a:solidFill>
              </a:rPr>
              <a:t> </a:t>
            </a:r>
            <a:endParaRPr>
              <a:solidFill>
                <a:schemeClr val="lt1"/>
              </a:solidFill>
            </a:endParaRPr>
          </a:p>
          <a:p>
            <a:pPr indent="0" lvl="0" marL="0" rtl="0" algn="l">
              <a:spcBef>
                <a:spcPts val="0"/>
              </a:spcBef>
              <a:spcAft>
                <a:spcPts val="0"/>
              </a:spcAft>
              <a:buNone/>
            </a:pPr>
            <a:r>
              <a:t/>
            </a:r>
            <a:endParaRPr>
              <a:solidFill>
                <a:schemeClr val="lt1"/>
              </a:solidFill>
            </a:endParaRPr>
          </a:p>
          <a:p>
            <a:pPr indent="-434340" lvl="0" marL="914400" rtl="0" algn="l">
              <a:spcBef>
                <a:spcPts val="0"/>
              </a:spcBef>
              <a:spcAft>
                <a:spcPts val="0"/>
              </a:spcAft>
              <a:buClr>
                <a:schemeClr val="lt1"/>
              </a:buClr>
              <a:buSzPct val="100000"/>
              <a:buAutoNum type="alphaUcPeriod"/>
            </a:pPr>
            <a:r>
              <a:rPr lang="en-GB">
                <a:solidFill>
                  <a:schemeClr val="lt1"/>
                </a:solidFill>
              </a:rPr>
              <a:t>R</a:t>
            </a:r>
            <a:r>
              <a:rPr lang="en-GB">
                <a:solidFill>
                  <a:schemeClr val="lt1"/>
                </a:solidFill>
              </a:rPr>
              <a:t>epresentational Capability, </a:t>
            </a:r>
            <a:endParaRPr>
              <a:solidFill>
                <a:schemeClr val="lt1"/>
              </a:solidFill>
            </a:endParaRPr>
          </a:p>
          <a:p>
            <a:pPr indent="-434340" lvl="0" marL="914400" rtl="0" algn="l">
              <a:spcBef>
                <a:spcPts val="0"/>
              </a:spcBef>
              <a:spcAft>
                <a:spcPts val="0"/>
              </a:spcAft>
              <a:buClr>
                <a:schemeClr val="lt1"/>
              </a:buClr>
              <a:buSzPct val="100000"/>
              <a:buAutoNum type="alphaUcPeriod"/>
            </a:pPr>
            <a:r>
              <a:rPr lang="en-GB">
                <a:solidFill>
                  <a:schemeClr val="lt1"/>
                </a:solidFill>
              </a:rPr>
              <a:t>Inference Faithfulness, </a:t>
            </a:r>
            <a:endParaRPr>
              <a:solidFill>
                <a:schemeClr val="lt1"/>
              </a:solidFill>
            </a:endParaRPr>
          </a:p>
          <a:p>
            <a:pPr indent="-434340" lvl="0" marL="914400" rtl="0" algn="l">
              <a:spcBef>
                <a:spcPts val="0"/>
              </a:spcBef>
              <a:spcAft>
                <a:spcPts val="0"/>
              </a:spcAft>
              <a:buClr>
                <a:schemeClr val="lt1"/>
              </a:buClr>
              <a:buSzPct val="100000"/>
              <a:buAutoNum type="alphaUcPeriod"/>
            </a:pPr>
            <a:r>
              <a:rPr lang="en-GB">
                <a:solidFill>
                  <a:schemeClr val="lt1"/>
                </a:solidFill>
              </a:rPr>
              <a:t>Computational Feasibility.</a:t>
            </a:r>
            <a:endParaRPr>
              <a:solidFill>
                <a:schemeClr val="lt1"/>
              </a:solidFill>
            </a:endParaRPr>
          </a:p>
        </p:txBody>
      </p:sp>
      <p:sp>
        <p:nvSpPr>
          <p:cNvPr id="1558" name="Google Shape;1558;p16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2" name="Shape 1562"/>
        <p:cNvGrpSpPr/>
        <p:nvPr/>
      </p:nvGrpSpPr>
      <p:grpSpPr>
        <a:xfrm>
          <a:off x="0" y="0"/>
          <a:ext cx="0" cy="0"/>
          <a:chOff x="0" y="0"/>
          <a:chExt cx="0" cy="0"/>
        </a:xfrm>
      </p:grpSpPr>
      <p:sp>
        <p:nvSpPr>
          <p:cNvPr id="1563" name="Google Shape;1563;p167"/>
          <p:cNvSpPr txBox="1"/>
          <p:nvPr>
            <p:ph type="title"/>
          </p:nvPr>
        </p:nvSpPr>
        <p:spPr>
          <a:xfrm>
            <a:off x="311700" y="25883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b="1" lang="en-GB" sz="2320"/>
              <a:t>Here again: </a:t>
            </a:r>
            <a:r>
              <a:rPr b="1" lang="en-GB" sz="2320"/>
              <a:t>A 12-type taxonomy, with evaluation coverage</a:t>
            </a:r>
            <a:endParaRPr b="1" sz="2320"/>
          </a:p>
        </p:txBody>
      </p:sp>
      <p:sp>
        <p:nvSpPr>
          <p:cNvPr id="1564" name="Google Shape;1564;p16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graphicFrame>
        <p:nvGraphicFramePr>
          <p:cNvPr id="1565" name="Google Shape;1565;p167"/>
          <p:cNvGraphicFramePr/>
          <p:nvPr/>
        </p:nvGraphicFramePr>
        <p:xfrm>
          <a:off x="491625" y="789579"/>
          <a:ext cx="3000000" cy="3000000"/>
        </p:xfrm>
        <a:graphic>
          <a:graphicData uri="http://schemas.openxmlformats.org/drawingml/2006/table">
            <a:tbl>
              <a:tblPr>
                <a:noFill/>
                <a:tableStyleId>{690008F1-FBFA-4D70-A9C7-EF09C6EBDACE}</a:tableStyleId>
              </a:tblPr>
              <a:tblGrid>
                <a:gridCol w="1492675"/>
                <a:gridCol w="5552050"/>
                <a:gridCol w="1116025"/>
              </a:tblGrid>
              <a:tr h="253925">
                <a:tc>
                  <a:txBody>
                    <a:bodyPr/>
                    <a:lstStyle/>
                    <a:p>
                      <a:pPr indent="0" lvl="0" marL="0" rtl="0" algn="l">
                        <a:spcBef>
                          <a:spcPts val="0"/>
                        </a:spcBef>
                        <a:spcAft>
                          <a:spcPts val="0"/>
                        </a:spcAft>
                        <a:buNone/>
                      </a:pPr>
                      <a:r>
                        <a:rPr b="1" lang="en-GB" sz="1100"/>
                        <a:t>Reasoning type</a:t>
                      </a:r>
                      <a:endParaRPr b="1" sz="1100"/>
                    </a:p>
                  </a:txBody>
                  <a:tcPr marT="91425" marB="91425" marR="91425" marL="91425">
                    <a:lnL cap="flat" cmpd="sng" w="9525">
                      <a:solidFill>
                        <a:srgbClr val="9E9E9E">
                          <a:alpha val="0"/>
                        </a:srgbClr>
                      </a:solidFill>
                      <a:prstDash val="solid"/>
                      <a:round/>
                      <a:headEnd len="sm" w="sm" type="none"/>
                      <a:tailEnd len="sm" w="sm" type="none"/>
                    </a:lnL>
                    <a:lnR cap="flat" cmpd="sng" w="9525">
                      <a:solidFill>
                        <a:schemeClr val="lt1">
                          <a:alpha val="0"/>
                        </a:scheme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C9DAF8"/>
                    </a:solidFill>
                  </a:tcPr>
                </a:tc>
                <a:tc>
                  <a:txBody>
                    <a:bodyPr/>
                    <a:lstStyle/>
                    <a:p>
                      <a:pPr indent="0" lvl="0" marL="0" rtl="0" algn="l">
                        <a:spcBef>
                          <a:spcPts val="0"/>
                        </a:spcBef>
                        <a:spcAft>
                          <a:spcPts val="0"/>
                        </a:spcAft>
                        <a:buNone/>
                      </a:pPr>
                      <a:r>
                        <a:rPr b="1" lang="en-GB" sz="1100"/>
                        <a:t>IR manifestation</a:t>
                      </a:r>
                      <a:endParaRPr b="1" sz="1100"/>
                    </a:p>
                  </a:txBody>
                  <a:tcPr marT="91425" marB="91425" marR="91425" marL="91425">
                    <a:lnL cap="flat" cmpd="sng" w="9525">
                      <a:solidFill>
                        <a:schemeClr val="lt1">
                          <a:alpha val="0"/>
                        </a:schemeClr>
                      </a:solidFill>
                      <a:prstDash val="solid"/>
                      <a:round/>
                      <a:headEnd len="sm" w="sm" type="none"/>
                      <a:tailEnd len="sm" w="sm" type="none"/>
                    </a:lnL>
                    <a:lnR cap="flat" cmpd="sng" w="9525">
                      <a:solidFill>
                        <a:schemeClr val="lt1">
                          <a:alpha val="0"/>
                        </a:schemeClr>
                      </a:solidFill>
                      <a:prstDash val="solid"/>
                      <a:round/>
                      <a:headEnd len="sm" w="sm" type="none"/>
                      <a:tailEnd len="sm" w="sm" type="none"/>
                    </a:lnR>
                    <a:lnT cap="flat" cmpd="sng" w="9525">
                      <a:solidFill>
                        <a:schemeClr val="lt1">
                          <a:alpha val="0"/>
                        </a:schemeClr>
                      </a:solidFill>
                      <a:prstDash val="solid"/>
                      <a:round/>
                      <a:headEnd len="sm" w="sm" type="none"/>
                      <a:tailEnd len="sm" w="sm" type="none"/>
                    </a:lnT>
                    <a:lnB cap="flat" cmpd="sng" w="9525">
                      <a:solidFill>
                        <a:schemeClr val="lt1">
                          <a:alpha val="0"/>
                        </a:schemeClr>
                      </a:solidFill>
                      <a:prstDash val="solid"/>
                      <a:round/>
                      <a:headEnd len="sm" w="sm" type="none"/>
                      <a:tailEnd len="sm" w="sm" type="none"/>
                    </a:lnB>
                    <a:solidFill>
                      <a:srgbClr val="C9DAF8"/>
                    </a:solidFill>
                  </a:tcPr>
                </a:tc>
                <a:tc>
                  <a:txBody>
                    <a:bodyPr/>
                    <a:lstStyle/>
                    <a:p>
                      <a:pPr indent="0" lvl="0" marL="0" rtl="0" algn="l">
                        <a:spcBef>
                          <a:spcPts val="0"/>
                        </a:spcBef>
                        <a:spcAft>
                          <a:spcPts val="0"/>
                        </a:spcAft>
                        <a:buNone/>
                      </a:pPr>
                      <a:r>
                        <a:rPr b="1" lang="en-GB" sz="1100"/>
                        <a:t>Coverage</a:t>
                      </a:r>
                      <a:endParaRPr b="1" sz="1100"/>
                    </a:p>
                  </a:txBody>
                  <a:tcPr marT="91425" marB="91425" marR="91425" marL="91425">
                    <a:lnL cap="flat" cmpd="sng" w="9525">
                      <a:solidFill>
                        <a:schemeClr val="lt1">
                          <a:alpha val="0"/>
                        </a:scheme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C9DAF8"/>
                    </a:solidFill>
                  </a:tcPr>
                </a:tc>
              </a:tr>
              <a:tr h="328800">
                <a:tc>
                  <a:txBody>
                    <a:bodyPr/>
                    <a:lstStyle/>
                    <a:p>
                      <a:pPr indent="0" lvl="0" marL="0" rtl="0" algn="l">
                        <a:spcBef>
                          <a:spcPts val="0"/>
                        </a:spcBef>
                        <a:spcAft>
                          <a:spcPts val="0"/>
                        </a:spcAft>
                        <a:buNone/>
                      </a:pPr>
                      <a:r>
                        <a:rPr lang="en-GB" sz="900"/>
                        <a:t>Deductive</a:t>
                      </a:r>
                      <a:endParaRPr sz="9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GB" sz="900"/>
                        <a:t>Logical entailment between query and document</a:t>
                      </a:r>
                      <a:endParaRPr sz="9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chemeClr val="lt1">
                          <a:alpha val="0"/>
                        </a:scheme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GB" sz="900"/>
                        <a:t>Partial</a:t>
                      </a:r>
                      <a:endParaRPr sz="9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FFF2CC"/>
                    </a:solidFill>
                  </a:tcPr>
                </a:tc>
              </a:tr>
              <a:tr h="328700">
                <a:tc>
                  <a:txBody>
                    <a:bodyPr/>
                    <a:lstStyle/>
                    <a:p>
                      <a:pPr indent="0" lvl="0" marL="0" rtl="0" algn="l">
                        <a:spcBef>
                          <a:spcPts val="0"/>
                        </a:spcBef>
                        <a:spcAft>
                          <a:spcPts val="0"/>
                        </a:spcAft>
                        <a:buNone/>
                      </a:pPr>
                      <a:r>
                        <a:rPr lang="en-GB" sz="900"/>
                        <a:t>Inductive</a:t>
                      </a:r>
                      <a:endParaRPr sz="9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D9D9D9"/>
                    </a:solidFill>
                  </a:tcPr>
                </a:tc>
                <a:tc>
                  <a:txBody>
                    <a:bodyPr/>
                    <a:lstStyle/>
                    <a:p>
                      <a:pPr indent="0" lvl="0" marL="0" rtl="0" algn="l">
                        <a:spcBef>
                          <a:spcPts val="0"/>
                        </a:spcBef>
                        <a:spcAft>
                          <a:spcPts val="0"/>
                        </a:spcAft>
                        <a:buNone/>
                      </a:pPr>
                      <a:r>
                        <a:rPr lang="en-GB" sz="900"/>
                        <a:t>Generalizing from retrieved evidence to claims</a:t>
                      </a:r>
                      <a:endParaRPr sz="9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D9D9D9"/>
                    </a:solidFill>
                  </a:tcPr>
                </a:tc>
                <a:tc>
                  <a:txBody>
                    <a:bodyPr/>
                    <a:lstStyle/>
                    <a:p>
                      <a:pPr indent="0" lvl="0" marL="0" rtl="0" algn="l">
                        <a:spcBef>
                          <a:spcPts val="0"/>
                        </a:spcBef>
                        <a:spcAft>
                          <a:spcPts val="0"/>
                        </a:spcAft>
                        <a:buNone/>
                      </a:pPr>
                      <a:r>
                        <a:rPr lang="en-GB" sz="900"/>
                        <a:t>Partial</a:t>
                      </a:r>
                      <a:endParaRPr sz="9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FFF2CC"/>
                    </a:solidFill>
                  </a:tcPr>
                </a:tc>
              </a:tr>
              <a:tr h="328700">
                <a:tc>
                  <a:txBody>
                    <a:bodyPr/>
                    <a:lstStyle/>
                    <a:p>
                      <a:pPr indent="0" lvl="0" marL="0" rtl="0" algn="l">
                        <a:spcBef>
                          <a:spcPts val="0"/>
                        </a:spcBef>
                        <a:spcAft>
                          <a:spcPts val="0"/>
                        </a:spcAft>
                        <a:buNone/>
                      </a:pPr>
                      <a:r>
                        <a:rPr lang="en-GB" sz="900"/>
                        <a:t>Abductive</a:t>
                      </a:r>
                      <a:endParaRPr sz="9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GB" sz="900"/>
                        <a:t>Query intent inference; hypothesis formation from evidence</a:t>
                      </a:r>
                      <a:endParaRPr sz="9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GB" sz="900"/>
                        <a:t>Untested</a:t>
                      </a:r>
                      <a:endParaRPr sz="9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F4CCCC"/>
                    </a:solidFill>
                  </a:tcPr>
                </a:tc>
              </a:tr>
              <a:tr h="328700">
                <a:tc>
                  <a:txBody>
                    <a:bodyPr/>
                    <a:lstStyle/>
                    <a:p>
                      <a:pPr indent="0" lvl="0" marL="0" rtl="0" algn="l">
                        <a:spcBef>
                          <a:spcPts val="0"/>
                        </a:spcBef>
                        <a:spcAft>
                          <a:spcPts val="0"/>
                        </a:spcAft>
                        <a:buNone/>
                      </a:pPr>
                      <a:r>
                        <a:rPr lang="en-GB" sz="900"/>
                        <a:t>Analogical</a:t>
                      </a:r>
                      <a:endParaRPr sz="9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D9D9D9"/>
                    </a:solidFill>
                  </a:tcPr>
                </a:tc>
                <a:tc>
                  <a:txBody>
                    <a:bodyPr/>
                    <a:lstStyle/>
                    <a:p>
                      <a:pPr indent="0" lvl="0" marL="0" rtl="0" algn="l">
                        <a:spcBef>
                          <a:spcPts val="0"/>
                        </a:spcBef>
                        <a:spcAft>
                          <a:spcPts val="0"/>
                        </a:spcAft>
                        <a:buNone/>
                      </a:pPr>
                      <a:r>
                        <a:rPr lang="en-GB" sz="900"/>
                        <a:t>Cross-domain retrieval; structural relevance beyond surface</a:t>
                      </a:r>
                      <a:endParaRPr sz="9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D9D9D9"/>
                    </a:solidFill>
                  </a:tcPr>
                </a:tc>
                <a:tc>
                  <a:txBody>
                    <a:bodyPr/>
                    <a:lstStyle/>
                    <a:p>
                      <a:pPr indent="0" lvl="0" marL="0" rtl="0" algn="l">
                        <a:spcBef>
                          <a:spcPts val="0"/>
                        </a:spcBef>
                        <a:spcAft>
                          <a:spcPts val="0"/>
                        </a:spcAft>
                        <a:buClr>
                          <a:schemeClr val="dk1"/>
                        </a:buClr>
                        <a:buSzPts val="1100"/>
                        <a:buFont typeface="Arial"/>
                        <a:buNone/>
                      </a:pPr>
                      <a:r>
                        <a:rPr lang="en-GB" sz="900">
                          <a:solidFill>
                            <a:schemeClr val="dk1"/>
                          </a:solidFill>
                        </a:rPr>
                        <a:t>Untested</a:t>
                      </a:r>
                      <a:endParaRPr sz="9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F4CCCC"/>
                    </a:solidFill>
                  </a:tcPr>
                </a:tc>
              </a:tr>
              <a:tr h="328700">
                <a:tc>
                  <a:txBody>
                    <a:bodyPr/>
                    <a:lstStyle/>
                    <a:p>
                      <a:pPr indent="0" lvl="0" marL="0" rtl="0" algn="l">
                        <a:spcBef>
                          <a:spcPts val="0"/>
                        </a:spcBef>
                        <a:spcAft>
                          <a:spcPts val="0"/>
                        </a:spcAft>
                        <a:buNone/>
                      </a:pPr>
                      <a:r>
                        <a:rPr lang="en-GB" sz="900"/>
                        <a:t>Causal</a:t>
                      </a:r>
                      <a:endParaRPr sz="9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GB" sz="900"/>
                        <a:t>Distinguishing correlation from intervention evidence</a:t>
                      </a:r>
                      <a:endParaRPr sz="9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GB" sz="900">
                          <a:solidFill>
                            <a:schemeClr val="dk1"/>
                          </a:solidFill>
                        </a:rPr>
                        <a:t>Untested</a:t>
                      </a:r>
                      <a:endParaRPr sz="9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F4CCCC"/>
                    </a:solidFill>
                  </a:tcPr>
                </a:tc>
              </a:tr>
              <a:tr h="328700">
                <a:tc>
                  <a:txBody>
                    <a:bodyPr/>
                    <a:lstStyle/>
                    <a:p>
                      <a:pPr indent="0" lvl="0" marL="0" rtl="0" algn="l">
                        <a:spcBef>
                          <a:spcPts val="0"/>
                        </a:spcBef>
                        <a:spcAft>
                          <a:spcPts val="0"/>
                        </a:spcAft>
                        <a:buNone/>
                      </a:pPr>
                      <a:r>
                        <a:rPr lang="en-GB" sz="900"/>
                        <a:t>Defeasible</a:t>
                      </a:r>
                      <a:endParaRPr sz="9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D9D9D9"/>
                    </a:solidFill>
                  </a:tcPr>
                </a:tc>
                <a:tc>
                  <a:txBody>
                    <a:bodyPr/>
                    <a:lstStyle/>
                    <a:p>
                      <a:pPr indent="0" lvl="0" marL="0" rtl="0" algn="l">
                        <a:spcBef>
                          <a:spcPts val="0"/>
                        </a:spcBef>
                        <a:spcAft>
                          <a:spcPts val="0"/>
                        </a:spcAft>
                        <a:buNone/>
                      </a:pPr>
                      <a:r>
                        <a:rPr lang="en-GB" sz="900"/>
                        <a:t>Provisional relevance; belief revision on new retrieval</a:t>
                      </a:r>
                      <a:endParaRPr sz="9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D9D9D9"/>
                    </a:solidFill>
                  </a:tcPr>
                </a:tc>
                <a:tc>
                  <a:txBody>
                    <a:bodyPr/>
                    <a:lstStyle/>
                    <a:p>
                      <a:pPr indent="0" lvl="0" marL="0" rtl="0" algn="l">
                        <a:spcBef>
                          <a:spcPts val="0"/>
                        </a:spcBef>
                        <a:spcAft>
                          <a:spcPts val="0"/>
                        </a:spcAft>
                        <a:buClr>
                          <a:schemeClr val="dk1"/>
                        </a:buClr>
                        <a:buSzPts val="1100"/>
                        <a:buFont typeface="Arial"/>
                        <a:buNone/>
                      </a:pPr>
                      <a:r>
                        <a:rPr lang="en-GB" sz="900">
                          <a:solidFill>
                            <a:schemeClr val="dk1"/>
                          </a:solidFill>
                        </a:rPr>
                        <a:t>Untested</a:t>
                      </a:r>
                      <a:endParaRPr sz="9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F4CCCC"/>
                    </a:solidFill>
                  </a:tcPr>
                </a:tc>
              </a:tr>
              <a:tr h="328700">
                <a:tc>
                  <a:txBody>
                    <a:bodyPr/>
                    <a:lstStyle/>
                    <a:p>
                      <a:pPr indent="0" lvl="0" marL="0" rtl="0" algn="l">
                        <a:spcBef>
                          <a:spcPts val="0"/>
                        </a:spcBef>
                        <a:spcAft>
                          <a:spcPts val="0"/>
                        </a:spcAft>
                        <a:buNone/>
                      </a:pPr>
                      <a:r>
                        <a:rPr lang="en-GB" sz="900"/>
                        <a:t>Modal</a:t>
                      </a:r>
                      <a:endParaRPr sz="9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GB" sz="900"/>
                        <a:t>Tracking claim strength (established/contested/speculative)</a:t>
                      </a:r>
                      <a:endParaRPr sz="9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GB" sz="900">
                          <a:solidFill>
                            <a:schemeClr val="dk1"/>
                          </a:solidFill>
                        </a:rPr>
                        <a:t>Untested</a:t>
                      </a:r>
                      <a:endParaRPr sz="9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F4CCCC"/>
                    </a:solidFill>
                  </a:tcPr>
                </a:tc>
              </a:tr>
              <a:tr h="328700">
                <a:tc>
                  <a:txBody>
                    <a:bodyPr/>
                    <a:lstStyle/>
                    <a:p>
                      <a:pPr indent="0" lvl="0" marL="0" rtl="0" algn="l">
                        <a:spcBef>
                          <a:spcPts val="0"/>
                        </a:spcBef>
                        <a:spcAft>
                          <a:spcPts val="0"/>
                        </a:spcAft>
                        <a:buNone/>
                      </a:pPr>
                      <a:r>
                        <a:rPr lang="en-GB" sz="900"/>
                        <a:t>Epistemic</a:t>
                      </a:r>
                      <a:endParaRPr sz="9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D9D9D9"/>
                    </a:solidFill>
                  </a:tcPr>
                </a:tc>
                <a:tc>
                  <a:txBody>
                    <a:bodyPr/>
                    <a:lstStyle/>
                    <a:p>
                      <a:pPr indent="0" lvl="0" marL="0" rtl="0" algn="l">
                        <a:spcBef>
                          <a:spcPts val="0"/>
                        </a:spcBef>
                        <a:spcAft>
                          <a:spcPts val="0"/>
                        </a:spcAft>
                        <a:buNone/>
                      </a:pPr>
                      <a:r>
                        <a:rPr lang="en-GB" sz="900"/>
                        <a:t>Knowledge state tracking across a literature over time</a:t>
                      </a:r>
                      <a:endParaRPr sz="9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D9D9D9"/>
                    </a:solidFill>
                  </a:tcPr>
                </a:tc>
                <a:tc>
                  <a:txBody>
                    <a:bodyPr/>
                    <a:lstStyle/>
                    <a:p>
                      <a:pPr indent="0" lvl="0" marL="0" rtl="0" algn="l">
                        <a:spcBef>
                          <a:spcPts val="0"/>
                        </a:spcBef>
                        <a:spcAft>
                          <a:spcPts val="0"/>
                        </a:spcAft>
                        <a:buClr>
                          <a:schemeClr val="dk1"/>
                        </a:buClr>
                        <a:buSzPts val="1100"/>
                        <a:buFont typeface="Arial"/>
                        <a:buNone/>
                      </a:pPr>
                      <a:r>
                        <a:rPr lang="en-GB" sz="900">
                          <a:solidFill>
                            <a:schemeClr val="dk1"/>
                          </a:solidFill>
                        </a:rPr>
                        <a:t>Untested</a:t>
                      </a:r>
                      <a:endParaRPr sz="9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F4CCCC"/>
                    </a:solidFill>
                  </a:tcPr>
                </a:tc>
              </a:tr>
              <a:tr h="328800">
                <a:tc>
                  <a:txBody>
                    <a:bodyPr/>
                    <a:lstStyle/>
                    <a:p>
                      <a:pPr indent="0" lvl="0" marL="0" rtl="0" algn="l">
                        <a:spcBef>
                          <a:spcPts val="0"/>
                        </a:spcBef>
                        <a:spcAft>
                          <a:spcPts val="0"/>
                        </a:spcAft>
                        <a:buNone/>
                      </a:pPr>
                      <a:r>
                        <a:rPr lang="en-GB" sz="900"/>
                        <a:t>Dialectical</a:t>
                      </a:r>
                      <a:endParaRPr sz="9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GB" sz="900"/>
                        <a:t>Mapping argumentative position within a field's disputes</a:t>
                      </a:r>
                      <a:endParaRPr sz="9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GB" sz="900">
                          <a:solidFill>
                            <a:schemeClr val="dk1"/>
                          </a:solidFill>
                        </a:rPr>
                        <a:t>Untested</a:t>
                      </a:r>
                      <a:endParaRPr sz="9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F4CCCC"/>
                    </a:solidFill>
                  </a:tcPr>
                </a:tc>
              </a:tr>
              <a:tr h="328800">
                <a:tc>
                  <a:txBody>
                    <a:bodyPr/>
                    <a:lstStyle/>
                    <a:p>
                      <a:pPr indent="0" lvl="0" marL="0" rtl="0" algn="l">
                        <a:spcBef>
                          <a:spcPts val="0"/>
                        </a:spcBef>
                        <a:spcAft>
                          <a:spcPts val="0"/>
                        </a:spcAft>
                        <a:buNone/>
                      </a:pPr>
                      <a:r>
                        <a:rPr lang="en-GB" sz="900"/>
                        <a:t>Temporal</a:t>
                      </a:r>
                      <a:endParaRPr sz="9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D9D9D9"/>
                    </a:solidFill>
                  </a:tcPr>
                </a:tc>
                <a:tc>
                  <a:txBody>
                    <a:bodyPr/>
                    <a:lstStyle/>
                    <a:p>
                      <a:pPr indent="0" lvl="0" marL="0" rtl="0" algn="l">
                        <a:spcBef>
                          <a:spcPts val="0"/>
                        </a:spcBef>
                        <a:spcAft>
                          <a:spcPts val="0"/>
                        </a:spcAft>
                        <a:buNone/>
                      </a:pPr>
                      <a:r>
                        <a:rPr lang="en-GB" sz="900"/>
                        <a:t>Evidence currency; supersession; historical state tracking</a:t>
                      </a:r>
                      <a:endParaRPr sz="9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D9D9D9"/>
                    </a:solidFill>
                  </a:tcPr>
                </a:tc>
                <a:tc>
                  <a:txBody>
                    <a:bodyPr/>
                    <a:lstStyle/>
                    <a:p>
                      <a:pPr indent="0" lvl="0" marL="0" rtl="0" algn="l">
                        <a:spcBef>
                          <a:spcPts val="0"/>
                        </a:spcBef>
                        <a:spcAft>
                          <a:spcPts val="0"/>
                        </a:spcAft>
                        <a:buNone/>
                      </a:pPr>
                      <a:r>
                        <a:rPr lang="en-GB" sz="900"/>
                        <a:t>Partial</a:t>
                      </a:r>
                      <a:endParaRPr sz="9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FFF2CC"/>
                    </a:solidFill>
                  </a:tcPr>
                </a:tc>
              </a:tr>
              <a:tr h="328800">
                <a:tc>
                  <a:txBody>
                    <a:bodyPr/>
                    <a:lstStyle/>
                    <a:p>
                      <a:pPr indent="0" lvl="0" marL="0" rtl="0" algn="l">
                        <a:spcBef>
                          <a:spcPts val="0"/>
                        </a:spcBef>
                        <a:spcAft>
                          <a:spcPts val="0"/>
                        </a:spcAft>
                        <a:buNone/>
                      </a:pPr>
                      <a:r>
                        <a:rPr lang="en-GB" sz="900"/>
                        <a:t>Metacognitive</a:t>
                      </a:r>
                      <a:endParaRPr sz="9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GB" sz="900"/>
                        <a:t>Query reformulation; knowing when to stop; uncertainty flag</a:t>
                      </a:r>
                      <a:endParaRPr sz="9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GB" sz="900"/>
                        <a:t>Partial</a:t>
                      </a:r>
                      <a:endParaRPr sz="9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FFF2CC"/>
                    </a:solidFill>
                  </a:tcPr>
                </a:tc>
              </a:tr>
              <a:tr h="328700">
                <a:tc>
                  <a:txBody>
                    <a:bodyPr/>
                    <a:lstStyle/>
                    <a:p>
                      <a:pPr indent="0" lvl="0" marL="0" rtl="0" algn="l">
                        <a:spcBef>
                          <a:spcPts val="0"/>
                        </a:spcBef>
                        <a:spcAft>
                          <a:spcPts val="0"/>
                        </a:spcAft>
                        <a:buNone/>
                      </a:pPr>
                      <a:r>
                        <a:rPr lang="en-GB" sz="900"/>
                        <a:t>Practical</a:t>
                      </a:r>
                      <a:endParaRPr sz="9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D9D9D9"/>
                    </a:solidFill>
                  </a:tcPr>
                </a:tc>
                <a:tc>
                  <a:txBody>
                    <a:bodyPr/>
                    <a:lstStyle/>
                    <a:p>
                      <a:pPr indent="0" lvl="0" marL="0" rtl="0" algn="l">
                        <a:spcBef>
                          <a:spcPts val="0"/>
                        </a:spcBef>
                        <a:spcAft>
                          <a:spcPts val="0"/>
                        </a:spcAft>
                        <a:buNone/>
                      </a:pPr>
                      <a:r>
                        <a:rPr lang="en-GB" sz="900"/>
                        <a:t>Search strategy decisions in agentic pipelines</a:t>
                      </a:r>
                      <a:endParaRPr sz="9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D9D9D9"/>
                    </a:solidFill>
                  </a:tcPr>
                </a:tc>
                <a:tc>
                  <a:txBody>
                    <a:bodyPr/>
                    <a:lstStyle/>
                    <a:p>
                      <a:pPr indent="0" lvl="0" marL="0" rtl="0" algn="l">
                        <a:spcBef>
                          <a:spcPts val="0"/>
                        </a:spcBef>
                        <a:spcAft>
                          <a:spcPts val="0"/>
                        </a:spcAft>
                        <a:buNone/>
                      </a:pPr>
                      <a:r>
                        <a:rPr lang="en-GB" sz="900"/>
                        <a:t>Untested</a:t>
                      </a:r>
                      <a:endParaRPr sz="9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F4CCCC"/>
                    </a:solidFill>
                  </a:tcPr>
                </a:tc>
              </a:tr>
            </a:tbl>
          </a:graphicData>
        </a:graphic>
      </p:graphicFrame>
    </p:spTree>
  </p:cSld>
  <p:clrMapOvr>
    <a:masterClrMapping/>
  </p:clrMapOvr>
</p:sld>
</file>

<file path=ppt/slides/slide1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9" name="Shape 1569"/>
        <p:cNvGrpSpPr/>
        <p:nvPr/>
      </p:nvGrpSpPr>
      <p:grpSpPr>
        <a:xfrm>
          <a:off x="0" y="0"/>
          <a:ext cx="0" cy="0"/>
          <a:chOff x="0" y="0"/>
          <a:chExt cx="0" cy="0"/>
        </a:xfrm>
      </p:grpSpPr>
      <p:sp>
        <p:nvSpPr>
          <p:cNvPr id="1570" name="Google Shape;1570;p16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
        <p:nvSpPr>
          <p:cNvPr id="1571" name="Google Shape;1571;p168"/>
          <p:cNvSpPr/>
          <p:nvPr/>
        </p:nvSpPr>
        <p:spPr>
          <a:xfrm>
            <a:off x="4606818" y="1770050"/>
            <a:ext cx="4476000" cy="3234000"/>
          </a:xfrm>
          <a:prstGeom prst="rect">
            <a:avLst/>
          </a:prstGeom>
          <a:solidFill>
            <a:srgbClr val="FCE5CD"/>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72" name="Google Shape;1572;p168"/>
          <p:cNvSpPr txBox="1"/>
          <p:nvPr>
            <p:ph idx="1" type="body"/>
          </p:nvPr>
        </p:nvSpPr>
        <p:spPr>
          <a:xfrm>
            <a:off x="311700" y="2884145"/>
            <a:ext cx="4191300" cy="1005900"/>
          </a:xfrm>
          <a:prstGeom prst="rect">
            <a:avLst/>
          </a:prstGeom>
          <a:solidFill>
            <a:srgbClr val="C9DAF8"/>
          </a:solidFill>
          <a:ln>
            <a:noFill/>
          </a:ln>
        </p:spPr>
        <p:txBody>
          <a:bodyPr anchorCtr="0" anchor="t" bIns="91425" lIns="91425" spcFirstLastPara="1" rIns="91425" wrap="square" tIns="91425">
            <a:normAutofit lnSpcReduction="10000"/>
          </a:bodyPr>
          <a:lstStyle/>
          <a:p>
            <a:pPr indent="0" lvl="0" marL="0" rtl="0" algn="l">
              <a:lnSpc>
                <a:spcPct val="100000"/>
              </a:lnSpc>
              <a:spcBef>
                <a:spcPts val="0"/>
              </a:spcBef>
              <a:spcAft>
                <a:spcPts val="0"/>
              </a:spcAft>
              <a:buNone/>
            </a:pPr>
            <a:r>
              <a:rPr b="1" lang="en-GB" sz="1500"/>
              <a:t>Inference faithfulness</a:t>
            </a:r>
            <a:endParaRPr b="1" sz="1500"/>
          </a:p>
          <a:p>
            <a:pPr indent="0" lvl="0" marL="0" rtl="0" algn="l">
              <a:lnSpc>
                <a:spcPct val="100000"/>
              </a:lnSpc>
              <a:spcBef>
                <a:spcPts val="0"/>
              </a:spcBef>
              <a:spcAft>
                <a:spcPts val="0"/>
              </a:spcAft>
              <a:buClr>
                <a:schemeClr val="dk1"/>
              </a:buClr>
              <a:buSzPts val="1100"/>
              <a:buFont typeface="Arial"/>
              <a:buNone/>
            </a:pPr>
            <a:r>
              <a:t/>
            </a:r>
            <a:endParaRPr b="1" sz="1500"/>
          </a:p>
          <a:p>
            <a:pPr indent="0" lvl="0" marL="0" rtl="0" algn="l">
              <a:lnSpc>
                <a:spcPct val="100000"/>
              </a:lnSpc>
              <a:spcBef>
                <a:spcPts val="0"/>
              </a:spcBef>
              <a:spcAft>
                <a:spcPts val="0"/>
              </a:spcAft>
              <a:buNone/>
            </a:pPr>
            <a:r>
              <a:rPr i="1" lang="en-GB" sz="1500"/>
              <a:t>Can faithfulness of the reasoning process be verified?</a:t>
            </a:r>
            <a:endParaRPr i="1" sz="1600"/>
          </a:p>
        </p:txBody>
      </p:sp>
      <p:sp>
        <p:nvSpPr>
          <p:cNvPr id="1573" name="Google Shape;1573;p16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n-GB"/>
              <a:t>How do the discussed methods compare?</a:t>
            </a:r>
            <a:endParaRPr b="1"/>
          </a:p>
        </p:txBody>
      </p:sp>
      <p:grpSp>
        <p:nvGrpSpPr>
          <p:cNvPr id="1574" name="Google Shape;1574;p168"/>
          <p:cNvGrpSpPr/>
          <p:nvPr/>
        </p:nvGrpSpPr>
        <p:grpSpPr>
          <a:xfrm>
            <a:off x="4623679" y="1794749"/>
            <a:ext cx="4437143" cy="3190655"/>
            <a:chOff x="3898386" y="1068500"/>
            <a:chExt cx="4865289" cy="3498525"/>
          </a:xfrm>
        </p:grpSpPr>
        <p:cxnSp>
          <p:nvCxnSpPr>
            <p:cNvPr id="1575" name="Google Shape;1575;p168"/>
            <p:cNvCxnSpPr/>
            <p:nvPr/>
          </p:nvCxnSpPr>
          <p:spPr>
            <a:xfrm flipH="1" rot="10800000">
              <a:off x="6200075" y="1068500"/>
              <a:ext cx="8100" cy="2285100"/>
            </a:xfrm>
            <a:prstGeom prst="straightConnector1">
              <a:avLst/>
            </a:prstGeom>
            <a:noFill/>
            <a:ln cap="flat" cmpd="sng" w="8675">
              <a:solidFill>
                <a:srgbClr val="FF0000"/>
              </a:solidFill>
              <a:prstDash val="solid"/>
              <a:round/>
              <a:headEnd len="med" w="med" type="none"/>
              <a:tailEnd len="med" w="med" type="triangle"/>
            </a:ln>
          </p:spPr>
        </p:cxnSp>
        <p:cxnSp>
          <p:nvCxnSpPr>
            <p:cNvPr id="1576" name="Google Shape;1576;p168"/>
            <p:cNvCxnSpPr/>
            <p:nvPr/>
          </p:nvCxnSpPr>
          <p:spPr>
            <a:xfrm>
              <a:off x="6208275" y="3394550"/>
              <a:ext cx="2555400" cy="1146600"/>
            </a:xfrm>
            <a:prstGeom prst="straightConnector1">
              <a:avLst/>
            </a:prstGeom>
            <a:noFill/>
            <a:ln cap="flat" cmpd="sng" w="8675">
              <a:solidFill>
                <a:srgbClr val="3C78D8"/>
              </a:solidFill>
              <a:prstDash val="solid"/>
              <a:round/>
              <a:headEnd len="med" w="med" type="none"/>
              <a:tailEnd len="med" w="med" type="triangle"/>
            </a:ln>
          </p:spPr>
        </p:cxnSp>
        <p:cxnSp>
          <p:nvCxnSpPr>
            <p:cNvPr id="1577" name="Google Shape;1577;p168"/>
            <p:cNvCxnSpPr/>
            <p:nvPr/>
          </p:nvCxnSpPr>
          <p:spPr>
            <a:xfrm flipH="1">
              <a:off x="3916300" y="3402725"/>
              <a:ext cx="2267400" cy="1164300"/>
            </a:xfrm>
            <a:prstGeom prst="straightConnector1">
              <a:avLst/>
            </a:prstGeom>
            <a:noFill/>
            <a:ln cap="flat" cmpd="sng" w="8675">
              <a:solidFill>
                <a:srgbClr val="188038"/>
              </a:solidFill>
              <a:prstDash val="solid"/>
              <a:round/>
              <a:headEnd len="med" w="med" type="none"/>
              <a:tailEnd len="med" w="med" type="triangle"/>
            </a:ln>
          </p:spPr>
        </p:cxnSp>
        <p:sp>
          <p:nvSpPr>
            <p:cNvPr id="1578" name="Google Shape;1578;p168"/>
            <p:cNvSpPr txBox="1"/>
            <p:nvPr/>
          </p:nvSpPr>
          <p:spPr>
            <a:xfrm rot="-5400000">
              <a:off x="4982350" y="2043125"/>
              <a:ext cx="2068500" cy="334200"/>
            </a:xfrm>
            <a:prstGeom prst="rect">
              <a:avLst/>
            </a:prstGeom>
            <a:noFill/>
            <a:ln>
              <a:noFill/>
            </a:ln>
          </p:spPr>
          <p:txBody>
            <a:bodyPr anchorCtr="0" anchor="t" bIns="83375" lIns="83375" spcFirstLastPara="1" rIns="83375" wrap="square" tIns="83375">
              <a:noAutofit/>
            </a:bodyPr>
            <a:lstStyle/>
            <a:p>
              <a:pPr indent="0" lvl="0" marL="0" rtl="0" algn="ctr">
                <a:spcBef>
                  <a:spcPts val="0"/>
                </a:spcBef>
                <a:spcAft>
                  <a:spcPts val="0"/>
                </a:spcAft>
                <a:buNone/>
              </a:pPr>
              <a:r>
                <a:rPr b="1" lang="en-GB" sz="912">
                  <a:solidFill>
                    <a:srgbClr val="FF0000"/>
                  </a:solidFill>
                </a:rPr>
                <a:t>Representational capability</a:t>
              </a:r>
              <a:endParaRPr b="1" sz="912">
                <a:solidFill>
                  <a:srgbClr val="FF0000"/>
                </a:solidFill>
              </a:endParaRPr>
            </a:p>
          </p:txBody>
        </p:sp>
        <p:sp>
          <p:nvSpPr>
            <p:cNvPr id="1579" name="Google Shape;1579;p168"/>
            <p:cNvSpPr txBox="1"/>
            <p:nvPr/>
          </p:nvSpPr>
          <p:spPr>
            <a:xfrm rot="1458962">
              <a:off x="6394338" y="3530433"/>
              <a:ext cx="2068391" cy="333915"/>
            </a:xfrm>
            <a:prstGeom prst="rect">
              <a:avLst/>
            </a:prstGeom>
            <a:noFill/>
            <a:ln>
              <a:noFill/>
            </a:ln>
          </p:spPr>
          <p:txBody>
            <a:bodyPr anchorCtr="0" anchor="t" bIns="83375" lIns="83375" spcFirstLastPara="1" rIns="83375" wrap="square" tIns="83375">
              <a:noAutofit/>
            </a:bodyPr>
            <a:lstStyle/>
            <a:p>
              <a:pPr indent="0" lvl="0" marL="0" rtl="0" algn="ctr">
                <a:spcBef>
                  <a:spcPts val="0"/>
                </a:spcBef>
                <a:spcAft>
                  <a:spcPts val="0"/>
                </a:spcAft>
                <a:buNone/>
              </a:pPr>
              <a:r>
                <a:rPr b="1" lang="en-GB" sz="912">
                  <a:solidFill>
                    <a:srgbClr val="3C78D8"/>
                  </a:solidFill>
                </a:rPr>
                <a:t>Inference faithfulness</a:t>
              </a:r>
              <a:endParaRPr b="1" sz="912">
                <a:solidFill>
                  <a:srgbClr val="3C78D8"/>
                </a:solidFill>
              </a:endParaRPr>
            </a:p>
          </p:txBody>
        </p:sp>
        <p:sp>
          <p:nvSpPr>
            <p:cNvPr id="1580" name="Google Shape;1580;p168"/>
            <p:cNvSpPr txBox="1"/>
            <p:nvPr/>
          </p:nvSpPr>
          <p:spPr>
            <a:xfrm rot="-1636633">
              <a:off x="3855304" y="3666937"/>
              <a:ext cx="2137265" cy="330472"/>
            </a:xfrm>
            <a:prstGeom prst="rect">
              <a:avLst/>
            </a:prstGeom>
            <a:noFill/>
            <a:ln>
              <a:noFill/>
            </a:ln>
          </p:spPr>
          <p:txBody>
            <a:bodyPr anchorCtr="0" anchor="t" bIns="83375" lIns="83375" spcFirstLastPara="1" rIns="83375" wrap="square" tIns="83375">
              <a:noAutofit/>
            </a:bodyPr>
            <a:lstStyle/>
            <a:p>
              <a:pPr indent="0" lvl="0" marL="0" rtl="0" algn="ctr">
                <a:spcBef>
                  <a:spcPts val="0"/>
                </a:spcBef>
                <a:spcAft>
                  <a:spcPts val="0"/>
                </a:spcAft>
                <a:buNone/>
              </a:pPr>
              <a:r>
                <a:rPr b="1" lang="en-GB" sz="914">
                  <a:solidFill>
                    <a:srgbClr val="188038"/>
                  </a:solidFill>
                </a:rPr>
                <a:t>Computational feasibility for IR</a:t>
              </a:r>
              <a:endParaRPr b="1" sz="914">
                <a:solidFill>
                  <a:srgbClr val="188038"/>
                </a:solidFill>
              </a:endParaRPr>
            </a:p>
          </p:txBody>
        </p:sp>
      </p:grpSp>
      <p:sp>
        <p:nvSpPr>
          <p:cNvPr id="1581" name="Google Shape;1581;p168"/>
          <p:cNvSpPr txBox="1"/>
          <p:nvPr>
            <p:ph idx="1" type="body"/>
          </p:nvPr>
        </p:nvSpPr>
        <p:spPr>
          <a:xfrm>
            <a:off x="311700" y="3998245"/>
            <a:ext cx="4191300" cy="1005900"/>
          </a:xfrm>
          <a:prstGeom prst="rect">
            <a:avLst/>
          </a:prstGeom>
          <a:solidFill>
            <a:srgbClr val="D9EAD3"/>
          </a:solidFill>
          <a:ln>
            <a:noFill/>
          </a:ln>
        </p:spPr>
        <p:txBody>
          <a:bodyPr anchorCtr="0" anchor="t" bIns="91425" lIns="91425" spcFirstLastPara="1" rIns="91425" wrap="square" tIns="91425">
            <a:normAutofit lnSpcReduction="20000"/>
          </a:bodyPr>
          <a:lstStyle/>
          <a:p>
            <a:pPr indent="0" lvl="0" marL="0" rtl="0" algn="l">
              <a:lnSpc>
                <a:spcPct val="100000"/>
              </a:lnSpc>
              <a:spcBef>
                <a:spcPts val="0"/>
              </a:spcBef>
              <a:spcAft>
                <a:spcPts val="0"/>
              </a:spcAft>
              <a:buNone/>
            </a:pPr>
            <a:r>
              <a:rPr b="1" lang="en-GB" sz="1500"/>
              <a:t>Computational feasibility for IR</a:t>
            </a:r>
            <a:endParaRPr sz="1500"/>
          </a:p>
          <a:p>
            <a:pPr indent="0" lvl="0" marL="0" rtl="0" algn="l">
              <a:lnSpc>
                <a:spcPct val="100000"/>
              </a:lnSpc>
              <a:spcBef>
                <a:spcPts val="0"/>
              </a:spcBef>
              <a:spcAft>
                <a:spcPts val="0"/>
              </a:spcAft>
              <a:buNone/>
            </a:pPr>
            <a:r>
              <a:t/>
            </a:r>
            <a:endParaRPr sz="1400"/>
          </a:p>
          <a:p>
            <a:pPr indent="0" lvl="0" marL="0" rtl="0" algn="l">
              <a:spcBef>
                <a:spcPts val="0"/>
              </a:spcBef>
              <a:spcAft>
                <a:spcPts val="0"/>
              </a:spcAft>
              <a:buNone/>
            </a:pPr>
            <a:r>
              <a:rPr i="1" lang="en-GB" sz="1400"/>
              <a:t>Is the reasoning process computationally feasible over a large set of documents? </a:t>
            </a:r>
            <a:endParaRPr i="1" sz="1400"/>
          </a:p>
        </p:txBody>
      </p:sp>
      <p:sp>
        <p:nvSpPr>
          <p:cNvPr id="1582" name="Google Shape;1582;p168"/>
          <p:cNvSpPr txBox="1"/>
          <p:nvPr>
            <p:ph idx="1" type="body"/>
          </p:nvPr>
        </p:nvSpPr>
        <p:spPr>
          <a:xfrm>
            <a:off x="311700" y="1770061"/>
            <a:ext cx="4191300" cy="1005900"/>
          </a:xfrm>
          <a:prstGeom prst="rect">
            <a:avLst/>
          </a:prstGeom>
          <a:solidFill>
            <a:srgbClr val="F4CCCC"/>
          </a:solidFill>
          <a:ln>
            <a:noFill/>
          </a:ln>
        </p:spPr>
        <p:txBody>
          <a:bodyPr anchorCtr="0" anchor="t" bIns="91425" lIns="91425" spcFirstLastPara="1" rIns="91425" wrap="square" tIns="91425">
            <a:normAutofit lnSpcReduction="10000"/>
          </a:bodyPr>
          <a:lstStyle/>
          <a:p>
            <a:pPr indent="0" lvl="0" marL="0" rtl="0" algn="l">
              <a:spcBef>
                <a:spcPts val="0"/>
              </a:spcBef>
              <a:spcAft>
                <a:spcPts val="0"/>
              </a:spcAft>
              <a:buNone/>
            </a:pPr>
            <a:r>
              <a:rPr b="1" lang="en-GB" sz="1500"/>
              <a:t>Representational capability</a:t>
            </a:r>
            <a:endParaRPr b="1" sz="1500"/>
          </a:p>
          <a:p>
            <a:pPr indent="0" lvl="0" marL="0" rtl="0" algn="l">
              <a:lnSpc>
                <a:spcPct val="100000"/>
              </a:lnSpc>
              <a:spcBef>
                <a:spcPts val="0"/>
              </a:spcBef>
              <a:spcAft>
                <a:spcPts val="0"/>
              </a:spcAft>
              <a:buNone/>
            </a:pPr>
            <a:r>
              <a:t/>
            </a:r>
            <a:endParaRPr sz="1400"/>
          </a:p>
          <a:p>
            <a:pPr indent="0" lvl="0" marL="0" rtl="0" algn="l">
              <a:lnSpc>
                <a:spcPct val="100000"/>
              </a:lnSpc>
              <a:spcBef>
                <a:spcPts val="0"/>
              </a:spcBef>
              <a:spcAft>
                <a:spcPts val="0"/>
              </a:spcAft>
              <a:buNone/>
            </a:pPr>
            <a:r>
              <a:rPr i="1" lang="en-GB" sz="1400"/>
              <a:t>E.g., Does reasoning proposals explicitly encode uncertainty, causal relationships, etc.?</a:t>
            </a:r>
            <a:endParaRPr i="1" sz="16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8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7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8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6" name="Shape 1586"/>
        <p:cNvGrpSpPr/>
        <p:nvPr/>
      </p:nvGrpSpPr>
      <p:grpSpPr>
        <a:xfrm>
          <a:off x="0" y="0"/>
          <a:ext cx="0" cy="0"/>
          <a:chOff x="0" y="0"/>
          <a:chExt cx="0" cy="0"/>
        </a:xfrm>
      </p:grpSpPr>
      <p:sp>
        <p:nvSpPr>
          <p:cNvPr id="1587" name="Google Shape;1587;p16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
        <p:nvSpPr>
          <p:cNvPr id="1588" name="Google Shape;1588;p169"/>
          <p:cNvSpPr/>
          <p:nvPr/>
        </p:nvSpPr>
        <p:spPr>
          <a:xfrm>
            <a:off x="4606818" y="1770050"/>
            <a:ext cx="4476000" cy="3234000"/>
          </a:xfrm>
          <a:prstGeom prst="rect">
            <a:avLst/>
          </a:prstGeom>
          <a:solidFill>
            <a:srgbClr val="FCE5CD"/>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89" name="Google Shape;1589;p169"/>
          <p:cNvSpPr txBox="1"/>
          <p:nvPr>
            <p:ph idx="1" type="body"/>
          </p:nvPr>
        </p:nvSpPr>
        <p:spPr>
          <a:xfrm>
            <a:off x="1539950" y="1017725"/>
            <a:ext cx="1285500" cy="1005900"/>
          </a:xfrm>
          <a:prstGeom prst="rect">
            <a:avLst/>
          </a:prstGeom>
          <a:solidFill>
            <a:srgbClr val="C9DAF8"/>
          </a:solidFill>
          <a:ln>
            <a:noFill/>
          </a:ln>
        </p:spPr>
        <p:txBody>
          <a:bodyPr anchorCtr="0" anchor="t" bIns="91425" lIns="91425" spcFirstLastPara="1" rIns="91425" wrap="square" tIns="91425">
            <a:normAutofit fontScale="62500" lnSpcReduction="10000"/>
          </a:bodyPr>
          <a:lstStyle/>
          <a:p>
            <a:pPr indent="0" lvl="0" marL="0" rtl="0" algn="l">
              <a:lnSpc>
                <a:spcPct val="100000"/>
              </a:lnSpc>
              <a:spcBef>
                <a:spcPts val="0"/>
              </a:spcBef>
              <a:spcAft>
                <a:spcPts val="0"/>
              </a:spcAft>
              <a:buNone/>
            </a:pPr>
            <a:r>
              <a:rPr b="1" lang="en-GB" sz="1500"/>
              <a:t>Inference faithfulness</a:t>
            </a:r>
            <a:endParaRPr b="1" sz="1500"/>
          </a:p>
          <a:p>
            <a:pPr indent="0" lvl="0" marL="0" rtl="0" algn="l">
              <a:lnSpc>
                <a:spcPct val="100000"/>
              </a:lnSpc>
              <a:spcBef>
                <a:spcPts val="0"/>
              </a:spcBef>
              <a:spcAft>
                <a:spcPts val="0"/>
              </a:spcAft>
              <a:buClr>
                <a:schemeClr val="dk1"/>
              </a:buClr>
              <a:buSzPct val="73333"/>
              <a:buFont typeface="Arial"/>
              <a:buNone/>
            </a:pPr>
            <a:r>
              <a:t/>
            </a:r>
            <a:endParaRPr b="1" sz="1500"/>
          </a:p>
          <a:p>
            <a:pPr indent="0" lvl="0" marL="0" rtl="0" algn="l">
              <a:lnSpc>
                <a:spcPct val="100000"/>
              </a:lnSpc>
              <a:spcBef>
                <a:spcPts val="0"/>
              </a:spcBef>
              <a:spcAft>
                <a:spcPts val="0"/>
              </a:spcAft>
              <a:buNone/>
            </a:pPr>
            <a:r>
              <a:rPr i="1" lang="en-GB" sz="1500"/>
              <a:t>Can faithfulness of the reasoning process be verified?</a:t>
            </a:r>
            <a:endParaRPr i="1" sz="1600"/>
          </a:p>
        </p:txBody>
      </p:sp>
      <p:sp>
        <p:nvSpPr>
          <p:cNvPr id="1590" name="Google Shape;1590;p16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n-GB"/>
              <a:t>Where would you place the methods?</a:t>
            </a:r>
            <a:endParaRPr b="1"/>
          </a:p>
        </p:txBody>
      </p:sp>
      <p:grpSp>
        <p:nvGrpSpPr>
          <p:cNvPr id="1591" name="Google Shape;1591;p169"/>
          <p:cNvGrpSpPr/>
          <p:nvPr/>
        </p:nvGrpSpPr>
        <p:grpSpPr>
          <a:xfrm>
            <a:off x="4623679" y="1794749"/>
            <a:ext cx="4437143" cy="3190655"/>
            <a:chOff x="3898386" y="1068500"/>
            <a:chExt cx="4865289" cy="3498525"/>
          </a:xfrm>
        </p:grpSpPr>
        <p:cxnSp>
          <p:nvCxnSpPr>
            <p:cNvPr id="1592" name="Google Shape;1592;p169"/>
            <p:cNvCxnSpPr/>
            <p:nvPr/>
          </p:nvCxnSpPr>
          <p:spPr>
            <a:xfrm flipH="1" rot="10800000">
              <a:off x="6200075" y="1068500"/>
              <a:ext cx="8100" cy="2285100"/>
            </a:xfrm>
            <a:prstGeom prst="straightConnector1">
              <a:avLst/>
            </a:prstGeom>
            <a:noFill/>
            <a:ln cap="flat" cmpd="sng" w="8675">
              <a:solidFill>
                <a:srgbClr val="FF0000"/>
              </a:solidFill>
              <a:prstDash val="solid"/>
              <a:round/>
              <a:headEnd len="med" w="med" type="none"/>
              <a:tailEnd len="med" w="med" type="triangle"/>
            </a:ln>
          </p:spPr>
        </p:cxnSp>
        <p:cxnSp>
          <p:nvCxnSpPr>
            <p:cNvPr id="1593" name="Google Shape;1593;p169"/>
            <p:cNvCxnSpPr/>
            <p:nvPr/>
          </p:nvCxnSpPr>
          <p:spPr>
            <a:xfrm>
              <a:off x="6208275" y="3394550"/>
              <a:ext cx="2555400" cy="1146600"/>
            </a:xfrm>
            <a:prstGeom prst="straightConnector1">
              <a:avLst/>
            </a:prstGeom>
            <a:noFill/>
            <a:ln cap="flat" cmpd="sng" w="8675">
              <a:solidFill>
                <a:srgbClr val="3C78D8"/>
              </a:solidFill>
              <a:prstDash val="solid"/>
              <a:round/>
              <a:headEnd len="med" w="med" type="none"/>
              <a:tailEnd len="med" w="med" type="triangle"/>
            </a:ln>
          </p:spPr>
        </p:cxnSp>
        <p:cxnSp>
          <p:nvCxnSpPr>
            <p:cNvPr id="1594" name="Google Shape;1594;p169"/>
            <p:cNvCxnSpPr/>
            <p:nvPr/>
          </p:nvCxnSpPr>
          <p:spPr>
            <a:xfrm flipH="1">
              <a:off x="3916300" y="3402725"/>
              <a:ext cx="2267400" cy="1164300"/>
            </a:xfrm>
            <a:prstGeom prst="straightConnector1">
              <a:avLst/>
            </a:prstGeom>
            <a:noFill/>
            <a:ln cap="flat" cmpd="sng" w="8675">
              <a:solidFill>
                <a:srgbClr val="188038"/>
              </a:solidFill>
              <a:prstDash val="solid"/>
              <a:round/>
              <a:headEnd len="med" w="med" type="none"/>
              <a:tailEnd len="med" w="med" type="triangle"/>
            </a:ln>
          </p:spPr>
        </p:cxnSp>
        <p:sp>
          <p:nvSpPr>
            <p:cNvPr id="1595" name="Google Shape;1595;p169"/>
            <p:cNvSpPr txBox="1"/>
            <p:nvPr/>
          </p:nvSpPr>
          <p:spPr>
            <a:xfrm rot="-5400000">
              <a:off x="4982350" y="2043125"/>
              <a:ext cx="2068500" cy="334200"/>
            </a:xfrm>
            <a:prstGeom prst="rect">
              <a:avLst/>
            </a:prstGeom>
            <a:noFill/>
            <a:ln>
              <a:noFill/>
            </a:ln>
          </p:spPr>
          <p:txBody>
            <a:bodyPr anchorCtr="0" anchor="t" bIns="83375" lIns="83375" spcFirstLastPara="1" rIns="83375" wrap="square" tIns="83375">
              <a:noAutofit/>
            </a:bodyPr>
            <a:lstStyle/>
            <a:p>
              <a:pPr indent="0" lvl="0" marL="0" rtl="0" algn="ctr">
                <a:spcBef>
                  <a:spcPts val="0"/>
                </a:spcBef>
                <a:spcAft>
                  <a:spcPts val="0"/>
                </a:spcAft>
                <a:buNone/>
              </a:pPr>
              <a:r>
                <a:rPr b="1" lang="en-GB" sz="912">
                  <a:solidFill>
                    <a:srgbClr val="FF0000"/>
                  </a:solidFill>
                </a:rPr>
                <a:t>Representational capability</a:t>
              </a:r>
              <a:endParaRPr b="1" sz="912">
                <a:solidFill>
                  <a:srgbClr val="FF0000"/>
                </a:solidFill>
              </a:endParaRPr>
            </a:p>
          </p:txBody>
        </p:sp>
        <p:sp>
          <p:nvSpPr>
            <p:cNvPr id="1596" name="Google Shape;1596;p169"/>
            <p:cNvSpPr txBox="1"/>
            <p:nvPr/>
          </p:nvSpPr>
          <p:spPr>
            <a:xfrm rot="1458962">
              <a:off x="6394338" y="3530433"/>
              <a:ext cx="2068391" cy="333915"/>
            </a:xfrm>
            <a:prstGeom prst="rect">
              <a:avLst/>
            </a:prstGeom>
            <a:noFill/>
            <a:ln>
              <a:noFill/>
            </a:ln>
          </p:spPr>
          <p:txBody>
            <a:bodyPr anchorCtr="0" anchor="t" bIns="83375" lIns="83375" spcFirstLastPara="1" rIns="83375" wrap="square" tIns="83375">
              <a:noAutofit/>
            </a:bodyPr>
            <a:lstStyle/>
            <a:p>
              <a:pPr indent="0" lvl="0" marL="0" rtl="0" algn="ctr">
                <a:spcBef>
                  <a:spcPts val="0"/>
                </a:spcBef>
                <a:spcAft>
                  <a:spcPts val="0"/>
                </a:spcAft>
                <a:buNone/>
              </a:pPr>
              <a:r>
                <a:rPr b="1" lang="en-GB" sz="912">
                  <a:solidFill>
                    <a:srgbClr val="3C78D8"/>
                  </a:solidFill>
                </a:rPr>
                <a:t>Inference faithfulness</a:t>
              </a:r>
              <a:endParaRPr b="1" sz="912">
                <a:solidFill>
                  <a:srgbClr val="3C78D8"/>
                </a:solidFill>
              </a:endParaRPr>
            </a:p>
          </p:txBody>
        </p:sp>
        <p:sp>
          <p:nvSpPr>
            <p:cNvPr id="1597" name="Google Shape;1597;p169"/>
            <p:cNvSpPr txBox="1"/>
            <p:nvPr/>
          </p:nvSpPr>
          <p:spPr>
            <a:xfrm rot="-1636633">
              <a:off x="3855304" y="3666937"/>
              <a:ext cx="2137265" cy="330472"/>
            </a:xfrm>
            <a:prstGeom prst="rect">
              <a:avLst/>
            </a:prstGeom>
            <a:noFill/>
            <a:ln>
              <a:noFill/>
            </a:ln>
          </p:spPr>
          <p:txBody>
            <a:bodyPr anchorCtr="0" anchor="t" bIns="83375" lIns="83375" spcFirstLastPara="1" rIns="83375" wrap="square" tIns="83375">
              <a:noAutofit/>
            </a:bodyPr>
            <a:lstStyle/>
            <a:p>
              <a:pPr indent="0" lvl="0" marL="0" rtl="0" algn="ctr">
                <a:spcBef>
                  <a:spcPts val="0"/>
                </a:spcBef>
                <a:spcAft>
                  <a:spcPts val="0"/>
                </a:spcAft>
                <a:buNone/>
              </a:pPr>
              <a:r>
                <a:rPr b="1" lang="en-GB" sz="914">
                  <a:solidFill>
                    <a:srgbClr val="188038"/>
                  </a:solidFill>
                </a:rPr>
                <a:t>Computational feasibility for IR</a:t>
              </a:r>
              <a:endParaRPr b="1" sz="914">
                <a:solidFill>
                  <a:srgbClr val="188038"/>
                </a:solidFill>
              </a:endParaRPr>
            </a:p>
          </p:txBody>
        </p:sp>
      </p:grpSp>
      <p:sp>
        <p:nvSpPr>
          <p:cNvPr id="1598" name="Google Shape;1598;p169"/>
          <p:cNvSpPr txBox="1"/>
          <p:nvPr>
            <p:ph idx="1" type="body"/>
          </p:nvPr>
        </p:nvSpPr>
        <p:spPr>
          <a:xfrm>
            <a:off x="2868800" y="1017725"/>
            <a:ext cx="1285500" cy="1005900"/>
          </a:xfrm>
          <a:prstGeom prst="rect">
            <a:avLst/>
          </a:prstGeom>
          <a:solidFill>
            <a:srgbClr val="D9EAD3"/>
          </a:solidFill>
          <a:ln>
            <a:noFill/>
          </a:ln>
        </p:spPr>
        <p:txBody>
          <a:bodyPr anchorCtr="0" anchor="t" bIns="91425" lIns="91425" spcFirstLastPara="1" rIns="91425" wrap="square" tIns="91425">
            <a:normAutofit fontScale="55000" lnSpcReduction="10000"/>
          </a:bodyPr>
          <a:lstStyle/>
          <a:p>
            <a:pPr indent="0" lvl="0" marL="0" rtl="0" algn="l">
              <a:lnSpc>
                <a:spcPct val="100000"/>
              </a:lnSpc>
              <a:spcBef>
                <a:spcPts val="0"/>
              </a:spcBef>
              <a:spcAft>
                <a:spcPts val="0"/>
              </a:spcAft>
              <a:buNone/>
            </a:pPr>
            <a:r>
              <a:rPr b="1" lang="en-GB" sz="1500"/>
              <a:t>Computational feasibility for IR</a:t>
            </a:r>
            <a:endParaRPr sz="1500"/>
          </a:p>
          <a:p>
            <a:pPr indent="0" lvl="0" marL="0" rtl="0" algn="l">
              <a:lnSpc>
                <a:spcPct val="100000"/>
              </a:lnSpc>
              <a:spcBef>
                <a:spcPts val="0"/>
              </a:spcBef>
              <a:spcAft>
                <a:spcPts val="0"/>
              </a:spcAft>
              <a:buNone/>
            </a:pPr>
            <a:r>
              <a:t/>
            </a:r>
            <a:endParaRPr sz="1400"/>
          </a:p>
          <a:p>
            <a:pPr indent="0" lvl="0" marL="0" rtl="0" algn="l">
              <a:spcBef>
                <a:spcPts val="0"/>
              </a:spcBef>
              <a:spcAft>
                <a:spcPts val="0"/>
              </a:spcAft>
              <a:buNone/>
            </a:pPr>
            <a:r>
              <a:rPr i="1" lang="en-GB" sz="1400"/>
              <a:t>Is the reasoning process computationally feasible over a large set of documents? </a:t>
            </a:r>
            <a:endParaRPr i="1" sz="1400"/>
          </a:p>
        </p:txBody>
      </p:sp>
      <p:sp>
        <p:nvSpPr>
          <p:cNvPr id="1599" name="Google Shape;1599;p169"/>
          <p:cNvSpPr txBox="1"/>
          <p:nvPr>
            <p:ph idx="1" type="body"/>
          </p:nvPr>
        </p:nvSpPr>
        <p:spPr>
          <a:xfrm>
            <a:off x="211100" y="1017725"/>
            <a:ext cx="1285500" cy="1005900"/>
          </a:xfrm>
          <a:prstGeom prst="rect">
            <a:avLst/>
          </a:prstGeom>
          <a:solidFill>
            <a:srgbClr val="F4CCCC"/>
          </a:solidFill>
          <a:ln>
            <a:noFill/>
          </a:ln>
        </p:spPr>
        <p:txBody>
          <a:bodyPr anchorCtr="0" anchor="t" bIns="91425" lIns="91425" spcFirstLastPara="1" rIns="91425" wrap="square" tIns="91425">
            <a:normAutofit fontScale="55000" lnSpcReduction="20000"/>
          </a:bodyPr>
          <a:lstStyle/>
          <a:p>
            <a:pPr indent="0" lvl="0" marL="0" rtl="0" algn="l">
              <a:spcBef>
                <a:spcPts val="0"/>
              </a:spcBef>
              <a:spcAft>
                <a:spcPts val="0"/>
              </a:spcAft>
              <a:buNone/>
            </a:pPr>
            <a:r>
              <a:rPr b="1" lang="en-GB" sz="1500"/>
              <a:t>Representational capability</a:t>
            </a:r>
            <a:endParaRPr b="1" sz="1500"/>
          </a:p>
          <a:p>
            <a:pPr indent="0" lvl="0" marL="0" rtl="0" algn="l">
              <a:lnSpc>
                <a:spcPct val="100000"/>
              </a:lnSpc>
              <a:spcBef>
                <a:spcPts val="0"/>
              </a:spcBef>
              <a:spcAft>
                <a:spcPts val="0"/>
              </a:spcAft>
              <a:buNone/>
            </a:pPr>
            <a:r>
              <a:t/>
            </a:r>
            <a:endParaRPr sz="1400"/>
          </a:p>
          <a:p>
            <a:pPr indent="0" lvl="0" marL="0" rtl="0" algn="l">
              <a:lnSpc>
                <a:spcPct val="100000"/>
              </a:lnSpc>
              <a:spcBef>
                <a:spcPts val="0"/>
              </a:spcBef>
              <a:spcAft>
                <a:spcPts val="0"/>
              </a:spcAft>
              <a:buNone/>
            </a:pPr>
            <a:r>
              <a:rPr i="1" lang="en-GB" sz="1400"/>
              <a:t>E.g., Does reasoning proposals explicitly encode uncertainty, causal relationships, etc.?</a:t>
            </a:r>
            <a:endParaRPr i="1" sz="1600"/>
          </a:p>
        </p:txBody>
      </p:sp>
      <p:sp>
        <p:nvSpPr>
          <p:cNvPr id="1600" name="Google Shape;1600;p169"/>
          <p:cNvSpPr txBox="1"/>
          <p:nvPr>
            <p:ph idx="1" type="body"/>
          </p:nvPr>
        </p:nvSpPr>
        <p:spPr>
          <a:xfrm>
            <a:off x="254450" y="2842700"/>
            <a:ext cx="1242300" cy="572700"/>
          </a:xfrm>
          <a:prstGeom prst="rect">
            <a:avLst/>
          </a:prstGeom>
          <a:solidFill>
            <a:schemeClr val="dk1"/>
          </a:solidFill>
          <a:ln>
            <a:noFill/>
          </a:ln>
        </p:spPr>
        <p:txBody>
          <a:bodyPr anchorCtr="0" anchor="t" bIns="91425" lIns="91425" spcFirstLastPara="1" rIns="91425" wrap="square" tIns="91425">
            <a:normAutofit lnSpcReduction="20000"/>
          </a:bodyPr>
          <a:lstStyle/>
          <a:p>
            <a:pPr indent="0" lvl="0" marL="0" rtl="0" algn="ctr">
              <a:lnSpc>
                <a:spcPct val="90000"/>
              </a:lnSpc>
              <a:spcBef>
                <a:spcPts val="0"/>
              </a:spcBef>
              <a:spcAft>
                <a:spcPts val="0"/>
              </a:spcAft>
              <a:buNone/>
            </a:pPr>
            <a:r>
              <a:rPr b="1" lang="en-GB" sz="1200">
                <a:solidFill>
                  <a:schemeClr val="lt1"/>
                </a:solidFill>
              </a:rPr>
              <a:t>Inference-time reasoning with LLMs</a:t>
            </a:r>
            <a:endParaRPr i="1" sz="1300">
              <a:solidFill>
                <a:schemeClr val="lt1"/>
              </a:solidFill>
            </a:endParaRPr>
          </a:p>
        </p:txBody>
      </p:sp>
      <p:sp>
        <p:nvSpPr>
          <p:cNvPr id="1601" name="Google Shape;1601;p169"/>
          <p:cNvSpPr txBox="1"/>
          <p:nvPr>
            <p:ph idx="1" type="body"/>
          </p:nvPr>
        </p:nvSpPr>
        <p:spPr>
          <a:xfrm>
            <a:off x="1626500" y="2842700"/>
            <a:ext cx="1242300" cy="572700"/>
          </a:xfrm>
          <a:prstGeom prst="rect">
            <a:avLst/>
          </a:prstGeom>
          <a:solidFill>
            <a:schemeClr val="dk1"/>
          </a:solidFill>
          <a:ln>
            <a:noFill/>
          </a:ln>
        </p:spPr>
        <p:txBody>
          <a:bodyPr anchorCtr="0" anchor="t" bIns="91425" lIns="91425" spcFirstLastPara="1" rIns="91425" wrap="square" tIns="91425">
            <a:normAutofit lnSpcReduction="20000"/>
          </a:bodyPr>
          <a:lstStyle/>
          <a:p>
            <a:pPr indent="0" lvl="0" marL="0" rtl="0" algn="ctr">
              <a:lnSpc>
                <a:spcPct val="90000"/>
              </a:lnSpc>
              <a:spcBef>
                <a:spcPts val="0"/>
              </a:spcBef>
              <a:spcAft>
                <a:spcPts val="0"/>
              </a:spcAft>
              <a:buNone/>
            </a:pPr>
            <a:r>
              <a:rPr b="1" lang="en-GB" sz="1200">
                <a:solidFill>
                  <a:schemeClr val="lt1"/>
                </a:solidFill>
              </a:rPr>
              <a:t>RL-training LLMs for reasoning</a:t>
            </a:r>
            <a:endParaRPr i="1" sz="1300">
              <a:solidFill>
                <a:schemeClr val="lt1"/>
              </a:solidFill>
            </a:endParaRPr>
          </a:p>
        </p:txBody>
      </p:sp>
      <p:sp>
        <p:nvSpPr>
          <p:cNvPr id="1602" name="Google Shape;1602;p169"/>
          <p:cNvSpPr txBox="1"/>
          <p:nvPr>
            <p:ph idx="1" type="body"/>
          </p:nvPr>
        </p:nvSpPr>
        <p:spPr>
          <a:xfrm>
            <a:off x="2998550" y="2842700"/>
            <a:ext cx="1242300" cy="572700"/>
          </a:xfrm>
          <a:prstGeom prst="rect">
            <a:avLst/>
          </a:prstGeom>
          <a:solidFill>
            <a:schemeClr val="dk1"/>
          </a:solidFill>
          <a:ln>
            <a:noFill/>
          </a:ln>
        </p:spPr>
        <p:txBody>
          <a:bodyPr anchorCtr="0" anchor="t" bIns="91425" lIns="91425" spcFirstLastPara="1" rIns="91425" wrap="square" tIns="91425">
            <a:normAutofit/>
          </a:bodyPr>
          <a:lstStyle/>
          <a:p>
            <a:pPr indent="0" lvl="0" marL="0" rtl="0" algn="ctr">
              <a:lnSpc>
                <a:spcPct val="90000"/>
              </a:lnSpc>
              <a:spcBef>
                <a:spcPts val="0"/>
              </a:spcBef>
              <a:spcAft>
                <a:spcPts val="0"/>
              </a:spcAft>
              <a:buNone/>
            </a:pPr>
            <a:r>
              <a:rPr b="1" lang="en-GB" sz="1200">
                <a:solidFill>
                  <a:schemeClr val="lt1"/>
                </a:solidFill>
              </a:rPr>
              <a:t>Neuro-</a:t>
            </a:r>
            <a:endParaRPr b="1" sz="1200">
              <a:solidFill>
                <a:schemeClr val="lt1"/>
              </a:solidFill>
            </a:endParaRPr>
          </a:p>
          <a:p>
            <a:pPr indent="0" lvl="0" marL="0" rtl="0" algn="ctr">
              <a:lnSpc>
                <a:spcPct val="90000"/>
              </a:lnSpc>
              <a:spcBef>
                <a:spcPts val="0"/>
              </a:spcBef>
              <a:spcAft>
                <a:spcPts val="0"/>
              </a:spcAft>
              <a:buNone/>
            </a:pPr>
            <a:r>
              <a:rPr b="1" lang="en-GB" sz="1200">
                <a:solidFill>
                  <a:schemeClr val="lt1"/>
                </a:solidFill>
              </a:rPr>
              <a:t>symbolic</a:t>
            </a:r>
            <a:endParaRPr i="1" sz="1300">
              <a:solidFill>
                <a:schemeClr val="lt1"/>
              </a:solidFill>
            </a:endParaRPr>
          </a:p>
        </p:txBody>
      </p:sp>
      <p:sp>
        <p:nvSpPr>
          <p:cNvPr id="1603" name="Google Shape;1603;p169"/>
          <p:cNvSpPr txBox="1"/>
          <p:nvPr>
            <p:ph idx="1" type="body"/>
          </p:nvPr>
        </p:nvSpPr>
        <p:spPr>
          <a:xfrm>
            <a:off x="254450" y="3565200"/>
            <a:ext cx="1242300" cy="572700"/>
          </a:xfrm>
          <a:prstGeom prst="rect">
            <a:avLst/>
          </a:prstGeom>
          <a:solidFill>
            <a:schemeClr val="dk1"/>
          </a:solidFill>
          <a:ln>
            <a:noFill/>
          </a:ln>
        </p:spPr>
        <p:txBody>
          <a:bodyPr anchorCtr="0" anchor="t" bIns="91425" lIns="91425" spcFirstLastPara="1" rIns="91425" wrap="square" tIns="91425">
            <a:normAutofit/>
          </a:bodyPr>
          <a:lstStyle/>
          <a:p>
            <a:pPr indent="0" lvl="0" marL="0" rtl="0" algn="ctr">
              <a:lnSpc>
                <a:spcPct val="90000"/>
              </a:lnSpc>
              <a:spcBef>
                <a:spcPts val="0"/>
              </a:spcBef>
              <a:spcAft>
                <a:spcPts val="0"/>
              </a:spcAft>
              <a:buNone/>
            </a:pPr>
            <a:r>
              <a:rPr b="1" lang="en-GB" sz="1200">
                <a:solidFill>
                  <a:schemeClr val="lt1"/>
                </a:solidFill>
              </a:rPr>
              <a:t>Bayesian Reasoning</a:t>
            </a:r>
            <a:endParaRPr i="1" sz="1300">
              <a:solidFill>
                <a:schemeClr val="lt1"/>
              </a:solidFill>
            </a:endParaRPr>
          </a:p>
        </p:txBody>
      </p:sp>
      <p:sp>
        <p:nvSpPr>
          <p:cNvPr id="1604" name="Google Shape;1604;p169"/>
          <p:cNvSpPr txBox="1"/>
          <p:nvPr>
            <p:ph idx="1" type="body"/>
          </p:nvPr>
        </p:nvSpPr>
        <p:spPr>
          <a:xfrm>
            <a:off x="1626500" y="3565200"/>
            <a:ext cx="1242300" cy="572700"/>
          </a:xfrm>
          <a:prstGeom prst="rect">
            <a:avLst/>
          </a:prstGeom>
          <a:solidFill>
            <a:schemeClr val="dk1"/>
          </a:solidFill>
          <a:ln>
            <a:noFill/>
          </a:ln>
        </p:spPr>
        <p:txBody>
          <a:bodyPr anchorCtr="0" anchor="t" bIns="91425" lIns="91425" spcFirstLastPara="1" rIns="91425" wrap="square" tIns="91425">
            <a:normAutofit lnSpcReduction="20000"/>
          </a:bodyPr>
          <a:lstStyle/>
          <a:p>
            <a:pPr indent="0" lvl="0" marL="0" rtl="0" algn="ctr">
              <a:lnSpc>
                <a:spcPct val="90000"/>
              </a:lnSpc>
              <a:spcBef>
                <a:spcPts val="0"/>
              </a:spcBef>
              <a:spcAft>
                <a:spcPts val="0"/>
              </a:spcAft>
              <a:buNone/>
            </a:pPr>
            <a:r>
              <a:rPr b="1" lang="en-GB" sz="1200">
                <a:solidFill>
                  <a:schemeClr val="lt1"/>
                </a:solidFill>
              </a:rPr>
              <a:t>Enhancing the representation space</a:t>
            </a:r>
            <a:endParaRPr i="1" sz="1300">
              <a:solidFill>
                <a:schemeClr val="lt1"/>
              </a:solidFill>
            </a:endParaRPr>
          </a:p>
        </p:txBody>
      </p:sp>
      <p:sp>
        <p:nvSpPr>
          <p:cNvPr id="1605" name="Google Shape;1605;p169"/>
          <p:cNvSpPr txBox="1"/>
          <p:nvPr>
            <p:ph idx="1" type="body"/>
          </p:nvPr>
        </p:nvSpPr>
        <p:spPr>
          <a:xfrm>
            <a:off x="2998550" y="3565200"/>
            <a:ext cx="1242300" cy="572700"/>
          </a:xfrm>
          <a:prstGeom prst="rect">
            <a:avLst/>
          </a:prstGeom>
          <a:solidFill>
            <a:schemeClr val="dk1"/>
          </a:solidFill>
          <a:ln>
            <a:noFill/>
          </a:ln>
        </p:spPr>
        <p:txBody>
          <a:bodyPr anchorCtr="0" anchor="t" bIns="91425" lIns="91425" spcFirstLastPara="1" rIns="91425" wrap="square" tIns="91425">
            <a:normAutofit/>
          </a:bodyPr>
          <a:lstStyle/>
          <a:p>
            <a:pPr indent="0" lvl="0" marL="0" rtl="0" algn="ctr">
              <a:lnSpc>
                <a:spcPct val="90000"/>
              </a:lnSpc>
              <a:spcBef>
                <a:spcPts val="0"/>
              </a:spcBef>
              <a:spcAft>
                <a:spcPts val="0"/>
              </a:spcAft>
              <a:buNone/>
            </a:pPr>
            <a:r>
              <a:rPr b="1" lang="en-GB" sz="1200">
                <a:solidFill>
                  <a:schemeClr val="lt1"/>
                </a:solidFill>
              </a:rPr>
              <a:t>Enhancing training data</a:t>
            </a:r>
            <a:endParaRPr i="1" sz="1300">
              <a:solidFill>
                <a:schemeClr val="lt1"/>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9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8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9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9" name="Shape 1609"/>
        <p:cNvGrpSpPr/>
        <p:nvPr/>
      </p:nvGrpSpPr>
      <p:grpSpPr>
        <a:xfrm>
          <a:off x="0" y="0"/>
          <a:ext cx="0" cy="0"/>
          <a:chOff x="0" y="0"/>
          <a:chExt cx="0" cy="0"/>
        </a:xfrm>
      </p:grpSpPr>
      <p:sp>
        <p:nvSpPr>
          <p:cNvPr id="1610" name="Google Shape;1610;p17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00000"/>
              <a:buNone/>
            </a:pPr>
            <a:r>
              <a:rPr b="1" lang="en-GB"/>
              <a:t>Our reading: the trade-off map</a:t>
            </a:r>
            <a:endParaRPr/>
          </a:p>
        </p:txBody>
      </p:sp>
      <p:graphicFrame>
        <p:nvGraphicFramePr>
          <p:cNvPr id="1611" name="Google Shape;1611;p170"/>
          <p:cNvGraphicFramePr/>
          <p:nvPr/>
        </p:nvGraphicFramePr>
        <p:xfrm>
          <a:off x="228600" y="1051560"/>
          <a:ext cx="3000000" cy="3000000"/>
        </p:xfrm>
        <a:graphic>
          <a:graphicData uri="http://schemas.openxmlformats.org/drawingml/2006/table">
            <a:tbl>
              <a:tblPr bandRow="1" firstRow="1">
                <a:noFill/>
                <a:tableStyleId>{8BC407EF-DC22-4AD9-948A-9F9A1C50E87D}</a:tableStyleId>
              </a:tblPr>
              <a:tblGrid>
                <a:gridCol w="2834650"/>
                <a:gridCol w="1947675"/>
                <a:gridCol w="1947675"/>
                <a:gridCol w="1947675"/>
              </a:tblGrid>
              <a:tr h="483325">
                <a:tc>
                  <a:txBody>
                    <a:bodyPr/>
                    <a:lstStyle/>
                    <a:p>
                      <a:pPr indent="0" lvl="0" marL="0" marR="0" rtl="0" algn="l">
                        <a:lnSpc>
                          <a:spcPct val="100000"/>
                        </a:lnSpc>
                        <a:spcBef>
                          <a:spcPts val="0"/>
                        </a:spcBef>
                        <a:spcAft>
                          <a:spcPts val="0"/>
                        </a:spcAft>
                        <a:buNone/>
                      </a:pPr>
                      <a:r>
                        <a:rPr b="1" lang="en-GB" sz="1100" u="none" cap="none" strike="noStrike">
                          <a:solidFill>
                            <a:srgbClr val="FFFFFF"/>
                          </a:solidFill>
                        </a:rPr>
                        <a:t>Method family</a:t>
                      </a:r>
                      <a:endParaRPr/>
                    </a:p>
                  </a:txBody>
                  <a:tcPr marT="18300" marB="18300" marR="36575" marL="54875">
                    <a:solidFill>
                      <a:srgbClr val="3B6FC9"/>
                    </a:solidFill>
                  </a:tcPr>
                </a:tc>
                <a:tc>
                  <a:txBody>
                    <a:bodyPr/>
                    <a:lstStyle/>
                    <a:p>
                      <a:pPr indent="0" lvl="0" marL="0" marR="0" rtl="0" algn="l">
                        <a:lnSpc>
                          <a:spcPct val="100000"/>
                        </a:lnSpc>
                        <a:spcBef>
                          <a:spcPts val="0"/>
                        </a:spcBef>
                        <a:spcAft>
                          <a:spcPts val="0"/>
                        </a:spcAft>
                        <a:buNone/>
                      </a:pPr>
                      <a:r>
                        <a:rPr b="1" lang="en-GB" sz="1100" u="none" cap="none" strike="noStrike">
                          <a:solidFill>
                            <a:srgbClr val="FFFFFF"/>
                          </a:solidFill>
                        </a:rPr>
                        <a:t>Representational capability</a:t>
                      </a:r>
                      <a:endParaRPr/>
                    </a:p>
                  </a:txBody>
                  <a:tcPr marT="18300" marB="18300" marR="36575" marL="54875">
                    <a:solidFill>
                      <a:srgbClr val="3B6FC9"/>
                    </a:solidFill>
                  </a:tcPr>
                </a:tc>
                <a:tc>
                  <a:txBody>
                    <a:bodyPr/>
                    <a:lstStyle/>
                    <a:p>
                      <a:pPr indent="0" lvl="0" marL="0" marR="0" rtl="0" algn="l">
                        <a:lnSpc>
                          <a:spcPct val="100000"/>
                        </a:lnSpc>
                        <a:spcBef>
                          <a:spcPts val="0"/>
                        </a:spcBef>
                        <a:spcAft>
                          <a:spcPts val="0"/>
                        </a:spcAft>
                        <a:buNone/>
                      </a:pPr>
                      <a:r>
                        <a:rPr b="1" lang="en-GB" sz="1100" u="none" cap="none" strike="noStrike">
                          <a:solidFill>
                            <a:srgbClr val="FFFFFF"/>
                          </a:solidFill>
                        </a:rPr>
                        <a:t>Inference faithfulness</a:t>
                      </a:r>
                      <a:endParaRPr/>
                    </a:p>
                  </a:txBody>
                  <a:tcPr marT="18300" marB="18300" marR="36575" marL="54875">
                    <a:solidFill>
                      <a:srgbClr val="3B6FC9"/>
                    </a:solidFill>
                  </a:tcPr>
                </a:tc>
                <a:tc>
                  <a:txBody>
                    <a:bodyPr/>
                    <a:lstStyle/>
                    <a:p>
                      <a:pPr indent="0" lvl="0" marL="0" marR="0" rtl="0" algn="l">
                        <a:lnSpc>
                          <a:spcPct val="100000"/>
                        </a:lnSpc>
                        <a:spcBef>
                          <a:spcPts val="0"/>
                        </a:spcBef>
                        <a:spcAft>
                          <a:spcPts val="0"/>
                        </a:spcAft>
                        <a:buNone/>
                      </a:pPr>
                      <a:r>
                        <a:rPr b="1" lang="en-GB" sz="1100" u="none" cap="none" strike="noStrike">
                          <a:solidFill>
                            <a:srgbClr val="FFFFFF"/>
                          </a:solidFill>
                        </a:rPr>
                        <a:t>Computational feasibility</a:t>
                      </a:r>
                      <a:endParaRPr/>
                    </a:p>
                  </a:txBody>
                  <a:tcPr marT="18300" marB="18300" marR="36575" marL="54875">
                    <a:solidFill>
                      <a:srgbClr val="3B6FC9"/>
                    </a:solidFill>
                  </a:tcPr>
                </a:tc>
              </a:tr>
              <a:tr h="483325">
                <a:tc>
                  <a:txBody>
                    <a:bodyPr/>
                    <a:lstStyle/>
                    <a:p>
                      <a:pPr indent="0" lvl="0" marL="0" marR="0" rtl="0" algn="l">
                        <a:lnSpc>
                          <a:spcPct val="100000"/>
                        </a:lnSpc>
                        <a:spcBef>
                          <a:spcPts val="0"/>
                        </a:spcBef>
                        <a:spcAft>
                          <a:spcPts val="0"/>
                        </a:spcAft>
                        <a:buNone/>
                      </a:pPr>
                      <a:r>
                        <a:rPr b="1" lang="en-GB" sz="1000" u="none" cap="none" strike="noStrike">
                          <a:solidFill>
                            <a:srgbClr val="333333"/>
                          </a:solidFill>
                        </a:rPr>
                        <a:t>Inference-time LLM reasoning (CoT, ToT, ReAct)</a:t>
                      </a:r>
                      <a:endParaRPr/>
                    </a:p>
                  </a:txBody>
                  <a:tcPr marT="18300" marB="18300" marR="36575" marL="54875">
                    <a:solidFill>
                      <a:srgbClr val="FFFFFF"/>
                    </a:solidFill>
                  </a:tcPr>
                </a:tc>
                <a:tc>
                  <a:txBody>
                    <a:bodyPr/>
                    <a:lstStyle/>
                    <a:p>
                      <a:pPr indent="0" lvl="0" marL="0" marR="0" rtl="0" algn="l">
                        <a:lnSpc>
                          <a:spcPct val="100000"/>
                        </a:lnSpc>
                        <a:spcBef>
                          <a:spcPts val="0"/>
                        </a:spcBef>
                        <a:spcAft>
                          <a:spcPts val="0"/>
                        </a:spcAft>
                        <a:buNone/>
                      </a:pPr>
                      <a:r>
                        <a:rPr lang="en-GB" sz="1000" u="none" cap="none" strike="noStrike">
                          <a:solidFill>
                            <a:srgbClr val="B03A2E"/>
                          </a:solidFill>
                        </a:rPr>
                        <a:t>○  implicit; no explicit logic or uncertainty</a:t>
                      </a:r>
                      <a:endParaRPr/>
                    </a:p>
                  </a:txBody>
                  <a:tcPr marT="18300" marB="18300" marR="36575" marL="54875">
                    <a:solidFill>
                      <a:srgbClr val="FFFFFF"/>
                    </a:solidFill>
                  </a:tcPr>
                </a:tc>
                <a:tc>
                  <a:txBody>
                    <a:bodyPr/>
                    <a:lstStyle/>
                    <a:p>
                      <a:pPr indent="0" lvl="0" marL="0" marR="0" rtl="0" algn="l">
                        <a:lnSpc>
                          <a:spcPct val="100000"/>
                        </a:lnSpc>
                        <a:spcBef>
                          <a:spcPts val="0"/>
                        </a:spcBef>
                        <a:spcAft>
                          <a:spcPts val="0"/>
                        </a:spcAft>
                        <a:buNone/>
                      </a:pPr>
                      <a:r>
                        <a:rPr lang="en-GB" sz="1000" u="none" cap="none" strike="noStrike">
                          <a:solidFill>
                            <a:srgbClr val="B03A2E"/>
                          </a:solidFill>
                        </a:rPr>
                        <a:t>○  traces exist but </a:t>
                      </a:r>
                      <a:r>
                        <a:rPr lang="en-GB" sz="1000">
                          <a:solidFill>
                            <a:srgbClr val="B03A2E"/>
                          </a:solidFill>
                        </a:rPr>
                        <a:t>can be</a:t>
                      </a:r>
                      <a:r>
                        <a:rPr lang="en-GB" sz="1000" u="none" cap="none" strike="noStrike">
                          <a:solidFill>
                            <a:srgbClr val="B03A2E"/>
                          </a:solidFill>
                        </a:rPr>
                        <a:t> unfaithful</a:t>
                      </a:r>
                      <a:endParaRPr/>
                    </a:p>
                  </a:txBody>
                  <a:tcPr marT="18300" marB="18300" marR="36575" marL="54875">
                    <a:solidFill>
                      <a:srgbClr val="FFFFFF"/>
                    </a:solidFill>
                  </a:tcPr>
                </a:tc>
                <a:tc>
                  <a:txBody>
                    <a:bodyPr/>
                    <a:lstStyle/>
                    <a:p>
                      <a:pPr indent="0" lvl="0" marL="0" marR="0" rtl="0" algn="l">
                        <a:lnSpc>
                          <a:spcPct val="100000"/>
                        </a:lnSpc>
                        <a:spcBef>
                          <a:spcPts val="0"/>
                        </a:spcBef>
                        <a:spcAft>
                          <a:spcPts val="0"/>
                        </a:spcAft>
                        <a:buNone/>
                      </a:pPr>
                      <a:r>
                        <a:rPr lang="en-GB" sz="1000" u="none" cap="none" strike="noStrike">
                          <a:solidFill>
                            <a:srgbClr val="B8860B"/>
                          </a:solidFill>
                        </a:rPr>
                        <a:t>◐  pay per query, grows with chain length</a:t>
                      </a:r>
                      <a:endParaRPr/>
                    </a:p>
                  </a:txBody>
                  <a:tcPr marT="18300" marB="18300" marR="36575" marL="54875">
                    <a:solidFill>
                      <a:srgbClr val="FFFFFF"/>
                    </a:solidFill>
                  </a:tcPr>
                </a:tc>
              </a:tr>
              <a:tr h="483325">
                <a:tc>
                  <a:txBody>
                    <a:bodyPr/>
                    <a:lstStyle/>
                    <a:p>
                      <a:pPr indent="0" lvl="0" marL="0" marR="0" rtl="0" algn="l">
                        <a:lnSpc>
                          <a:spcPct val="100000"/>
                        </a:lnSpc>
                        <a:spcBef>
                          <a:spcPts val="0"/>
                        </a:spcBef>
                        <a:spcAft>
                          <a:spcPts val="0"/>
                        </a:spcAft>
                        <a:buNone/>
                      </a:pPr>
                      <a:r>
                        <a:rPr b="1" lang="en-GB" sz="1000" u="none" cap="none" strike="noStrike">
                          <a:solidFill>
                            <a:srgbClr val="333333"/>
                          </a:solidFill>
                        </a:rPr>
                        <a:t>RL-trained LRMs &amp; search agents (Search-R1, Rank-R1)</a:t>
                      </a:r>
                      <a:endParaRPr/>
                    </a:p>
                  </a:txBody>
                  <a:tcPr marT="18300" marB="18300" marR="36575" marL="54875">
                    <a:solidFill>
                      <a:srgbClr val="F2F5FB"/>
                    </a:solidFill>
                  </a:tcPr>
                </a:tc>
                <a:tc>
                  <a:txBody>
                    <a:bodyPr/>
                    <a:lstStyle/>
                    <a:p>
                      <a:pPr indent="0" lvl="0" marL="0" marR="0" rtl="0" algn="l">
                        <a:lnSpc>
                          <a:spcPct val="100000"/>
                        </a:lnSpc>
                        <a:spcBef>
                          <a:spcPts val="0"/>
                        </a:spcBef>
                        <a:spcAft>
                          <a:spcPts val="0"/>
                        </a:spcAft>
                        <a:buNone/>
                      </a:pPr>
                      <a:r>
                        <a:rPr lang="en-GB" sz="1000" u="none" cap="none" strike="noStrike">
                          <a:solidFill>
                            <a:srgbClr val="B03A2E"/>
                          </a:solidFill>
                        </a:rPr>
                        <a:t>○  </a:t>
                      </a:r>
                      <a:r>
                        <a:rPr lang="en-GB" sz="1000">
                          <a:solidFill>
                            <a:srgbClr val="B03A2E"/>
                          </a:solidFill>
                        </a:rPr>
                        <a:t>implicit</a:t>
                      </a:r>
                      <a:endParaRPr/>
                    </a:p>
                  </a:txBody>
                  <a:tcPr marT="18300" marB="18300" marR="36575" marL="54875">
                    <a:solidFill>
                      <a:srgbClr val="F2F5FB"/>
                    </a:solidFill>
                  </a:tcPr>
                </a:tc>
                <a:tc>
                  <a:txBody>
                    <a:bodyPr/>
                    <a:lstStyle/>
                    <a:p>
                      <a:pPr indent="0" lvl="0" marL="0" marR="0" rtl="0" algn="l">
                        <a:lnSpc>
                          <a:spcPct val="100000"/>
                        </a:lnSpc>
                        <a:spcBef>
                          <a:spcPts val="0"/>
                        </a:spcBef>
                        <a:spcAft>
                          <a:spcPts val="0"/>
                        </a:spcAft>
                        <a:buNone/>
                      </a:pPr>
                      <a:r>
                        <a:rPr lang="en-GB" sz="1000" u="none" cap="none" strike="noStrike">
                          <a:solidFill>
                            <a:srgbClr val="B8860B"/>
                          </a:solidFill>
                        </a:rPr>
                        <a:t>◐  sharper but narrower (pass@k); mainly outcome-only reward</a:t>
                      </a:r>
                      <a:endParaRPr/>
                    </a:p>
                  </a:txBody>
                  <a:tcPr marT="18300" marB="18300" marR="36575" marL="54875">
                    <a:solidFill>
                      <a:srgbClr val="F2F5FB"/>
                    </a:solidFill>
                  </a:tcPr>
                </a:tc>
                <a:tc>
                  <a:txBody>
                    <a:bodyPr/>
                    <a:lstStyle/>
                    <a:p>
                      <a:pPr indent="0" lvl="0" marL="0" marR="0" rtl="0" algn="l">
                        <a:lnSpc>
                          <a:spcPct val="100000"/>
                        </a:lnSpc>
                        <a:spcBef>
                          <a:spcPts val="0"/>
                        </a:spcBef>
                        <a:spcAft>
                          <a:spcPts val="0"/>
                        </a:spcAft>
                        <a:buNone/>
                      </a:pPr>
                      <a:r>
                        <a:rPr lang="en-GB" sz="1000" u="none" cap="none" strike="noStrike">
                          <a:solidFill>
                            <a:srgbClr val="B8860B"/>
                          </a:solidFill>
                        </a:rPr>
                        <a:t>◐  heavy training,</a:t>
                      </a:r>
                      <a:r>
                        <a:rPr lang="en-GB" sz="1000">
                          <a:solidFill>
                            <a:srgbClr val="B8860B"/>
                          </a:solidFill>
                        </a:rPr>
                        <a:t> </a:t>
                      </a:r>
                      <a:r>
                        <a:rPr lang="en-GB" sz="1000" u="none" cap="none" strike="noStrike">
                          <a:solidFill>
                            <a:srgbClr val="B8860B"/>
                          </a:solidFill>
                        </a:rPr>
                        <a:t>inference cost varied</a:t>
                      </a:r>
                      <a:endParaRPr/>
                    </a:p>
                  </a:txBody>
                  <a:tcPr marT="18300" marB="18300" marR="36575" marL="54875">
                    <a:solidFill>
                      <a:srgbClr val="F2F5FB"/>
                    </a:solidFill>
                  </a:tcPr>
                </a:tc>
              </a:tr>
              <a:tr h="483325">
                <a:tc>
                  <a:txBody>
                    <a:bodyPr/>
                    <a:lstStyle/>
                    <a:p>
                      <a:pPr indent="0" lvl="0" marL="0" marR="0" rtl="0" algn="l">
                        <a:lnSpc>
                          <a:spcPct val="100000"/>
                        </a:lnSpc>
                        <a:spcBef>
                          <a:spcPts val="0"/>
                        </a:spcBef>
                        <a:spcAft>
                          <a:spcPts val="0"/>
                        </a:spcAft>
                        <a:buNone/>
                      </a:pPr>
                      <a:r>
                        <a:rPr b="1" lang="en-GB" sz="1000" u="none" cap="none" strike="noStrike">
                          <a:solidFill>
                            <a:srgbClr val="333333"/>
                          </a:solidFill>
                        </a:rPr>
                        <a:t>Multi-agent (-component) systems</a:t>
                      </a:r>
                      <a:endParaRPr/>
                    </a:p>
                  </a:txBody>
                  <a:tcPr marT="18300" marB="18300" marR="36575" marL="54875">
                    <a:solidFill>
                      <a:srgbClr val="FFFFFF"/>
                    </a:solidFill>
                  </a:tcPr>
                </a:tc>
                <a:tc>
                  <a:txBody>
                    <a:bodyPr/>
                    <a:lstStyle/>
                    <a:p>
                      <a:pPr indent="0" lvl="0" marL="0" marR="0" rtl="0" algn="l">
                        <a:lnSpc>
                          <a:spcPct val="100000"/>
                        </a:lnSpc>
                        <a:spcBef>
                          <a:spcPts val="0"/>
                        </a:spcBef>
                        <a:spcAft>
                          <a:spcPts val="0"/>
                        </a:spcAft>
                        <a:buNone/>
                      </a:pPr>
                      <a:r>
                        <a:rPr lang="en-GB" sz="1000" u="none" cap="none" strike="noStrike">
                          <a:solidFill>
                            <a:srgbClr val="B8860B"/>
                          </a:solidFill>
                        </a:rPr>
                        <a:t>◐  specialized roles, richer decomposition</a:t>
                      </a:r>
                      <a:endParaRPr/>
                    </a:p>
                  </a:txBody>
                  <a:tcPr marT="18300" marB="18300" marR="36575" marL="54875">
                    <a:solidFill>
                      <a:srgbClr val="FFFFFF"/>
                    </a:solidFill>
                  </a:tcPr>
                </a:tc>
                <a:tc>
                  <a:txBody>
                    <a:bodyPr/>
                    <a:lstStyle/>
                    <a:p>
                      <a:pPr indent="0" lvl="0" marL="0" marR="0" rtl="0" algn="l">
                        <a:lnSpc>
                          <a:spcPct val="100000"/>
                        </a:lnSpc>
                        <a:spcBef>
                          <a:spcPts val="0"/>
                        </a:spcBef>
                        <a:spcAft>
                          <a:spcPts val="0"/>
                        </a:spcAft>
                        <a:buNone/>
                      </a:pPr>
                      <a:r>
                        <a:rPr lang="en-GB" sz="1000" u="none" cap="none" strike="noStrike">
                          <a:solidFill>
                            <a:srgbClr val="B03A2E"/>
                          </a:solidFill>
                        </a:rPr>
                        <a:t>○  distributed trace — harde</a:t>
                      </a:r>
                      <a:r>
                        <a:rPr lang="en-GB" sz="1000">
                          <a:solidFill>
                            <a:srgbClr val="B03A2E"/>
                          </a:solidFill>
                        </a:rPr>
                        <a:t>r</a:t>
                      </a:r>
                      <a:r>
                        <a:rPr lang="en-GB" sz="1000" u="none" cap="none" strike="noStrike">
                          <a:solidFill>
                            <a:srgbClr val="B03A2E"/>
                          </a:solidFill>
                        </a:rPr>
                        <a:t> to verify</a:t>
                      </a:r>
                      <a:endParaRPr/>
                    </a:p>
                  </a:txBody>
                  <a:tcPr marT="18300" marB="18300" marR="36575" marL="54875">
                    <a:solidFill>
                      <a:srgbClr val="FFFFFF"/>
                    </a:solidFill>
                  </a:tcPr>
                </a:tc>
                <a:tc>
                  <a:txBody>
                    <a:bodyPr/>
                    <a:lstStyle/>
                    <a:p>
                      <a:pPr indent="0" lvl="0" marL="0" marR="0" rtl="0" algn="l">
                        <a:lnSpc>
                          <a:spcPct val="100000"/>
                        </a:lnSpc>
                        <a:spcBef>
                          <a:spcPts val="0"/>
                        </a:spcBef>
                        <a:spcAft>
                          <a:spcPts val="0"/>
                        </a:spcAft>
                        <a:buNone/>
                      </a:pPr>
                      <a:r>
                        <a:rPr lang="en-GB" sz="1000" u="none" cap="none" strike="noStrike">
                          <a:solidFill>
                            <a:srgbClr val="B03A2E"/>
                          </a:solidFill>
                        </a:rPr>
                        <a:t>○  coordination &amp; token overhead</a:t>
                      </a:r>
                      <a:endParaRPr/>
                    </a:p>
                  </a:txBody>
                  <a:tcPr marT="18300" marB="18300" marR="36575" marL="54875">
                    <a:solidFill>
                      <a:srgbClr val="FFFFFF"/>
                    </a:solidFill>
                  </a:tcPr>
                </a:tc>
              </a:tr>
              <a:tr h="483325">
                <a:tc>
                  <a:txBody>
                    <a:bodyPr/>
                    <a:lstStyle/>
                    <a:p>
                      <a:pPr indent="0" lvl="0" marL="0" marR="0" rtl="0" algn="l">
                        <a:lnSpc>
                          <a:spcPct val="100000"/>
                        </a:lnSpc>
                        <a:spcBef>
                          <a:spcPts val="0"/>
                        </a:spcBef>
                        <a:spcAft>
                          <a:spcPts val="0"/>
                        </a:spcAft>
                        <a:buNone/>
                      </a:pPr>
                      <a:r>
                        <a:rPr b="1" lang="en-GB" sz="1000" u="none" cap="none" strike="noStrike">
                          <a:solidFill>
                            <a:srgbClr val="333333"/>
                          </a:solidFill>
                        </a:rPr>
                        <a:t>Neuro-symbolic (</a:t>
                      </a:r>
                      <a:r>
                        <a:rPr b="1" lang="en-GB" sz="1000">
                          <a:solidFill>
                            <a:srgbClr val="333333"/>
                          </a:solidFill>
                        </a:rPr>
                        <a:t>e.g. </a:t>
                      </a:r>
                      <a:r>
                        <a:rPr b="1" lang="en-GB" sz="1000" u="none" cap="none" strike="noStrike">
                          <a:solidFill>
                            <a:srgbClr val="333333"/>
                          </a:solidFill>
                        </a:rPr>
                        <a:t>OrLog)</a:t>
                      </a:r>
                      <a:endParaRPr/>
                    </a:p>
                  </a:txBody>
                  <a:tcPr marT="18300" marB="18300" marR="36575" marL="54875">
                    <a:solidFill>
                      <a:srgbClr val="F2F5FB"/>
                    </a:solidFill>
                  </a:tcPr>
                </a:tc>
                <a:tc>
                  <a:txBody>
                    <a:bodyPr/>
                    <a:lstStyle/>
                    <a:p>
                      <a:pPr indent="0" lvl="0" marL="0" marR="0" rtl="0" algn="l">
                        <a:lnSpc>
                          <a:spcPct val="100000"/>
                        </a:lnSpc>
                        <a:spcBef>
                          <a:spcPts val="0"/>
                        </a:spcBef>
                        <a:spcAft>
                          <a:spcPts val="0"/>
                        </a:spcAft>
                        <a:buNone/>
                      </a:pPr>
                      <a:r>
                        <a:rPr lang="en-GB" sz="1000" u="none" cap="none" strike="noStrike">
                          <a:solidFill>
                            <a:srgbClr val="2E7D32"/>
                          </a:solidFill>
                        </a:rPr>
                        <a:t>●  explicit logic + probabilities</a:t>
                      </a:r>
                      <a:endParaRPr/>
                    </a:p>
                  </a:txBody>
                  <a:tcPr marT="18300" marB="18300" marR="36575" marL="54875">
                    <a:solidFill>
                      <a:srgbClr val="F2F5FB"/>
                    </a:solidFill>
                  </a:tcPr>
                </a:tc>
                <a:tc>
                  <a:txBody>
                    <a:bodyPr/>
                    <a:lstStyle/>
                    <a:p>
                      <a:pPr indent="0" lvl="0" marL="0" marR="0" rtl="0" algn="l">
                        <a:lnSpc>
                          <a:spcPct val="100000"/>
                        </a:lnSpc>
                        <a:spcBef>
                          <a:spcPts val="0"/>
                        </a:spcBef>
                        <a:spcAft>
                          <a:spcPts val="0"/>
                        </a:spcAft>
                        <a:buNone/>
                      </a:pPr>
                      <a:r>
                        <a:rPr lang="en-GB" sz="1000">
                          <a:solidFill>
                            <a:srgbClr val="B8860B"/>
                          </a:solidFill>
                        </a:rPr>
                        <a:t>◐ solver steps are auditable</a:t>
                      </a:r>
                      <a:r>
                        <a:rPr lang="en-GB" sz="1000" u="none" cap="none" strike="noStrike">
                          <a:solidFill>
                            <a:srgbClr val="2E7D32"/>
                          </a:solidFill>
                        </a:rPr>
                        <a:t>  </a:t>
                      </a:r>
                      <a:endParaRPr/>
                    </a:p>
                  </a:txBody>
                  <a:tcPr marT="18300" marB="18300" marR="36575" marL="54875">
                    <a:solidFill>
                      <a:srgbClr val="F2F5FB"/>
                    </a:solidFill>
                  </a:tcPr>
                </a:tc>
                <a:tc>
                  <a:txBody>
                    <a:bodyPr/>
                    <a:lstStyle/>
                    <a:p>
                      <a:pPr indent="0" lvl="0" marL="0" marR="0" rtl="0" algn="l">
                        <a:lnSpc>
                          <a:spcPct val="100000"/>
                        </a:lnSpc>
                        <a:spcBef>
                          <a:spcPts val="0"/>
                        </a:spcBef>
                        <a:spcAft>
                          <a:spcPts val="0"/>
                        </a:spcAft>
                        <a:buNone/>
                      </a:pPr>
                      <a:r>
                        <a:rPr lang="en-GB" sz="1000" u="none" cap="none" strike="noStrike">
                          <a:solidFill>
                            <a:srgbClr val="B8860B"/>
                          </a:solidFill>
                        </a:rPr>
                        <a:t>◐  cheap solver; but LLM parses &amp; </a:t>
                      </a:r>
                      <a:r>
                        <a:rPr lang="en-GB" sz="1000">
                          <a:solidFill>
                            <a:srgbClr val="B8860B"/>
                          </a:solidFill>
                        </a:rPr>
                        <a:t>scoring still expensive</a:t>
                      </a:r>
                      <a:endParaRPr/>
                    </a:p>
                  </a:txBody>
                  <a:tcPr marT="18300" marB="18300" marR="36575" marL="54875">
                    <a:solidFill>
                      <a:srgbClr val="F2F5FB"/>
                    </a:solidFill>
                  </a:tcPr>
                </a:tc>
              </a:tr>
              <a:tr h="483325">
                <a:tc>
                  <a:txBody>
                    <a:bodyPr/>
                    <a:lstStyle/>
                    <a:p>
                      <a:pPr indent="0" lvl="0" marL="0" marR="0" rtl="0" algn="l">
                        <a:lnSpc>
                          <a:spcPct val="100000"/>
                        </a:lnSpc>
                        <a:spcBef>
                          <a:spcPts val="0"/>
                        </a:spcBef>
                        <a:spcAft>
                          <a:spcPts val="0"/>
                        </a:spcAft>
                        <a:buNone/>
                      </a:pPr>
                      <a:r>
                        <a:rPr b="1" lang="en-GB" sz="1000" u="none" cap="none" strike="noStrike">
                          <a:solidFill>
                            <a:srgbClr val="333333"/>
                          </a:solidFill>
                        </a:rPr>
                        <a:t>Bayesian / probabilistic (this section)</a:t>
                      </a:r>
                      <a:endParaRPr/>
                    </a:p>
                  </a:txBody>
                  <a:tcPr marT="18300" marB="18300" marR="36575" marL="54875">
                    <a:solidFill>
                      <a:srgbClr val="FFFFFF"/>
                    </a:solidFill>
                  </a:tcPr>
                </a:tc>
                <a:tc>
                  <a:txBody>
                    <a:bodyPr/>
                    <a:lstStyle/>
                    <a:p>
                      <a:pPr indent="0" lvl="0" marL="0" marR="0" rtl="0" algn="l">
                        <a:lnSpc>
                          <a:spcPct val="100000"/>
                        </a:lnSpc>
                        <a:spcBef>
                          <a:spcPts val="0"/>
                        </a:spcBef>
                        <a:spcAft>
                          <a:spcPts val="0"/>
                        </a:spcAft>
                        <a:buNone/>
                      </a:pPr>
                      <a:r>
                        <a:rPr lang="en-GB" sz="1000" u="none" cap="none" strike="noStrike">
                          <a:solidFill>
                            <a:srgbClr val="2E7D32"/>
                          </a:solidFill>
                        </a:rPr>
                        <a:t>●  explicit, calibrated uncertainty</a:t>
                      </a:r>
                      <a:endParaRPr/>
                    </a:p>
                  </a:txBody>
                  <a:tcPr marT="18300" marB="18300" marR="36575" marL="54875">
                    <a:solidFill>
                      <a:srgbClr val="FFFFFF"/>
                    </a:solidFill>
                  </a:tcPr>
                </a:tc>
                <a:tc>
                  <a:txBody>
                    <a:bodyPr/>
                    <a:lstStyle/>
                    <a:p>
                      <a:pPr indent="0" lvl="0" marL="0" marR="0" rtl="0" algn="l">
                        <a:lnSpc>
                          <a:spcPct val="100000"/>
                        </a:lnSpc>
                        <a:spcBef>
                          <a:spcPts val="0"/>
                        </a:spcBef>
                        <a:spcAft>
                          <a:spcPts val="0"/>
                        </a:spcAft>
                        <a:buNone/>
                      </a:pPr>
                      <a:r>
                        <a:rPr lang="en-GB" sz="1000" u="none" cap="none" strike="noStrike">
                          <a:solidFill>
                            <a:srgbClr val="B8860B"/>
                          </a:solidFill>
                        </a:rPr>
                        <a:t>◐  posterior is inspectable</a:t>
                      </a:r>
                      <a:endParaRPr/>
                    </a:p>
                  </a:txBody>
                  <a:tcPr marT="18300" marB="18300" marR="36575" marL="54875">
                    <a:solidFill>
                      <a:srgbClr val="FFFFFF"/>
                    </a:solidFill>
                  </a:tcPr>
                </a:tc>
                <a:tc>
                  <a:txBody>
                    <a:bodyPr/>
                    <a:lstStyle/>
                    <a:p>
                      <a:pPr indent="0" lvl="0" marL="0" marR="0" rtl="0" algn="l">
                        <a:lnSpc>
                          <a:spcPct val="100000"/>
                        </a:lnSpc>
                        <a:spcBef>
                          <a:spcPts val="0"/>
                        </a:spcBef>
                        <a:spcAft>
                          <a:spcPts val="0"/>
                        </a:spcAft>
                        <a:buNone/>
                      </a:pPr>
                      <a:r>
                        <a:rPr lang="en-GB" sz="1000" u="none" cap="none" strike="noStrike">
                          <a:solidFill>
                            <a:srgbClr val="B8860B"/>
                          </a:solidFill>
                        </a:rPr>
                        <a:t>◐ </a:t>
                      </a:r>
                      <a:r>
                        <a:rPr lang="en-GB" sz="1000">
                          <a:solidFill>
                            <a:srgbClr val="B8860B"/>
                          </a:solidFill>
                        </a:rPr>
                        <a:t>Varied. Can be</a:t>
                      </a:r>
                      <a:r>
                        <a:rPr lang="en-GB" sz="1000" u="none" cap="none" strike="noStrike">
                          <a:solidFill>
                            <a:srgbClr val="B8860B"/>
                          </a:solidFill>
                        </a:rPr>
                        <a:t> costly </a:t>
                      </a:r>
                      <a:r>
                        <a:rPr lang="en-GB" sz="1000">
                          <a:solidFill>
                            <a:srgbClr val="B8860B"/>
                          </a:solidFill>
                        </a:rPr>
                        <a:t>in </a:t>
                      </a:r>
                      <a:r>
                        <a:rPr lang="en-GB" sz="1000" u="none" cap="none" strike="noStrike">
                          <a:solidFill>
                            <a:srgbClr val="B8860B"/>
                          </a:solidFill>
                        </a:rPr>
                        <a:t>sampling</a:t>
                      </a:r>
                      <a:r>
                        <a:rPr lang="en-GB" sz="1000">
                          <a:solidFill>
                            <a:srgbClr val="B8860B"/>
                          </a:solidFill>
                        </a:rPr>
                        <a:t> methods.</a:t>
                      </a:r>
                      <a:endParaRPr/>
                    </a:p>
                  </a:txBody>
                  <a:tcPr marT="18300" marB="18300" marR="36575" marL="54875">
                    <a:solidFill>
                      <a:srgbClr val="FFFFFF"/>
                    </a:solidFill>
                  </a:tcPr>
                </a:tc>
              </a:tr>
              <a:tr h="483325">
                <a:tc>
                  <a:txBody>
                    <a:bodyPr/>
                    <a:lstStyle/>
                    <a:p>
                      <a:pPr indent="0" lvl="0" marL="0" marR="0" rtl="0" algn="l">
                        <a:lnSpc>
                          <a:spcPct val="100000"/>
                        </a:lnSpc>
                        <a:spcBef>
                          <a:spcPts val="0"/>
                        </a:spcBef>
                        <a:spcAft>
                          <a:spcPts val="0"/>
                        </a:spcAft>
                        <a:buNone/>
                      </a:pPr>
                      <a:r>
                        <a:rPr b="1" lang="en-GB" sz="1000" u="none" cap="none" strike="noStrike">
                          <a:solidFill>
                            <a:srgbClr val="333333"/>
                          </a:solidFill>
                        </a:rPr>
                        <a:t>Enhanced representations (LogiCoL, ReasonIR)</a:t>
                      </a:r>
                      <a:endParaRPr/>
                    </a:p>
                  </a:txBody>
                  <a:tcPr marT="18300" marB="18300" marR="36575" marL="54875">
                    <a:solidFill>
                      <a:srgbClr val="F2F5FB"/>
                    </a:solidFill>
                  </a:tcPr>
                </a:tc>
                <a:tc>
                  <a:txBody>
                    <a:bodyPr/>
                    <a:lstStyle/>
                    <a:p>
                      <a:pPr indent="0" lvl="0" marL="0" marR="0" rtl="0" algn="l">
                        <a:lnSpc>
                          <a:spcPct val="100000"/>
                        </a:lnSpc>
                        <a:spcBef>
                          <a:spcPts val="0"/>
                        </a:spcBef>
                        <a:spcAft>
                          <a:spcPts val="0"/>
                        </a:spcAft>
                        <a:buNone/>
                      </a:pPr>
                      <a:r>
                        <a:rPr lang="en-GB" sz="1000" u="none" cap="none" strike="noStrike">
                          <a:solidFill>
                            <a:srgbClr val="B8860B"/>
                          </a:solidFill>
                        </a:rPr>
                        <a:t>◐  set logic / reasoning trained into vectors</a:t>
                      </a:r>
                      <a:endParaRPr/>
                    </a:p>
                  </a:txBody>
                  <a:tcPr marT="18300" marB="18300" marR="36575" marL="54875">
                    <a:solidFill>
                      <a:srgbClr val="F2F5FB"/>
                    </a:solidFill>
                  </a:tcPr>
                </a:tc>
                <a:tc>
                  <a:txBody>
                    <a:bodyPr/>
                    <a:lstStyle/>
                    <a:p>
                      <a:pPr indent="0" lvl="0" marL="0" marR="0" rtl="0" algn="l">
                        <a:lnSpc>
                          <a:spcPct val="100000"/>
                        </a:lnSpc>
                        <a:spcBef>
                          <a:spcPts val="0"/>
                        </a:spcBef>
                        <a:spcAft>
                          <a:spcPts val="0"/>
                        </a:spcAft>
                        <a:buNone/>
                      </a:pPr>
                      <a:r>
                        <a:rPr lang="en-GB" sz="1000" u="none" cap="none" strike="noStrike">
                          <a:solidFill>
                            <a:srgbClr val="B03A2E"/>
                          </a:solidFill>
                        </a:rPr>
                        <a:t>○  </a:t>
                      </a:r>
                      <a:r>
                        <a:rPr lang="en-GB" sz="1000">
                          <a:solidFill>
                            <a:srgbClr val="B03A2E"/>
                          </a:solidFill>
                        </a:rPr>
                        <a:t>Performance and generalizability debatable</a:t>
                      </a:r>
                      <a:endParaRPr/>
                    </a:p>
                  </a:txBody>
                  <a:tcPr marT="18300" marB="18300" marR="36575" marL="54875">
                    <a:solidFill>
                      <a:srgbClr val="F2F5FB"/>
                    </a:solidFill>
                  </a:tcPr>
                </a:tc>
                <a:tc>
                  <a:txBody>
                    <a:bodyPr/>
                    <a:lstStyle/>
                    <a:p>
                      <a:pPr indent="0" lvl="0" marL="0" marR="0" rtl="0" algn="l">
                        <a:lnSpc>
                          <a:spcPct val="100000"/>
                        </a:lnSpc>
                        <a:spcBef>
                          <a:spcPts val="0"/>
                        </a:spcBef>
                        <a:spcAft>
                          <a:spcPts val="0"/>
                        </a:spcAft>
                        <a:buNone/>
                      </a:pPr>
                      <a:r>
                        <a:rPr lang="en-GB" sz="1000" u="none" cap="none" strike="noStrike">
                          <a:solidFill>
                            <a:srgbClr val="2E7D32"/>
                          </a:solidFill>
                        </a:rPr>
                        <a:t>●  dot-product retrieval at corpus scale</a:t>
                      </a:r>
                      <a:endParaRPr/>
                    </a:p>
                  </a:txBody>
                  <a:tcPr marT="18300" marB="18300" marR="36575" marL="54875">
                    <a:solidFill>
                      <a:srgbClr val="F2F5FB"/>
                    </a:solidFill>
                  </a:tcPr>
                </a:tc>
              </a:tr>
            </a:tbl>
          </a:graphicData>
        </a:graphic>
      </p:graphicFrame>
      <p:sp>
        <p:nvSpPr>
          <p:cNvPr id="1612" name="Google Shape;1612;p170"/>
          <p:cNvSpPr txBox="1"/>
          <p:nvPr/>
        </p:nvSpPr>
        <p:spPr>
          <a:xfrm>
            <a:off x="228600" y="4526280"/>
            <a:ext cx="8686800" cy="253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1" lang="en-GB" sz="1050" u="none" cap="none" strike="noStrike">
                <a:solidFill>
                  <a:srgbClr val="666666"/>
                </a:solidFill>
                <a:latin typeface="Palatino Linotype"/>
                <a:ea typeface="Palatino Linotype"/>
                <a:cs typeface="Palatino Linotype"/>
                <a:sym typeface="Palatino Linotype"/>
              </a:rPr>
              <a:t>●  strong    ◐  partial    ○  weak         (our synthesis</a:t>
            </a:r>
            <a:r>
              <a:rPr i="1" lang="en-GB" sz="1050">
                <a:solidFill>
                  <a:srgbClr val="666666"/>
                </a:solidFill>
                <a:latin typeface="Palatino Linotype"/>
                <a:ea typeface="Palatino Linotype"/>
                <a:cs typeface="Palatino Linotype"/>
                <a:sym typeface="Palatino Linotype"/>
              </a:rPr>
              <a:t>: </a:t>
            </a:r>
            <a:r>
              <a:rPr b="0" i="1" lang="en-GB" sz="1050" u="none" cap="none" strike="noStrike">
                <a:solidFill>
                  <a:srgbClr val="666666"/>
                </a:solidFill>
                <a:latin typeface="Palatino Linotype"/>
                <a:ea typeface="Palatino Linotype"/>
                <a:cs typeface="Palatino Linotype"/>
                <a:sym typeface="Palatino Linotype"/>
              </a:rPr>
              <a:t> argue with us, that's the point of this slide)</a:t>
            </a:r>
            <a:endParaRPr/>
          </a:p>
        </p:txBody>
      </p:sp>
    </p:spTree>
  </p:cSld>
  <p:clrMapOvr>
    <a:masterClrMapping/>
  </p:clrMapOvr>
</p:sld>
</file>

<file path=ppt/slides/slide1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6" name="Shape 1616"/>
        <p:cNvGrpSpPr/>
        <p:nvPr/>
      </p:nvGrpSpPr>
      <p:grpSpPr>
        <a:xfrm>
          <a:off x="0" y="0"/>
          <a:ext cx="0" cy="0"/>
          <a:chOff x="0" y="0"/>
          <a:chExt cx="0" cy="0"/>
        </a:xfrm>
      </p:grpSpPr>
      <p:sp>
        <p:nvSpPr>
          <p:cNvPr id="1617" name="Google Shape;1617;p17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
        <p:nvSpPr>
          <p:cNvPr id="1618" name="Google Shape;1618;p171"/>
          <p:cNvSpPr txBox="1"/>
          <p:nvPr/>
        </p:nvSpPr>
        <p:spPr>
          <a:xfrm>
            <a:off x="457200" y="2232143"/>
            <a:ext cx="8229600" cy="2516700"/>
          </a:xfrm>
          <a:prstGeom prst="rect">
            <a:avLst/>
          </a:prstGeom>
          <a:noFill/>
          <a:ln cap="flat" cmpd="sng" w="9525">
            <a:solidFill>
              <a:srgbClr val="C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900"/>
              </a:spcBef>
              <a:spcAft>
                <a:spcPts val="0"/>
              </a:spcAft>
              <a:buNone/>
            </a:pPr>
            <a:r>
              <a:rPr b="1" i="0" lang="en-GB" sz="1300" u="none" cap="none" strike="noStrike">
                <a:solidFill>
                  <a:srgbClr val="3B6FC9"/>
                </a:solidFill>
                <a:latin typeface="Palatino Linotype"/>
                <a:ea typeface="Palatino Linotype"/>
                <a:cs typeface="Palatino Linotype"/>
                <a:sym typeface="Palatino Linotype"/>
              </a:rPr>
              <a:t>Verification  </a:t>
            </a:r>
            <a:r>
              <a:rPr lang="en-GB" sz="1250">
                <a:solidFill>
                  <a:srgbClr val="333333"/>
                </a:solidFill>
                <a:latin typeface="Palatino Linotype"/>
                <a:ea typeface="Palatino Linotype"/>
                <a:cs typeface="Palatino Linotype"/>
                <a:sym typeface="Palatino Linotype"/>
              </a:rPr>
              <a:t>Current</a:t>
            </a:r>
            <a:r>
              <a:rPr b="0" i="0" lang="en-GB" sz="1250" u="none" cap="none" strike="noStrike">
                <a:solidFill>
                  <a:srgbClr val="333333"/>
                </a:solidFill>
                <a:latin typeface="Palatino Linotype"/>
                <a:ea typeface="Palatino Linotype"/>
                <a:cs typeface="Palatino Linotype"/>
                <a:sym typeface="Palatino Linotype"/>
              </a:rPr>
              <a:t> deployed system can not certify </a:t>
            </a:r>
            <a:r>
              <a:rPr lang="en-GB" sz="1250">
                <a:solidFill>
                  <a:srgbClr val="333333"/>
                </a:solidFill>
                <a:latin typeface="Palatino Linotype"/>
                <a:ea typeface="Palatino Linotype"/>
                <a:cs typeface="Palatino Linotype"/>
                <a:sym typeface="Palatino Linotype"/>
              </a:rPr>
              <a:t>their</a:t>
            </a:r>
            <a:r>
              <a:rPr b="0" i="0" lang="en-GB" sz="1250" u="none" cap="none" strike="noStrike">
                <a:solidFill>
                  <a:srgbClr val="333333"/>
                </a:solidFill>
                <a:latin typeface="Palatino Linotype"/>
                <a:ea typeface="Palatino Linotype"/>
                <a:cs typeface="Palatino Linotype"/>
                <a:sym typeface="Palatino Linotype"/>
              </a:rPr>
              <a:t> reasoning trace. What would a TREC-style track for inference faithfulness </a:t>
            </a:r>
            <a:r>
              <a:rPr lang="en-GB" sz="1250">
                <a:solidFill>
                  <a:srgbClr val="333333"/>
                </a:solidFill>
                <a:latin typeface="Palatino Linotype"/>
                <a:ea typeface="Palatino Linotype"/>
                <a:cs typeface="Palatino Linotype"/>
                <a:sym typeface="Palatino Linotype"/>
              </a:rPr>
              <a:t>measure</a:t>
            </a:r>
            <a:r>
              <a:rPr b="0" i="0" lang="en-GB" sz="1250" u="none" cap="none" strike="noStrike">
                <a:solidFill>
                  <a:srgbClr val="333333"/>
                </a:solidFill>
                <a:latin typeface="Palatino Linotype"/>
                <a:ea typeface="Palatino Linotype"/>
                <a:cs typeface="Palatino Linotype"/>
                <a:sym typeface="Palatino Linotype"/>
              </a:rPr>
              <a:t>?</a:t>
            </a:r>
            <a:endParaRPr/>
          </a:p>
          <a:p>
            <a:pPr indent="0" lvl="0" marL="0" marR="0" rtl="0" algn="l">
              <a:lnSpc>
                <a:spcPct val="100000"/>
              </a:lnSpc>
              <a:spcBef>
                <a:spcPts val="900"/>
              </a:spcBef>
              <a:spcAft>
                <a:spcPts val="0"/>
              </a:spcAft>
              <a:buNone/>
            </a:pPr>
            <a:r>
              <a:rPr b="1" lang="en-GB" sz="1300">
                <a:solidFill>
                  <a:srgbClr val="3B6FC9"/>
                </a:solidFill>
                <a:latin typeface="Palatino Linotype"/>
                <a:ea typeface="Palatino Linotype"/>
                <a:cs typeface="Palatino Linotype"/>
                <a:sym typeface="Palatino Linotype"/>
              </a:rPr>
              <a:t>Performance vs cost</a:t>
            </a:r>
            <a:r>
              <a:rPr b="1" i="0" lang="en-GB" sz="1300" u="none" cap="none" strike="noStrike">
                <a:solidFill>
                  <a:srgbClr val="3B6FC9"/>
                </a:solidFill>
                <a:latin typeface="Palatino Linotype"/>
                <a:ea typeface="Palatino Linotype"/>
                <a:cs typeface="Palatino Linotype"/>
                <a:sym typeface="Palatino Linotype"/>
              </a:rPr>
              <a:t>  </a:t>
            </a:r>
            <a:r>
              <a:rPr b="0" i="0" lang="en-GB" sz="1250" u="none" cap="none" strike="noStrike">
                <a:solidFill>
                  <a:srgbClr val="333333"/>
                </a:solidFill>
                <a:latin typeface="Palatino Linotype"/>
                <a:ea typeface="Palatino Linotype"/>
                <a:cs typeface="Palatino Linotype"/>
                <a:sym typeface="Palatino Linotype"/>
              </a:rPr>
              <a:t>BRIGHT went 18 → 30 → ~67 nDCG@10 in two years</a:t>
            </a:r>
            <a:r>
              <a:rPr lang="en-GB" sz="1250">
                <a:solidFill>
                  <a:srgbClr val="333333"/>
                </a:solidFill>
                <a:latin typeface="Palatino Linotype"/>
                <a:ea typeface="Palatino Linotype"/>
                <a:cs typeface="Palatino Linotype"/>
                <a:sym typeface="Palatino Linotype"/>
              </a:rPr>
              <a:t>, </a:t>
            </a:r>
            <a:r>
              <a:rPr b="0" i="0" lang="en-GB" sz="1250" u="none" cap="none" strike="noStrike">
                <a:solidFill>
                  <a:srgbClr val="333333"/>
                </a:solidFill>
                <a:latin typeface="Palatino Linotype"/>
                <a:ea typeface="Palatino Linotype"/>
                <a:cs typeface="Palatino Linotype"/>
                <a:sym typeface="Palatino Linotype"/>
              </a:rPr>
              <a:t> mostly by spending more test-time compute. When is a reasoning-intensive query worth its token bill</a:t>
            </a:r>
            <a:r>
              <a:rPr lang="en-GB" sz="1250">
                <a:solidFill>
                  <a:srgbClr val="333333"/>
                </a:solidFill>
                <a:latin typeface="Palatino Linotype"/>
                <a:ea typeface="Palatino Linotype"/>
                <a:cs typeface="Palatino Linotype"/>
                <a:sym typeface="Palatino Linotype"/>
              </a:rPr>
              <a:t>? </a:t>
            </a:r>
            <a:r>
              <a:rPr b="0" i="0" lang="en-GB" sz="1250" u="none" cap="none" strike="noStrike">
                <a:solidFill>
                  <a:srgbClr val="333333"/>
                </a:solidFill>
                <a:latin typeface="Palatino Linotype"/>
                <a:ea typeface="Palatino Linotype"/>
                <a:cs typeface="Palatino Linotype"/>
                <a:sym typeface="Palatino Linotype"/>
              </a:rPr>
              <a:t>(adaptive escalation, retrieve-when-uncertain)</a:t>
            </a:r>
            <a:endParaRPr/>
          </a:p>
          <a:p>
            <a:pPr indent="0" lvl="0" marL="0" marR="0" rtl="0" algn="l">
              <a:lnSpc>
                <a:spcPct val="100000"/>
              </a:lnSpc>
              <a:spcBef>
                <a:spcPts val="900"/>
              </a:spcBef>
              <a:spcAft>
                <a:spcPts val="0"/>
              </a:spcAft>
              <a:buNone/>
            </a:pPr>
            <a:r>
              <a:rPr b="1" i="0" lang="en-GB" sz="1300" u="none" cap="none" strike="noStrike">
                <a:solidFill>
                  <a:srgbClr val="3B6FC9"/>
                </a:solidFill>
                <a:latin typeface="Palatino Linotype"/>
                <a:ea typeface="Palatino Linotype"/>
                <a:cs typeface="Palatino Linotype"/>
                <a:sym typeface="Palatino Linotype"/>
              </a:rPr>
              <a:t>Coverage  </a:t>
            </a:r>
            <a:r>
              <a:rPr b="0" i="0" lang="en-GB" sz="1250" u="none" cap="none" strike="noStrike">
                <a:solidFill>
                  <a:srgbClr val="333333"/>
                </a:solidFill>
                <a:latin typeface="Palatino Linotype"/>
                <a:ea typeface="Palatino Linotype"/>
                <a:cs typeface="Palatino Linotype"/>
                <a:sym typeface="Palatino Linotype"/>
              </a:rPr>
              <a:t>Abduction, defeasible and dialectical reasoning — the taxonomy rows IR never tests. </a:t>
            </a:r>
            <a:r>
              <a:rPr lang="en-GB" sz="1250">
                <a:solidFill>
                  <a:srgbClr val="333333"/>
                </a:solidFill>
                <a:latin typeface="Palatino Linotype"/>
                <a:ea typeface="Palatino Linotype"/>
                <a:cs typeface="Palatino Linotype"/>
                <a:sym typeface="Palatino Linotype"/>
              </a:rPr>
              <a:t>How can we build such benchmarks</a:t>
            </a:r>
            <a:r>
              <a:rPr b="0" i="0" lang="en-GB" sz="1250" u="none" cap="none" strike="noStrike">
                <a:solidFill>
                  <a:srgbClr val="333333"/>
                </a:solidFill>
                <a:latin typeface="Palatino Linotype"/>
                <a:ea typeface="Palatino Linotype"/>
                <a:cs typeface="Palatino Linotype"/>
                <a:sym typeface="Palatino Linotype"/>
              </a:rPr>
              <a:t>?</a:t>
            </a:r>
            <a:endParaRPr/>
          </a:p>
          <a:p>
            <a:pPr indent="0" lvl="0" marL="0" marR="0" rtl="0" algn="l">
              <a:lnSpc>
                <a:spcPct val="100000"/>
              </a:lnSpc>
              <a:spcBef>
                <a:spcPts val="900"/>
              </a:spcBef>
              <a:spcAft>
                <a:spcPts val="0"/>
              </a:spcAft>
              <a:buNone/>
            </a:pPr>
            <a:r>
              <a:rPr b="1" i="0" lang="en-GB" sz="1300" u="none" cap="none" strike="noStrike">
                <a:solidFill>
                  <a:srgbClr val="3B6FC9"/>
                </a:solidFill>
                <a:latin typeface="Palatino Linotype"/>
                <a:ea typeface="Palatino Linotype"/>
                <a:cs typeface="Palatino Linotype"/>
                <a:sym typeface="Palatino Linotype"/>
              </a:rPr>
              <a:t>The bitter-lesson question  </a:t>
            </a:r>
            <a:r>
              <a:rPr b="0" i="0" lang="en-GB" sz="1250" u="none" cap="none" strike="noStrike">
                <a:solidFill>
                  <a:srgbClr val="333333"/>
                </a:solidFill>
                <a:latin typeface="Palatino Linotype"/>
                <a:ea typeface="Palatino Linotype"/>
                <a:cs typeface="Palatino Linotype"/>
                <a:sym typeface="Palatino Linotype"/>
              </a:rPr>
              <a:t>Will trained retrievers simply absorb reasoning into the representation, making explicit structure unnecessary</a:t>
            </a:r>
            <a:r>
              <a:rPr lang="en-GB" sz="1250">
                <a:solidFill>
                  <a:srgbClr val="333333"/>
                </a:solidFill>
                <a:latin typeface="Palatino Linotype"/>
                <a:ea typeface="Palatino Linotype"/>
                <a:cs typeface="Palatino Linotype"/>
                <a:sym typeface="Palatino Linotype"/>
              </a:rPr>
              <a:t>?</a:t>
            </a:r>
            <a:r>
              <a:rPr b="0" i="0" lang="en-GB" sz="1250" u="none" cap="none" strike="noStrike">
                <a:solidFill>
                  <a:srgbClr val="333333"/>
                </a:solidFill>
                <a:latin typeface="Palatino Linotype"/>
                <a:ea typeface="Palatino Linotype"/>
                <a:cs typeface="Palatino Linotype"/>
                <a:sym typeface="Palatino Linotype"/>
              </a:rPr>
              <a:t> or is structure exactly what </a:t>
            </a:r>
            <a:r>
              <a:rPr lang="en-GB" sz="1250">
                <a:solidFill>
                  <a:srgbClr val="333333"/>
                </a:solidFill>
                <a:latin typeface="Palatino Linotype"/>
                <a:ea typeface="Palatino Linotype"/>
                <a:cs typeface="Palatino Linotype"/>
                <a:sym typeface="Palatino Linotype"/>
              </a:rPr>
              <a:t>scaling</a:t>
            </a:r>
            <a:r>
              <a:rPr b="0" i="0" lang="en-GB" sz="1250" u="none" cap="none" strike="noStrike">
                <a:solidFill>
                  <a:srgbClr val="333333"/>
                </a:solidFill>
                <a:latin typeface="Palatino Linotype"/>
                <a:ea typeface="Palatino Linotype"/>
                <a:cs typeface="Palatino Linotype"/>
                <a:sym typeface="Palatino Linotype"/>
              </a:rPr>
              <a:t> can't </a:t>
            </a:r>
            <a:r>
              <a:rPr lang="en-GB" sz="1250">
                <a:solidFill>
                  <a:srgbClr val="333333"/>
                </a:solidFill>
                <a:latin typeface="Palatino Linotype"/>
                <a:ea typeface="Palatino Linotype"/>
                <a:cs typeface="Palatino Linotype"/>
                <a:sym typeface="Palatino Linotype"/>
              </a:rPr>
              <a:t>achieve</a:t>
            </a:r>
            <a:r>
              <a:rPr b="0" i="0" lang="en-GB" sz="1250" u="none" cap="none" strike="noStrike">
                <a:solidFill>
                  <a:srgbClr val="333333"/>
                </a:solidFill>
                <a:latin typeface="Palatino Linotype"/>
                <a:ea typeface="Palatino Linotype"/>
                <a:cs typeface="Palatino Linotype"/>
                <a:sym typeface="Palatino Linotype"/>
              </a:rPr>
              <a:t>?</a:t>
            </a:r>
            <a:endParaRPr b="0" i="0" sz="1250" u="none" cap="none" strike="noStrike">
              <a:solidFill>
                <a:srgbClr val="333333"/>
              </a:solidFill>
              <a:latin typeface="Palatino Linotype"/>
              <a:ea typeface="Palatino Linotype"/>
              <a:cs typeface="Palatino Linotype"/>
              <a:sym typeface="Palatino Linotype"/>
            </a:endParaRPr>
          </a:p>
          <a:p>
            <a:pPr indent="0" lvl="0" marL="0" rtl="0" algn="l">
              <a:spcBef>
                <a:spcPts val="900"/>
              </a:spcBef>
              <a:spcAft>
                <a:spcPts val="0"/>
              </a:spcAft>
              <a:buClr>
                <a:schemeClr val="dk1"/>
              </a:buClr>
              <a:buFont typeface="Arial"/>
              <a:buNone/>
            </a:pPr>
            <a:r>
              <a:rPr b="1" lang="en-GB" sz="1300">
                <a:solidFill>
                  <a:srgbClr val="3B6FC9"/>
                </a:solidFill>
                <a:latin typeface="Palatino Linotype"/>
                <a:ea typeface="Palatino Linotype"/>
                <a:cs typeface="Palatino Linotype"/>
                <a:sym typeface="Palatino Linotype"/>
              </a:rPr>
              <a:t>Multi-aspect benchmarks </a:t>
            </a:r>
            <a:r>
              <a:rPr lang="en-GB" sz="1250">
                <a:solidFill>
                  <a:srgbClr val="333333"/>
                </a:solidFill>
                <a:latin typeface="Palatino Linotype"/>
                <a:ea typeface="Palatino Linotype"/>
                <a:cs typeface="Palatino Linotype"/>
                <a:sym typeface="Palatino Linotype"/>
              </a:rPr>
              <a:t>Not just correctness of final answer but other aspects, e.g., cost, reasoning faithfulness, various reasoning types, generalizability.</a:t>
            </a:r>
            <a:endParaRPr sz="1250">
              <a:solidFill>
                <a:srgbClr val="333333"/>
              </a:solidFill>
              <a:latin typeface="Palatino Linotype"/>
              <a:ea typeface="Palatino Linotype"/>
              <a:cs typeface="Palatino Linotype"/>
              <a:sym typeface="Palatino Linotype"/>
            </a:endParaRPr>
          </a:p>
        </p:txBody>
      </p:sp>
      <p:sp>
        <p:nvSpPr>
          <p:cNvPr id="1619" name="Google Shape;1619;p171"/>
          <p:cNvSpPr txBox="1"/>
          <p:nvPr/>
        </p:nvSpPr>
        <p:spPr>
          <a:xfrm>
            <a:off x="608555" y="258345"/>
            <a:ext cx="7863900" cy="400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n-GB" sz="2000" u="none" cap="none" strike="noStrike">
                <a:solidFill>
                  <a:srgbClr val="3B6FC9"/>
                </a:solidFill>
                <a:latin typeface="Palatino Linotype"/>
                <a:ea typeface="Palatino Linotype"/>
                <a:cs typeface="Palatino Linotype"/>
                <a:sym typeface="Palatino Linotype"/>
              </a:rPr>
              <a:t>No paradigm wins all three axes nor the 12 types taxonomy.</a:t>
            </a:r>
            <a:endParaRPr/>
          </a:p>
        </p:txBody>
      </p:sp>
      <p:sp>
        <p:nvSpPr>
          <p:cNvPr id="1620" name="Google Shape;1620;p171"/>
          <p:cNvSpPr txBox="1"/>
          <p:nvPr/>
        </p:nvSpPr>
        <p:spPr>
          <a:xfrm>
            <a:off x="608555" y="802755"/>
            <a:ext cx="7863900" cy="1285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n-GB" sz="1450" u="none" cap="none" strike="noStrike">
                <a:solidFill>
                  <a:srgbClr val="333333"/>
                </a:solidFill>
                <a:latin typeface="Palatino Linotype"/>
                <a:ea typeface="Palatino Linotype"/>
                <a:cs typeface="Palatino Linotype"/>
                <a:sym typeface="Palatino Linotype"/>
              </a:rPr>
              <a:t>LLMs: </a:t>
            </a:r>
            <a:r>
              <a:rPr lang="en-GB" sz="1450">
                <a:solidFill>
                  <a:srgbClr val="333333"/>
                </a:solidFill>
                <a:latin typeface="Palatino Linotype"/>
                <a:ea typeface="Palatino Linotype"/>
                <a:cs typeface="Palatino Linotype"/>
                <a:sym typeface="Palatino Linotype"/>
              </a:rPr>
              <a:t>Generalizable, difficult to </a:t>
            </a:r>
            <a:r>
              <a:rPr b="0" i="0" lang="en-GB" sz="1450" u="none" cap="none" strike="noStrike">
                <a:solidFill>
                  <a:srgbClr val="333333"/>
                </a:solidFill>
                <a:latin typeface="Palatino Linotype"/>
                <a:ea typeface="Palatino Linotype"/>
                <a:cs typeface="Palatino Linotype"/>
                <a:sym typeface="Palatino Linotype"/>
              </a:rPr>
              <a:t>verif</a:t>
            </a:r>
            <a:r>
              <a:rPr lang="en-GB" sz="1450">
                <a:solidFill>
                  <a:srgbClr val="333333"/>
                </a:solidFill>
                <a:latin typeface="Palatino Linotype"/>
                <a:ea typeface="Palatino Linotype"/>
                <a:cs typeface="Palatino Linotype"/>
                <a:sym typeface="Palatino Linotype"/>
              </a:rPr>
              <a:t>y reasoning traces</a:t>
            </a:r>
            <a:r>
              <a:rPr b="0" i="0" lang="en-GB" sz="1450" u="none" cap="none" strike="noStrike">
                <a:solidFill>
                  <a:srgbClr val="333333"/>
                </a:solidFill>
                <a:latin typeface="Palatino Linotype"/>
                <a:ea typeface="Palatino Linotype"/>
                <a:cs typeface="Palatino Linotype"/>
                <a:sym typeface="Palatino Linotype"/>
              </a:rPr>
              <a:t>.</a:t>
            </a:r>
            <a:endParaRPr/>
          </a:p>
          <a:p>
            <a:pPr indent="0" lvl="0" marL="0" marR="0" rtl="0" algn="ctr">
              <a:lnSpc>
                <a:spcPct val="100000"/>
              </a:lnSpc>
              <a:spcBef>
                <a:spcPts val="200"/>
              </a:spcBef>
              <a:spcAft>
                <a:spcPts val="0"/>
              </a:spcAft>
              <a:buNone/>
            </a:pPr>
            <a:r>
              <a:rPr lang="en-GB" sz="1450">
                <a:solidFill>
                  <a:srgbClr val="333333"/>
                </a:solidFill>
                <a:latin typeface="Palatino Linotype"/>
                <a:ea typeface="Palatino Linotype"/>
                <a:cs typeface="Palatino Linotype"/>
                <a:sym typeface="Palatino Linotype"/>
              </a:rPr>
              <a:t>Neuro-</a:t>
            </a:r>
            <a:r>
              <a:rPr b="0" i="0" lang="en-GB" sz="1450" u="none" cap="none" strike="noStrike">
                <a:solidFill>
                  <a:srgbClr val="333333"/>
                </a:solidFill>
                <a:latin typeface="Palatino Linotype"/>
                <a:ea typeface="Palatino Linotype"/>
                <a:cs typeface="Palatino Linotype"/>
                <a:sym typeface="Palatino Linotype"/>
              </a:rPr>
              <a:t>Symbolic methods: </a:t>
            </a:r>
            <a:r>
              <a:rPr lang="en-GB" sz="1450">
                <a:solidFill>
                  <a:srgbClr val="333333"/>
                </a:solidFill>
                <a:latin typeface="Palatino Linotype"/>
                <a:ea typeface="Palatino Linotype"/>
                <a:cs typeface="Palatino Linotype"/>
                <a:sym typeface="Palatino Linotype"/>
              </a:rPr>
              <a:t>better reasoning guarantees but very low generalizability</a:t>
            </a:r>
            <a:r>
              <a:rPr b="0" i="0" lang="en-GB" sz="1450" u="none" cap="none" strike="noStrike">
                <a:solidFill>
                  <a:srgbClr val="333333"/>
                </a:solidFill>
                <a:latin typeface="Palatino Linotype"/>
                <a:ea typeface="Palatino Linotype"/>
                <a:cs typeface="Palatino Linotype"/>
                <a:sym typeface="Palatino Linotype"/>
              </a:rPr>
              <a:t>.</a:t>
            </a:r>
            <a:endParaRPr/>
          </a:p>
          <a:p>
            <a:pPr indent="0" lvl="0" marL="0" marR="0" rtl="0" algn="ctr">
              <a:lnSpc>
                <a:spcPct val="100000"/>
              </a:lnSpc>
              <a:spcBef>
                <a:spcPts val="200"/>
              </a:spcBef>
              <a:spcAft>
                <a:spcPts val="0"/>
              </a:spcAft>
              <a:buNone/>
            </a:pPr>
            <a:r>
              <a:rPr b="0" i="0" lang="en-GB" sz="1450" u="none" cap="none" strike="noStrike">
                <a:solidFill>
                  <a:srgbClr val="333333"/>
                </a:solidFill>
                <a:latin typeface="Palatino Linotype"/>
                <a:ea typeface="Palatino Linotype"/>
                <a:cs typeface="Palatino Linotype"/>
                <a:sym typeface="Palatino Linotype"/>
              </a:rPr>
              <a:t>Bayesian methods</a:t>
            </a:r>
            <a:r>
              <a:rPr lang="en-GB" sz="1450">
                <a:solidFill>
                  <a:srgbClr val="333333"/>
                </a:solidFill>
                <a:latin typeface="Palatino Linotype"/>
                <a:ea typeface="Palatino Linotype"/>
                <a:cs typeface="Palatino Linotype"/>
                <a:sym typeface="Palatino Linotype"/>
              </a:rPr>
              <a:t>: can potentially alleviate calibration</a:t>
            </a:r>
            <a:r>
              <a:rPr b="0" i="0" lang="en-GB" sz="1450" u="none" cap="none" strike="noStrike">
                <a:solidFill>
                  <a:srgbClr val="333333"/>
                </a:solidFill>
                <a:latin typeface="Palatino Linotype"/>
                <a:ea typeface="Palatino Linotype"/>
                <a:cs typeface="Palatino Linotype"/>
                <a:sym typeface="Palatino Linotype"/>
              </a:rPr>
              <a:t>.</a:t>
            </a:r>
            <a:endParaRPr/>
          </a:p>
          <a:p>
            <a:pPr indent="0" lvl="0" marL="0" marR="0" rtl="0" algn="ctr">
              <a:lnSpc>
                <a:spcPct val="100000"/>
              </a:lnSpc>
              <a:spcBef>
                <a:spcPts val="200"/>
              </a:spcBef>
              <a:spcAft>
                <a:spcPts val="0"/>
              </a:spcAft>
              <a:buNone/>
            </a:pPr>
            <a:r>
              <a:rPr lang="en-GB" sz="1450">
                <a:solidFill>
                  <a:srgbClr val="333333"/>
                </a:solidFill>
                <a:latin typeface="Palatino Linotype"/>
                <a:ea typeface="Palatino Linotype"/>
                <a:cs typeface="Palatino Linotype"/>
                <a:sym typeface="Palatino Linotype"/>
              </a:rPr>
              <a:t>Enhanced</a:t>
            </a:r>
            <a:r>
              <a:rPr b="0" i="0" lang="en-GB" sz="1450" u="none" cap="none" strike="noStrike">
                <a:solidFill>
                  <a:srgbClr val="333333"/>
                </a:solidFill>
                <a:latin typeface="Palatino Linotype"/>
                <a:ea typeface="Palatino Linotype"/>
                <a:cs typeface="Palatino Linotype"/>
                <a:sym typeface="Palatino Linotype"/>
              </a:rPr>
              <a:t> representations</a:t>
            </a:r>
            <a:r>
              <a:rPr lang="en-GB" sz="1450">
                <a:solidFill>
                  <a:srgbClr val="333333"/>
                </a:solidFill>
                <a:latin typeface="Palatino Linotype"/>
                <a:ea typeface="Palatino Linotype"/>
                <a:cs typeface="Palatino Linotype"/>
                <a:sym typeface="Palatino Linotype"/>
              </a:rPr>
              <a:t>; easy to scale, but difficult to achieve high performance with retrievers alone</a:t>
            </a:r>
            <a:r>
              <a:rPr b="0" i="0" lang="en-GB" sz="1450" u="none" cap="none" strike="noStrike">
                <a:solidFill>
                  <a:srgbClr val="333333"/>
                </a:solidFill>
                <a:latin typeface="Palatino Linotype"/>
                <a:ea typeface="Palatino Linotype"/>
                <a:cs typeface="Palatino Linotype"/>
                <a:sym typeface="Palatino Linotype"/>
              </a:rPr>
              <a: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1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2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1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83C92"/>
        </a:solidFill>
      </p:bgPr>
    </p:bg>
    <p:spTree>
      <p:nvGrpSpPr>
        <p:cNvPr id="1624" name="Shape 1624"/>
        <p:cNvGrpSpPr/>
        <p:nvPr/>
      </p:nvGrpSpPr>
      <p:grpSpPr>
        <a:xfrm>
          <a:off x="0" y="0"/>
          <a:ext cx="0" cy="0"/>
          <a:chOff x="0" y="0"/>
          <a:chExt cx="0" cy="0"/>
        </a:xfrm>
      </p:grpSpPr>
      <p:sp>
        <p:nvSpPr>
          <p:cNvPr id="1625" name="Google Shape;1625;p172"/>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p>
            <a:pPr indent="0" lvl="0" marL="0" rtl="0" algn="l">
              <a:lnSpc>
                <a:spcPct val="100000"/>
              </a:lnSpc>
              <a:spcBef>
                <a:spcPts val="0"/>
              </a:spcBef>
              <a:spcAft>
                <a:spcPts val="0"/>
              </a:spcAft>
              <a:buSzPts val="3600"/>
              <a:buNone/>
            </a:pPr>
            <a:r>
              <a:rPr b="1" lang="en-GB" sz="3488">
                <a:solidFill>
                  <a:schemeClr val="lt1"/>
                </a:solidFill>
              </a:rPr>
              <a:t>References</a:t>
            </a:r>
            <a:endParaRPr b="1" sz="3488">
              <a:solidFill>
                <a:srgbClr val="93C47D"/>
              </a:solidFill>
            </a:endParaRPr>
          </a:p>
        </p:txBody>
      </p:sp>
      <p:sp>
        <p:nvSpPr>
          <p:cNvPr id="1626" name="Google Shape;1626;p17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0" name="Shape 1630"/>
        <p:cNvGrpSpPr/>
        <p:nvPr/>
      </p:nvGrpSpPr>
      <p:grpSpPr>
        <a:xfrm>
          <a:off x="0" y="0"/>
          <a:ext cx="0" cy="0"/>
          <a:chOff x="0" y="0"/>
          <a:chExt cx="0" cy="0"/>
        </a:xfrm>
      </p:grpSpPr>
      <p:sp>
        <p:nvSpPr>
          <p:cNvPr id="1631" name="Google Shape;1631;p17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00000"/>
              </a:lnSpc>
              <a:spcBef>
                <a:spcPts val="0"/>
              </a:spcBef>
              <a:spcAft>
                <a:spcPts val="0"/>
              </a:spcAft>
              <a:buSzPct val="111111"/>
              <a:buNone/>
            </a:pPr>
            <a:r>
              <a:rPr b="1" lang="en-GB"/>
              <a:t>Section 2</a:t>
            </a:r>
            <a:endParaRPr b="1"/>
          </a:p>
        </p:txBody>
      </p:sp>
      <p:sp>
        <p:nvSpPr>
          <p:cNvPr id="1632" name="Google Shape;1632;p173"/>
          <p:cNvSpPr txBox="1"/>
          <p:nvPr>
            <p:ph idx="1" type="body"/>
          </p:nvPr>
        </p:nvSpPr>
        <p:spPr>
          <a:xfrm>
            <a:off x="-10800" y="1152475"/>
            <a:ext cx="9144000" cy="3990900"/>
          </a:xfrm>
          <a:prstGeom prst="rect">
            <a:avLst/>
          </a:prstGeom>
          <a:noFill/>
          <a:ln>
            <a:noFill/>
          </a:ln>
        </p:spPr>
        <p:txBody>
          <a:bodyPr anchorCtr="0" anchor="t" bIns="91425" lIns="91425" spcFirstLastPara="1" rIns="91425" wrap="square" tIns="91425">
            <a:normAutofit fontScale="85000" lnSpcReduction="20000"/>
          </a:bodyPr>
          <a:lstStyle/>
          <a:p>
            <a:pPr indent="-282575" lvl="0" marL="457200" rtl="0" algn="l">
              <a:spcBef>
                <a:spcPts val="0"/>
              </a:spcBef>
              <a:spcAft>
                <a:spcPts val="0"/>
              </a:spcAft>
              <a:buSzPct val="100000"/>
              <a:buFont typeface="Calibri"/>
              <a:buAutoNum type="arabicParenR"/>
            </a:pPr>
            <a:r>
              <a:rPr lang="en-GB" sz="1000">
                <a:solidFill>
                  <a:schemeClr val="dk1"/>
                </a:solidFill>
              </a:rPr>
              <a:t>Alhamoud, K. et al., 2025</a:t>
            </a:r>
            <a:r>
              <a:rPr lang="en-GB" sz="1000">
                <a:solidFill>
                  <a:schemeClr val="dk1"/>
                </a:solidFill>
              </a:rPr>
              <a:t>.</a:t>
            </a:r>
            <a:r>
              <a:rPr lang="en-GB" sz="1000">
                <a:solidFill>
                  <a:schemeClr val="dk1"/>
                </a:solidFill>
              </a:rPr>
              <a:t> NegBench: Vision-language models do not understand negation. CVPR.</a:t>
            </a:r>
            <a:endParaRPr sz="1000">
              <a:solidFill>
                <a:schemeClr val="dk1"/>
              </a:solidFill>
            </a:endParaRPr>
          </a:p>
          <a:p>
            <a:pPr indent="-282575" lvl="0" marL="457200" rtl="0" algn="l">
              <a:spcBef>
                <a:spcPts val="0"/>
              </a:spcBef>
              <a:spcAft>
                <a:spcPts val="0"/>
              </a:spcAft>
              <a:buClr>
                <a:schemeClr val="dk1"/>
              </a:buClr>
              <a:buSzPct val="100000"/>
              <a:buAutoNum type="arabicParenR"/>
            </a:pPr>
            <a:r>
              <a:rPr lang="en-GB" sz="1000">
                <a:solidFill>
                  <a:schemeClr val="dk1"/>
                </a:solidFill>
              </a:rPr>
              <a:t>Bender, E., et al. 2021. On the Dangers of Stochastic Parrots: Can Language Models Be Too Big? FAccT.</a:t>
            </a:r>
            <a:endParaRPr sz="1000">
              <a:solidFill>
                <a:schemeClr val="dk1"/>
              </a:solidFill>
            </a:endParaRPr>
          </a:p>
          <a:p>
            <a:pPr indent="-282575" lvl="0" marL="457200" rtl="0" algn="l">
              <a:spcBef>
                <a:spcPts val="0"/>
              </a:spcBef>
              <a:spcAft>
                <a:spcPts val="0"/>
              </a:spcAft>
              <a:buClr>
                <a:schemeClr val="dk1"/>
              </a:buClr>
              <a:buSzPct val="100000"/>
              <a:buAutoNum type="arabicParenR"/>
            </a:pPr>
            <a:r>
              <a:rPr lang="en-GB" sz="1000">
                <a:solidFill>
                  <a:schemeClr val="dk1"/>
                </a:solidFill>
              </a:rPr>
              <a:t>Chen et al., 2025. Reasoning Models Don't Always Say What They Think. arXiv.</a:t>
            </a:r>
            <a:endParaRPr sz="1000">
              <a:solidFill>
                <a:schemeClr val="dk1"/>
              </a:solidFill>
            </a:endParaRPr>
          </a:p>
          <a:p>
            <a:pPr indent="-282575" lvl="0" marL="457200" rtl="0" algn="l">
              <a:spcBef>
                <a:spcPts val="0"/>
              </a:spcBef>
              <a:spcAft>
                <a:spcPts val="0"/>
              </a:spcAft>
              <a:buSzPct val="100000"/>
              <a:buFont typeface="Calibri"/>
              <a:buAutoNum type="arabicParenR"/>
            </a:pPr>
            <a:r>
              <a:rPr lang="en-GB" sz="1000">
                <a:solidFill>
                  <a:schemeClr val="dk1"/>
                </a:solidFill>
              </a:rPr>
              <a:t>Chen, Z., et al., 2025. Browsecomp-plus: A more fair and transparent evaluation benchmark of deep-research agent. arXiv.</a:t>
            </a:r>
            <a:endParaRPr sz="1000">
              <a:solidFill>
                <a:schemeClr val="dk1"/>
              </a:solidFill>
            </a:endParaRPr>
          </a:p>
          <a:p>
            <a:pPr indent="-282575" lvl="0" marL="457200" rtl="0" algn="l">
              <a:spcBef>
                <a:spcPts val="0"/>
              </a:spcBef>
              <a:spcAft>
                <a:spcPts val="0"/>
              </a:spcAft>
              <a:buClr>
                <a:schemeClr val="dk1"/>
              </a:buClr>
              <a:buSzPct val="100000"/>
              <a:buAutoNum type="arabicParenR"/>
            </a:pPr>
            <a:r>
              <a:rPr lang="en-GB" sz="1000">
                <a:solidFill>
                  <a:schemeClr val="dk1"/>
                </a:solidFill>
              </a:rPr>
              <a:t>DeepSeek, 2025. DeepSeek-R1: Incentivizing Reasoning Capability in LLMs via Reinforcement Learning. arXiv.</a:t>
            </a:r>
            <a:endParaRPr sz="1000">
              <a:solidFill>
                <a:schemeClr val="dk1"/>
              </a:solidFill>
            </a:endParaRPr>
          </a:p>
          <a:p>
            <a:pPr indent="-282575" lvl="0" marL="457200" rtl="0" algn="l">
              <a:spcBef>
                <a:spcPts val="0"/>
              </a:spcBef>
              <a:spcAft>
                <a:spcPts val="0"/>
              </a:spcAft>
              <a:buClr>
                <a:schemeClr val="dk1"/>
              </a:buClr>
              <a:buSzPct val="100000"/>
              <a:buAutoNum type="arabicParenR"/>
            </a:pPr>
            <a:r>
              <a:rPr lang="en-GB" sz="1000">
                <a:solidFill>
                  <a:schemeClr val="dk1"/>
                </a:solidFill>
              </a:rPr>
              <a:t>Dziri, N., et al., 2023. Faith and Fate: Limits of Transformers on Compositionality. NeurIPS.</a:t>
            </a:r>
            <a:endParaRPr sz="1000">
              <a:solidFill>
                <a:schemeClr val="dk1"/>
              </a:solidFill>
            </a:endParaRPr>
          </a:p>
          <a:p>
            <a:pPr indent="-282575" lvl="0" marL="457200" rtl="0" algn="l">
              <a:spcBef>
                <a:spcPts val="0"/>
              </a:spcBef>
              <a:spcAft>
                <a:spcPts val="0"/>
              </a:spcAft>
              <a:buClr>
                <a:schemeClr val="dk1"/>
              </a:buClr>
              <a:buSzPct val="100000"/>
              <a:buAutoNum type="arabicParenR"/>
            </a:pPr>
            <a:r>
              <a:rPr lang="en-GB" sz="1000">
                <a:solidFill>
                  <a:schemeClr val="dk1"/>
                </a:solidFill>
              </a:rPr>
              <a:t>Fodor, J., 2025. Line Goes Up? Inherent Limitations of Benchmarks for Evaluating Large Language Models. arXiv.</a:t>
            </a:r>
            <a:endParaRPr sz="1000">
              <a:solidFill>
                <a:schemeClr val="dk1"/>
              </a:solidFill>
            </a:endParaRPr>
          </a:p>
          <a:p>
            <a:pPr indent="-282575" lvl="0" marL="457200" rtl="0" algn="l">
              <a:spcBef>
                <a:spcPts val="0"/>
              </a:spcBef>
              <a:spcAft>
                <a:spcPts val="0"/>
              </a:spcAft>
              <a:buSzPct val="100000"/>
              <a:buFont typeface="Calibri"/>
              <a:buAutoNum type="arabicParenR"/>
            </a:pPr>
            <a:r>
              <a:rPr lang="en-GB" sz="1000">
                <a:solidFill>
                  <a:srgbClr val="222222"/>
                </a:solidFill>
              </a:rPr>
              <a:t>Kalai, A.T., et al., 2025. Why language models hallucinate. arXiv.</a:t>
            </a:r>
            <a:endParaRPr sz="1000">
              <a:solidFill>
                <a:srgbClr val="222222"/>
              </a:solidFill>
            </a:endParaRPr>
          </a:p>
          <a:p>
            <a:pPr indent="-282575" lvl="0" marL="457200" rtl="0" algn="l">
              <a:spcBef>
                <a:spcPts val="0"/>
              </a:spcBef>
              <a:spcAft>
                <a:spcPts val="0"/>
              </a:spcAft>
              <a:buClr>
                <a:srgbClr val="222222"/>
              </a:buClr>
              <a:buSzPct val="100000"/>
              <a:buAutoNum type="arabicParenR"/>
            </a:pPr>
            <a:r>
              <a:rPr lang="en-GB" sz="1000">
                <a:solidFill>
                  <a:srgbClr val="222222"/>
                </a:solidFill>
              </a:rPr>
              <a:t>Lightman,  et al., 2023. Let's Verify Step by Step. ICLR.</a:t>
            </a:r>
            <a:endParaRPr sz="1000">
              <a:solidFill>
                <a:srgbClr val="222222"/>
              </a:solidFill>
            </a:endParaRPr>
          </a:p>
          <a:p>
            <a:pPr indent="-282575" lvl="0" marL="457200" rtl="0" algn="l">
              <a:spcBef>
                <a:spcPts val="0"/>
              </a:spcBef>
              <a:spcAft>
                <a:spcPts val="0"/>
              </a:spcAft>
              <a:buClr>
                <a:srgbClr val="222222"/>
              </a:buClr>
              <a:buSzPct val="100000"/>
              <a:buAutoNum type="arabicParenR"/>
            </a:pPr>
            <a:r>
              <a:rPr lang="en-GB" sz="1000">
                <a:solidFill>
                  <a:srgbClr val="222222"/>
                </a:solidFill>
              </a:rPr>
              <a:t>Liu, et al. 2024. Lost in the Middle: How Language Models Use Long Contexts. TACL</a:t>
            </a:r>
            <a:endParaRPr sz="1000">
              <a:solidFill>
                <a:srgbClr val="222222"/>
              </a:solidFill>
            </a:endParaRPr>
          </a:p>
          <a:p>
            <a:pPr indent="-282575" lvl="0" marL="457200" rtl="0" algn="l">
              <a:spcBef>
                <a:spcPts val="0"/>
              </a:spcBef>
              <a:spcAft>
                <a:spcPts val="0"/>
              </a:spcAft>
              <a:buClr>
                <a:srgbClr val="222222"/>
              </a:buClr>
              <a:buSzPct val="100000"/>
              <a:buAutoNum type="arabicParenR"/>
            </a:pPr>
            <a:r>
              <a:rPr lang="en-GB" sz="1000">
                <a:solidFill>
                  <a:srgbClr val="222222"/>
                </a:solidFill>
              </a:rPr>
              <a:t>Madabushi H., et al., 2025. Neither Stochastic Parroting nor AGI: LLMs Solve Tasks through Context-Directed Extrapolation from Training Data Priors. </a:t>
            </a:r>
            <a:endParaRPr sz="1000">
              <a:solidFill>
                <a:srgbClr val="222222"/>
              </a:solidFill>
            </a:endParaRPr>
          </a:p>
          <a:p>
            <a:pPr indent="-282575" lvl="0" marL="457200" rtl="0" algn="l">
              <a:spcBef>
                <a:spcPts val="0"/>
              </a:spcBef>
              <a:spcAft>
                <a:spcPts val="0"/>
              </a:spcAft>
              <a:buSzPct val="100000"/>
              <a:buFont typeface="Calibri"/>
              <a:buAutoNum type="arabicParenR"/>
            </a:pPr>
            <a:r>
              <a:rPr lang="en-GB" sz="1000">
                <a:solidFill>
                  <a:schemeClr val="dk1"/>
                </a:solidFill>
              </a:rPr>
              <a:t>Malaviya, C., et al., 2023. Quest: A retrieval dataset of entity-seeking queries with implicit set operations. ACL.</a:t>
            </a:r>
            <a:endParaRPr sz="1000">
              <a:solidFill>
                <a:schemeClr val="dk1"/>
              </a:solidFill>
            </a:endParaRPr>
          </a:p>
          <a:p>
            <a:pPr indent="-282575" lvl="0" marL="457200" rtl="0" algn="l">
              <a:spcBef>
                <a:spcPts val="0"/>
              </a:spcBef>
              <a:spcAft>
                <a:spcPts val="0"/>
              </a:spcAft>
              <a:buClr>
                <a:schemeClr val="dk1"/>
              </a:buClr>
              <a:buSzPct val="100000"/>
              <a:buAutoNum type="arabicParenR"/>
            </a:pPr>
            <a:r>
              <a:rPr lang="en-GB" sz="1000">
                <a:solidFill>
                  <a:schemeClr val="dk1"/>
                </a:solidFill>
              </a:rPr>
              <a:t>Mirzadeh, et al., 2025. GSM-Symbolic: Understanding the Limitations of Mathematical Reasoning in Large Language Models. ICLR.</a:t>
            </a:r>
            <a:endParaRPr sz="1000">
              <a:solidFill>
                <a:schemeClr val="dk1"/>
              </a:solidFill>
            </a:endParaRPr>
          </a:p>
          <a:p>
            <a:pPr indent="-282575" lvl="0" marL="457200" rtl="0" algn="l">
              <a:spcBef>
                <a:spcPts val="0"/>
              </a:spcBef>
              <a:spcAft>
                <a:spcPts val="0"/>
              </a:spcAft>
              <a:buClr>
                <a:schemeClr val="dk1"/>
              </a:buClr>
              <a:buSzPct val="100000"/>
              <a:buAutoNum type="arabicParenR"/>
            </a:pPr>
            <a:r>
              <a:rPr lang="en-GB" sz="1000">
                <a:solidFill>
                  <a:schemeClr val="dk1"/>
                </a:solidFill>
              </a:rPr>
              <a:t>OpenAI 2024. Learning to Reason with LLMs. (OpenAI o1 system card)</a:t>
            </a:r>
            <a:endParaRPr sz="1000">
              <a:solidFill>
                <a:schemeClr val="dk1"/>
              </a:solidFill>
            </a:endParaRPr>
          </a:p>
          <a:p>
            <a:pPr indent="-282575" lvl="0" marL="457200" rtl="0" algn="l">
              <a:spcBef>
                <a:spcPts val="0"/>
              </a:spcBef>
              <a:spcAft>
                <a:spcPts val="0"/>
              </a:spcAft>
              <a:buSzPct val="100000"/>
              <a:buFont typeface="Calibri"/>
              <a:buAutoNum type="arabicParenR"/>
            </a:pPr>
            <a:r>
              <a:rPr lang="en-GB" sz="1000">
                <a:solidFill>
                  <a:schemeClr val="dk1"/>
                </a:solidFill>
              </a:rPr>
              <a:t>Petcu, R., et al., 2025. A comprehensive taxonomy of negation for NLP and neural retrievers. Findings of EMNLP. </a:t>
            </a:r>
            <a:endParaRPr sz="1000">
              <a:solidFill>
                <a:schemeClr val="dk1"/>
              </a:solidFill>
            </a:endParaRPr>
          </a:p>
          <a:p>
            <a:pPr indent="-282575" lvl="0" marL="457200" rtl="0" algn="l">
              <a:spcBef>
                <a:spcPts val="0"/>
              </a:spcBef>
              <a:spcAft>
                <a:spcPts val="0"/>
              </a:spcAft>
              <a:buClr>
                <a:schemeClr val="dk1"/>
              </a:buClr>
              <a:buSzPct val="100000"/>
              <a:buAutoNum type="arabicParenR"/>
            </a:pPr>
            <a:r>
              <a:rPr lang="en-GB" sz="1000">
                <a:solidFill>
                  <a:schemeClr val="dk1"/>
                </a:solidFill>
              </a:rPr>
              <a:t>Ravichandat, </a:t>
            </a:r>
            <a:r>
              <a:rPr lang="en-GB" sz="1000">
                <a:solidFill>
                  <a:schemeClr val="dk1"/>
                </a:solidFill>
              </a:rPr>
              <a:t>A., et al., 2022. CONDAQA: A contrastive reading comprehension dataset for reasoning about negation. EMNLP.</a:t>
            </a:r>
            <a:endParaRPr sz="1000">
              <a:solidFill>
                <a:schemeClr val="dk1"/>
              </a:solidFill>
            </a:endParaRPr>
          </a:p>
          <a:p>
            <a:pPr indent="-282575" lvl="0" marL="457200" rtl="0" algn="l">
              <a:spcBef>
                <a:spcPts val="0"/>
              </a:spcBef>
              <a:spcAft>
                <a:spcPts val="0"/>
              </a:spcAft>
              <a:buClr>
                <a:schemeClr val="dk1"/>
              </a:buClr>
              <a:buSzPct val="100000"/>
              <a:buAutoNum type="arabicParenR"/>
            </a:pPr>
            <a:r>
              <a:rPr lang="en-GB" sz="1000">
                <a:solidFill>
                  <a:schemeClr val="dk1"/>
                </a:solidFill>
              </a:rPr>
              <a:t>Schaeffer et al., 2023. Are Emergent Abilities of Large Language Models a Mirage. NeurIPS.</a:t>
            </a:r>
            <a:endParaRPr sz="1000">
              <a:solidFill>
                <a:schemeClr val="dk1"/>
              </a:solidFill>
            </a:endParaRPr>
          </a:p>
          <a:p>
            <a:pPr indent="-282575" lvl="0" marL="457200" rtl="0" algn="l">
              <a:spcBef>
                <a:spcPts val="0"/>
              </a:spcBef>
              <a:spcAft>
                <a:spcPts val="0"/>
              </a:spcAft>
              <a:buClr>
                <a:schemeClr val="dk1"/>
              </a:buClr>
              <a:buSzPct val="100000"/>
              <a:buAutoNum type="arabicParenR"/>
            </a:pPr>
            <a:r>
              <a:rPr lang="en-GB" sz="1000">
                <a:solidFill>
                  <a:schemeClr val="dk1"/>
                </a:solidFill>
              </a:rPr>
              <a:t>Shi F., et al., 2023. Large Language Models Can be Easily Distracted by Irrelevant Context. ICML.</a:t>
            </a:r>
            <a:endParaRPr sz="1000">
              <a:solidFill>
                <a:schemeClr val="dk1"/>
              </a:solidFill>
            </a:endParaRPr>
          </a:p>
          <a:p>
            <a:pPr indent="-282575" lvl="0" marL="457200" rtl="0" algn="l">
              <a:spcBef>
                <a:spcPts val="0"/>
              </a:spcBef>
              <a:spcAft>
                <a:spcPts val="0"/>
              </a:spcAft>
              <a:buSzPct val="100000"/>
              <a:buFont typeface="Calibri"/>
              <a:buAutoNum type="arabicParenR"/>
            </a:pPr>
            <a:r>
              <a:rPr lang="en-GB" sz="1000">
                <a:solidFill>
                  <a:schemeClr val="dk1"/>
                </a:solidFill>
              </a:rPr>
              <a:t>Su, H.,et al., 2025. BRIGHT: A realistic and challenging benchmark for reasoning-intensive retrieval. ICLR.</a:t>
            </a:r>
            <a:endParaRPr sz="1000"/>
          </a:p>
          <a:p>
            <a:pPr indent="-282575" lvl="0" marL="457200" rtl="0" algn="l">
              <a:spcBef>
                <a:spcPts val="0"/>
              </a:spcBef>
              <a:spcAft>
                <a:spcPts val="0"/>
              </a:spcAft>
              <a:buSzPct val="100000"/>
              <a:buFont typeface="Calibri"/>
              <a:buAutoNum type="arabicParenR"/>
            </a:pPr>
            <a:r>
              <a:rPr lang="en-GB" sz="1000">
                <a:solidFill>
                  <a:schemeClr val="dk1"/>
                </a:solidFill>
              </a:rPr>
              <a:t>van den Elsen, C., et al., 2025. Reproducing NevIR: Negation in neural information retrieval. SIGIR.</a:t>
            </a:r>
            <a:endParaRPr sz="1000">
              <a:solidFill>
                <a:schemeClr val="dk1"/>
              </a:solidFill>
            </a:endParaRPr>
          </a:p>
          <a:p>
            <a:pPr indent="-282575" lvl="0" marL="457200" rtl="0" algn="l">
              <a:spcBef>
                <a:spcPts val="0"/>
              </a:spcBef>
              <a:spcAft>
                <a:spcPts val="0"/>
              </a:spcAft>
              <a:buClr>
                <a:schemeClr val="dk1"/>
              </a:buClr>
              <a:buSzPct val="100000"/>
              <a:buAutoNum type="arabicParenR"/>
            </a:pPr>
            <a:r>
              <a:rPr lang="en-GB" sz="1000">
                <a:solidFill>
                  <a:schemeClr val="dk1"/>
                </a:solidFill>
              </a:rPr>
              <a:t>Wang et al., 2023. Self-Consistency Improves Chain of Thought Reasoning in Language Models. ICLR.</a:t>
            </a:r>
            <a:endParaRPr sz="1000">
              <a:solidFill>
                <a:schemeClr val="dk1"/>
              </a:solidFill>
            </a:endParaRPr>
          </a:p>
          <a:p>
            <a:pPr indent="-282575" lvl="0" marL="457200" rtl="0" algn="l">
              <a:spcBef>
                <a:spcPts val="0"/>
              </a:spcBef>
              <a:spcAft>
                <a:spcPts val="0"/>
              </a:spcAft>
              <a:buClr>
                <a:schemeClr val="dk1"/>
              </a:buClr>
              <a:buSzPct val="100000"/>
              <a:buAutoNum type="arabicParenR"/>
            </a:pPr>
            <a:r>
              <a:rPr lang="en-GB" sz="1000">
                <a:solidFill>
                  <a:schemeClr val="dk1"/>
                </a:solidFill>
              </a:rPr>
              <a:t>Wang, X., et al., 2024. BIRCO: A benchmark of information retrieval tasks with complex objectives. arXiv.</a:t>
            </a:r>
            <a:endParaRPr sz="1000">
              <a:solidFill>
                <a:schemeClr val="dk1"/>
              </a:solidFill>
            </a:endParaRPr>
          </a:p>
          <a:p>
            <a:pPr indent="-282575" lvl="0" marL="457200" rtl="0" algn="l">
              <a:spcBef>
                <a:spcPts val="0"/>
              </a:spcBef>
              <a:spcAft>
                <a:spcPts val="0"/>
              </a:spcAft>
              <a:buClr>
                <a:schemeClr val="dk1"/>
              </a:buClr>
              <a:buSzPct val="100000"/>
              <a:buAutoNum type="arabicParenR"/>
            </a:pPr>
            <a:r>
              <a:rPr lang="en-GB" sz="1000">
                <a:solidFill>
                  <a:schemeClr val="dk1"/>
                </a:solidFill>
              </a:rPr>
              <a:t>Wei et al., 2022. Chain-of-Thought Prompting Elicits Reasoning in Large Language Models. NeurIPS.</a:t>
            </a:r>
            <a:endParaRPr sz="1000">
              <a:solidFill>
                <a:schemeClr val="dk1"/>
              </a:solidFill>
            </a:endParaRPr>
          </a:p>
          <a:p>
            <a:pPr indent="-282575" lvl="0" marL="457200" rtl="0" algn="l">
              <a:spcBef>
                <a:spcPts val="0"/>
              </a:spcBef>
              <a:spcAft>
                <a:spcPts val="0"/>
              </a:spcAft>
              <a:buSzPct val="100000"/>
              <a:buFont typeface="Calibri"/>
              <a:buAutoNum type="arabicParenR"/>
            </a:pPr>
            <a:r>
              <a:rPr lang="en-GB" sz="1000">
                <a:solidFill>
                  <a:schemeClr val="dk1"/>
                </a:solidFill>
              </a:rPr>
              <a:t>Weller, O., et al., 2024. NevIR: Negation in neural information retrieval. EACL.</a:t>
            </a:r>
            <a:endParaRPr sz="1000">
              <a:solidFill>
                <a:schemeClr val="dk1"/>
              </a:solidFill>
            </a:endParaRPr>
          </a:p>
          <a:p>
            <a:pPr indent="-282575" lvl="0" marL="457200" rtl="0" algn="l">
              <a:spcBef>
                <a:spcPts val="0"/>
              </a:spcBef>
              <a:spcAft>
                <a:spcPts val="0"/>
              </a:spcAft>
              <a:buClr>
                <a:schemeClr val="dk1"/>
              </a:buClr>
              <a:buSzPct val="100000"/>
              <a:buAutoNum type="arabicParenR"/>
            </a:pPr>
            <a:r>
              <a:rPr lang="en-GB" sz="1000">
                <a:solidFill>
                  <a:schemeClr val="dk1"/>
                </a:solidFill>
              </a:rPr>
              <a:t>Weller, O., et al., 2025. FollowIR: Evaluating and teaching information retrieval models to follow instructions. NAACL.</a:t>
            </a:r>
            <a:endParaRPr sz="1000">
              <a:solidFill>
                <a:schemeClr val="dk1"/>
              </a:solidFill>
            </a:endParaRPr>
          </a:p>
          <a:p>
            <a:pPr indent="-282575" lvl="0" marL="457200" rtl="0" algn="l">
              <a:spcBef>
                <a:spcPts val="0"/>
              </a:spcBef>
              <a:spcAft>
                <a:spcPts val="0"/>
              </a:spcAft>
              <a:buSzPct val="100000"/>
              <a:buFont typeface="Calibri"/>
              <a:buAutoNum type="arabicParenR"/>
            </a:pPr>
            <a:r>
              <a:rPr lang="en-GB" sz="1000">
                <a:solidFill>
                  <a:srgbClr val="222222"/>
                </a:solidFill>
              </a:rPr>
              <a:t>Weller, O., et al., 2026. On the theoretical limitations of embedding-based retrieval. ICLR.</a:t>
            </a:r>
            <a:endParaRPr sz="1000">
              <a:solidFill>
                <a:srgbClr val="222222"/>
              </a:solidFill>
            </a:endParaRPr>
          </a:p>
          <a:p>
            <a:pPr indent="-282575" lvl="0" marL="457200" rtl="0" algn="l">
              <a:spcBef>
                <a:spcPts val="0"/>
              </a:spcBef>
              <a:spcAft>
                <a:spcPts val="0"/>
              </a:spcAft>
              <a:buClr>
                <a:srgbClr val="222222"/>
              </a:buClr>
              <a:buSzPct val="100000"/>
              <a:buAutoNum type="arabicParenR"/>
            </a:pPr>
            <a:r>
              <a:rPr lang="en-GB" sz="1000">
                <a:solidFill>
                  <a:schemeClr val="dk1"/>
                </a:solidFill>
              </a:rPr>
              <a:t>Yao et al., 2023. Tree of Thoughts: Deliberate Problem Solving with Large Language Models. NeurIPS.</a:t>
            </a:r>
            <a:endParaRPr sz="1000">
              <a:solidFill>
                <a:schemeClr val="dk1"/>
              </a:solidFill>
            </a:endParaRPr>
          </a:p>
          <a:p>
            <a:pPr indent="-282575" lvl="0" marL="457200" rtl="0" algn="l">
              <a:spcBef>
                <a:spcPts val="0"/>
              </a:spcBef>
              <a:spcAft>
                <a:spcPts val="0"/>
              </a:spcAft>
              <a:buClr>
                <a:schemeClr val="dk1"/>
              </a:buClr>
              <a:buSzPct val="100000"/>
              <a:buAutoNum type="arabicParenR"/>
            </a:pPr>
            <a:r>
              <a:rPr lang="en-GB" sz="1000">
                <a:solidFill>
                  <a:schemeClr val="dk1"/>
                </a:solidFill>
              </a:rPr>
              <a:t>Zhang, H., et al., 2024. A Careful Examination of Large Language Model Performance on Grade School Arithmetic (GSM1K). arXiv.</a:t>
            </a:r>
            <a:endParaRPr sz="1000">
              <a:solidFill>
                <a:schemeClr val="dk1"/>
              </a:solidFill>
            </a:endParaRPr>
          </a:p>
          <a:p>
            <a:pPr indent="-282575" lvl="0" marL="457200" rtl="0" algn="l">
              <a:spcBef>
                <a:spcPts val="0"/>
              </a:spcBef>
              <a:spcAft>
                <a:spcPts val="0"/>
              </a:spcAft>
              <a:buSzPct val="100000"/>
              <a:buFont typeface="Calibri"/>
              <a:buAutoNum type="arabicParenR"/>
            </a:pPr>
            <a:r>
              <a:rPr lang="en-GB" sz="1000">
                <a:solidFill>
                  <a:schemeClr val="dk1"/>
                </a:solidFill>
              </a:rPr>
              <a:t>Zhang, W., et al., 2024. ExcluIR: Exclusionary neural information retrieval. AAAI.</a:t>
            </a:r>
            <a:endParaRPr sz="1000">
              <a:solidFill>
                <a:schemeClr val="dk1"/>
              </a:solidFill>
            </a:endParaRPr>
          </a:p>
          <a:p>
            <a:pPr indent="-282575" lvl="0" marL="457200" rtl="0" algn="l">
              <a:spcBef>
                <a:spcPts val="0"/>
              </a:spcBef>
              <a:spcAft>
                <a:spcPts val="0"/>
              </a:spcAft>
              <a:buClr>
                <a:schemeClr val="dk1"/>
              </a:buClr>
              <a:buSzPct val="100000"/>
              <a:buAutoNum type="arabicParenR"/>
            </a:pPr>
            <a:r>
              <a:rPr lang="en-GB" sz="1000">
                <a:solidFill>
                  <a:schemeClr val="dk1"/>
                </a:solidFill>
              </a:rPr>
              <a:t>Zhou et al., 2023. Least-to-Most Prompting Enables Complex Reasoning in Large Language Models. ICLR.</a:t>
            </a:r>
            <a:endParaRPr sz="1000">
              <a:solidFill>
                <a:schemeClr val="dk1"/>
              </a:solidFill>
            </a:endParaRPr>
          </a:p>
        </p:txBody>
      </p:sp>
      <p:sp>
        <p:nvSpPr>
          <p:cNvPr id="1633" name="Google Shape;1633;p17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7" name="Shape 1637"/>
        <p:cNvGrpSpPr/>
        <p:nvPr/>
      </p:nvGrpSpPr>
      <p:grpSpPr>
        <a:xfrm>
          <a:off x="0" y="0"/>
          <a:ext cx="0" cy="0"/>
          <a:chOff x="0" y="0"/>
          <a:chExt cx="0" cy="0"/>
        </a:xfrm>
      </p:grpSpPr>
      <p:sp>
        <p:nvSpPr>
          <p:cNvPr id="1638" name="Google Shape;1638;p17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00000"/>
              </a:lnSpc>
              <a:spcBef>
                <a:spcPts val="0"/>
              </a:spcBef>
              <a:spcAft>
                <a:spcPts val="0"/>
              </a:spcAft>
              <a:buSzPct val="111111"/>
              <a:buNone/>
            </a:pPr>
            <a:r>
              <a:rPr b="1" lang="en-GB"/>
              <a:t>Section 3</a:t>
            </a:r>
            <a:endParaRPr b="1"/>
          </a:p>
        </p:txBody>
      </p:sp>
      <p:sp>
        <p:nvSpPr>
          <p:cNvPr id="1639" name="Google Shape;1639;p17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lnSpcReduction="10000"/>
          </a:bodyPr>
          <a:lstStyle/>
          <a:p>
            <a:pPr indent="-225425" lvl="0" marL="342900" rtl="0" algn="l">
              <a:lnSpc>
                <a:spcPct val="115000"/>
              </a:lnSpc>
              <a:spcBef>
                <a:spcPts val="0"/>
              </a:spcBef>
              <a:spcAft>
                <a:spcPts val="0"/>
              </a:spcAft>
              <a:buSzPts val="1000"/>
              <a:buAutoNum type="arabicParenR"/>
            </a:pPr>
            <a:r>
              <a:rPr lang="en-GB" sz="1000">
                <a:solidFill>
                  <a:schemeClr val="dk1"/>
                </a:solidFill>
              </a:rPr>
              <a:t>Merrill &amp; Sabharwal. </a:t>
            </a:r>
            <a:r>
              <a:rPr lang="en-GB" sz="1000">
                <a:solidFill>
                  <a:schemeClr val="dk1"/>
                </a:solidFill>
              </a:rPr>
              <a:t>The Parallelism Tradeoff: Limitations of Log-Precision Transformers. TACL 2023.</a:t>
            </a:r>
            <a:endParaRPr sz="1000">
              <a:solidFill>
                <a:schemeClr val="dk1"/>
              </a:solidFill>
            </a:endParaRPr>
          </a:p>
          <a:p>
            <a:pPr indent="-225425" lvl="0" marL="342900" rtl="0" algn="l">
              <a:lnSpc>
                <a:spcPct val="115000"/>
              </a:lnSpc>
              <a:spcBef>
                <a:spcPts val="0"/>
              </a:spcBef>
              <a:spcAft>
                <a:spcPts val="0"/>
              </a:spcAft>
              <a:buClr>
                <a:schemeClr val="dk1"/>
              </a:buClr>
              <a:buSzPts val="1000"/>
              <a:buAutoNum type="arabicParenR"/>
            </a:pPr>
            <a:r>
              <a:rPr lang="en-GB" sz="1000">
                <a:solidFill>
                  <a:schemeClr val="dk1"/>
                </a:solidFill>
              </a:rPr>
              <a:t>Feng et al. </a:t>
            </a:r>
            <a:r>
              <a:rPr lang="en-GB" sz="1000">
                <a:solidFill>
                  <a:schemeClr val="dk1"/>
                </a:solidFill>
              </a:rPr>
              <a:t>Towards Revealing the Mystery behind Chain of Thought: A Theoretical Perspective. NeurIPS 2023. </a:t>
            </a:r>
            <a:endParaRPr sz="1000">
              <a:solidFill>
                <a:schemeClr val="dk1"/>
              </a:solidFill>
            </a:endParaRPr>
          </a:p>
          <a:p>
            <a:pPr indent="-225425" lvl="0" marL="342900" rtl="0" algn="l">
              <a:lnSpc>
                <a:spcPct val="115000"/>
              </a:lnSpc>
              <a:spcBef>
                <a:spcPts val="0"/>
              </a:spcBef>
              <a:spcAft>
                <a:spcPts val="0"/>
              </a:spcAft>
              <a:buClr>
                <a:schemeClr val="dk1"/>
              </a:buClr>
              <a:buSzPts val="1000"/>
              <a:buAutoNum type="arabicParenR"/>
            </a:pPr>
            <a:r>
              <a:rPr lang="en-GB" sz="1000">
                <a:solidFill>
                  <a:schemeClr val="dk1"/>
                </a:solidFill>
              </a:rPr>
              <a:t>Wei et al. </a:t>
            </a:r>
            <a:r>
              <a:rPr lang="en-GB" sz="1000">
                <a:solidFill>
                  <a:schemeClr val="dk1"/>
                </a:solidFill>
              </a:rPr>
              <a:t>Chain-of-Thought Prompting Elicits Reasoning in Large Language Models. NIPS 2022.</a:t>
            </a:r>
            <a:endParaRPr sz="1000">
              <a:solidFill>
                <a:schemeClr val="dk1"/>
              </a:solidFill>
            </a:endParaRPr>
          </a:p>
          <a:p>
            <a:pPr indent="-225425" lvl="0" marL="342900" rtl="0" algn="l">
              <a:lnSpc>
                <a:spcPct val="115000"/>
              </a:lnSpc>
              <a:spcBef>
                <a:spcPts val="0"/>
              </a:spcBef>
              <a:spcAft>
                <a:spcPts val="0"/>
              </a:spcAft>
              <a:buClr>
                <a:schemeClr val="dk1"/>
              </a:buClr>
              <a:buSzPts val="1000"/>
              <a:buAutoNum type="arabicParenR"/>
            </a:pPr>
            <a:r>
              <a:rPr lang="en-GB" sz="1000">
                <a:solidFill>
                  <a:schemeClr val="dk1"/>
                </a:solidFill>
              </a:rPr>
              <a:t>Ruis et al. </a:t>
            </a:r>
            <a:r>
              <a:rPr lang="en-GB" sz="1000">
                <a:solidFill>
                  <a:schemeClr val="dk1"/>
                </a:solidFill>
              </a:rPr>
              <a:t>Procedural Knowledge in Pretraining Drives Reasoning in Large Language Models. ICLR 2025.</a:t>
            </a:r>
            <a:endParaRPr sz="1000">
              <a:solidFill>
                <a:schemeClr val="dk1"/>
              </a:solidFill>
            </a:endParaRPr>
          </a:p>
          <a:p>
            <a:pPr indent="-225425" lvl="0" marL="342900" rtl="0" algn="l">
              <a:lnSpc>
                <a:spcPct val="115000"/>
              </a:lnSpc>
              <a:spcBef>
                <a:spcPts val="0"/>
              </a:spcBef>
              <a:spcAft>
                <a:spcPts val="0"/>
              </a:spcAft>
              <a:buClr>
                <a:schemeClr val="dk1"/>
              </a:buClr>
              <a:buSzPts val="1000"/>
              <a:buAutoNum type="arabicParenR"/>
            </a:pPr>
            <a:r>
              <a:rPr lang="en-GB" sz="1000">
                <a:solidFill>
                  <a:schemeClr val="dk1"/>
                </a:solidFill>
              </a:rPr>
              <a:t>Wang &amp; Zhou. </a:t>
            </a:r>
            <a:r>
              <a:rPr lang="en-GB" sz="1000">
                <a:solidFill>
                  <a:schemeClr val="dk1"/>
                </a:solidFill>
              </a:rPr>
              <a:t>Chain-of-Thought Reasoning without Prompting. NeurIPS 2024.</a:t>
            </a:r>
            <a:endParaRPr sz="1000">
              <a:solidFill>
                <a:schemeClr val="dk1"/>
              </a:solidFill>
            </a:endParaRPr>
          </a:p>
          <a:p>
            <a:pPr indent="-225425" lvl="0" marL="342900" rtl="0" algn="l">
              <a:lnSpc>
                <a:spcPct val="115000"/>
              </a:lnSpc>
              <a:spcBef>
                <a:spcPts val="0"/>
              </a:spcBef>
              <a:spcAft>
                <a:spcPts val="0"/>
              </a:spcAft>
              <a:buClr>
                <a:schemeClr val="dk1"/>
              </a:buClr>
              <a:buSzPts val="1000"/>
              <a:buAutoNum type="arabicParenR"/>
            </a:pPr>
            <a:r>
              <a:rPr lang="en-GB" sz="1000">
                <a:solidFill>
                  <a:schemeClr val="dk1"/>
                </a:solidFill>
              </a:rPr>
              <a:t>Madaan, et al. </a:t>
            </a:r>
            <a:r>
              <a:rPr lang="en-GB" sz="1000">
                <a:solidFill>
                  <a:schemeClr val="dk1"/>
                </a:solidFill>
              </a:rPr>
              <a:t>Self-refine: Iterative refinement with self-feedback. NeurIPS 2023.</a:t>
            </a:r>
            <a:endParaRPr sz="1000">
              <a:solidFill>
                <a:schemeClr val="dk1"/>
              </a:solidFill>
            </a:endParaRPr>
          </a:p>
          <a:p>
            <a:pPr indent="-225425" lvl="0" marL="342900" rtl="0" algn="l">
              <a:lnSpc>
                <a:spcPct val="115000"/>
              </a:lnSpc>
              <a:spcBef>
                <a:spcPts val="0"/>
              </a:spcBef>
              <a:spcAft>
                <a:spcPts val="0"/>
              </a:spcAft>
              <a:buClr>
                <a:schemeClr val="dk1"/>
              </a:buClr>
              <a:buSzPts val="1000"/>
              <a:buAutoNum type="arabicParenR"/>
            </a:pPr>
            <a:r>
              <a:rPr lang="en-GB" sz="1000">
                <a:solidFill>
                  <a:schemeClr val="dk1"/>
                </a:solidFill>
              </a:rPr>
              <a:t>Yao et al. </a:t>
            </a:r>
            <a:r>
              <a:rPr lang="en-GB" sz="1000">
                <a:solidFill>
                  <a:schemeClr val="dk1"/>
                </a:solidFill>
              </a:rPr>
              <a:t>React: Synergizing reasoning and acting in language models. ICLR 2023.</a:t>
            </a:r>
            <a:endParaRPr sz="1000">
              <a:solidFill>
                <a:schemeClr val="dk1"/>
              </a:solidFill>
            </a:endParaRPr>
          </a:p>
          <a:p>
            <a:pPr indent="-225425" lvl="0" marL="342900" rtl="0" algn="l">
              <a:lnSpc>
                <a:spcPct val="115000"/>
              </a:lnSpc>
              <a:spcBef>
                <a:spcPts val="0"/>
              </a:spcBef>
              <a:spcAft>
                <a:spcPts val="0"/>
              </a:spcAft>
              <a:buClr>
                <a:schemeClr val="dk1"/>
              </a:buClr>
              <a:buSzPts val="1000"/>
              <a:buAutoNum type="arabicParenR"/>
            </a:pPr>
            <a:r>
              <a:rPr lang="en-GB" sz="1000">
                <a:solidFill>
                  <a:schemeClr val="dk1"/>
                </a:solidFill>
              </a:rPr>
              <a:t>Hoveyda et al., </a:t>
            </a:r>
            <a:r>
              <a:rPr lang="en-GB" sz="1000">
                <a:solidFill>
                  <a:schemeClr val="dk1"/>
                </a:solidFill>
              </a:rPr>
              <a:t>Adaptive Orchestration of Modular Generative Information Access Systems. SIGIR 2025. </a:t>
            </a:r>
            <a:endParaRPr sz="1000">
              <a:solidFill>
                <a:schemeClr val="dk1"/>
              </a:solidFill>
            </a:endParaRPr>
          </a:p>
          <a:p>
            <a:pPr indent="-225425" lvl="0" marL="342900" rtl="0" algn="l">
              <a:lnSpc>
                <a:spcPct val="115000"/>
              </a:lnSpc>
              <a:spcBef>
                <a:spcPts val="0"/>
              </a:spcBef>
              <a:spcAft>
                <a:spcPts val="0"/>
              </a:spcAft>
              <a:buClr>
                <a:schemeClr val="dk1"/>
              </a:buClr>
              <a:buSzPts val="1000"/>
              <a:buAutoNum type="arabicParenR"/>
            </a:pPr>
            <a:r>
              <a:rPr lang="en-GB" sz="1000">
                <a:solidFill>
                  <a:schemeClr val="dk1"/>
                </a:solidFill>
              </a:rPr>
              <a:t>Training language models to follow instructions with human feedback. Ouyang et al., NeurIPS 2022.</a:t>
            </a:r>
            <a:endParaRPr sz="1000">
              <a:solidFill>
                <a:schemeClr val="dk1"/>
              </a:solidFill>
            </a:endParaRPr>
          </a:p>
          <a:p>
            <a:pPr indent="-225425" lvl="0" marL="342900" rtl="0" algn="l">
              <a:lnSpc>
                <a:spcPct val="115000"/>
              </a:lnSpc>
              <a:spcBef>
                <a:spcPts val="0"/>
              </a:spcBef>
              <a:spcAft>
                <a:spcPts val="0"/>
              </a:spcAft>
              <a:buClr>
                <a:schemeClr val="dk1"/>
              </a:buClr>
              <a:buSzPts val="1000"/>
              <a:buAutoNum type="arabicParenR"/>
            </a:pPr>
            <a:r>
              <a:rPr lang="en-GB" sz="1000">
                <a:solidFill>
                  <a:schemeClr val="dk1"/>
                </a:solidFill>
              </a:rPr>
              <a:t>DeepSeekMath: Pushing the Limits of Mathematical Reasoning in Open Language Models. Shao et al., 2024.</a:t>
            </a:r>
            <a:endParaRPr sz="1000">
              <a:solidFill>
                <a:schemeClr val="dk1"/>
              </a:solidFill>
            </a:endParaRPr>
          </a:p>
          <a:p>
            <a:pPr indent="-225425" lvl="0" marL="342900" rtl="0" algn="l">
              <a:lnSpc>
                <a:spcPct val="115000"/>
              </a:lnSpc>
              <a:spcBef>
                <a:spcPts val="0"/>
              </a:spcBef>
              <a:spcAft>
                <a:spcPts val="0"/>
              </a:spcAft>
              <a:buClr>
                <a:schemeClr val="dk1"/>
              </a:buClr>
              <a:buSzPts val="1000"/>
              <a:buAutoNum type="arabicParenR"/>
            </a:pPr>
            <a:r>
              <a:rPr lang="en-GB" sz="1000">
                <a:solidFill>
                  <a:schemeClr val="dk1"/>
                </a:solidFill>
              </a:rPr>
              <a:t>DeepSeek-R1 incentivizes reasoning in LLMs through reinforcement learning. Guo et al., 2025.</a:t>
            </a:r>
            <a:endParaRPr sz="1000">
              <a:solidFill>
                <a:schemeClr val="dk1"/>
              </a:solidFill>
            </a:endParaRPr>
          </a:p>
          <a:p>
            <a:pPr indent="-225425" lvl="0" marL="342900" rtl="0" algn="l">
              <a:lnSpc>
                <a:spcPct val="115000"/>
              </a:lnSpc>
              <a:spcBef>
                <a:spcPts val="0"/>
              </a:spcBef>
              <a:spcAft>
                <a:spcPts val="0"/>
              </a:spcAft>
              <a:buClr>
                <a:schemeClr val="dk1"/>
              </a:buClr>
              <a:buSzPts val="1000"/>
              <a:buAutoNum type="arabicParenR"/>
            </a:pPr>
            <a:r>
              <a:rPr lang="en-GB" sz="1000">
                <a:solidFill>
                  <a:schemeClr val="dk1"/>
                </a:solidFill>
              </a:rPr>
              <a:t>Search-R1: Training LLMs to Reason and Leverage Search Engines with Reinforcement Learning. Jin et al., COLM 2025. </a:t>
            </a:r>
            <a:endParaRPr sz="1000">
              <a:solidFill>
                <a:schemeClr val="dk1"/>
              </a:solidFill>
            </a:endParaRPr>
          </a:p>
          <a:p>
            <a:pPr indent="-225425" lvl="0" marL="342900" rtl="0" algn="l">
              <a:lnSpc>
                <a:spcPct val="115000"/>
              </a:lnSpc>
              <a:spcBef>
                <a:spcPts val="0"/>
              </a:spcBef>
              <a:spcAft>
                <a:spcPts val="0"/>
              </a:spcAft>
              <a:buClr>
                <a:schemeClr val="dk1"/>
              </a:buClr>
              <a:buSzPts val="1000"/>
              <a:buAutoNum type="arabicParenR"/>
            </a:pPr>
            <a:r>
              <a:rPr lang="en-GB" sz="1000">
                <a:solidFill>
                  <a:schemeClr val="dk1"/>
                </a:solidFill>
              </a:rPr>
              <a:t>Rank-R1: Enhancing Reasoning in LLM-based Document Rerankers via Reinforcement Learning. Zhuang et al., 2025. </a:t>
            </a:r>
            <a:endParaRPr sz="1000">
              <a:solidFill>
                <a:schemeClr val="dk1"/>
              </a:solidFill>
            </a:endParaRPr>
          </a:p>
          <a:p>
            <a:pPr indent="-225425" lvl="0" marL="342900" rtl="0" algn="l">
              <a:lnSpc>
                <a:spcPct val="115000"/>
              </a:lnSpc>
              <a:spcBef>
                <a:spcPts val="0"/>
              </a:spcBef>
              <a:spcAft>
                <a:spcPts val="0"/>
              </a:spcAft>
              <a:buClr>
                <a:schemeClr val="dk1"/>
              </a:buClr>
              <a:buSzPts val="1000"/>
              <a:buAutoNum type="arabicParenR"/>
            </a:pPr>
            <a:r>
              <a:rPr lang="en-GB" sz="1000">
                <a:solidFill>
                  <a:schemeClr val="dk1"/>
                </a:solidFill>
              </a:rPr>
              <a:t>Does Reinforcement Learning Really Incentivize Reasoning Capacity in LLMs Beyond the Base Model? Yue et al., NeurIPS 2025.</a:t>
            </a:r>
            <a:endParaRPr sz="1000">
              <a:solidFill>
                <a:schemeClr val="dk1"/>
              </a:solidFill>
            </a:endParaRPr>
          </a:p>
          <a:p>
            <a:pPr indent="-225425" lvl="0" marL="342900" rtl="0" algn="l">
              <a:lnSpc>
                <a:spcPct val="115000"/>
              </a:lnSpc>
              <a:spcBef>
                <a:spcPts val="0"/>
              </a:spcBef>
              <a:spcAft>
                <a:spcPts val="0"/>
              </a:spcAft>
              <a:buClr>
                <a:schemeClr val="dk1"/>
              </a:buClr>
              <a:buSzPts val="1000"/>
              <a:buAutoNum type="arabicParenR"/>
            </a:pPr>
            <a:r>
              <a:rPr lang="en-GB" sz="1000">
                <a:solidFill>
                  <a:schemeClr val="dk1"/>
                </a:solidFill>
              </a:rPr>
              <a:t>GPTSwarm: Language Agents as Optimizable Graphs. Zhuge et al., ICML 2024.</a:t>
            </a:r>
            <a:endParaRPr sz="1000">
              <a:solidFill>
                <a:schemeClr val="dk1"/>
              </a:solidFill>
            </a:endParaRPr>
          </a:p>
          <a:p>
            <a:pPr indent="-225425" lvl="0" marL="342900" rtl="0" algn="l">
              <a:lnSpc>
                <a:spcPct val="115000"/>
              </a:lnSpc>
              <a:spcBef>
                <a:spcPts val="0"/>
              </a:spcBef>
              <a:spcAft>
                <a:spcPts val="0"/>
              </a:spcAft>
              <a:buClr>
                <a:schemeClr val="dk1"/>
              </a:buClr>
              <a:buSzPts val="1000"/>
              <a:buAutoNum type="arabicParenR"/>
            </a:pPr>
            <a:r>
              <a:rPr lang="en-GB" sz="1000">
                <a:solidFill>
                  <a:schemeClr val="dk1"/>
                </a:solidFill>
              </a:rPr>
              <a:t>Adaptive Orchestration of Modular Generative Information Access Systems. Hoveyda et al., SIGIR 2025.</a:t>
            </a:r>
            <a:endParaRPr sz="1000">
              <a:solidFill>
                <a:schemeClr val="dk1"/>
              </a:solidFill>
            </a:endParaRPr>
          </a:p>
          <a:p>
            <a:pPr indent="-225425" lvl="0" marL="342900" rtl="0" algn="l">
              <a:lnSpc>
                <a:spcPct val="115000"/>
              </a:lnSpc>
              <a:spcBef>
                <a:spcPts val="0"/>
              </a:spcBef>
              <a:spcAft>
                <a:spcPts val="0"/>
              </a:spcAft>
              <a:buClr>
                <a:schemeClr val="dk1"/>
              </a:buClr>
              <a:buSzPts val="1000"/>
              <a:buAutoNum type="arabicParenR"/>
            </a:pPr>
            <a:r>
              <a:rPr lang="en-GB" sz="1000">
                <a:solidFill>
                  <a:schemeClr val="dk1"/>
                </a:solidFill>
              </a:rPr>
              <a:t>Multi-agent Architecture Search via Agentic Supernet. Zhang et al., ICML 2025.</a:t>
            </a:r>
            <a:endParaRPr sz="1000">
              <a:solidFill>
                <a:schemeClr val="dk1"/>
              </a:solidFill>
            </a:endParaRPr>
          </a:p>
          <a:p>
            <a:pPr indent="-225425" lvl="0" marL="342900" rtl="0" algn="l">
              <a:lnSpc>
                <a:spcPct val="115000"/>
              </a:lnSpc>
              <a:spcBef>
                <a:spcPts val="0"/>
              </a:spcBef>
              <a:spcAft>
                <a:spcPts val="0"/>
              </a:spcAft>
              <a:buClr>
                <a:schemeClr val="dk1"/>
              </a:buClr>
              <a:buSzPts val="1000"/>
              <a:buAutoNum type="arabicParenR"/>
            </a:pPr>
            <a:r>
              <a:rPr lang="en-GB" sz="1000">
                <a:solidFill>
                  <a:schemeClr val="dk1"/>
                </a:solidFill>
              </a:rPr>
              <a:t>Why Do Multi-Agent LLM Systems Fail? Cemri et al., 2025. </a:t>
            </a:r>
            <a:endParaRPr sz="1000">
              <a:solidFill>
                <a:schemeClr val="dk1"/>
              </a:solidFill>
            </a:endParaRPr>
          </a:p>
          <a:p>
            <a:pPr indent="0" lvl="0" marL="114300" rtl="0" algn="l">
              <a:lnSpc>
                <a:spcPct val="115000"/>
              </a:lnSpc>
              <a:spcBef>
                <a:spcPts val="0"/>
              </a:spcBef>
              <a:spcAft>
                <a:spcPts val="0"/>
              </a:spcAft>
              <a:buSzPts val="1050"/>
              <a:buNone/>
            </a:pPr>
            <a:r>
              <a:t/>
            </a:r>
            <a:endParaRPr sz="1000">
              <a:solidFill>
                <a:schemeClr val="dk1"/>
              </a:solidFill>
            </a:endParaRPr>
          </a:p>
        </p:txBody>
      </p:sp>
      <p:sp>
        <p:nvSpPr>
          <p:cNvPr id="1640" name="Google Shape;1640;p17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4" name="Shape 1644"/>
        <p:cNvGrpSpPr/>
        <p:nvPr/>
      </p:nvGrpSpPr>
      <p:grpSpPr>
        <a:xfrm>
          <a:off x="0" y="0"/>
          <a:ext cx="0" cy="0"/>
          <a:chOff x="0" y="0"/>
          <a:chExt cx="0" cy="0"/>
        </a:xfrm>
      </p:grpSpPr>
      <p:sp>
        <p:nvSpPr>
          <p:cNvPr id="1645" name="Google Shape;1645;p17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00000"/>
              </a:lnSpc>
              <a:spcBef>
                <a:spcPts val="0"/>
              </a:spcBef>
              <a:spcAft>
                <a:spcPts val="0"/>
              </a:spcAft>
              <a:buSzPct val="111111"/>
              <a:buNone/>
            </a:pPr>
            <a:r>
              <a:rPr b="1" lang="en-GB"/>
              <a:t>Section 4</a:t>
            </a:r>
            <a:endParaRPr b="1"/>
          </a:p>
        </p:txBody>
      </p:sp>
      <p:sp>
        <p:nvSpPr>
          <p:cNvPr id="1646" name="Google Shape;1646;p17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None/>
            </a:pPr>
            <a:r>
              <a:rPr lang="en-GB" sz="1000">
                <a:solidFill>
                  <a:schemeClr val="dk1"/>
                </a:solidFill>
              </a:rPr>
              <a:t>Neuro-Symbolic:</a:t>
            </a:r>
            <a:endParaRPr sz="1000">
              <a:solidFill>
                <a:schemeClr val="dk1"/>
              </a:solidFill>
            </a:endParaRPr>
          </a:p>
          <a:p>
            <a:pPr indent="-225425" lvl="0" marL="342900" rtl="0" algn="l">
              <a:lnSpc>
                <a:spcPct val="115000"/>
              </a:lnSpc>
              <a:spcBef>
                <a:spcPts val="0"/>
              </a:spcBef>
              <a:spcAft>
                <a:spcPts val="0"/>
              </a:spcAft>
              <a:buSzPts val="1000"/>
              <a:buAutoNum type="arabicParenR"/>
            </a:pPr>
            <a:r>
              <a:rPr lang="en-GB" sz="1000">
                <a:solidFill>
                  <a:schemeClr val="dk1"/>
                </a:solidFill>
              </a:rPr>
              <a:t>A. d'Avila Garcez et al., “Neural-Symbolic Computing: An Effective Methodology for Principled Integration of Machine Learning and Reasoning”,  FLAP 6(4): 611-632 (2019)</a:t>
            </a:r>
            <a:endParaRPr sz="1000">
              <a:solidFill>
                <a:schemeClr val="dk1"/>
              </a:solidFill>
            </a:endParaRPr>
          </a:p>
          <a:p>
            <a:pPr indent="-225425" lvl="0" marL="342900" rtl="0" algn="l">
              <a:lnSpc>
                <a:spcPct val="115000"/>
              </a:lnSpc>
              <a:spcBef>
                <a:spcPts val="0"/>
              </a:spcBef>
              <a:spcAft>
                <a:spcPts val="0"/>
              </a:spcAft>
              <a:buClr>
                <a:schemeClr val="dk1"/>
              </a:buClr>
              <a:buSzPts val="1000"/>
              <a:buAutoNum type="arabicParenR"/>
            </a:pPr>
            <a:r>
              <a:rPr lang="en-GB" sz="1000">
                <a:solidFill>
                  <a:schemeClr val="dk1"/>
                </a:solidFill>
              </a:rPr>
              <a:t>L.G. Valiant, “Three problems in computer science.” J. ACM, 50(1):96–99, 2003.</a:t>
            </a:r>
            <a:endParaRPr sz="1000">
              <a:solidFill>
                <a:schemeClr val="dk1"/>
              </a:solidFill>
            </a:endParaRPr>
          </a:p>
          <a:p>
            <a:pPr indent="-225425" lvl="0" marL="342900" rtl="0" algn="l">
              <a:lnSpc>
                <a:spcPct val="115000"/>
              </a:lnSpc>
              <a:spcBef>
                <a:spcPts val="0"/>
              </a:spcBef>
              <a:spcAft>
                <a:spcPts val="0"/>
              </a:spcAft>
              <a:buClr>
                <a:schemeClr val="dk1"/>
              </a:buClr>
              <a:buSzPts val="1000"/>
              <a:buAutoNum type="arabicParenR"/>
            </a:pPr>
            <a:r>
              <a:rPr lang="en-GB" sz="1000">
                <a:solidFill>
                  <a:schemeClr val="dk1"/>
                </a:solidFill>
              </a:rPr>
              <a:t>Pan et al., “Unifying Large Language Models and Knowledge Graphs: A Roadmap”, </a:t>
            </a:r>
            <a:r>
              <a:rPr lang="en-GB" sz="1100">
                <a:solidFill>
                  <a:schemeClr val="dk1"/>
                </a:solidFill>
              </a:rPr>
              <a:t>IEEE TKDE 36(7):3580-3599, 2024.</a:t>
            </a:r>
            <a:endParaRPr sz="1000">
              <a:solidFill>
                <a:schemeClr val="dk1"/>
              </a:solidFill>
            </a:endParaRPr>
          </a:p>
          <a:p>
            <a:pPr indent="-225425" lvl="0" marL="342900" rtl="0" algn="l">
              <a:lnSpc>
                <a:spcPct val="115000"/>
              </a:lnSpc>
              <a:spcBef>
                <a:spcPts val="0"/>
              </a:spcBef>
              <a:spcAft>
                <a:spcPts val="0"/>
              </a:spcAft>
              <a:buClr>
                <a:schemeClr val="dk1"/>
              </a:buClr>
              <a:buSzPts val="1000"/>
              <a:buAutoNum type="arabicParenR"/>
            </a:pPr>
            <a:r>
              <a:rPr lang="en-GB" sz="1000">
                <a:solidFill>
                  <a:schemeClr val="dk1"/>
                </a:solidFill>
              </a:rPr>
              <a:t>C.J. van Rijsbergen, “A new theoretical framework for information retrieval”, in SIGIR ‘86.</a:t>
            </a:r>
            <a:endParaRPr sz="1000">
              <a:solidFill>
                <a:schemeClr val="dk1"/>
              </a:solidFill>
            </a:endParaRPr>
          </a:p>
          <a:p>
            <a:pPr indent="-225425" lvl="0" marL="342900" rtl="0" algn="l">
              <a:lnSpc>
                <a:spcPct val="115000"/>
              </a:lnSpc>
              <a:spcBef>
                <a:spcPts val="0"/>
              </a:spcBef>
              <a:spcAft>
                <a:spcPts val="0"/>
              </a:spcAft>
              <a:buClr>
                <a:schemeClr val="dk1"/>
              </a:buClr>
              <a:buSzPts val="1000"/>
              <a:buAutoNum type="arabicParenR"/>
            </a:pPr>
            <a:r>
              <a:rPr lang="en-GB" sz="1000">
                <a:solidFill>
                  <a:schemeClr val="dk1"/>
                </a:solidFill>
              </a:rPr>
              <a:t>C.J. van Rijsbergen, “A non-classical logic for information retrieval”, The Computer Journal, 29(6):481-485, 1986.</a:t>
            </a:r>
            <a:endParaRPr sz="1000">
              <a:solidFill>
                <a:schemeClr val="dk1"/>
              </a:solidFill>
            </a:endParaRPr>
          </a:p>
          <a:p>
            <a:pPr indent="-225425" lvl="0" marL="342900" rtl="0" algn="l">
              <a:lnSpc>
                <a:spcPct val="115000"/>
              </a:lnSpc>
              <a:spcBef>
                <a:spcPts val="0"/>
              </a:spcBef>
              <a:spcAft>
                <a:spcPts val="0"/>
              </a:spcAft>
              <a:buClr>
                <a:schemeClr val="dk1"/>
              </a:buClr>
              <a:buSzPts val="1000"/>
              <a:buAutoNum type="arabicParenR"/>
            </a:pPr>
            <a:r>
              <a:rPr lang="en-GB" sz="1000">
                <a:solidFill>
                  <a:schemeClr val="dk1"/>
                </a:solidFill>
              </a:rPr>
              <a:t>C.J. van Rijsbergen, “Towards an information logic”, in SIGIR ‘89.</a:t>
            </a:r>
            <a:endParaRPr sz="1000">
              <a:solidFill>
                <a:schemeClr val="dk1"/>
              </a:solidFill>
            </a:endParaRPr>
          </a:p>
          <a:p>
            <a:pPr indent="-225425" lvl="0" marL="342900" rtl="0" algn="l">
              <a:lnSpc>
                <a:spcPct val="115000"/>
              </a:lnSpc>
              <a:spcBef>
                <a:spcPts val="0"/>
              </a:spcBef>
              <a:spcAft>
                <a:spcPts val="0"/>
              </a:spcAft>
              <a:buClr>
                <a:schemeClr val="dk1"/>
              </a:buClr>
              <a:buSzPts val="1000"/>
              <a:buAutoNum type="arabicParenR"/>
            </a:pPr>
            <a:r>
              <a:rPr lang="en-GB" sz="1000">
                <a:solidFill>
                  <a:schemeClr val="dk1"/>
                </a:solidFill>
              </a:rPr>
              <a:t>Y. Chiaramella and J.P. Chevallet, “About Retrieval Models and Logic”, The Computer Journal, 35(3), 1992.</a:t>
            </a:r>
            <a:endParaRPr sz="1000">
              <a:solidFill>
                <a:schemeClr val="dk1"/>
              </a:solidFill>
            </a:endParaRPr>
          </a:p>
          <a:p>
            <a:pPr indent="-225425" lvl="0" marL="342900" rtl="0" algn="l">
              <a:lnSpc>
                <a:spcPct val="115000"/>
              </a:lnSpc>
              <a:spcBef>
                <a:spcPts val="0"/>
              </a:spcBef>
              <a:spcAft>
                <a:spcPts val="0"/>
              </a:spcAft>
              <a:buClr>
                <a:schemeClr val="dk1"/>
              </a:buClr>
              <a:buSzPts val="1000"/>
              <a:buAutoNum type="arabicParenR"/>
            </a:pPr>
            <a:r>
              <a:rPr lang="en-GB" sz="1000">
                <a:solidFill>
                  <a:schemeClr val="dk1"/>
                </a:solidFill>
              </a:rPr>
              <a:t>T.W.C. Huibers, M. Lalmas and C.J. van Rijsbergen, “Information Retrieval and Situation Theory”, SIGIR Forum 30(1):11-25, 1996.</a:t>
            </a:r>
            <a:endParaRPr sz="1000">
              <a:solidFill>
                <a:schemeClr val="dk1"/>
              </a:solidFill>
            </a:endParaRPr>
          </a:p>
          <a:p>
            <a:pPr indent="-225425" lvl="0" marL="342900" rtl="0" algn="l">
              <a:lnSpc>
                <a:spcPct val="115000"/>
              </a:lnSpc>
              <a:spcBef>
                <a:spcPts val="0"/>
              </a:spcBef>
              <a:spcAft>
                <a:spcPts val="0"/>
              </a:spcAft>
              <a:buClr>
                <a:schemeClr val="dk1"/>
              </a:buClr>
              <a:buSzPts val="1000"/>
              <a:buAutoNum type="arabicParenR"/>
            </a:pPr>
            <a:r>
              <a:rPr lang="en-GB" sz="1000">
                <a:solidFill>
                  <a:schemeClr val="dk1"/>
                </a:solidFill>
              </a:rPr>
              <a:t>N. Fuhr, “Probabilistic datalog: Implementing logical information retrieval for advanced applications”, J. Am. Soc. Inf. Sci., 51: 95-110, 2000.</a:t>
            </a:r>
            <a:endParaRPr sz="1000">
              <a:solidFill>
                <a:schemeClr val="dk1"/>
              </a:solidFill>
            </a:endParaRPr>
          </a:p>
          <a:p>
            <a:pPr indent="-225425" lvl="0" marL="342900" rtl="0" algn="l">
              <a:lnSpc>
                <a:spcPct val="115000"/>
              </a:lnSpc>
              <a:spcBef>
                <a:spcPts val="0"/>
              </a:spcBef>
              <a:spcAft>
                <a:spcPts val="0"/>
              </a:spcAft>
              <a:buClr>
                <a:schemeClr val="dk1"/>
              </a:buClr>
              <a:buSzPts val="1000"/>
              <a:buAutoNum type="arabicParenR"/>
            </a:pPr>
            <a:r>
              <a:rPr lang="en-GB" sz="1000">
                <a:solidFill>
                  <a:schemeClr val="dk1"/>
                </a:solidFill>
              </a:rPr>
              <a:t>S. Mizzaro, “How many relevances in information retrieval?”, Interacting with Computers, 10(3):303-320, 1998.</a:t>
            </a:r>
            <a:endParaRPr sz="1000">
              <a:solidFill>
                <a:schemeClr val="dk1"/>
              </a:solidFill>
            </a:endParaRPr>
          </a:p>
          <a:p>
            <a:pPr indent="-225425" lvl="0" marL="342900" rtl="0" algn="l">
              <a:lnSpc>
                <a:spcPct val="115000"/>
              </a:lnSpc>
              <a:spcBef>
                <a:spcPts val="0"/>
              </a:spcBef>
              <a:spcAft>
                <a:spcPts val="0"/>
              </a:spcAft>
              <a:buClr>
                <a:schemeClr val="dk1"/>
              </a:buClr>
              <a:buSzPts val="1000"/>
              <a:buAutoNum type="arabicParenR"/>
            </a:pPr>
            <a:r>
              <a:rPr lang="en-GB" sz="1000">
                <a:solidFill>
                  <a:schemeClr val="dk1"/>
                </a:solidFill>
              </a:rPr>
              <a:t>Ruthven, Lalmas, and Van Rijsbergen, “Empirical investigations on query modification using abductive explanations”, in SIGIR </a:t>
            </a:r>
            <a:r>
              <a:rPr lang="en-GB" sz="1000">
                <a:solidFill>
                  <a:schemeClr val="dk1"/>
                </a:solidFill>
              </a:rPr>
              <a:t>'01</a:t>
            </a:r>
            <a:r>
              <a:rPr lang="en-GB" sz="1000">
                <a:solidFill>
                  <a:schemeClr val="dk1"/>
                </a:solidFill>
              </a:rPr>
              <a:t>.</a:t>
            </a:r>
            <a:endParaRPr sz="1000">
              <a:solidFill>
                <a:schemeClr val="dk1"/>
              </a:solidFill>
            </a:endParaRPr>
          </a:p>
          <a:p>
            <a:pPr indent="-225425" lvl="0" marL="342900" rtl="0" algn="l">
              <a:lnSpc>
                <a:spcPct val="115000"/>
              </a:lnSpc>
              <a:spcBef>
                <a:spcPts val="0"/>
              </a:spcBef>
              <a:spcAft>
                <a:spcPts val="0"/>
              </a:spcAft>
              <a:buClr>
                <a:schemeClr val="dk1"/>
              </a:buClr>
              <a:buSzPts val="1000"/>
              <a:buAutoNum type="arabicParenR"/>
            </a:pPr>
            <a:r>
              <a:rPr lang="en-GB" sz="1000">
                <a:solidFill>
                  <a:schemeClr val="dk1"/>
                </a:solidFill>
              </a:rPr>
              <a:t>Olausson et al., “ LINC: A neuro-symbolic approach for logical reasoning by combining language models with first-order logic provers”, in EMNLP 2023.</a:t>
            </a:r>
            <a:endParaRPr sz="1000">
              <a:solidFill>
                <a:schemeClr val="dk1"/>
              </a:solidFill>
            </a:endParaRPr>
          </a:p>
          <a:p>
            <a:pPr indent="-225425" lvl="0" marL="342900" rtl="0" algn="l">
              <a:lnSpc>
                <a:spcPct val="115000"/>
              </a:lnSpc>
              <a:spcBef>
                <a:spcPts val="0"/>
              </a:spcBef>
              <a:spcAft>
                <a:spcPts val="0"/>
              </a:spcAft>
              <a:buClr>
                <a:schemeClr val="dk1"/>
              </a:buClr>
              <a:buSzPts val="1000"/>
              <a:buAutoNum type="arabicParenR"/>
            </a:pPr>
            <a:r>
              <a:rPr lang="en-GB" sz="1000">
                <a:solidFill>
                  <a:schemeClr val="dk1"/>
                </a:solidFill>
              </a:rPr>
              <a:t>Hoveyda et al., “OrLog: Resolving Complex Queries with LLMs and Probabilistic Reasoning”, in ECIR 2026.</a:t>
            </a:r>
            <a:endParaRPr sz="1000">
              <a:solidFill>
                <a:schemeClr val="dk1"/>
              </a:solidFill>
            </a:endParaRPr>
          </a:p>
          <a:p>
            <a:pPr indent="-225425" lvl="0" marL="342900" rtl="0" algn="l">
              <a:lnSpc>
                <a:spcPct val="115000"/>
              </a:lnSpc>
              <a:spcBef>
                <a:spcPts val="0"/>
              </a:spcBef>
              <a:spcAft>
                <a:spcPts val="0"/>
              </a:spcAft>
              <a:buClr>
                <a:schemeClr val="dk1"/>
              </a:buClr>
              <a:buSzPts val="1000"/>
              <a:buAutoNum type="arabicParenR"/>
            </a:pPr>
            <a:r>
              <a:rPr lang="en-GB" sz="1000">
                <a:solidFill>
                  <a:schemeClr val="dk1"/>
                </a:solidFill>
              </a:rPr>
              <a:t>Nafar et al., “Reasoning over Uncertain Text by Generative Large Language Models”, in AAAI 2025.</a:t>
            </a:r>
            <a:endParaRPr sz="1000">
              <a:solidFill>
                <a:schemeClr val="dk1"/>
              </a:solidFill>
            </a:endParaRPr>
          </a:p>
          <a:p>
            <a:pPr indent="-225425" lvl="0" marL="342900" rtl="0" algn="l">
              <a:lnSpc>
                <a:spcPct val="115000"/>
              </a:lnSpc>
              <a:spcBef>
                <a:spcPts val="0"/>
              </a:spcBef>
              <a:spcAft>
                <a:spcPts val="0"/>
              </a:spcAft>
              <a:buClr>
                <a:schemeClr val="dk1"/>
              </a:buClr>
              <a:buSzPts val="1000"/>
              <a:buAutoNum type="arabicParenR"/>
            </a:pPr>
            <a:r>
              <a:rPr lang="en-GB" sz="1000">
                <a:solidFill>
                  <a:schemeClr val="dk1"/>
                </a:solidFill>
              </a:rPr>
              <a:t>R.W. White, “Advancing the Search Frontier with AI Agents”. Commun. ACM 67(9):54–65, 2024.</a:t>
            </a:r>
            <a:endParaRPr sz="1000">
              <a:solidFill>
                <a:schemeClr val="dk1"/>
              </a:solidFill>
            </a:endParaRPr>
          </a:p>
        </p:txBody>
      </p:sp>
      <p:sp>
        <p:nvSpPr>
          <p:cNvPr id="1647" name="Google Shape;1647;p17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1" name="Shape 1651"/>
        <p:cNvGrpSpPr/>
        <p:nvPr/>
      </p:nvGrpSpPr>
      <p:grpSpPr>
        <a:xfrm>
          <a:off x="0" y="0"/>
          <a:ext cx="0" cy="0"/>
          <a:chOff x="0" y="0"/>
          <a:chExt cx="0" cy="0"/>
        </a:xfrm>
      </p:grpSpPr>
      <p:sp>
        <p:nvSpPr>
          <p:cNvPr id="1652" name="Google Shape;1652;p17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00000"/>
              </a:lnSpc>
              <a:spcBef>
                <a:spcPts val="0"/>
              </a:spcBef>
              <a:spcAft>
                <a:spcPts val="0"/>
              </a:spcAft>
              <a:buSzPct val="111111"/>
              <a:buNone/>
            </a:pPr>
            <a:r>
              <a:rPr b="1" lang="en-GB"/>
              <a:t>Section 4</a:t>
            </a:r>
            <a:endParaRPr b="1"/>
          </a:p>
        </p:txBody>
      </p:sp>
      <p:sp>
        <p:nvSpPr>
          <p:cNvPr id="1653" name="Google Shape;1653;p17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None/>
            </a:pPr>
            <a:r>
              <a:rPr lang="en-GB" sz="1000">
                <a:solidFill>
                  <a:schemeClr val="dk1"/>
                </a:solidFill>
              </a:rPr>
              <a:t>Bayesian:</a:t>
            </a:r>
            <a:endParaRPr sz="1000">
              <a:solidFill>
                <a:schemeClr val="dk1"/>
              </a:solidFill>
            </a:endParaRPr>
          </a:p>
          <a:p>
            <a:pPr indent="-225425" lvl="0" marL="342900" rtl="0" algn="l">
              <a:lnSpc>
                <a:spcPct val="115000"/>
              </a:lnSpc>
              <a:spcBef>
                <a:spcPts val="0"/>
              </a:spcBef>
              <a:spcAft>
                <a:spcPts val="0"/>
              </a:spcAft>
              <a:buSzPts val="1000"/>
              <a:buAutoNum type="arabicParenR"/>
            </a:pPr>
            <a:r>
              <a:rPr lang="en-GB" sz="1000">
                <a:solidFill>
                  <a:schemeClr val="dk1"/>
                </a:solidFill>
              </a:rPr>
              <a:t>Hoffman et al., "Training Chain-of-Thought via Latent-Variable Inference", NeurIPS 2023</a:t>
            </a:r>
            <a:endParaRPr sz="1000">
              <a:solidFill>
                <a:schemeClr val="dk1"/>
              </a:solidFill>
            </a:endParaRPr>
          </a:p>
          <a:p>
            <a:pPr indent="-225425" lvl="0" marL="342900" rtl="0" algn="l">
              <a:lnSpc>
                <a:spcPct val="115000"/>
              </a:lnSpc>
              <a:spcBef>
                <a:spcPts val="0"/>
              </a:spcBef>
              <a:spcAft>
                <a:spcPts val="0"/>
              </a:spcAft>
              <a:buSzPts val="1000"/>
              <a:buAutoNum type="arabicParenR"/>
            </a:pPr>
            <a:r>
              <a:rPr lang="en-GB" sz="1000">
                <a:solidFill>
                  <a:schemeClr val="dk1"/>
                </a:solidFill>
              </a:rPr>
              <a:t>Tonolini et al., "Bayesian Prompt Ensembles: Model Uncertainty Estimation for Black-Box Large Language Models", Findings of ACL 2024</a:t>
            </a:r>
            <a:endParaRPr sz="1000">
              <a:solidFill>
                <a:schemeClr val="dk1"/>
              </a:solidFill>
            </a:endParaRPr>
          </a:p>
          <a:p>
            <a:pPr indent="-225425" lvl="0" marL="342900" rtl="0" algn="l">
              <a:lnSpc>
                <a:spcPct val="115000"/>
              </a:lnSpc>
              <a:spcBef>
                <a:spcPts val="0"/>
              </a:spcBef>
              <a:spcAft>
                <a:spcPts val="0"/>
              </a:spcAft>
              <a:buSzPts val="1000"/>
              <a:buAutoNum type="arabicParenR"/>
            </a:pPr>
            <a:r>
              <a:rPr lang="en-GB" sz="1000">
                <a:solidFill>
                  <a:schemeClr val="dk1"/>
                </a:solidFill>
              </a:rPr>
              <a:t>Yin et al., "Reasoning in Flux: Enhancing Large Language Models Reasoning through Uncertainty-aware Adaptive Guidance", ACL 2024</a:t>
            </a:r>
            <a:endParaRPr sz="1000">
              <a:solidFill>
                <a:schemeClr val="dk1"/>
              </a:solidFill>
            </a:endParaRPr>
          </a:p>
          <a:p>
            <a:pPr indent="-225425" lvl="0" marL="342900" rtl="0" algn="l">
              <a:lnSpc>
                <a:spcPct val="115000"/>
              </a:lnSpc>
              <a:spcBef>
                <a:spcPts val="0"/>
              </a:spcBef>
              <a:spcAft>
                <a:spcPts val="0"/>
              </a:spcAft>
              <a:buSzPts val="1000"/>
              <a:buAutoNum type="arabicParenR"/>
            </a:pPr>
            <a:r>
              <a:rPr lang="en-GB" sz="1000">
                <a:solidFill>
                  <a:schemeClr val="dk1"/>
                </a:solidFill>
              </a:rPr>
              <a:t>Wang et al., "BLoB: Bayesian Low-Rank Adaptation by Backpropagation for Large Language Models", NeurIPS 2024</a:t>
            </a:r>
            <a:endParaRPr sz="1000">
              <a:solidFill>
                <a:schemeClr val="dk1"/>
              </a:solidFill>
            </a:endParaRPr>
          </a:p>
          <a:p>
            <a:pPr indent="-225425" lvl="0" marL="342900" rtl="0" algn="l">
              <a:lnSpc>
                <a:spcPct val="115000"/>
              </a:lnSpc>
              <a:spcBef>
                <a:spcPts val="0"/>
              </a:spcBef>
              <a:spcAft>
                <a:spcPts val="0"/>
              </a:spcAft>
              <a:buSzPts val="1000"/>
              <a:buAutoNum type="arabicParenR"/>
            </a:pPr>
            <a:r>
              <a:rPr lang="en-GB" sz="1000">
                <a:solidFill>
                  <a:schemeClr val="dk1"/>
                </a:solidFill>
              </a:rPr>
              <a:t>Agarwal et al., "AutoDiscovery: Open-ended Scientific Discovery via Bayesian Surprise", NeurIPS 2025</a:t>
            </a:r>
            <a:endParaRPr sz="1000">
              <a:solidFill>
                <a:schemeClr val="dk1"/>
              </a:solidFill>
            </a:endParaRPr>
          </a:p>
          <a:p>
            <a:pPr indent="-225425" lvl="0" marL="342900" rtl="0" algn="l">
              <a:lnSpc>
                <a:spcPct val="115000"/>
              </a:lnSpc>
              <a:spcBef>
                <a:spcPts val="0"/>
              </a:spcBef>
              <a:spcAft>
                <a:spcPts val="0"/>
              </a:spcAft>
              <a:buSzPts val="1000"/>
              <a:buAutoNum type="arabicParenR"/>
            </a:pPr>
            <a:r>
              <a:rPr lang="en-GB" sz="1000">
                <a:solidFill>
                  <a:schemeClr val="dk1"/>
                </a:solidFill>
              </a:rPr>
              <a:t>Feng et al., "BIRD: A Trustworthy Bayesian Inference Framework for Large Language Models", ICLR 2025</a:t>
            </a:r>
            <a:endParaRPr sz="1000">
              <a:solidFill>
                <a:schemeClr val="dk1"/>
              </a:solidFill>
            </a:endParaRPr>
          </a:p>
          <a:p>
            <a:pPr indent="-225425" lvl="0" marL="342900" rtl="0" algn="l">
              <a:lnSpc>
                <a:spcPct val="115000"/>
              </a:lnSpc>
              <a:spcBef>
                <a:spcPts val="0"/>
              </a:spcBef>
              <a:spcAft>
                <a:spcPts val="0"/>
              </a:spcAft>
              <a:buSzPts val="1000"/>
              <a:buAutoNum type="arabicParenR"/>
            </a:pPr>
            <a:r>
              <a:rPr lang="en-GB" sz="1000">
                <a:solidFill>
                  <a:schemeClr val="dk1"/>
                </a:solidFill>
              </a:rPr>
              <a:t>Qiu et al., "Bayesian teaching enables probabilistic reasoning in large language models", Nature Comms 2026</a:t>
            </a:r>
            <a:endParaRPr sz="1000">
              <a:solidFill>
                <a:schemeClr val="dk1"/>
              </a:solidFill>
            </a:endParaRPr>
          </a:p>
          <a:p>
            <a:pPr indent="0" lvl="0" marL="0" rtl="0" algn="l">
              <a:lnSpc>
                <a:spcPct val="115000"/>
              </a:lnSpc>
              <a:spcBef>
                <a:spcPts val="0"/>
              </a:spcBef>
              <a:spcAft>
                <a:spcPts val="0"/>
              </a:spcAft>
              <a:buNone/>
            </a:pPr>
            <a:r>
              <a:rPr lang="en-GB" sz="1000">
                <a:solidFill>
                  <a:schemeClr val="dk1"/>
                </a:solidFill>
              </a:rPr>
              <a:t>Remaining:</a:t>
            </a:r>
            <a:endParaRPr sz="1000">
              <a:solidFill>
                <a:schemeClr val="dk1"/>
              </a:solidFill>
            </a:endParaRPr>
          </a:p>
          <a:p>
            <a:pPr indent="-225425" lvl="0" marL="342900" rtl="0" algn="l">
              <a:spcBef>
                <a:spcPts val="0"/>
              </a:spcBef>
              <a:spcAft>
                <a:spcPts val="0"/>
              </a:spcAft>
              <a:buClr>
                <a:schemeClr val="dk1"/>
              </a:buClr>
              <a:buSzPts val="1000"/>
              <a:buAutoNum type="arabicParenR"/>
            </a:pPr>
            <a:r>
              <a:rPr lang="en-GB" sz="1000">
                <a:solidFill>
                  <a:schemeClr val="dk1"/>
                </a:solidFill>
              </a:rPr>
              <a:t>LogiCoL: Logically-Informed Contrastive Learning for Set-based Dense Retrieval. Shen et al., ACL 2025.</a:t>
            </a:r>
            <a:endParaRPr sz="1000">
              <a:solidFill>
                <a:schemeClr val="dk1"/>
              </a:solidFill>
            </a:endParaRPr>
          </a:p>
          <a:p>
            <a:pPr indent="-225425" lvl="0" marL="342900" rtl="0" algn="l">
              <a:spcBef>
                <a:spcPts val="0"/>
              </a:spcBef>
              <a:spcAft>
                <a:spcPts val="0"/>
              </a:spcAft>
              <a:buClr>
                <a:schemeClr val="dk1"/>
              </a:buClr>
              <a:buSzPts val="1000"/>
              <a:buAutoNum type="arabicParenR"/>
            </a:pPr>
            <a:r>
              <a:rPr lang="en-GB" sz="1000">
                <a:solidFill>
                  <a:schemeClr val="dk1"/>
                </a:solidFill>
              </a:rPr>
              <a:t>Constructing Set-Compositional and Negated Representations for First-Stage Ranking. Krasakis et al., CIKM 2025. </a:t>
            </a:r>
            <a:endParaRPr sz="1000">
              <a:solidFill>
                <a:schemeClr val="dk1"/>
              </a:solidFill>
            </a:endParaRPr>
          </a:p>
          <a:p>
            <a:pPr indent="-225425" lvl="0" marL="342900" rtl="0" algn="l">
              <a:spcBef>
                <a:spcPts val="0"/>
              </a:spcBef>
              <a:spcAft>
                <a:spcPts val="0"/>
              </a:spcAft>
              <a:buClr>
                <a:schemeClr val="dk1"/>
              </a:buClr>
              <a:buSzPts val="1000"/>
              <a:buAutoNum type="arabicParenR"/>
            </a:pPr>
            <a:r>
              <a:rPr lang="en-GB" sz="1000">
                <a:solidFill>
                  <a:schemeClr val="dk1"/>
                </a:solidFill>
              </a:rPr>
              <a:t>ReasonIR: Training Retrievers for Reasoning Tasks. Shao et al., 2025.</a:t>
            </a:r>
            <a:br>
              <a:rPr lang="en-GB" sz="1000">
                <a:solidFill>
                  <a:schemeClr val="dk1"/>
                </a:solidFill>
              </a:rPr>
            </a:br>
            <a:endParaRPr sz="1000">
              <a:solidFill>
                <a:schemeClr val="dk1"/>
              </a:solidFill>
            </a:endParaRPr>
          </a:p>
          <a:p>
            <a:pPr indent="0" lvl="0" marL="114300" rtl="0" algn="l">
              <a:lnSpc>
                <a:spcPct val="115000"/>
              </a:lnSpc>
              <a:spcBef>
                <a:spcPts val="0"/>
              </a:spcBef>
              <a:spcAft>
                <a:spcPts val="0"/>
              </a:spcAft>
              <a:buSzPts val="1050"/>
              <a:buNone/>
            </a:pPr>
            <a:r>
              <a:t/>
            </a:r>
            <a:endParaRPr sz="1000">
              <a:solidFill>
                <a:schemeClr val="dk1"/>
              </a:solidFill>
            </a:endParaRPr>
          </a:p>
        </p:txBody>
      </p:sp>
      <p:sp>
        <p:nvSpPr>
          <p:cNvPr id="1654" name="Google Shape;1654;p17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